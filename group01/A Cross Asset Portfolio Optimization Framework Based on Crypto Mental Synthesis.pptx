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57" r:id="rId4"/>
    <p:sldId id="281" r:id="rId5"/>
    <p:sldId id="258" r:id="rId6"/>
    <p:sldId id="276" r:id="rId7"/>
    <p:sldId id="288" r:id="rId8"/>
    <p:sldId id="290" r:id="rId9"/>
    <p:sldId id="260" r:id="rId10"/>
    <p:sldId id="282" r:id="rId11"/>
    <p:sldId id="292" r:id="rId12"/>
    <p:sldId id="283" r:id="rId13"/>
    <p:sldId id="297" r:id="rId14"/>
    <p:sldId id="299" r:id="rId15"/>
    <p:sldId id="284" r:id="rId16"/>
    <p:sldId id="298" r:id="rId17"/>
    <p:sldId id="286" r:id="rId18"/>
    <p:sldId id="293" r:id="rId19"/>
    <p:sldId id="289" r:id="rId20"/>
    <p:sldId id="287" r:id="rId21"/>
    <p:sldId id="291" r:id="rId22"/>
    <p:sldId id="278" r:id="rId23"/>
    <p:sldId id="280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89"/>
    <a:srgbClr val="C8C8C8"/>
    <a:srgbClr val="BEBEBE"/>
    <a:srgbClr val="E6E6E6"/>
    <a:srgbClr val="FFFFFF"/>
    <a:srgbClr val="0A418D"/>
    <a:srgbClr val="DCDCDC"/>
    <a:srgbClr val="F0F0F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43" y="58"/>
      </p:cViewPr>
      <p:guideLst>
        <p:guide orient="horz" pos="2160"/>
        <p:guide pos="3840"/>
        <p:guide orient="horz" pos="216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2026-04-17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47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46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6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97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70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00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90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608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834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5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1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hyperlink" Target="https://github.com/QuantLet/BCN-XMU-course2026/blob/main/group01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2026-04-17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hlinkClick r:id="rId19"/>
            <a:extLst>
              <a:ext uri="{FF2B5EF4-FFF2-40B4-BE49-F238E27FC236}">
                <a16:creationId xmlns:a16="http://schemas.microsoft.com/office/drawing/2014/main" id="{CF93351B-AC09-4035-9FC5-C672D090C93A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335" y="24294"/>
            <a:ext cx="891617" cy="815411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8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05.xml"/><Relationship Id="rId9" Type="http://schemas.openxmlformats.org/officeDocument/2006/relationships/tags" Target="../tags/tag1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931285"/>
            <a:ext cx="12192000" cy="29267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47937" y="4328160"/>
            <a:ext cx="759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QUANTITATIVE STUDY BASED ON DAILY DATA FROM 2015 TO 2025</a:t>
            </a: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547937" y="4784408"/>
            <a:ext cx="745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sym typeface="+mn-ea"/>
              </a:rPr>
              <a:t>Group 1:   Qiu Yusen </a:t>
            </a:r>
            <a:r>
              <a:rPr lang="en-US" altLang="zh-CN" b="1" dirty="0">
                <a:solidFill>
                  <a:schemeClr val="accent5"/>
                </a:solidFill>
                <a:sym typeface="+mn-ea"/>
              </a:rPr>
              <a:t>|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Huang Yukong </a:t>
            </a:r>
            <a:r>
              <a:rPr lang="en-US" altLang="zh-CN" b="1" dirty="0">
                <a:solidFill>
                  <a:schemeClr val="accent5"/>
                </a:solidFill>
                <a:sym typeface="+mn-ea"/>
              </a:rPr>
              <a:t>|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Li Jintao </a:t>
            </a:r>
            <a:r>
              <a:rPr lang="en-US" altLang="zh-CN" b="1" dirty="0">
                <a:solidFill>
                  <a:schemeClr val="accent5"/>
                </a:solidFill>
                <a:sym typeface="+mn-ea"/>
              </a:rPr>
              <a:t>|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Shan </a:t>
            </a:r>
            <a:r>
              <a:rPr lang="en-US" altLang="zh-CN" b="1" dirty="0" err="1">
                <a:solidFill>
                  <a:schemeClr val="bg1"/>
                </a:solidFill>
                <a:sym typeface="+mn-ea"/>
              </a:rPr>
              <a:t>Zhengxu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565075" y="5232309"/>
            <a:ext cx="247258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sym typeface="+mn-ea"/>
              </a:rPr>
              <a:t>Date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：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20260401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01396" y="1450022"/>
            <a:ext cx="9095104" cy="196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 Cross Asset Portfolio Optimization Framework Based on Crypto Mental Synthesis</a:t>
            </a:r>
          </a:p>
        </p:txBody>
      </p:sp>
      <p:sp>
        <p:nvSpPr>
          <p:cNvPr id="12" name="矩形 11"/>
          <p:cNvSpPr/>
          <p:nvPr/>
        </p:nvSpPr>
        <p:spPr>
          <a:xfrm>
            <a:off x="506730" y="1619250"/>
            <a:ext cx="76200" cy="162179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1261" y="2221470"/>
            <a:ext cx="4582624" cy="3712842"/>
          </a:xfrm>
          <a:custGeom>
            <a:avLst/>
            <a:gdLst/>
            <a:ahLst/>
            <a:cxnLst/>
            <a:rect l="l" t="t" r="r" b="b"/>
            <a:pathLst>
              <a:path w="6873936" h="5569263">
                <a:moveTo>
                  <a:pt x="0" y="0"/>
                </a:moveTo>
                <a:lnTo>
                  <a:pt x="6873936" y="0"/>
                </a:lnTo>
                <a:lnTo>
                  <a:pt x="6873936" y="5569263"/>
                </a:lnTo>
                <a:lnTo>
                  <a:pt x="0" y="556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540"/>
            </a:stretch>
          </a:blipFill>
        </p:spPr>
      </p:sp>
      <p:grpSp>
        <p:nvGrpSpPr>
          <p:cNvPr id="3" name="Group 3"/>
          <p:cNvGrpSpPr/>
          <p:nvPr/>
        </p:nvGrpSpPr>
        <p:grpSpPr>
          <a:xfrm rot="8100000">
            <a:off x="-2802877" y="4199988"/>
            <a:ext cx="3722657" cy="3722657"/>
            <a:chOff x="0" y="0"/>
            <a:chExt cx="1096342" cy="10963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415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8100000">
            <a:off x="-722140" y="1928193"/>
            <a:ext cx="1444281" cy="1444281"/>
            <a:chOff x="0" y="0"/>
            <a:chExt cx="425348" cy="4253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5348" cy="425348"/>
            </a:xfrm>
            <a:custGeom>
              <a:avLst/>
              <a:gdLst/>
              <a:ahLst/>
              <a:cxnLst/>
              <a:rect l="l" t="t" r="r" b="b"/>
              <a:pathLst>
                <a:path w="425348" h="425348">
                  <a:moveTo>
                    <a:pt x="0" y="0"/>
                  </a:moveTo>
                  <a:lnTo>
                    <a:pt x="425348" y="0"/>
                  </a:lnTo>
                  <a:lnTo>
                    <a:pt x="425348" y="425348"/>
                  </a:lnTo>
                  <a:lnTo>
                    <a:pt x="0" y="425348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5348" cy="4729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415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10838747" y="-943788"/>
            <a:ext cx="1789943" cy="1789943"/>
            <a:chOff x="0" y="0"/>
            <a:chExt cx="527148" cy="5271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7148" cy="527148"/>
            </a:xfrm>
            <a:custGeom>
              <a:avLst/>
              <a:gdLst/>
              <a:ahLst/>
              <a:cxnLst/>
              <a:rect l="l" t="t" r="r" b="b"/>
              <a:pathLst>
                <a:path w="527148" h="527148">
                  <a:moveTo>
                    <a:pt x="0" y="0"/>
                  </a:moveTo>
                  <a:lnTo>
                    <a:pt x="527148" y="0"/>
                  </a:lnTo>
                  <a:lnTo>
                    <a:pt x="527148" y="527148"/>
                  </a:lnTo>
                  <a:lnTo>
                    <a:pt x="0" y="527148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27148" cy="5747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415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8100000">
            <a:off x="-1579587" y="4608063"/>
            <a:ext cx="2605990" cy="2671175"/>
            <a:chOff x="0" y="0"/>
            <a:chExt cx="1029527" cy="105527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9527" cy="1055279"/>
            </a:xfrm>
            <a:custGeom>
              <a:avLst/>
              <a:gdLst/>
              <a:ahLst/>
              <a:cxnLst/>
              <a:rect l="l" t="t" r="r" b="b"/>
              <a:pathLst>
                <a:path w="1029527" h="1055279">
                  <a:moveTo>
                    <a:pt x="0" y="0"/>
                  </a:moveTo>
                  <a:lnTo>
                    <a:pt x="1029527" y="0"/>
                  </a:lnTo>
                  <a:lnTo>
                    <a:pt x="1029527" y="1055279"/>
                  </a:lnTo>
                  <a:lnTo>
                    <a:pt x="0" y="1055279"/>
                  </a:lnTo>
                  <a:close/>
                </a:path>
              </a:pathLst>
            </a:custGeom>
            <a:solidFill>
              <a:srgbClr val="4660AF">
                <a:alpha val="8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29527" cy="11029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415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8100000">
            <a:off x="11315820" y="-750604"/>
            <a:ext cx="2605990" cy="2671175"/>
            <a:chOff x="0" y="0"/>
            <a:chExt cx="1029527" cy="10552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9527" cy="1055279"/>
            </a:xfrm>
            <a:custGeom>
              <a:avLst/>
              <a:gdLst/>
              <a:ahLst/>
              <a:cxnLst/>
              <a:rect l="l" t="t" r="r" b="b"/>
              <a:pathLst>
                <a:path w="1029527" h="1055279">
                  <a:moveTo>
                    <a:pt x="0" y="0"/>
                  </a:moveTo>
                  <a:lnTo>
                    <a:pt x="1029527" y="0"/>
                  </a:lnTo>
                  <a:lnTo>
                    <a:pt x="1029527" y="1055279"/>
                  </a:lnTo>
                  <a:lnTo>
                    <a:pt x="0" y="1055279"/>
                  </a:lnTo>
                  <a:close/>
                </a:path>
              </a:pathLst>
            </a:custGeom>
            <a:solidFill>
              <a:srgbClr val="4660AF">
                <a:alpha val="8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029527" cy="11029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415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8100000">
            <a:off x="-1477987" y="4709663"/>
            <a:ext cx="2605990" cy="2671175"/>
            <a:chOff x="0" y="0"/>
            <a:chExt cx="1029527" cy="10552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9527" cy="1055279"/>
            </a:xfrm>
            <a:custGeom>
              <a:avLst/>
              <a:gdLst/>
              <a:ahLst/>
              <a:cxnLst/>
              <a:rect l="l" t="t" r="r" b="b"/>
              <a:pathLst>
                <a:path w="1029527" h="1055279">
                  <a:moveTo>
                    <a:pt x="0" y="0"/>
                  </a:moveTo>
                  <a:lnTo>
                    <a:pt x="1029527" y="0"/>
                  </a:lnTo>
                  <a:lnTo>
                    <a:pt x="1029527" y="1055279"/>
                  </a:lnTo>
                  <a:lnTo>
                    <a:pt x="0" y="1055279"/>
                  </a:lnTo>
                  <a:close/>
                </a:path>
              </a:pathLst>
            </a:custGeom>
            <a:solidFill>
              <a:srgbClr val="4660AF">
                <a:alpha val="89804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29527" cy="11029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415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64309" y="1178223"/>
            <a:ext cx="4142703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7112"/>
              </a:lnSpc>
            </a:pPr>
            <a:r>
              <a:rPr lang="en-US" sz="5927" b="1">
                <a:solidFill>
                  <a:srgbClr val="1F367F"/>
                </a:solidFill>
                <a:latin typeface="思源黑体 3 Bold"/>
                <a:ea typeface="思源黑体 3 Bold"/>
                <a:cs typeface="思源黑体 3 Bold"/>
                <a:sym typeface="思源黑体 3 Bold"/>
              </a:rPr>
              <a:t>CONTENTS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7960" y="1406823"/>
            <a:ext cx="2974446" cy="42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680"/>
              </a:lnSpc>
            </a:pPr>
            <a:r>
              <a:rPr lang="en-US" sz="3066" b="1" dirty="0">
                <a:solidFill>
                  <a:srgbClr val="100F0D"/>
                </a:solidFill>
                <a:latin typeface="思源黑体 3 Bold"/>
                <a:ea typeface="思源黑体 3 Bold"/>
                <a:cs typeface="思源黑体 3 Bold"/>
                <a:sym typeface="思源黑体 3 Bold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51710" y="1222471"/>
            <a:ext cx="5336969" cy="708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6080"/>
              </a:lnSpc>
            </a:pPr>
            <a:r>
              <a:rPr lang="en-US" sz="4000" b="1" dirty="0">
                <a:solidFill>
                  <a:srgbClr val="1F3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01.Background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51710" y="2345568"/>
            <a:ext cx="5649790" cy="708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6080"/>
              </a:lnSpc>
            </a:pPr>
            <a:r>
              <a:rPr lang="en-US" sz="4000" b="1" dirty="0">
                <a:solidFill>
                  <a:srgbClr val="1F3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02.</a:t>
            </a:r>
            <a:r>
              <a:rPr lang="en-US" altLang="zh-CN" sz="4000" b="1" dirty="0">
                <a:solidFill>
                  <a:srgbClr val="1F3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Data analysis</a:t>
            </a:r>
            <a:endParaRPr lang="en-US" sz="4000" b="1" dirty="0">
              <a:solidFill>
                <a:srgbClr val="1F36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351710" y="3463114"/>
            <a:ext cx="5709948" cy="147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6080"/>
              </a:lnSpc>
            </a:pPr>
            <a:r>
              <a:rPr lang="en-US" sz="40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03.</a:t>
            </a:r>
            <a:r>
              <a:rPr lang="en-US" altLang="zh-CN" sz="40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Reserch results </a:t>
            </a:r>
          </a:p>
          <a:p>
            <a:pPr defTabSz="609630">
              <a:lnSpc>
                <a:spcPts val="6080"/>
              </a:lnSpc>
            </a:pPr>
            <a:endParaRPr lang="en-US" sz="5067" b="1" dirty="0">
              <a:solidFill>
                <a:srgbClr val="1F367F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351710" y="4583435"/>
            <a:ext cx="5649790" cy="733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6080"/>
              </a:lnSpc>
            </a:pPr>
            <a:r>
              <a:rPr lang="en-US" sz="40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04.</a:t>
            </a:r>
            <a:r>
              <a:rPr lang="en-US" altLang="zh-CN" sz="40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Summary</a:t>
            </a:r>
            <a:endParaRPr lang="en-US" sz="4000" b="1" dirty="0">
              <a:solidFill>
                <a:srgbClr val="0B41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411923" y="2466913"/>
            <a:ext cx="2047475" cy="32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959"/>
              </a:lnSpc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8771246" y="-1553713"/>
            <a:ext cx="3075833" cy="3075833"/>
            <a:chOff x="0" y="0"/>
            <a:chExt cx="1096342" cy="1096342"/>
          </a:xfrm>
          <a:solidFill>
            <a:schemeClr val="accent1">
              <a:lumMod val="75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-2700000">
            <a:off x="10732178" y="-427073"/>
            <a:ext cx="3075833" cy="3075833"/>
            <a:chOff x="0" y="0"/>
            <a:chExt cx="1096342" cy="10963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1034681" y="2378538"/>
            <a:ext cx="1437629" cy="1437629"/>
            <a:chOff x="0" y="0"/>
            <a:chExt cx="512425" cy="5124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 rot="8100000">
            <a:off x="-1322475" y="4784644"/>
            <a:ext cx="2775115" cy="2775115"/>
            <a:chOff x="0" y="0"/>
            <a:chExt cx="1096342" cy="10963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 rot="8100000">
            <a:off x="-1051084" y="4007667"/>
            <a:ext cx="1297075" cy="1297075"/>
            <a:chOff x="0" y="0"/>
            <a:chExt cx="512425" cy="5124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81421" y="3238195"/>
            <a:ext cx="3791455" cy="329388"/>
            <a:chOff x="0" y="0"/>
            <a:chExt cx="1497859" cy="13012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97859" cy="130129"/>
            </a:xfrm>
            <a:custGeom>
              <a:avLst/>
              <a:gdLst/>
              <a:ahLst/>
              <a:cxnLst/>
              <a:rect l="l" t="t" r="r" b="b"/>
              <a:pathLst>
                <a:path w="1497859" h="130129">
                  <a:moveTo>
                    <a:pt x="0" y="0"/>
                  </a:moveTo>
                  <a:lnTo>
                    <a:pt x="1497859" y="0"/>
                  </a:lnTo>
                  <a:lnTo>
                    <a:pt x="1497859" y="130129"/>
                  </a:lnTo>
                  <a:lnTo>
                    <a:pt x="0" y="1301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497859" cy="1777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27386" y="3213100"/>
            <a:ext cx="354549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  <a:spcBef>
                <a:spcPct val="0"/>
              </a:spcBef>
            </a:pPr>
            <a:r>
              <a:rPr lang="en-US" sz="1267" dirty="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Background significance of the topic</a:t>
            </a:r>
          </a:p>
        </p:txBody>
      </p:sp>
      <p:grpSp>
        <p:nvGrpSpPr>
          <p:cNvPr id="22" name="Group 22"/>
          <p:cNvGrpSpPr/>
          <p:nvPr/>
        </p:nvGrpSpPr>
        <p:grpSpPr>
          <a:xfrm rot="8100000">
            <a:off x="-90480" y="6450623"/>
            <a:ext cx="4235732" cy="4235732"/>
            <a:chOff x="0" y="0"/>
            <a:chExt cx="1247445" cy="1247445"/>
          </a:xfrm>
          <a:solidFill>
            <a:schemeClr val="accent1">
              <a:lumMod val="75000"/>
            </a:schemeClr>
          </a:solidFill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47445" cy="1247445"/>
            </a:xfrm>
            <a:custGeom>
              <a:avLst/>
              <a:gdLst/>
              <a:ahLst/>
              <a:cxnLst/>
              <a:rect l="l" t="t" r="r" b="b"/>
              <a:pathLst>
                <a:path w="1247445" h="1247445">
                  <a:moveTo>
                    <a:pt x="0" y="0"/>
                  </a:moveTo>
                  <a:lnTo>
                    <a:pt x="1247445" y="0"/>
                  </a:lnTo>
                  <a:lnTo>
                    <a:pt x="1247445" y="1247445"/>
                  </a:lnTo>
                  <a:lnTo>
                    <a:pt x="0" y="1247445"/>
                  </a:lnTo>
                  <a:close/>
                </a:path>
              </a:pathLst>
            </a:custGeom>
            <a:grpFill/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247445" cy="129507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559385" y="2643149"/>
            <a:ext cx="5346579" cy="87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80"/>
              </a:lnSpc>
            </a:pPr>
            <a:r>
              <a:rPr lang="en-US" sz="6400" b="1" dirty="0">
                <a:solidFill>
                  <a:srgbClr val="100F0D"/>
                </a:solidFill>
                <a:latin typeface="思源黑体 3 Bold"/>
                <a:ea typeface="思源黑体 3 Bold"/>
                <a:cs typeface="思源黑体 3 Bold"/>
                <a:sym typeface="思源黑体 3 Bold"/>
              </a:rPr>
              <a:t> 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D7242BEC-47F4-B91D-9D1D-4F5A40D15F72}"/>
              </a:ext>
            </a:extLst>
          </p:cNvPr>
          <p:cNvSpPr txBox="1"/>
          <p:nvPr/>
        </p:nvSpPr>
        <p:spPr>
          <a:xfrm>
            <a:off x="190351" y="2691618"/>
            <a:ext cx="11811298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519"/>
              </a:lnSpc>
            </a:pPr>
            <a:r>
              <a:rPr lang="en-US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01 </a:t>
            </a:r>
            <a:r>
              <a:rPr lang="en-US" altLang="zh-CN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641350" y="1237267"/>
            <a:ext cx="5782838" cy="45598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864985" y="984786"/>
            <a:ext cx="4582160" cy="10795"/>
          </a:xfrm>
          <a:prstGeom prst="line">
            <a:avLst/>
          </a:prstGeom>
          <a:ln w="19050">
            <a:solidFill>
              <a:srgbClr val="0B418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661406" y="1161601"/>
            <a:ext cx="5270567" cy="5146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Non-ferrous metals have both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anti-inflation attributes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and financial investment attributes.</a:t>
            </a: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Cryptocurrency has become a mainstream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alternative investment target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and cross-asset allocation value are current investment hotspots.</a:t>
            </a:r>
          </a:p>
          <a:p>
            <a:pPr fontAlgn="auto">
              <a:lnSpc>
                <a:spcPct val="13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it is urgently necessary to construct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optimal allocation plans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that suit different risk preferences.</a:t>
            </a: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FA41361-DE1B-959D-C848-D3404FF7A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27" y="1554032"/>
            <a:ext cx="5779557" cy="447723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BD9524A-F4A8-BCA4-9AE9-E83C755449D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5492" y="109259"/>
            <a:ext cx="4763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background</a:t>
            </a:r>
            <a:endParaRPr lang="zh-CN" altLang="en-US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2879C70-4992-9081-1E77-20283B960ECA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7">
            <a:extLst>
              <a:ext uri="{FF2B5EF4-FFF2-40B4-BE49-F238E27FC236}">
                <a16:creationId xmlns:a16="http://schemas.microsoft.com/office/drawing/2014/main" id="{AEB528DC-7BF0-AB37-C633-711365D0A522}"/>
              </a:ext>
            </a:extLst>
          </p:cNvPr>
          <p:cNvSpPr/>
          <p:nvPr/>
        </p:nvSpPr>
        <p:spPr>
          <a:xfrm>
            <a:off x="7008642" y="1547185"/>
            <a:ext cx="3548790" cy="1335771"/>
          </a:xfrm>
          <a:custGeom>
            <a:avLst/>
            <a:gdLst/>
            <a:ahLst/>
            <a:cxnLst/>
            <a:rect l="l" t="t" r="r" b="b"/>
            <a:pathLst>
              <a:path w="1157337" h="1196345">
                <a:moveTo>
                  <a:pt x="0" y="0"/>
                </a:moveTo>
                <a:lnTo>
                  <a:pt x="1157337" y="0"/>
                </a:lnTo>
                <a:lnTo>
                  <a:pt x="1157337" y="1196345"/>
                </a:lnTo>
                <a:lnTo>
                  <a:pt x="0" y="1196345"/>
                </a:lnTo>
                <a:close/>
              </a:path>
            </a:pathLst>
          </a:custGeom>
          <a:solidFill>
            <a:srgbClr val="4660AF">
              <a:alpha val="10980"/>
            </a:srgbClr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Pearson correlation 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Mutual Information regression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EA0E045-104F-5179-0AB1-696F6FD0463B}"/>
              </a:ext>
            </a:extLst>
          </p:cNvPr>
          <p:cNvSpPr/>
          <p:nvPr/>
        </p:nvSpPr>
        <p:spPr>
          <a:xfrm>
            <a:off x="6957730" y="3135651"/>
            <a:ext cx="3613580" cy="1335771"/>
          </a:xfrm>
          <a:custGeom>
            <a:avLst/>
            <a:gdLst/>
            <a:ahLst/>
            <a:cxnLst/>
            <a:rect l="l" t="t" r="r" b="b"/>
            <a:pathLst>
              <a:path w="1157337" h="1196345">
                <a:moveTo>
                  <a:pt x="0" y="0"/>
                </a:moveTo>
                <a:lnTo>
                  <a:pt x="1157337" y="0"/>
                </a:lnTo>
                <a:lnTo>
                  <a:pt x="1157337" y="1196345"/>
                </a:lnTo>
                <a:lnTo>
                  <a:pt x="0" y="1196345"/>
                </a:lnTo>
                <a:close/>
              </a:path>
            </a:pathLst>
          </a:custGeom>
          <a:solidFill>
            <a:srgbClr val="4660AF">
              <a:alpha val="10980"/>
            </a:srgbClr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VIX-based hedging analysis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TNX stratification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Freeform 37">
            <a:extLst>
              <a:ext uri="{FF2B5EF4-FFF2-40B4-BE49-F238E27FC236}">
                <a16:creationId xmlns:a16="http://schemas.microsoft.com/office/drawing/2014/main" id="{C1F94F34-D062-4459-9BD5-0DB7CC326686}"/>
              </a:ext>
            </a:extLst>
          </p:cNvPr>
          <p:cNvSpPr/>
          <p:nvPr/>
        </p:nvSpPr>
        <p:spPr>
          <a:xfrm>
            <a:off x="1727059" y="4724118"/>
            <a:ext cx="4134931" cy="1335772"/>
          </a:xfrm>
          <a:custGeom>
            <a:avLst/>
            <a:gdLst/>
            <a:ahLst/>
            <a:cxnLst/>
            <a:rect l="l" t="t" r="r" b="b"/>
            <a:pathLst>
              <a:path w="1157337" h="1196345">
                <a:moveTo>
                  <a:pt x="0" y="0"/>
                </a:moveTo>
                <a:lnTo>
                  <a:pt x="1157337" y="0"/>
                </a:lnTo>
                <a:lnTo>
                  <a:pt x="1157337" y="1196345"/>
                </a:lnTo>
                <a:lnTo>
                  <a:pt x="0" y="1196345"/>
                </a:lnTo>
                <a:close/>
              </a:path>
            </a:pathLst>
          </a:custGeom>
          <a:solidFill>
            <a:srgbClr val="4660AF">
              <a:alpha val="10980"/>
            </a:srgbClr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Freeform 37">
            <a:extLst>
              <a:ext uri="{FF2B5EF4-FFF2-40B4-BE49-F238E27FC236}">
                <a16:creationId xmlns:a16="http://schemas.microsoft.com/office/drawing/2014/main" id="{AB4A50A4-7660-2D0E-AEB5-1445E7909828}"/>
              </a:ext>
            </a:extLst>
          </p:cNvPr>
          <p:cNvSpPr/>
          <p:nvPr/>
        </p:nvSpPr>
        <p:spPr>
          <a:xfrm>
            <a:off x="1741398" y="1547185"/>
            <a:ext cx="4134931" cy="1335772"/>
          </a:xfrm>
          <a:custGeom>
            <a:avLst/>
            <a:gdLst/>
            <a:ahLst/>
            <a:cxnLst/>
            <a:rect l="l" t="t" r="r" b="b"/>
            <a:pathLst>
              <a:path w="1157337" h="1196345">
                <a:moveTo>
                  <a:pt x="0" y="0"/>
                </a:moveTo>
                <a:lnTo>
                  <a:pt x="1157337" y="0"/>
                </a:lnTo>
                <a:lnTo>
                  <a:pt x="1157337" y="1196345"/>
                </a:lnTo>
                <a:lnTo>
                  <a:pt x="0" y="1196345"/>
                </a:lnTo>
                <a:close/>
              </a:path>
            </a:pathLst>
          </a:custGeom>
          <a:solidFill>
            <a:srgbClr val="4660AF">
              <a:alpha val="10980"/>
            </a:srgbClr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endParaRPr lang="zh-CN" altLang="en-US" dirty="0"/>
          </a:p>
        </p:txBody>
      </p:sp>
      <p:sp>
        <p:nvSpPr>
          <p:cNvPr id="13" name="Freeform 37">
            <a:extLst>
              <a:ext uri="{FF2B5EF4-FFF2-40B4-BE49-F238E27FC236}">
                <a16:creationId xmlns:a16="http://schemas.microsoft.com/office/drawing/2014/main" id="{F2AAD7EB-8DBE-A9E5-36CA-388BDB2502B2}"/>
              </a:ext>
            </a:extLst>
          </p:cNvPr>
          <p:cNvSpPr/>
          <p:nvPr/>
        </p:nvSpPr>
        <p:spPr>
          <a:xfrm>
            <a:off x="1741397" y="3109935"/>
            <a:ext cx="4134931" cy="1335772"/>
          </a:xfrm>
          <a:custGeom>
            <a:avLst/>
            <a:gdLst/>
            <a:ahLst/>
            <a:cxnLst/>
            <a:rect l="l" t="t" r="r" b="b"/>
            <a:pathLst>
              <a:path w="1157337" h="1196345">
                <a:moveTo>
                  <a:pt x="0" y="0"/>
                </a:moveTo>
                <a:lnTo>
                  <a:pt x="1157337" y="0"/>
                </a:lnTo>
                <a:lnTo>
                  <a:pt x="1157337" y="1196345"/>
                </a:lnTo>
                <a:lnTo>
                  <a:pt x="0" y="1196345"/>
                </a:lnTo>
                <a:close/>
              </a:path>
            </a:pathLst>
          </a:custGeom>
          <a:solidFill>
            <a:srgbClr val="4660AF">
              <a:alpha val="10980"/>
            </a:srgbClr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just"/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95492" y="109259"/>
            <a:ext cx="4763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Objectives and methods</a:t>
            </a:r>
            <a:endParaRPr lang="zh-CN" altLang="en-US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 Placeholder 3"/>
          <p:cNvSpPr txBox="1"/>
          <p:nvPr>
            <p:custDataLst>
              <p:tags r:id="rId3"/>
            </p:custDataLst>
          </p:nvPr>
        </p:nvSpPr>
        <p:spPr>
          <a:xfrm>
            <a:off x="1839730" y="1738927"/>
            <a:ext cx="4176231" cy="9690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85875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Quantitatively measure the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linkage 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between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cryptocurrencies and non-ferrous metals.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8" name="Rounded Rectangle 67"/>
          <p:cNvSpPr/>
          <p:nvPr>
            <p:custDataLst>
              <p:tags r:id="rId4"/>
            </p:custDataLst>
          </p:nvPr>
        </p:nvSpPr>
        <p:spPr>
          <a:xfrm>
            <a:off x="523823" y="1640022"/>
            <a:ext cx="1218442" cy="116685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ym typeface="Arial" panose="020B0604020202020204" pitchFamily="34" charset="0"/>
              </a:rPr>
              <a:t>01</a:t>
            </a:r>
          </a:p>
        </p:txBody>
      </p:sp>
      <p:sp>
        <p:nvSpPr>
          <p:cNvPr id="48" name="Rounded Rectangle 47"/>
          <p:cNvSpPr/>
          <p:nvPr>
            <p:custDataLst>
              <p:tags r:id="rId5"/>
            </p:custDataLst>
          </p:nvPr>
        </p:nvSpPr>
        <p:spPr>
          <a:xfrm flipH="1">
            <a:off x="10571310" y="1640022"/>
            <a:ext cx="1221927" cy="1166858"/>
          </a:xfrm>
          <a:prstGeom prst="round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ym typeface="Arial" panose="020B0604020202020204" pitchFamily="34" charset="0"/>
              </a:rPr>
              <a:t>0</a:t>
            </a:r>
            <a:r>
              <a:rPr lang="en-US" altLang="zh-CN" sz="3200" b="1" dirty="0">
                <a:sym typeface="Arial" panose="020B0604020202020204" pitchFamily="34" charset="0"/>
              </a:rPr>
              <a:t>1</a:t>
            </a:r>
            <a:endParaRPr lang="zh-CN" altLang="en-US" sz="3200" b="1" dirty="0"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609085" y="856028"/>
            <a:ext cx="5063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B4189"/>
                </a:solidFill>
                <a:latin typeface="+mj-ea"/>
                <a:ea typeface="+mj-ea"/>
                <a:cs typeface="思源黑体 3 Heavy"/>
                <a:sym typeface="思源黑体 3 Heavy"/>
              </a:rPr>
              <a:t>Research </a:t>
            </a:r>
            <a:r>
              <a:rPr lang="en-US" altLang="zh-CN" sz="36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Heavy"/>
                <a:sym typeface="思源黑体 3 Heavy"/>
              </a:rPr>
              <a:t>Objectives</a:t>
            </a:r>
          </a:p>
          <a:p>
            <a:pPr algn="l"/>
            <a:endParaRPr lang="zh-CN" altLang="en-US" sz="3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44B2AE-FBA7-A817-40C4-1C4508F2185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276815" y="857819"/>
            <a:ext cx="5063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B4189"/>
                </a:solidFill>
                <a:latin typeface="+mj-ea"/>
                <a:ea typeface="+mj-ea"/>
                <a:cs typeface="思源黑体 3 Heavy"/>
                <a:sym typeface="思源黑体 3 Heavy"/>
              </a:rPr>
              <a:t>Research </a:t>
            </a:r>
            <a:r>
              <a:rPr lang="en-US" altLang="zh-CN" sz="36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Heavy"/>
                <a:sym typeface="思源黑体 3 Heavy"/>
              </a:rPr>
              <a:t>Methods</a:t>
            </a:r>
          </a:p>
          <a:p>
            <a:pPr algn="l"/>
            <a:endParaRPr lang="zh-CN" altLang="en-US" sz="3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67">
            <a:extLst>
              <a:ext uri="{FF2B5EF4-FFF2-40B4-BE49-F238E27FC236}">
                <a16:creationId xmlns:a16="http://schemas.microsoft.com/office/drawing/2014/main" id="{1749DF3A-56E5-D02F-2407-0C1DBB4837E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23823" y="4810159"/>
            <a:ext cx="1218442" cy="116685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ym typeface="Arial" panose="020B0604020202020204" pitchFamily="34" charset="0"/>
              </a:rPr>
              <a:t>0</a:t>
            </a:r>
            <a:r>
              <a:rPr lang="en-US" altLang="zh-CN" sz="3200" b="1" dirty="0">
                <a:sym typeface="Arial" panose="020B0604020202020204" pitchFamily="34" charset="0"/>
              </a:rPr>
              <a:t>3</a:t>
            </a:r>
            <a:endParaRPr lang="zh-CN" altLang="en-US" sz="3200" b="1" dirty="0">
              <a:sym typeface="Arial" panose="020B0604020202020204" pitchFamily="34" charset="0"/>
            </a:endParaRPr>
          </a:p>
        </p:txBody>
      </p:sp>
      <p:sp>
        <p:nvSpPr>
          <p:cNvPr id="7" name="Rounded Rectangle 67">
            <a:extLst>
              <a:ext uri="{FF2B5EF4-FFF2-40B4-BE49-F238E27FC236}">
                <a16:creationId xmlns:a16="http://schemas.microsoft.com/office/drawing/2014/main" id="{477409AB-26B2-4DC2-C530-905D1445B5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23823" y="3182070"/>
            <a:ext cx="1218442" cy="116685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ym typeface="Arial" panose="020B0604020202020204" pitchFamily="34" charset="0"/>
              </a:rPr>
              <a:t>0</a:t>
            </a:r>
            <a:r>
              <a:rPr lang="en-US" altLang="zh-CN" sz="3200" b="1" dirty="0">
                <a:sym typeface="Arial" panose="020B0604020202020204" pitchFamily="34" charset="0"/>
              </a:rPr>
              <a:t>2</a:t>
            </a:r>
            <a:endParaRPr lang="zh-CN" altLang="en-US" sz="3200" b="1" dirty="0">
              <a:sym typeface="Arial" panose="020B0604020202020204" pitchFamily="34" charset="0"/>
            </a:endParaRPr>
          </a:p>
        </p:txBody>
      </p:sp>
      <p:sp>
        <p:nvSpPr>
          <p:cNvPr id="8" name="Rounded Rectangle 47">
            <a:extLst>
              <a:ext uri="{FF2B5EF4-FFF2-40B4-BE49-F238E27FC236}">
                <a16:creationId xmlns:a16="http://schemas.microsoft.com/office/drawing/2014/main" id="{D9E02762-BCF9-30E2-27BE-58771012C6E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H="1">
            <a:off x="10622222" y="3182070"/>
            <a:ext cx="1221927" cy="1166858"/>
          </a:xfrm>
          <a:prstGeom prst="round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ym typeface="Arial" panose="020B0604020202020204" pitchFamily="34" charset="0"/>
              </a:rPr>
              <a:t>02</a:t>
            </a:r>
          </a:p>
        </p:txBody>
      </p:sp>
      <p:sp>
        <p:nvSpPr>
          <p:cNvPr id="9" name="Rounded Rectangle 47">
            <a:extLst>
              <a:ext uri="{FF2B5EF4-FFF2-40B4-BE49-F238E27FC236}">
                <a16:creationId xmlns:a16="http://schemas.microsoft.com/office/drawing/2014/main" id="{519CFBF2-F304-266B-EA75-85BA2AA484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flipH="1">
            <a:off x="10622221" y="4808575"/>
            <a:ext cx="1221927" cy="1166858"/>
          </a:xfrm>
          <a:prstGeom prst="round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ym typeface="Arial" panose="020B0604020202020204" pitchFamily="34" charset="0"/>
              </a:rPr>
              <a:t>0</a:t>
            </a:r>
            <a:r>
              <a:rPr lang="en-US" altLang="zh-CN" sz="3200" b="1" dirty="0">
                <a:sym typeface="Arial" panose="020B0604020202020204" pitchFamily="34" charset="0"/>
              </a:rPr>
              <a:t>3</a:t>
            </a:r>
            <a:endParaRPr lang="zh-CN" altLang="en-US" sz="3200" b="1" dirty="0">
              <a:sym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A16CF8-3333-95D7-C883-1FA1D3698D4A}"/>
              </a:ext>
            </a:extLst>
          </p:cNvPr>
          <p:cNvSpPr txBox="1"/>
          <p:nvPr/>
        </p:nvSpPr>
        <p:spPr>
          <a:xfrm>
            <a:off x="1754467" y="3307831"/>
            <a:ext cx="4261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Analyze the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performance, hedging properties &amp; cyclical characteristics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 two types of assets.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213A33-D151-F29B-6DD9-E5D0456268D9}"/>
              </a:ext>
            </a:extLst>
          </p:cNvPr>
          <p:cNvSpPr txBox="1"/>
          <p:nvPr/>
        </p:nvSpPr>
        <p:spPr>
          <a:xfrm>
            <a:off x="1813476" y="4831017"/>
            <a:ext cx="4141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 the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optimal cross-asset investment portfolio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of cryptocurrency and non-ferrous metals.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8AEC693-3DF5-74A1-A19E-5753265B98A0}"/>
              </a:ext>
            </a:extLst>
          </p:cNvPr>
          <p:cNvSpPr/>
          <p:nvPr/>
        </p:nvSpPr>
        <p:spPr>
          <a:xfrm>
            <a:off x="6089887" y="2000418"/>
            <a:ext cx="639491" cy="3308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3B426A24-1971-DCB2-5CBB-150134858279}"/>
              </a:ext>
            </a:extLst>
          </p:cNvPr>
          <p:cNvSpPr/>
          <p:nvPr/>
        </p:nvSpPr>
        <p:spPr>
          <a:xfrm>
            <a:off x="6092703" y="5199712"/>
            <a:ext cx="639491" cy="3308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7973F02-0762-9509-4F63-60143FA9677E}"/>
              </a:ext>
            </a:extLst>
          </p:cNvPr>
          <p:cNvSpPr/>
          <p:nvPr/>
        </p:nvSpPr>
        <p:spPr>
          <a:xfrm>
            <a:off x="6087317" y="3600065"/>
            <a:ext cx="639491" cy="3308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43C9FD4-9BA7-1673-A54B-09E10D3CB169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98BDD2CE-BF23-D295-2632-8F5327B7C377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51" name="直角三角形 50">
            <a:extLst>
              <a:ext uri="{FF2B5EF4-FFF2-40B4-BE49-F238E27FC236}">
                <a16:creationId xmlns:a16="http://schemas.microsoft.com/office/drawing/2014/main" id="{53D617CB-4297-9ED0-9D1F-2540118425F5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直角三角形 51">
            <a:extLst>
              <a:ext uri="{FF2B5EF4-FFF2-40B4-BE49-F238E27FC236}">
                <a16:creationId xmlns:a16="http://schemas.microsoft.com/office/drawing/2014/main" id="{D773D67E-E0FF-E5BC-EF18-C374B9E3CC98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Freeform 37">
            <a:extLst>
              <a:ext uri="{FF2B5EF4-FFF2-40B4-BE49-F238E27FC236}">
                <a16:creationId xmlns:a16="http://schemas.microsoft.com/office/drawing/2014/main" id="{A1AAAC59-C623-D7AA-2E59-7A8A1194FDB4}"/>
              </a:ext>
            </a:extLst>
          </p:cNvPr>
          <p:cNvSpPr/>
          <p:nvPr/>
        </p:nvSpPr>
        <p:spPr>
          <a:xfrm>
            <a:off x="7008642" y="4724118"/>
            <a:ext cx="3618822" cy="1335772"/>
          </a:xfrm>
          <a:custGeom>
            <a:avLst/>
            <a:gdLst/>
            <a:ahLst/>
            <a:cxnLst/>
            <a:rect l="l" t="t" r="r" b="b"/>
            <a:pathLst>
              <a:path w="1157337" h="1196345">
                <a:moveTo>
                  <a:pt x="0" y="0"/>
                </a:moveTo>
                <a:lnTo>
                  <a:pt x="1157337" y="0"/>
                </a:lnTo>
                <a:lnTo>
                  <a:pt x="1157337" y="1196345"/>
                </a:lnTo>
                <a:lnTo>
                  <a:pt x="0" y="1196345"/>
                </a:lnTo>
                <a:close/>
              </a:path>
            </a:pathLst>
          </a:custGeom>
          <a:solidFill>
            <a:srgbClr val="4660AF">
              <a:alpha val="10980"/>
            </a:srgbClr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CAPM regression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8" grpId="0" bldLvl="0" animBg="1"/>
      <p:bldP spid="48" grpId="0" bldLvl="0" animBg="1"/>
      <p:bldP spid="6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5474-2D56-381B-359E-F5B457F1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1A309A-9457-7DA0-C67A-43B2BCB07BE7}"/>
              </a:ext>
            </a:extLst>
          </p:cNvPr>
          <p:cNvGrpSpPr/>
          <p:nvPr/>
        </p:nvGrpSpPr>
        <p:grpSpPr>
          <a:xfrm rot="-2700000">
            <a:off x="8771246" y="-1553713"/>
            <a:ext cx="3075833" cy="3075833"/>
            <a:chOff x="0" y="0"/>
            <a:chExt cx="1096342" cy="1096342"/>
          </a:xfrm>
          <a:solidFill>
            <a:schemeClr val="accent1">
              <a:lumMod val="75000"/>
            </a:schemeClr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84BCA9-2F6E-3E51-A36B-0417D856E4A8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DF6128-4F0B-E226-CDEC-F301EEFCC989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2C685D5-2E56-F79A-09D8-EC2D5C9BB69C}"/>
              </a:ext>
            </a:extLst>
          </p:cNvPr>
          <p:cNvGrpSpPr/>
          <p:nvPr/>
        </p:nvGrpSpPr>
        <p:grpSpPr>
          <a:xfrm rot="-2700000">
            <a:off x="10732178" y="-427073"/>
            <a:ext cx="3075833" cy="3075833"/>
            <a:chOff x="0" y="0"/>
            <a:chExt cx="1096342" cy="109634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114AD86-241D-824C-5F9C-30DDF3656A36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4F1E5BE-8568-0A65-EFAF-F94AE3856C7A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161535E-7B36-B33E-65C0-45F48DB308BD}"/>
              </a:ext>
            </a:extLst>
          </p:cNvPr>
          <p:cNvGrpSpPr/>
          <p:nvPr/>
        </p:nvGrpSpPr>
        <p:grpSpPr>
          <a:xfrm rot="-2700000">
            <a:off x="11034681" y="2378538"/>
            <a:ext cx="1437629" cy="1437629"/>
            <a:chOff x="0" y="0"/>
            <a:chExt cx="512425" cy="512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5E926EA-9FAF-095F-F756-81D788F92A46}"/>
                </a:ext>
              </a:extLst>
            </p:cNvPr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FECC8C4-1148-2A19-B612-922DB8B4A776}"/>
                </a:ext>
              </a:extLst>
            </p:cNvPr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6FE936A-090C-8815-D9E5-02B7ECEDB8FE}"/>
              </a:ext>
            </a:extLst>
          </p:cNvPr>
          <p:cNvGrpSpPr/>
          <p:nvPr/>
        </p:nvGrpSpPr>
        <p:grpSpPr>
          <a:xfrm rot="8100000">
            <a:off x="-1322475" y="4784644"/>
            <a:ext cx="2775115" cy="2775115"/>
            <a:chOff x="0" y="0"/>
            <a:chExt cx="1096342" cy="109634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C7FA017-C712-C1FF-FF73-29A465B56B9A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20F1CA5-DD14-CE33-B48B-15258A8DA864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2CE273D-7ADF-91F3-69BE-846381AB4D88}"/>
              </a:ext>
            </a:extLst>
          </p:cNvPr>
          <p:cNvGrpSpPr/>
          <p:nvPr/>
        </p:nvGrpSpPr>
        <p:grpSpPr>
          <a:xfrm rot="8100000">
            <a:off x="-1051084" y="4007667"/>
            <a:ext cx="1297075" cy="1297075"/>
            <a:chOff x="0" y="0"/>
            <a:chExt cx="512425" cy="51242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1B71E25-A178-8D7F-CEF7-93CEB2FE65FB}"/>
                </a:ext>
              </a:extLst>
            </p:cNvPr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12F81CE-0B71-AD95-D548-EE4E807E7462}"/>
                </a:ext>
              </a:extLst>
            </p:cNvPr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300A858-D32A-54A6-C7C4-9EBC1CF1A1A3}"/>
              </a:ext>
            </a:extLst>
          </p:cNvPr>
          <p:cNvGrpSpPr/>
          <p:nvPr/>
        </p:nvGrpSpPr>
        <p:grpSpPr>
          <a:xfrm>
            <a:off x="1781421" y="3238195"/>
            <a:ext cx="3791455" cy="329388"/>
            <a:chOff x="0" y="0"/>
            <a:chExt cx="1497859" cy="13012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610F047-7334-FF0E-2263-79EF54B786F8}"/>
                </a:ext>
              </a:extLst>
            </p:cNvPr>
            <p:cNvSpPr/>
            <p:nvPr/>
          </p:nvSpPr>
          <p:spPr>
            <a:xfrm>
              <a:off x="0" y="0"/>
              <a:ext cx="1497859" cy="130129"/>
            </a:xfrm>
            <a:custGeom>
              <a:avLst/>
              <a:gdLst/>
              <a:ahLst/>
              <a:cxnLst/>
              <a:rect l="l" t="t" r="r" b="b"/>
              <a:pathLst>
                <a:path w="1497859" h="130129">
                  <a:moveTo>
                    <a:pt x="0" y="0"/>
                  </a:moveTo>
                  <a:lnTo>
                    <a:pt x="1497859" y="0"/>
                  </a:lnTo>
                  <a:lnTo>
                    <a:pt x="1497859" y="130129"/>
                  </a:lnTo>
                  <a:lnTo>
                    <a:pt x="0" y="1301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41A74F6-1BB6-F641-F188-1471D854670D}"/>
                </a:ext>
              </a:extLst>
            </p:cNvPr>
            <p:cNvSpPr txBox="1"/>
            <p:nvPr/>
          </p:nvSpPr>
          <p:spPr>
            <a:xfrm>
              <a:off x="0" y="-47625"/>
              <a:ext cx="1497859" cy="1777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70AA3F2-D882-B04B-9ACD-8FDB449D3457}"/>
              </a:ext>
            </a:extLst>
          </p:cNvPr>
          <p:cNvSpPr txBox="1"/>
          <p:nvPr/>
        </p:nvSpPr>
        <p:spPr>
          <a:xfrm>
            <a:off x="2027386" y="3213100"/>
            <a:ext cx="354549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  <a:spcBef>
                <a:spcPct val="0"/>
              </a:spcBef>
            </a:pPr>
            <a:r>
              <a:rPr lang="en-US" sz="1267" dirty="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Background significance of the topic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7242BEC-47F4-B91D-9D1D-4F5A40D15F72}"/>
              </a:ext>
            </a:extLst>
          </p:cNvPr>
          <p:cNvSpPr txBox="1"/>
          <p:nvPr/>
        </p:nvSpPr>
        <p:spPr>
          <a:xfrm>
            <a:off x="258679" y="2080794"/>
            <a:ext cx="11811298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02 </a:t>
            </a:r>
            <a:r>
              <a:rPr lang="en-US" altLang="zh-CN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Analysis of data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56594F2-707D-DF89-CDBB-16CCFE4B15EC}"/>
              </a:ext>
            </a:extLst>
          </p:cNvPr>
          <p:cNvGrpSpPr/>
          <p:nvPr/>
        </p:nvGrpSpPr>
        <p:grpSpPr>
          <a:xfrm rot="8100000">
            <a:off x="-90480" y="6450623"/>
            <a:ext cx="4235732" cy="4235732"/>
            <a:chOff x="0" y="0"/>
            <a:chExt cx="1247445" cy="1247445"/>
          </a:xfrm>
          <a:solidFill>
            <a:schemeClr val="accent1">
              <a:lumMod val="75000"/>
            </a:schemeClr>
          </a:solidFill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BE1891F-9CBE-D3D6-20A2-2705F16B7EF1}"/>
                </a:ext>
              </a:extLst>
            </p:cNvPr>
            <p:cNvSpPr/>
            <p:nvPr/>
          </p:nvSpPr>
          <p:spPr>
            <a:xfrm>
              <a:off x="0" y="0"/>
              <a:ext cx="1247445" cy="1247445"/>
            </a:xfrm>
            <a:custGeom>
              <a:avLst/>
              <a:gdLst/>
              <a:ahLst/>
              <a:cxnLst/>
              <a:rect l="l" t="t" r="r" b="b"/>
              <a:pathLst>
                <a:path w="1247445" h="1247445">
                  <a:moveTo>
                    <a:pt x="0" y="0"/>
                  </a:moveTo>
                  <a:lnTo>
                    <a:pt x="1247445" y="0"/>
                  </a:lnTo>
                  <a:lnTo>
                    <a:pt x="1247445" y="1247445"/>
                  </a:lnTo>
                  <a:lnTo>
                    <a:pt x="0" y="1247445"/>
                  </a:lnTo>
                  <a:close/>
                </a:path>
              </a:pathLst>
            </a:custGeom>
            <a:grpFill/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2DF5332-BD8C-A339-C1C0-FE1909D0B5A2}"/>
                </a:ext>
              </a:extLst>
            </p:cNvPr>
            <p:cNvSpPr txBox="1"/>
            <p:nvPr/>
          </p:nvSpPr>
          <p:spPr>
            <a:xfrm>
              <a:off x="0" y="-47625"/>
              <a:ext cx="1247445" cy="129507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E75EFCE5-CE0B-71CB-83C6-E58A65BA725D}"/>
              </a:ext>
            </a:extLst>
          </p:cNvPr>
          <p:cNvSpPr txBox="1"/>
          <p:nvPr/>
        </p:nvSpPr>
        <p:spPr>
          <a:xfrm>
            <a:off x="4559385" y="2643149"/>
            <a:ext cx="5346579" cy="87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80"/>
              </a:lnSpc>
            </a:pPr>
            <a:r>
              <a:rPr lang="en-US" sz="6400" b="1" dirty="0">
                <a:solidFill>
                  <a:srgbClr val="100F0D"/>
                </a:solidFill>
                <a:latin typeface="思源黑体 3 Bold"/>
                <a:ea typeface="思源黑体 3 Bold"/>
                <a:cs typeface="思源黑体 3 Bold"/>
                <a:sym typeface="思源黑体 3 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56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4DF9A-237F-8811-685D-8914E01A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551646FA-D539-7949-554A-926205A48D57}"/>
              </a:ext>
            </a:extLst>
          </p:cNvPr>
          <p:cNvGrpSpPr/>
          <p:nvPr/>
        </p:nvGrpSpPr>
        <p:grpSpPr>
          <a:xfrm>
            <a:off x="819356" y="1619079"/>
            <a:ext cx="10686845" cy="4939633"/>
            <a:chOff x="0" y="0"/>
            <a:chExt cx="4221963" cy="19514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4F791DE-FF89-54A5-BFD8-F95CD98FC2B5}"/>
                </a:ext>
              </a:extLst>
            </p:cNvPr>
            <p:cNvSpPr/>
            <p:nvPr/>
          </p:nvSpPr>
          <p:spPr>
            <a:xfrm>
              <a:off x="0" y="0"/>
              <a:ext cx="4221963" cy="1951460"/>
            </a:xfrm>
            <a:custGeom>
              <a:avLst/>
              <a:gdLst/>
              <a:ahLst/>
              <a:cxnLst/>
              <a:rect l="l" t="t" r="r" b="b"/>
              <a:pathLst>
                <a:path w="4221963" h="1951460">
                  <a:moveTo>
                    <a:pt x="0" y="0"/>
                  </a:moveTo>
                  <a:lnTo>
                    <a:pt x="4221963" y="0"/>
                  </a:lnTo>
                  <a:lnTo>
                    <a:pt x="4221963" y="1951460"/>
                  </a:lnTo>
                  <a:lnTo>
                    <a:pt x="0" y="195146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CBCC5C3-83FF-7D7C-11F0-67DAF1EC20A4}"/>
                </a:ext>
              </a:extLst>
            </p:cNvPr>
            <p:cNvSpPr txBox="1"/>
            <p:nvPr/>
          </p:nvSpPr>
          <p:spPr>
            <a:xfrm>
              <a:off x="0" y="-38100"/>
              <a:ext cx="4221963" cy="198956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F05D680-C0F5-AB58-ECBC-E5A48821C3BF}"/>
              </a:ext>
            </a:extLst>
          </p:cNvPr>
          <p:cNvSpPr/>
          <p:nvPr/>
        </p:nvSpPr>
        <p:spPr>
          <a:xfrm>
            <a:off x="641350" y="1012140"/>
            <a:ext cx="5044919" cy="1213877"/>
          </a:xfrm>
          <a:custGeom>
            <a:avLst/>
            <a:gdLst/>
            <a:ahLst/>
            <a:cxnLst/>
            <a:rect l="l" t="t" r="r" b="b"/>
            <a:pathLst>
              <a:path w="7567379" h="1820815">
                <a:moveTo>
                  <a:pt x="0" y="0"/>
                </a:moveTo>
                <a:lnTo>
                  <a:pt x="7567379" y="0"/>
                </a:lnTo>
                <a:lnTo>
                  <a:pt x="7567379" y="1820815"/>
                </a:lnTo>
                <a:lnTo>
                  <a:pt x="0" y="1820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59" t="-137740" r="-7583" b="-82193"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0A91A22-A99A-D22C-7628-7EF72178DF22}"/>
              </a:ext>
            </a:extLst>
          </p:cNvPr>
          <p:cNvSpPr/>
          <p:nvPr/>
        </p:nvSpPr>
        <p:spPr>
          <a:xfrm>
            <a:off x="641349" y="2675120"/>
            <a:ext cx="5044917" cy="1213877"/>
          </a:xfrm>
          <a:custGeom>
            <a:avLst/>
            <a:gdLst/>
            <a:ahLst/>
            <a:cxnLst/>
            <a:rect l="l" t="t" r="r" b="b"/>
            <a:pathLst>
              <a:path w="7567379" h="1820815">
                <a:moveTo>
                  <a:pt x="0" y="0"/>
                </a:moveTo>
                <a:lnTo>
                  <a:pt x="7567379" y="0"/>
                </a:lnTo>
                <a:lnTo>
                  <a:pt x="7567379" y="1820816"/>
                </a:lnTo>
                <a:lnTo>
                  <a:pt x="0" y="1820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129" t="-110729" r="-22089" b="-131903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123223E-8A4F-DFF1-7057-2981B64B57C9}"/>
              </a:ext>
            </a:extLst>
          </p:cNvPr>
          <p:cNvSpPr/>
          <p:nvPr/>
        </p:nvSpPr>
        <p:spPr>
          <a:xfrm>
            <a:off x="641349" y="4453707"/>
            <a:ext cx="5044917" cy="1238577"/>
          </a:xfrm>
          <a:custGeom>
            <a:avLst/>
            <a:gdLst/>
            <a:ahLst/>
            <a:cxnLst/>
            <a:rect l="l" t="t" r="r" b="b"/>
            <a:pathLst>
              <a:path w="7567379" h="1857866">
                <a:moveTo>
                  <a:pt x="0" y="0"/>
                </a:moveTo>
                <a:lnTo>
                  <a:pt x="7567379" y="0"/>
                </a:lnTo>
                <a:lnTo>
                  <a:pt x="7567379" y="1857866"/>
                </a:lnTo>
                <a:lnTo>
                  <a:pt x="0" y="1857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6114" r="-15542" b="-7439"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B8C5716-9010-8601-C704-F28DDE9DE581}"/>
              </a:ext>
            </a:extLst>
          </p:cNvPr>
          <p:cNvSpPr txBox="1"/>
          <p:nvPr/>
        </p:nvSpPr>
        <p:spPr>
          <a:xfrm>
            <a:off x="6505733" y="1012140"/>
            <a:ext cx="3301053" cy="1644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2800" dirty="0">
                <a:solidFill>
                  <a:srgbClr val="0B4189"/>
                </a:solidFill>
                <a:latin typeface="+mn-ea"/>
                <a:cs typeface="思源黑体 3"/>
                <a:sym typeface="思源黑体 3"/>
              </a:rPr>
              <a:t>Cryptocurrency</a:t>
            </a:r>
          </a:p>
          <a:p>
            <a:pPr algn="just">
              <a:lnSpc>
                <a:spcPts val="4480"/>
              </a:lnSpc>
            </a:pPr>
            <a:r>
              <a:rPr lang="en-US" altLang="zh-CN" sz="2800" dirty="0">
                <a:solidFill>
                  <a:srgbClr val="0B4189"/>
                </a:solidFill>
                <a:latin typeface="+mn-ea"/>
                <a:cs typeface="思源黑体 3"/>
                <a:sym typeface="思源黑体 3"/>
              </a:rPr>
              <a:t>BTC、ETH、USDT</a:t>
            </a:r>
          </a:p>
          <a:p>
            <a:pPr algn="just">
              <a:lnSpc>
                <a:spcPts val="4480"/>
              </a:lnSpc>
            </a:pPr>
            <a:endParaRPr lang="en-US" sz="2666" dirty="0">
              <a:solidFill>
                <a:srgbClr val="1E1E1E"/>
              </a:solidFill>
              <a:latin typeface="思源黑体 3"/>
              <a:ea typeface="思源黑体 3"/>
              <a:cs typeface="思源黑体 3"/>
              <a:sym typeface="思源黑体 3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F610E7E-E7E9-B569-A01F-D7564B5DE5F4}"/>
              </a:ext>
            </a:extLst>
          </p:cNvPr>
          <p:cNvSpPr txBox="1"/>
          <p:nvPr/>
        </p:nvSpPr>
        <p:spPr>
          <a:xfrm>
            <a:off x="6498806" y="2734377"/>
            <a:ext cx="5044917" cy="109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2800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Non-ferrous metals</a:t>
            </a:r>
          </a:p>
          <a:p>
            <a:pPr algn="just">
              <a:lnSpc>
                <a:spcPts val="4480"/>
              </a:lnSpc>
            </a:pPr>
            <a:r>
              <a:rPr lang="en-US" sz="2800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Gold 、Silver</a:t>
            </a:r>
            <a:r>
              <a:rPr lang="en-US" altLang="zh-CN" sz="2800" dirty="0">
                <a:solidFill>
                  <a:srgbClr val="0B4189"/>
                </a:solidFill>
                <a:latin typeface="+mn-ea"/>
                <a:cs typeface="思源黑体 3"/>
                <a:sym typeface="思源黑体 3"/>
              </a:rPr>
              <a:t> 、</a:t>
            </a:r>
            <a:r>
              <a:rPr lang="en-US" sz="2800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Copper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2FB36BC-833C-A037-4D9A-A082D84F964C}"/>
              </a:ext>
            </a:extLst>
          </p:cNvPr>
          <p:cNvSpPr txBox="1"/>
          <p:nvPr/>
        </p:nvSpPr>
        <p:spPr>
          <a:xfrm>
            <a:off x="6500308" y="4435399"/>
            <a:ext cx="5513645" cy="109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2800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Macroeconomic Risk Indicators</a:t>
            </a:r>
          </a:p>
          <a:p>
            <a:pPr algn="just">
              <a:lnSpc>
                <a:spcPts val="4480"/>
              </a:lnSpc>
            </a:pPr>
            <a:r>
              <a:rPr lang="en-US" altLang="zh-CN" sz="2800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VIX、DXY、TNX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E9B083-FCB7-DB07-ADB7-C3E45D9D8F62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CFA2466-B6C4-9E87-D989-30A189C5EF9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41350" y="110490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198F82E-3386-AC88-EA0D-8DDE7906290D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1CC7CCE-DB1C-3654-CBFF-E7812C5FA859}"/>
              </a:ext>
            </a:extLst>
          </p:cNvPr>
          <p:cNvSpPr txBox="1"/>
          <p:nvPr/>
        </p:nvSpPr>
        <p:spPr>
          <a:xfrm>
            <a:off x="648829" y="6000831"/>
            <a:ext cx="10355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source</a:t>
            </a:r>
            <a:r>
              <a:rPr lang="en-US" altLang="zh-CN" sz="28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Yahoo Finance</a:t>
            </a:r>
            <a:endParaRPr lang="zh-CN" altLang="en-US" sz="2800" b="1" dirty="0">
              <a:solidFill>
                <a:srgbClr val="0B41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5513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41350" y="110490"/>
            <a:ext cx="9269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Linear correlation analysis</a:t>
            </a:r>
          </a:p>
          <a:p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38412" y="1099505"/>
            <a:ext cx="3960000" cy="1440000"/>
          </a:xfrm>
          <a:prstGeom prst="rect">
            <a:avLst/>
          </a:prstGeom>
          <a:noFill/>
          <a:ln w="19050">
            <a:solidFill>
              <a:srgbClr val="0B4189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B4189"/>
                </a:solidFill>
              </a:rPr>
              <a:t>Use the Pearson correlation coefficient to measure the degree of linear linkage between assets.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386EC34-F2E5-6863-A16D-C994D8A15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" y="814705"/>
            <a:ext cx="6816011" cy="6051884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F0CC5CD-454C-FDD0-2B03-5780F2017AA0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169DCE8A-A19A-15C2-69C9-7F9F5A729704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6" name="直角三角形 25">
            <a:extLst>
              <a:ext uri="{FF2B5EF4-FFF2-40B4-BE49-F238E27FC236}">
                <a16:creationId xmlns:a16="http://schemas.microsoft.com/office/drawing/2014/main" id="{E8450F8F-85E3-FD8E-8261-2581C47DE5D1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直角三角形 26">
            <a:extLst>
              <a:ext uri="{FF2B5EF4-FFF2-40B4-BE49-F238E27FC236}">
                <a16:creationId xmlns:a16="http://schemas.microsoft.com/office/drawing/2014/main" id="{B1C3CF01-3899-2B4B-4ECC-967062B64D30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EEA6B5-21DA-0447-FCE7-F791F39A4FAB}"/>
              </a:ext>
            </a:extLst>
          </p:cNvPr>
          <p:cNvSpPr txBox="1"/>
          <p:nvPr/>
        </p:nvSpPr>
        <p:spPr>
          <a:xfrm>
            <a:off x="7738412" y="3430800"/>
            <a:ext cx="404672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No linear correlation </a:t>
            </a:r>
            <a:r>
              <a:rPr lang="en-US" altLang="zh-CN" sz="2400" b="1" dirty="0"/>
              <a:t>between assets from different categories.</a:t>
            </a:r>
          </a:p>
          <a:p>
            <a:endParaRPr lang="zh-CN" altLang="en-US" sz="16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95C5-71B3-5B7D-A4E2-BB5EC786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5405494-E01C-6E7B-3CD3-DF0F3D32A3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Nonlinear correlation analysis</a:t>
            </a:r>
          </a:p>
          <a:p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D41C63-0C37-1DC0-7AEF-B6151CCE6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" y="814704"/>
            <a:ext cx="6740024" cy="6049523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0476937-F998-2490-D781-FFEC856C2562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2CEBB32-1D27-26F3-3793-F684D9665F75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121B0DA5-6C25-EBBD-1514-876DDBA3D243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69C1D3B5-F856-E25F-ECFE-4D8B1EDBDB4A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DF9AD8-3302-FDB2-4ACA-CD5C737669E6}"/>
              </a:ext>
            </a:extLst>
          </p:cNvPr>
          <p:cNvSpPr/>
          <p:nvPr/>
        </p:nvSpPr>
        <p:spPr>
          <a:xfrm>
            <a:off x="7740000" y="1098000"/>
            <a:ext cx="3960000" cy="1439158"/>
          </a:xfrm>
          <a:prstGeom prst="rect">
            <a:avLst/>
          </a:prstGeom>
          <a:noFill/>
          <a:ln w="19050">
            <a:solidFill>
              <a:srgbClr val="0B4189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B4189"/>
                </a:solidFill>
              </a:rPr>
              <a:t>Mutual information matrix, compensating for the limitations of the linear correlation coefficient.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CE373D2-BA3B-4E84-63E6-4CFEAB9B4644}"/>
              </a:ext>
            </a:extLst>
          </p:cNvPr>
          <p:cNvSpPr txBox="1"/>
          <p:nvPr/>
        </p:nvSpPr>
        <p:spPr>
          <a:xfrm>
            <a:off x="7740000" y="3429000"/>
            <a:ext cx="46465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No nonlinear correlation </a:t>
            </a:r>
            <a:r>
              <a:rPr lang="en-US" altLang="zh-CN" sz="2400" b="1" dirty="0"/>
              <a:t>between assets from different categories.</a:t>
            </a:r>
          </a:p>
          <a:p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2595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D53DD-6AE2-2817-DAFE-0B72E85A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478C767-838E-13CB-509B-A30B9697B84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Volatility correlation analysis</a:t>
            </a:r>
          </a:p>
          <a:p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ACAAA7B-66E1-7324-EDF7-08FE6ECF456D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66B0DD7-AF91-EA43-AC5F-20536FD50867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B2BDB0C4-0B6B-9F62-8217-B0758F2557C3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20BA25-EC58-F396-88B8-9560C55D77C1}"/>
              </a:ext>
            </a:extLst>
          </p:cNvPr>
          <p:cNvSpPr/>
          <p:nvPr/>
        </p:nvSpPr>
        <p:spPr>
          <a:xfrm>
            <a:off x="7740000" y="1098000"/>
            <a:ext cx="3960000" cy="1440000"/>
          </a:xfrm>
          <a:prstGeom prst="rect">
            <a:avLst/>
          </a:prstGeom>
          <a:noFill/>
          <a:ln w="19050">
            <a:solidFill>
              <a:srgbClr val="0B4189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B4189"/>
                </a:solidFill>
              </a:rPr>
              <a:t>Show the risk linkage patterns between various assets and macro indicators.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DF207F-8ECB-CAAE-8FD2-00EAA3B03E19}"/>
              </a:ext>
            </a:extLst>
          </p:cNvPr>
          <p:cNvSpPr txBox="1"/>
          <p:nvPr/>
        </p:nvSpPr>
        <p:spPr>
          <a:xfrm>
            <a:off x="7740000" y="3430800"/>
            <a:ext cx="44535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No volatility correlation </a:t>
            </a:r>
            <a:r>
              <a:rPr lang="en-US" altLang="zh-CN" sz="2400" b="1" dirty="0"/>
              <a:t>between assets from different categories.</a:t>
            </a:r>
          </a:p>
          <a:p>
            <a:endParaRPr lang="zh-CN" altLang="en-US" sz="16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CC00DAD-D012-EC6C-7017-105F12476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69" y="924419"/>
            <a:ext cx="6191679" cy="5587200"/>
          </a:xfrm>
          <a:prstGeom prst="rect">
            <a:avLst/>
          </a:prstGeom>
        </p:spPr>
      </p:pic>
      <p:sp>
        <p:nvSpPr>
          <p:cNvPr id="17" name="直角三角形 16">
            <a:extLst>
              <a:ext uri="{FF2B5EF4-FFF2-40B4-BE49-F238E27FC236}">
                <a16:creationId xmlns:a16="http://schemas.microsoft.com/office/drawing/2014/main" id="{C2DCFF55-D2E0-56AB-C638-9BCB18AB31DE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420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295820" y="1207150"/>
            <a:ext cx="3197653" cy="3604135"/>
            <a:chOff x="0" y="0"/>
            <a:chExt cx="812800" cy="9161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916122"/>
            </a:xfrm>
            <a:custGeom>
              <a:avLst/>
              <a:gdLst/>
              <a:ahLst/>
              <a:cxnLst/>
              <a:rect l="l" t="t" r="r" b="b"/>
              <a:pathLst>
                <a:path w="812800" h="916122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56102"/>
                  </a:lnTo>
                  <a:lnTo>
                    <a:pt x="160020" y="916122"/>
                  </a:lnTo>
                  <a:lnTo>
                    <a:pt x="652780" y="916122"/>
                  </a:lnTo>
                  <a:lnTo>
                    <a:pt x="812800" y="756102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500" y="15875"/>
              <a:ext cx="685800" cy="8367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1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75A5AC7B-17D1-3807-34CA-AF03AA87AF72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E865B3B-E127-8CEC-04AA-C10AAAE41D8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Discussion 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CDB2800-F23B-A209-B24D-57F03B939DF9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E576057C-EA43-24B9-3E76-FF8E3BA2A1E4}"/>
              </a:ext>
            </a:extLst>
          </p:cNvPr>
          <p:cNvSpPr txBox="1"/>
          <p:nvPr/>
        </p:nvSpPr>
        <p:spPr>
          <a:xfrm>
            <a:off x="1756839" y="2377153"/>
            <a:ext cx="88793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 far, we did not identify any static correlation among the assets. </a:t>
            </a:r>
          </a:p>
          <a:p>
            <a:endParaRPr lang="en-US" altLang="zh-CN" sz="2800" b="1" dirty="0">
              <a:solidFill>
                <a:srgbClr val="0B41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Thus, we try to compare different markets and capture rolling correlation and price trends.</a:t>
            </a:r>
            <a:endParaRPr lang="zh-CN" altLang="en-US" sz="2800" b="1" dirty="0">
              <a:solidFill>
                <a:srgbClr val="0B41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1F0B-DD12-580C-A673-2ACAAC42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DEB4B1-D8B4-AF01-1DD5-E2E4976FAC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price trends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7634003-B7E2-03B2-2128-1A24AFAB4C10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02109CB-FC17-7ED7-63F3-BA5F044B4FB3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2513DB8B-6F16-7793-BFBE-8E72B756F076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0D86E245-C4E1-B084-5CA4-92092E151E34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6FF664-0C27-34D6-60ED-AAD06A3F1A0A}"/>
              </a:ext>
            </a:extLst>
          </p:cNvPr>
          <p:cNvSpPr/>
          <p:nvPr/>
        </p:nvSpPr>
        <p:spPr>
          <a:xfrm>
            <a:off x="6660000" y="2160000"/>
            <a:ext cx="4500000" cy="1080000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There is a significant time-varying dynamic correlation between cryptocurrencies.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C592DA-D398-7A97-FB57-D9F05B0106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" y="938363"/>
            <a:ext cx="6143187" cy="49812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1535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E32C5-9E98-E3BE-C140-C8258C34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416115E-4464-B37E-2744-2D294789130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price trends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38C280C-E12D-6B68-DD7B-12628EAACC4F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80CAF75-97E7-7F39-AB04-DD6ACC87BF21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0D653FD7-D21F-078D-6690-108BC2CB457A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62063073-9755-808D-3AA9-9688EA36BEB6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977297-0FCE-C674-E908-CF8B2F610194}"/>
              </a:ext>
            </a:extLst>
          </p:cNvPr>
          <p:cNvSpPr/>
          <p:nvPr/>
        </p:nvSpPr>
        <p:spPr>
          <a:xfrm>
            <a:off x="6660000" y="2160000"/>
            <a:ext cx="4500000" cy="1080000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There are significant time-varying price dynamic correlations among various non-ferrous metals.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F510D9-8C1F-0EE5-5716-6BADF36F2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00" y="939600"/>
            <a:ext cx="6144576" cy="4982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745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B4132-82FF-6BE7-B334-D95D2A53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1A5E54-31F3-ED42-AFDC-0C18CC523F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price trends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2ADA05-F90E-FE6E-E683-A71DAA09D7BF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C0F3D0D2-FFDB-04B6-1EA5-09050B468DCA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5DDF3130-893F-EBF3-44F7-E82E3857830E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48CCF697-E750-1D0D-669C-A497C9B64598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88EC3F-36B9-A628-8A2E-18C1ABE61DFB}"/>
              </a:ext>
            </a:extLst>
          </p:cNvPr>
          <p:cNvSpPr/>
          <p:nvPr/>
        </p:nvSpPr>
        <p:spPr>
          <a:xfrm>
            <a:off x="7578436" y="2160000"/>
            <a:ext cx="3581564" cy="1068043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There is no dynamic correlation among various risk indices.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6C0C13-D2FC-8A81-4BB2-BD7C964E8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00" y="939600"/>
            <a:ext cx="6678492" cy="4982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6685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39D4-2862-68E9-1341-F8DC49C9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611039-3312-198D-E991-1BADAD00BC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price trends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D2BE6B8-EC7D-817B-278E-6FA63BCE3841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5954A7AD-739E-BD0C-EE72-4F6E47388064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62E016C9-6DCF-7347-0DAC-51D1D51F7BB0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87C9B4FF-A48D-57CF-AA36-2F51C136E176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A5211336-B573-9741-0794-CBAD8BDD40A3}"/>
              </a:ext>
            </a:extLst>
          </p:cNvPr>
          <p:cNvGrpSpPr/>
          <p:nvPr/>
        </p:nvGrpSpPr>
        <p:grpSpPr>
          <a:xfrm>
            <a:off x="792646" y="734042"/>
            <a:ext cx="9653459" cy="4353257"/>
            <a:chOff x="2227235" y="-463942"/>
            <a:chExt cx="10674519" cy="7536818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FC79B49D-5CA7-7EF0-225D-23B0DF0DBA5C}"/>
                </a:ext>
              </a:extLst>
            </p:cNvPr>
            <p:cNvSpPr/>
            <p:nvPr/>
          </p:nvSpPr>
          <p:spPr>
            <a:xfrm>
              <a:off x="2227235" y="-463942"/>
              <a:ext cx="10674519" cy="7536818"/>
            </a:xfrm>
            <a:custGeom>
              <a:avLst/>
              <a:gdLst/>
              <a:ahLst/>
              <a:cxnLst/>
              <a:rect l="l" t="t" r="r" b="b"/>
              <a:pathLst>
                <a:path w="10674519" h="7536818">
                  <a:moveTo>
                    <a:pt x="0" y="0"/>
                  </a:moveTo>
                  <a:lnTo>
                    <a:pt x="10674519" y="0"/>
                  </a:lnTo>
                  <a:lnTo>
                    <a:pt x="10674519" y="7536818"/>
                  </a:lnTo>
                  <a:lnTo>
                    <a:pt x="0" y="7536818"/>
                  </a:lnTo>
                </a:path>
              </a:pathLst>
            </a:custGeom>
            <a:blipFill>
              <a:blip r:embed="rId4"/>
              <a:stretch>
                <a:fillRect t="-456" b="-456"/>
              </a:stretch>
            </a:blipFill>
          </p:spPr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5DFE2EF3-D92B-D5DC-2107-65D4AC279B67}"/>
              </a:ext>
            </a:extLst>
          </p:cNvPr>
          <p:cNvSpPr/>
          <p:nvPr/>
        </p:nvSpPr>
        <p:spPr>
          <a:xfrm>
            <a:off x="1078998" y="5386519"/>
            <a:ext cx="10034003" cy="1007354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 normalizing prices and macro risk indicators, the differences in trends between cryptocurrencies, non-ferrous metals, and the global macro environment from 2018 to 2026 are intuitively compared.</a:t>
            </a: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8449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9D27-20CF-3C3E-2BAD-7D1765B0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2590EBA-25C4-88CB-0C19-691E01529C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rolling correlation 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4D0576B-6459-F1C7-96C3-2205F10A8464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9732953-C7C4-683D-B223-2C44D791D85B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CB5CE436-F9C0-2C4F-8875-FE9CA5FEADA7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3E8D2830-496A-8A99-EA8A-BC8C9EA2B80F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5703B2-3001-FE1B-4B2F-011E41A93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91" y="765996"/>
            <a:ext cx="7547283" cy="575704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AB19DA4-3703-F5D9-B3C7-C4DA892F641A}"/>
              </a:ext>
            </a:extLst>
          </p:cNvPr>
          <p:cNvSpPr/>
          <p:nvPr/>
        </p:nvSpPr>
        <p:spPr>
          <a:xfrm>
            <a:off x="222940" y="2497283"/>
            <a:ext cx="2679587" cy="1863433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Dynamically display the </a:t>
            </a:r>
            <a:r>
              <a:rPr lang="en-US" altLang="zh-CN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correlated changes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of Bitcoin (BTC), gold (Gold), and other assets.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1295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C34A-7BE0-D922-C503-4D2949B88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C349D054-F11E-84EB-3670-1CEC5FE51408}"/>
              </a:ext>
            </a:extLst>
          </p:cNvPr>
          <p:cNvSpPr/>
          <p:nvPr/>
        </p:nvSpPr>
        <p:spPr>
          <a:xfrm>
            <a:off x="4178353" y="1864696"/>
            <a:ext cx="4205037" cy="3128608"/>
          </a:xfrm>
          <a:custGeom>
            <a:avLst/>
            <a:gdLst/>
            <a:ahLst/>
            <a:cxnLst/>
            <a:rect l="l" t="t" r="r" b="b"/>
            <a:pathLst>
              <a:path w="812800" h="916122">
                <a:moveTo>
                  <a:pt x="652780" y="0"/>
                </a:moveTo>
                <a:lnTo>
                  <a:pt x="160020" y="0"/>
                </a:lnTo>
                <a:lnTo>
                  <a:pt x="0" y="160020"/>
                </a:lnTo>
                <a:lnTo>
                  <a:pt x="0" y="756102"/>
                </a:lnTo>
                <a:lnTo>
                  <a:pt x="160020" y="916122"/>
                </a:lnTo>
                <a:lnTo>
                  <a:pt x="652780" y="916122"/>
                </a:lnTo>
                <a:lnTo>
                  <a:pt x="812800" y="756102"/>
                </a:lnTo>
                <a:lnTo>
                  <a:pt x="812800" y="160020"/>
                </a:lnTo>
                <a:lnTo>
                  <a:pt x="652780" y="0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5400000" scaled="1"/>
            <a:tileRect/>
          </a:gradFill>
          <a:ln cap="sq">
            <a:noFill/>
            <a:prstDash val="solid"/>
            <a:miter/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DF5698C-5FB8-33F8-7400-7BDA48BE7B1A}"/>
              </a:ext>
            </a:extLst>
          </p:cNvPr>
          <p:cNvSpPr txBox="1"/>
          <p:nvPr/>
        </p:nvSpPr>
        <p:spPr>
          <a:xfrm>
            <a:off x="4434386" y="2241208"/>
            <a:ext cx="3696958" cy="1359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0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There is 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no dynamic correlation </a:t>
            </a:r>
            <a:r>
              <a:rPr lang="en-US" sz="20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between cryptocurrency and non-ferrous metals.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4811E3B-477B-F4EB-050F-28C33184E6E4}"/>
              </a:ext>
            </a:extLst>
          </p:cNvPr>
          <p:cNvSpPr txBox="1"/>
          <p:nvPr/>
        </p:nvSpPr>
        <p:spPr>
          <a:xfrm>
            <a:off x="641350" y="1422112"/>
            <a:ext cx="3419308" cy="3199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Result A</a:t>
            </a:r>
          </a:p>
          <a:p>
            <a:pPr algn="ctr">
              <a:lnSpc>
                <a:spcPts val="2912"/>
              </a:lnSpc>
              <a:spcBef>
                <a:spcPct val="0"/>
              </a:spcBef>
            </a:pPr>
            <a:endParaRPr lang="en-US" sz="2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/>
              <a:sym typeface="思源黑体 3 Bold"/>
            </a:endParaRP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The linear and nonlinear correlation between cryptocurrencies and non-ferrous metals has long been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close to 0</a:t>
            </a:r>
            <a:r>
              <a:rPr lang="en-US" altLang="zh-CN" sz="20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"/>
                <a:sym typeface="思源黑体 3"/>
              </a:rPr>
              <a:t>.</a:t>
            </a:r>
          </a:p>
          <a:p>
            <a:pPr algn="ctr">
              <a:lnSpc>
                <a:spcPts val="2912"/>
              </a:lnSpc>
              <a:spcBef>
                <a:spcPct val="0"/>
              </a:spcBef>
            </a:pPr>
            <a:endParaRPr lang="en-US" sz="2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/>
              <a:sym typeface="思源黑体 3 Bold"/>
            </a:endParaRPr>
          </a:p>
          <a:p>
            <a:pPr algn="ctr">
              <a:lnSpc>
                <a:spcPts val="2912"/>
              </a:lnSpc>
              <a:spcBef>
                <a:spcPct val="0"/>
              </a:spcBef>
            </a:pPr>
            <a:endParaRPr lang="en-US" sz="2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/>
              <a:sym typeface="思源黑体 3 Bold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3FA873E-97A7-080F-2D62-59B3B49E910C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85C71CE-73AB-43D1-1063-69B5A579EAF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41350" y="105411"/>
            <a:ext cx="926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Discussion 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37B59F9-16A1-A927-F65D-37C21B2F8996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33">
            <a:extLst>
              <a:ext uri="{FF2B5EF4-FFF2-40B4-BE49-F238E27FC236}">
                <a16:creationId xmlns:a16="http://schemas.microsoft.com/office/drawing/2014/main" id="{10C11BCC-C0A6-821A-2CBF-610D6AD2FAE5}"/>
              </a:ext>
            </a:extLst>
          </p:cNvPr>
          <p:cNvSpPr txBox="1"/>
          <p:nvPr/>
        </p:nvSpPr>
        <p:spPr>
          <a:xfrm>
            <a:off x="8501085" y="1422112"/>
            <a:ext cx="3047025" cy="2955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Result C</a:t>
            </a:r>
          </a:p>
          <a:p>
            <a:pPr algn="ctr">
              <a:lnSpc>
                <a:spcPts val="2912"/>
              </a:lnSpc>
              <a:spcBef>
                <a:spcPct val="0"/>
              </a:spcBef>
            </a:pPr>
            <a:endParaRPr lang="en-US" sz="2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/>
              <a:sym typeface="思源黑体 3 Bold"/>
            </a:endParaRPr>
          </a:p>
          <a:p>
            <a:pPr algn="ctr">
              <a:lnSpc>
                <a:spcPts val="2912"/>
              </a:lnSpc>
              <a:spcBef>
                <a:spcPct val="0"/>
              </a:spcBef>
            </a:pPr>
            <a:r>
              <a:rPr lang="en-US" sz="20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Cryptocurrencies have a low correlation with non-ferrous metals and have excellent 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risk diversification value</a:t>
            </a:r>
            <a:r>
              <a:rPr lang="en-US" sz="20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.</a:t>
            </a:r>
          </a:p>
          <a:p>
            <a:pPr algn="ctr">
              <a:lnSpc>
                <a:spcPts val="2912"/>
              </a:lnSpc>
              <a:spcBef>
                <a:spcPct val="0"/>
              </a:spcBef>
            </a:pPr>
            <a:endParaRPr lang="en-US" sz="2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/>
              <a:sym typeface="思源黑体 3 Bold"/>
            </a:endParaRPr>
          </a:p>
        </p:txBody>
      </p:sp>
      <p:sp>
        <p:nvSpPr>
          <p:cNvPr id="3" name="TextBox 33">
            <a:extLst>
              <a:ext uri="{FF2B5EF4-FFF2-40B4-BE49-F238E27FC236}">
                <a16:creationId xmlns:a16="http://schemas.microsoft.com/office/drawing/2014/main" id="{F46D61E3-C5E0-CD23-502E-5277182E1B73}"/>
              </a:ext>
            </a:extLst>
          </p:cNvPr>
          <p:cNvSpPr txBox="1"/>
          <p:nvPr/>
        </p:nvSpPr>
        <p:spPr>
          <a:xfrm>
            <a:off x="5317852" y="1422112"/>
            <a:ext cx="1926039" cy="352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Result B</a:t>
            </a:r>
          </a:p>
        </p:txBody>
      </p:sp>
      <p:sp>
        <p:nvSpPr>
          <p:cNvPr id="5" name="直角三角形 4">
            <a:extLst>
              <a:ext uri="{FF2B5EF4-FFF2-40B4-BE49-F238E27FC236}">
                <a16:creationId xmlns:a16="http://schemas.microsoft.com/office/drawing/2014/main" id="{530B1FA4-4728-E73C-534D-C8AA7908A6A5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E12CE405-322C-E0AA-4728-36614EBD1B18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547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D0A8C-C2AA-4AD1-9D28-C2EDD1956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6AF62A9-895D-0F12-48B8-D3015C87B666}"/>
              </a:ext>
            </a:extLst>
          </p:cNvPr>
          <p:cNvGrpSpPr/>
          <p:nvPr/>
        </p:nvGrpSpPr>
        <p:grpSpPr>
          <a:xfrm rot="-2700000">
            <a:off x="8771246" y="-1553713"/>
            <a:ext cx="3075833" cy="3075833"/>
            <a:chOff x="0" y="0"/>
            <a:chExt cx="1096342" cy="1096342"/>
          </a:xfrm>
          <a:solidFill>
            <a:schemeClr val="accent1">
              <a:lumMod val="75000"/>
            </a:schemeClr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4A736F-AB82-60EC-4A36-E71AD2847E94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8D50B7-A8B5-65DB-4419-6A1CF5B76B09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5542CF3-8E92-FD28-CB49-45AF644AAE7B}"/>
              </a:ext>
            </a:extLst>
          </p:cNvPr>
          <p:cNvGrpSpPr/>
          <p:nvPr/>
        </p:nvGrpSpPr>
        <p:grpSpPr>
          <a:xfrm rot="-2700000">
            <a:off x="10732178" y="-427073"/>
            <a:ext cx="3075833" cy="3075833"/>
            <a:chOff x="0" y="0"/>
            <a:chExt cx="1096342" cy="109634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31F121B-57E2-23B4-EA8B-F41B263E8192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0C33AE6-D69A-EA32-57C0-72E7A94C4B96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AD3B0B7-343E-4B63-9B79-6C21537521B3}"/>
              </a:ext>
            </a:extLst>
          </p:cNvPr>
          <p:cNvGrpSpPr/>
          <p:nvPr/>
        </p:nvGrpSpPr>
        <p:grpSpPr>
          <a:xfrm rot="-2700000">
            <a:off x="11034681" y="2378538"/>
            <a:ext cx="1437629" cy="1437629"/>
            <a:chOff x="0" y="0"/>
            <a:chExt cx="512425" cy="512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CC0B16A-041D-42A6-BB6B-1EFAE4E0AAF6}"/>
                </a:ext>
              </a:extLst>
            </p:cNvPr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B82C539-A261-22FC-9C60-943576A4B78C}"/>
                </a:ext>
              </a:extLst>
            </p:cNvPr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B7FABCF-CFFB-A495-4C9C-65D295C2B1EB}"/>
              </a:ext>
            </a:extLst>
          </p:cNvPr>
          <p:cNvGrpSpPr/>
          <p:nvPr/>
        </p:nvGrpSpPr>
        <p:grpSpPr>
          <a:xfrm rot="8100000">
            <a:off x="-1322475" y="4784644"/>
            <a:ext cx="2775115" cy="2775115"/>
            <a:chOff x="0" y="0"/>
            <a:chExt cx="1096342" cy="109634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FE936DC-9637-2E70-A365-7C2288391CF5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C35CF34-C1E8-F433-C522-9A864FE0DE9B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5313ED2-378D-F59C-4590-7AF364F87B4F}"/>
              </a:ext>
            </a:extLst>
          </p:cNvPr>
          <p:cNvGrpSpPr/>
          <p:nvPr/>
        </p:nvGrpSpPr>
        <p:grpSpPr>
          <a:xfrm rot="8100000">
            <a:off x="-1051084" y="4007667"/>
            <a:ext cx="1297075" cy="1297075"/>
            <a:chOff x="0" y="0"/>
            <a:chExt cx="512425" cy="51242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EB118E3-C1D4-25A3-D00B-E62ACD67DA48}"/>
                </a:ext>
              </a:extLst>
            </p:cNvPr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B30CB48-9356-CC1F-7EB0-FD35286E4C3E}"/>
                </a:ext>
              </a:extLst>
            </p:cNvPr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C2B04E3-CE5A-65B3-0E30-A50836C62E24}"/>
              </a:ext>
            </a:extLst>
          </p:cNvPr>
          <p:cNvGrpSpPr/>
          <p:nvPr/>
        </p:nvGrpSpPr>
        <p:grpSpPr>
          <a:xfrm>
            <a:off x="1781421" y="3238195"/>
            <a:ext cx="3791455" cy="329388"/>
            <a:chOff x="0" y="0"/>
            <a:chExt cx="1497859" cy="13012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DF00415-0C70-C549-BA69-D146FEE728F0}"/>
                </a:ext>
              </a:extLst>
            </p:cNvPr>
            <p:cNvSpPr/>
            <p:nvPr/>
          </p:nvSpPr>
          <p:spPr>
            <a:xfrm>
              <a:off x="0" y="0"/>
              <a:ext cx="1497859" cy="130129"/>
            </a:xfrm>
            <a:custGeom>
              <a:avLst/>
              <a:gdLst/>
              <a:ahLst/>
              <a:cxnLst/>
              <a:rect l="l" t="t" r="r" b="b"/>
              <a:pathLst>
                <a:path w="1497859" h="130129">
                  <a:moveTo>
                    <a:pt x="0" y="0"/>
                  </a:moveTo>
                  <a:lnTo>
                    <a:pt x="1497859" y="0"/>
                  </a:lnTo>
                  <a:lnTo>
                    <a:pt x="1497859" y="130129"/>
                  </a:lnTo>
                  <a:lnTo>
                    <a:pt x="0" y="1301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099CE3D-5DE2-476F-78F8-95878D96145C}"/>
                </a:ext>
              </a:extLst>
            </p:cNvPr>
            <p:cNvSpPr txBox="1"/>
            <p:nvPr/>
          </p:nvSpPr>
          <p:spPr>
            <a:xfrm>
              <a:off x="0" y="-47625"/>
              <a:ext cx="1497859" cy="1777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3E07098-707D-6D6B-3AB7-1118CE0DF4A7}"/>
              </a:ext>
            </a:extLst>
          </p:cNvPr>
          <p:cNvSpPr txBox="1"/>
          <p:nvPr/>
        </p:nvSpPr>
        <p:spPr>
          <a:xfrm>
            <a:off x="2027386" y="3213100"/>
            <a:ext cx="354549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  <a:spcBef>
                <a:spcPct val="0"/>
              </a:spcBef>
            </a:pPr>
            <a:r>
              <a:rPr lang="en-US" sz="1267" dirty="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Background significance of the topic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B8EDF01-B29F-1364-C82C-D3B28DEB86D4}"/>
              </a:ext>
            </a:extLst>
          </p:cNvPr>
          <p:cNvSpPr txBox="1"/>
          <p:nvPr/>
        </p:nvSpPr>
        <p:spPr>
          <a:xfrm>
            <a:off x="258679" y="2080794"/>
            <a:ext cx="11811298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03 </a:t>
            </a:r>
            <a:r>
              <a:rPr lang="en-US" altLang="zh-CN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Analysis result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ABC5A46-7825-BED4-5BFB-E0F26B3A07A0}"/>
              </a:ext>
            </a:extLst>
          </p:cNvPr>
          <p:cNvGrpSpPr/>
          <p:nvPr/>
        </p:nvGrpSpPr>
        <p:grpSpPr>
          <a:xfrm rot="8100000">
            <a:off x="-90480" y="6450623"/>
            <a:ext cx="4235732" cy="4235732"/>
            <a:chOff x="0" y="0"/>
            <a:chExt cx="1247445" cy="1247445"/>
          </a:xfrm>
          <a:solidFill>
            <a:schemeClr val="accent1">
              <a:lumMod val="75000"/>
            </a:schemeClr>
          </a:solidFill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B5F69C08-527B-CF3C-E5CD-708933623298}"/>
                </a:ext>
              </a:extLst>
            </p:cNvPr>
            <p:cNvSpPr/>
            <p:nvPr/>
          </p:nvSpPr>
          <p:spPr>
            <a:xfrm>
              <a:off x="0" y="0"/>
              <a:ext cx="1247445" cy="1247445"/>
            </a:xfrm>
            <a:custGeom>
              <a:avLst/>
              <a:gdLst/>
              <a:ahLst/>
              <a:cxnLst/>
              <a:rect l="l" t="t" r="r" b="b"/>
              <a:pathLst>
                <a:path w="1247445" h="1247445">
                  <a:moveTo>
                    <a:pt x="0" y="0"/>
                  </a:moveTo>
                  <a:lnTo>
                    <a:pt x="1247445" y="0"/>
                  </a:lnTo>
                  <a:lnTo>
                    <a:pt x="1247445" y="1247445"/>
                  </a:lnTo>
                  <a:lnTo>
                    <a:pt x="0" y="1247445"/>
                  </a:lnTo>
                  <a:close/>
                </a:path>
              </a:pathLst>
            </a:custGeom>
            <a:grpFill/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A51B9F8-6DB3-4936-3BCC-64E319FAB3BA}"/>
                </a:ext>
              </a:extLst>
            </p:cNvPr>
            <p:cNvSpPr txBox="1"/>
            <p:nvPr/>
          </p:nvSpPr>
          <p:spPr>
            <a:xfrm>
              <a:off x="0" y="-47625"/>
              <a:ext cx="1247445" cy="129507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B29C095C-FD32-848B-992A-21CC22FE0EA0}"/>
              </a:ext>
            </a:extLst>
          </p:cNvPr>
          <p:cNvSpPr txBox="1"/>
          <p:nvPr/>
        </p:nvSpPr>
        <p:spPr>
          <a:xfrm>
            <a:off x="4559385" y="2643149"/>
            <a:ext cx="5346579" cy="87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80"/>
              </a:lnSpc>
            </a:pPr>
            <a:r>
              <a:rPr lang="en-US" sz="6400" b="1" dirty="0">
                <a:solidFill>
                  <a:srgbClr val="100F0D"/>
                </a:solidFill>
                <a:latin typeface="思源黑体 3 Bold"/>
                <a:ea typeface="思源黑体 3 Bold"/>
                <a:cs typeface="思源黑体 3 Bold"/>
                <a:sym typeface="思源黑体 3 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040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8DBE-1299-B7DB-FC84-8E156D22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DDC8AB5-95AC-CB52-A8BC-C46E74336E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1350" y="105411"/>
            <a:ext cx="9269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Portfolio Optimization Framework</a:t>
            </a:r>
          </a:p>
          <a:p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CB73768-F45E-7947-889A-16648B443469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492B463-3BDA-12AE-0C37-9AF70F0D9026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8DFE7D48-04F0-8ABE-A8F7-1462DB404B14}"/>
              </a:ext>
            </a:extLst>
          </p:cNvPr>
          <p:cNvSpPr/>
          <p:nvPr/>
        </p:nvSpPr>
        <p:spPr>
          <a:xfrm>
            <a:off x="0" y="6059890"/>
            <a:ext cx="1070811" cy="79811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4715701D-02B0-1713-3C78-38AA3F41E5AB}"/>
              </a:ext>
            </a:extLst>
          </p:cNvPr>
          <p:cNvSpPr/>
          <p:nvPr/>
        </p:nvSpPr>
        <p:spPr>
          <a:xfrm rot="16200000">
            <a:off x="11045123" y="5711122"/>
            <a:ext cx="1327420" cy="96633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52415F-0EBE-3781-B01E-D81C4667414A}"/>
              </a:ext>
            </a:extLst>
          </p:cNvPr>
          <p:cNvSpPr/>
          <p:nvPr/>
        </p:nvSpPr>
        <p:spPr>
          <a:xfrm>
            <a:off x="54142" y="1059517"/>
            <a:ext cx="2815390" cy="5000371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Applies the 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CAPM </a:t>
            </a:r>
            <a:r>
              <a:rPr lang="en-US" altLang="zh-CN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to price crypto and metal asset. portfolio as benchmark, estimating each asset's beta and alpha. 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So easy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We need</a:t>
            </a:r>
          </a:p>
          <a:p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Portfolio optimization </a:t>
            </a:r>
            <a:r>
              <a:rPr lang="en-US" altLang="zh-CN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is then conducted: minimizing volatility and maximizing the Sharpe ratio.</a:t>
            </a:r>
            <a:endParaRPr lang="zh-CN" altLang="en-US" dirty="0">
              <a:solidFill>
                <a:srgbClr val="0B418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C8F6CF-A388-15C6-5061-A3E4B886B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743" y="660462"/>
            <a:ext cx="8328850" cy="61433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1635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F2CC-6774-9C4C-FC85-872278F0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105564-B325-89DE-531A-FBB1CE701620}"/>
              </a:ext>
            </a:extLst>
          </p:cNvPr>
          <p:cNvGrpSpPr/>
          <p:nvPr/>
        </p:nvGrpSpPr>
        <p:grpSpPr>
          <a:xfrm rot="-2700000">
            <a:off x="8771246" y="-1553713"/>
            <a:ext cx="3075833" cy="3075833"/>
            <a:chOff x="0" y="0"/>
            <a:chExt cx="1096342" cy="1096342"/>
          </a:xfrm>
          <a:solidFill>
            <a:schemeClr val="accent1">
              <a:lumMod val="75000"/>
            </a:schemeClr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4F4314-8E41-F415-7F38-90C14B7E492B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2D41D85-06DF-461F-F91A-0E3895A974EC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FCDD1C8-B53E-B343-D454-0FD7DDEA73CD}"/>
              </a:ext>
            </a:extLst>
          </p:cNvPr>
          <p:cNvGrpSpPr/>
          <p:nvPr/>
        </p:nvGrpSpPr>
        <p:grpSpPr>
          <a:xfrm rot="-2700000">
            <a:off x="10732178" y="-427073"/>
            <a:ext cx="3075833" cy="3075833"/>
            <a:chOff x="0" y="0"/>
            <a:chExt cx="1096342" cy="109634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571EFCE-9DFD-FCED-AA00-27EAE4804F43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E8A20B6-6262-9417-664B-0C7DD75D1742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CCC7A30-4248-4D27-1CC8-8B15F921E64A}"/>
              </a:ext>
            </a:extLst>
          </p:cNvPr>
          <p:cNvGrpSpPr/>
          <p:nvPr/>
        </p:nvGrpSpPr>
        <p:grpSpPr>
          <a:xfrm rot="-2700000">
            <a:off x="11034681" y="2378538"/>
            <a:ext cx="1437629" cy="1437629"/>
            <a:chOff x="0" y="0"/>
            <a:chExt cx="512425" cy="512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37B3CF7-2D5D-18FF-59A1-91BF4EF938F4}"/>
                </a:ext>
              </a:extLst>
            </p:cNvPr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22B7695-CEFC-A8F5-2C13-0F3774B057FC}"/>
                </a:ext>
              </a:extLst>
            </p:cNvPr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86BE11A-FCB4-F24E-B755-CCE4757FD1AB}"/>
              </a:ext>
            </a:extLst>
          </p:cNvPr>
          <p:cNvGrpSpPr/>
          <p:nvPr/>
        </p:nvGrpSpPr>
        <p:grpSpPr>
          <a:xfrm rot="8100000">
            <a:off x="-1322475" y="4784644"/>
            <a:ext cx="2775115" cy="2775115"/>
            <a:chOff x="0" y="0"/>
            <a:chExt cx="1096342" cy="109634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A680470-39F2-6E52-7394-064FAC55F15F}"/>
                </a:ext>
              </a:extLst>
            </p:cNvPr>
            <p:cNvSpPr/>
            <p:nvPr/>
          </p:nvSpPr>
          <p:spPr>
            <a:xfrm>
              <a:off x="0" y="0"/>
              <a:ext cx="1096342" cy="1096342"/>
            </a:xfrm>
            <a:custGeom>
              <a:avLst/>
              <a:gdLst/>
              <a:ahLst/>
              <a:cxnLst/>
              <a:rect l="l" t="t" r="r" b="b"/>
              <a:pathLst>
                <a:path w="1096342" h="1096342">
                  <a:moveTo>
                    <a:pt x="0" y="0"/>
                  </a:moveTo>
                  <a:lnTo>
                    <a:pt x="1096342" y="0"/>
                  </a:lnTo>
                  <a:lnTo>
                    <a:pt x="1096342" y="1096342"/>
                  </a:lnTo>
                  <a:lnTo>
                    <a:pt x="0" y="1096342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79E2C97-2478-958B-70B9-4A38B342CD5B}"/>
                </a:ext>
              </a:extLst>
            </p:cNvPr>
            <p:cNvSpPr txBox="1"/>
            <p:nvPr/>
          </p:nvSpPr>
          <p:spPr>
            <a:xfrm>
              <a:off x="0" y="-47625"/>
              <a:ext cx="1096342" cy="11439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2CE3704-15E5-DC27-CE03-12E162C95C8E}"/>
              </a:ext>
            </a:extLst>
          </p:cNvPr>
          <p:cNvGrpSpPr/>
          <p:nvPr/>
        </p:nvGrpSpPr>
        <p:grpSpPr>
          <a:xfrm rot="8100000">
            <a:off x="-1051084" y="4007667"/>
            <a:ext cx="1297075" cy="1297075"/>
            <a:chOff x="0" y="0"/>
            <a:chExt cx="512425" cy="51242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7BF6C4B-3D87-EA08-2279-3E5708DC127E}"/>
                </a:ext>
              </a:extLst>
            </p:cNvPr>
            <p:cNvSpPr/>
            <p:nvPr/>
          </p:nvSpPr>
          <p:spPr>
            <a:xfrm>
              <a:off x="0" y="0"/>
              <a:ext cx="512425" cy="512425"/>
            </a:xfrm>
            <a:custGeom>
              <a:avLst/>
              <a:gdLst/>
              <a:ahLst/>
              <a:cxnLst/>
              <a:rect l="l" t="t" r="r" b="b"/>
              <a:pathLst>
                <a:path w="512425" h="512425">
                  <a:moveTo>
                    <a:pt x="0" y="0"/>
                  </a:moveTo>
                  <a:lnTo>
                    <a:pt x="512425" y="0"/>
                  </a:lnTo>
                  <a:lnTo>
                    <a:pt x="512425" y="512425"/>
                  </a:lnTo>
                  <a:lnTo>
                    <a:pt x="0" y="512425"/>
                  </a:lnTo>
                  <a:close/>
                </a:path>
              </a:pathLst>
            </a:custGeom>
            <a:solidFill>
              <a:srgbClr val="1F367F">
                <a:alpha val="89804"/>
              </a:srgbClr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1F47C93-803C-A1FE-D72A-9C81F69E0BC5}"/>
                </a:ext>
              </a:extLst>
            </p:cNvPr>
            <p:cNvSpPr txBox="1"/>
            <p:nvPr/>
          </p:nvSpPr>
          <p:spPr>
            <a:xfrm>
              <a:off x="0" y="-47625"/>
              <a:ext cx="512425" cy="56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20D6023-6BF4-CCF1-F5A3-9C210524E235}"/>
              </a:ext>
            </a:extLst>
          </p:cNvPr>
          <p:cNvGrpSpPr/>
          <p:nvPr/>
        </p:nvGrpSpPr>
        <p:grpSpPr>
          <a:xfrm>
            <a:off x="1781421" y="3238195"/>
            <a:ext cx="3791455" cy="329388"/>
            <a:chOff x="0" y="0"/>
            <a:chExt cx="1497859" cy="13012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5C694BB-A87A-868D-706F-1F41ED5D7B18}"/>
                </a:ext>
              </a:extLst>
            </p:cNvPr>
            <p:cNvSpPr/>
            <p:nvPr/>
          </p:nvSpPr>
          <p:spPr>
            <a:xfrm>
              <a:off x="0" y="0"/>
              <a:ext cx="1497859" cy="130129"/>
            </a:xfrm>
            <a:custGeom>
              <a:avLst/>
              <a:gdLst/>
              <a:ahLst/>
              <a:cxnLst/>
              <a:rect l="l" t="t" r="r" b="b"/>
              <a:pathLst>
                <a:path w="1497859" h="130129">
                  <a:moveTo>
                    <a:pt x="0" y="0"/>
                  </a:moveTo>
                  <a:lnTo>
                    <a:pt x="1497859" y="0"/>
                  </a:lnTo>
                  <a:lnTo>
                    <a:pt x="1497859" y="130129"/>
                  </a:lnTo>
                  <a:lnTo>
                    <a:pt x="0" y="1301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35860F2-F768-D763-FD5F-04AF8173110F}"/>
                </a:ext>
              </a:extLst>
            </p:cNvPr>
            <p:cNvSpPr txBox="1"/>
            <p:nvPr/>
          </p:nvSpPr>
          <p:spPr>
            <a:xfrm>
              <a:off x="0" y="-47625"/>
              <a:ext cx="1497859" cy="1777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16CD37D-DC1E-D855-43D2-EBEB29655219}"/>
              </a:ext>
            </a:extLst>
          </p:cNvPr>
          <p:cNvSpPr txBox="1"/>
          <p:nvPr/>
        </p:nvSpPr>
        <p:spPr>
          <a:xfrm>
            <a:off x="2027386" y="3213100"/>
            <a:ext cx="354549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  <a:spcBef>
                <a:spcPct val="0"/>
              </a:spcBef>
            </a:pPr>
            <a:r>
              <a:rPr lang="en-US" sz="1267" dirty="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Background significance of the topic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60469CC-FFBD-4E26-04BD-B4E66F9B6FBF}"/>
              </a:ext>
            </a:extLst>
          </p:cNvPr>
          <p:cNvSpPr txBox="1"/>
          <p:nvPr/>
        </p:nvSpPr>
        <p:spPr>
          <a:xfrm>
            <a:off x="258679" y="2080794"/>
            <a:ext cx="11811298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04 </a:t>
            </a:r>
            <a:r>
              <a:rPr lang="en-US" altLang="zh-CN" sz="9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/>
                <a:sym typeface="思源黑体 3 Bold"/>
              </a:rPr>
              <a:t>Summary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3B5DA25-DEB5-8FEF-0525-3E4D6492F358}"/>
              </a:ext>
            </a:extLst>
          </p:cNvPr>
          <p:cNvGrpSpPr/>
          <p:nvPr/>
        </p:nvGrpSpPr>
        <p:grpSpPr>
          <a:xfrm rot="8100000">
            <a:off x="-90480" y="6450623"/>
            <a:ext cx="4235732" cy="4235732"/>
            <a:chOff x="0" y="0"/>
            <a:chExt cx="1247445" cy="1247445"/>
          </a:xfrm>
          <a:solidFill>
            <a:schemeClr val="accent1">
              <a:lumMod val="75000"/>
            </a:schemeClr>
          </a:solidFill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A43A169-E657-5607-C87A-3F5FE432D268}"/>
                </a:ext>
              </a:extLst>
            </p:cNvPr>
            <p:cNvSpPr/>
            <p:nvPr/>
          </p:nvSpPr>
          <p:spPr>
            <a:xfrm>
              <a:off x="0" y="0"/>
              <a:ext cx="1247445" cy="1247445"/>
            </a:xfrm>
            <a:custGeom>
              <a:avLst/>
              <a:gdLst/>
              <a:ahLst/>
              <a:cxnLst/>
              <a:rect l="l" t="t" r="r" b="b"/>
              <a:pathLst>
                <a:path w="1247445" h="1247445">
                  <a:moveTo>
                    <a:pt x="0" y="0"/>
                  </a:moveTo>
                  <a:lnTo>
                    <a:pt x="1247445" y="0"/>
                  </a:lnTo>
                  <a:lnTo>
                    <a:pt x="1247445" y="1247445"/>
                  </a:lnTo>
                  <a:lnTo>
                    <a:pt x="0" y="1247445"/>
                  </a:lnTo>
                  <a:close/>
                </a:path>
              </a:pathLst>
            </a:custGeom>
            <a:grpFill/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9EDBA18-184D-6C0F-93D3-A513EA86A6B2}"/>
                </a:ext>
              </a:extLst>
            </p:cNvPr>
            <p:cNvSpPr txBox="1"/>
            <p:nvPr/>
          </p:nvSpPr>
          <p:spPr>
            <a:xfrm>
              <a:off x="0" y="-47625"/>
              <a:ext cx="1247445" cy="129507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5"/>
                </a:lnSpc>
              </a:pPr>
              <a:endParaRPr sz="1200"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503C05DC-7176-F50D-669E-3E27652FA88A}"/>
              </a:ext>
            </a:extLst>
          </p:cNvPr>
          <p:cNvSpPr txBox="1"/>
          <p:nvPr/>
        </p:nvSpPr>
        <p:spPr>
          <a:xfrm>
            <a:off x="4559385" y="2643149"/>
            <a:ext cx="5346579" cy="87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80"/>
              </a:lnSpc>
            </a:pPr>
            <a:r>
              <a:rPr lang="en-US" sz="6400" b="1" dirty="0">
                <a:solidFill>
                  <a:srgbClr val="100F0D"/>
                </a:solidFill>
                <a:latin typeface="思源黑体 3 Bold"/>
                <a:ea typeface="思源黑体 3 Bold"/>
                <a:cs typeface="思源黑体 3 Bold"/>
                <a:sym typeface="思源黑体 3 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3890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8E6FFB2-A378-C67A-8A31-CDD7CB8FF8CF}"/>
              </a:ext>
            </a:extLst>
          </p:cNvPr>
          <p:cNvSpPr/>
          <p:nvPr/>
        </p:nvSpPr>
        <p:spPr>
          <a:xfrm>
            <a:off x="2702626" y="4917881"/>
            <a:ext cx="6452709" cy="1640093"/>
          </a:xfrm>
          <a:prstGeom prst="roundRect">
            <a:avLst>
              <a:gd name="adj" fmla="val 1076"/>
            </a:avLst>
          </a:prstGeom>
          <a:solidFill>
            <a:srgbClr val="0B4FA1">
              <a:alpha val="2000"/>
            </a:srgbClr>
          </a:soli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4D91ED9-4B53-76A0-4529-827283B916B2}"/>
              </a:ext>
            </a:extLst>
          </p:cNvPr>
          <p:cNvSpPr/>
          <p:nvPr/>
        </p:nvSpPr>
        <p:spPr>
          <a:xfrm>
            <a:off x="2702628" y="909024"/>
            <a:ext cx="6452709" cy="1640093"/>
          </a:xfrm>
          <a:prstGeom prst="roundRect">
            <a:avLst>
              <a:gd name="adj" fmla="val 1076"/>
            </a:avLst>
          </a:prstGeom>
          <a:solidFill>
            <a:srgbClr val="0B4FA1">
              <a:alpha val="2000"/>
            </a:srgbClr>
          </a:soli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DC4C4A7-C4F6-180F-3309-ABD7D8CBF1BE}"/>
              </a:ext>
            </a:extLst>
          </p:cNvPr>
          <p:cNvSpPr/>
          <p:nvPr/>
        </p:nvSpPr>
        <p:spPr>
          <a:xfrm>
            <a:off x="2702627" y="2890198"/>
            <a:ext cx="6452709" cy="1640093"/>
          </a:xfrm>
          <a:prstGeom prst="roundRect">
            <a:avLst>
              <a:gd name="adj" fmla="val 1076"/>
            </a:avLst>
          </a:prstGeom>
          <a:solidFill>
            <a:srgbClr val="0B4FA1">
              <a:alpha val="2000"/>
            </a:srgbClr>
          </a:soli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906121" y="2890199"/>
            <a:ext cx="1918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Implication </a:t>
            </a:r>
            <a:r>
              <a:rPr lang="zh-CN" altLang="en-US" sz="2000" b="1" dirty="0">
                <a:solidFill>
                  <a:srgbClr val="0B4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906121" y="5316532"/>
            <a:ext cx="6131600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Cross-asset allocation (cryptocurrencies and non-ferrous metals) can effectively diversify the systemic risk of a single asset category, achieving a balance between risk and return.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906121" y="4917882"/>
            <a:ext cx="1918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0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Implication </a:t>
            </a:r>
            <a:r>
              <a:rPr lang="zh-CN" altLang="en-US" sz="2000" b="1" dirty="0">
                <a:solidFill>
                  <a:srgbClr val="0B4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906121" y="1279216"/>
            <a:ext cx="625793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Cryptocurrencies can significantly enhance portfolio returns in a low interest rate and low panic environment, but positions need to be controlled to manage extreme risks.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2906121" y="915377"/>
            <a:ext cx="1788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b="1" dirty="0">
                <a:solidFill>
                  <a:srgbClr val="0B4189"/>
                </a:solidFill>
                <a:latin typeface="微软雅黑" panose="020B0503020204020204" charset="-122"/>
                <a:ea typeface="微软雅黑" panose="020B0503020204020204" charset="-122"/>
              </a:rPr>
              <a:t>Implication</a:t>
            </a:r>
            <a:r>
              <a:rPr lang="en-US" altLang="zh-CN" sz="2000" b="1" dirty="0">
                <a:solidFill>
                  <a:srgbClr val="0B4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906121" y="3310128"/>
            <a:ext cx="6347940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Gold is a core hedge against market panic and rising interest rates, suitable to serve as the base position in a portfolio.</a:t>
            </a:r>
          </a:p>
        </p:txBody>
      </p:sp>
      <p:sp>
        <p:nvSpPr>
          <p:cNvPr id="79" name="stocks-graphic-for-business-stats_20803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200978" y="4255359"/>
            <a:ext cx="609685" cy="549866"/>
          </a:xfrm>
          <a:custGeom>
            <a:avLst/>
            <a:gdLst>
              <a:gd name="T0" fmla="*/ 7830 w 8541"/>
              <a:gd name="T1" fmla="*/ 7703 h 7703"/>
              <a:gd name="T2" fmla="*/ 0 w 8541"/>
              <a:gd name="T3" fmla="*/ 7703 h 7703"/>
              <a:gd name="T4" fmla="*/ 0 w 8541"/>
              <a:gd name="T5" fmla="*/ 0 h 7703"/>
              <a:gd name="T6" fmla="*/ 632 w 8541"/>
              <a:gd name="T7" fmla="*/ 0 h 7703"/>
              <a:gd name="T8" fmla="*/ 632 w 8541"/>
              <a:gd name="T9" fmla="*/ 4272 h 7703"/>
              <a:gd name="T10" fmla="*/ 4513 w 8541"/>
              <a:gd name="T11" fmla="*/ 1449 h 7703"/>
              <a:gd name="T12" fmla="*/ 5841 w 8541"/>
              <a:gd name="T13" fmla="*/ 2017 h 7703"/>
              <a:gd name="T14" fmla="*/ 7667 w 8541"/>
              <a:gd name="T15" fmla="*/ 357 h 7703"/>
              <a:gd name="T16" fmla="*/ 7305 w 8541"/>
              <a:gd name="T17" fmla="*/ 0 h 7703"/>
              <a:gd name="T18" fmla="*/ 8541 w 8541"/>
              <a:gd name="T19" fmla="*/ 0 h 7703"/>
              <a:gd name="T20" fmla="*/ 8541 w 8541"/>
              <a:gd name="T21" fmla="*/ 1235 h 7703"/>
              <a:gd name="T22" fmla="*/ 8116 w 8541"/>
              <a:gd name="T23" fmla="*/ 806 h 7703"/>
              <a:gd name="T24" fmla="*/ 5965 w 8541"/>
              <a:gd name="T25" fmla="*/ 2756 h 7703"/>
              <a:gd name="T26" fmla="*/ 4593 w 8541"/>
              <a:gd name="T27" fmla="*/ 2172 h 7703"/>
              <a:gd name="T28" fmla="*/ 632 w 8541"/>
              <a:gd name="T29" fmla="*/ 5054 h 7703"/>
              <a:gd name="T30" fmla="*/ 632 w 8541"/>
              <a:gd name="T31" fmla="*/ 7072 h 7703"/>
              <a:gd name="T32" fmla="*/ 1348 w 8541"/>
              <a:gd name="T33" fmla="*/ 7072 h 7703"/>
              <a:gd name="T34" fmla="*/ 1348 w 8541"/>
              <a:gd name="T35" fmla="*/ 5289 h 7703"/>
              <a:gd name="T36" fmla="*/ 1980 w 8541"/>
              <a:gd name="T37" fmla="*/ 5289 h 7703"/>
              <a:gd name="T38" fmla="*/ 1980 w 8541"/>
              <a:gd name="T39" fmla="*/ 7072 h 7703"/>
              <a:gd name="T40" fmla="*/ 2517 w 8541"/>
              <a:gd name="T41" fmla="*/ 7072 h 7703"/>
              <a:gd name="T42" fmla="*/ 2517 w 8541"/>
              <a:gd name="T43" fmla="*/ 4558 h 7703"/>
              <a:gd name="T44" fmla="*/ 3149 w 8541"/>
              <a:gd name="T45" fmla="*/ 4558 h 7703"/>
              <a:gd name="T46" fmla="*/ 3149 w 8541"/>
              <a:gd name="T47" fmla="*/ 7072 h 7703"/>
              <a:gd name="T48" fmla="*/ 3686 w 8541"/>
              <a:gd name="T49" fmla="*/ 7072 h 7703"/>
              <a:gd name="T50" fmla="*/ 3686 w 8541"/>
              <a:gd name="T51" fmla="*/ 3824 h 7703"/>
              <a:gd name="T52" fmla="*/ 4318 w 8541"/>
              <a:gd name="T53" fmla="*/ 3824 h 7703"/>
              <a:gd name="T54" fmla="*/ 4318 w 8541"/>
              <a:gd name="T55" fmla="*/ 7072 h 7703"/>
              <a:gd name="T56" fmla="*/ 4855 w 8541"/>
              <a:gd name="T57" fmla="*/ 7072 h 7703"/>
              <a:gd name="T58" fmla="*/ 4855 w 8541"/>
              <a:gd name="T59" fmla="*/ 3458 h 7703"/>
              <a:gd name="T60" fmla="*/ 5491 w 8541"/>
              <a:gd name="T61" fmla="*/ 3458 h 7703"/>
              <a:gd name="T62" fmla="*/ 5491 w 8541"/>
              <a:gd name="T63" fmla="*/ 7072 h 7703"/>
              <a:gd name="T64" fmla="*/ 6028 w 8541"/>
              <a:gd name="T65" fmla="*/ 7072 h 7703"/>
              <a:gd name="T66" fmla="*/ 6028 w 8541"/>
              <a:gd name="T67" fmla="*/ 4193 h 7703"/>
              <a:gd name="T68" fmla="*/ 6660 w 8541"/>
              <a:gd name="T69" fmla="*/ 4193 h 7703"/>
              <a:gd name="T70" fmla="*/ 6660 w 8541"/>
              <a:gd name="T71" fmla="*/ 7072 h 7703"/>
              <a:gd name="T72" fmla="*/ 7197 w 8541"/>
              <a:gd name="T73" fmla="*/ 7072 h 7703"/>
              <a:gd name="T74" fmla="*/ 7197 w 8541"/>
              <a:gd name="T75" fmla="*/ 2728 h 7703"/>
              <a:gd name="T76" fmla="*/ 7830 w 8541"/>
              <a:gd name="T77" fmla="*/ 2728 h 7703"/>
              <a:gd name="T78" fmla="*/ 7830 w 8541"/>
              <a:gd name="T79" fmla="*/ 7703 h 7703"/>
              <a:gd name="T80" fmla="*/ 7830 w 8541"/>
              <a:gd name="T81" fmla="*/ 7703 h 7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8541" h="7702">
                <a:moveTo>
                  <a:pt x="7830" y="7703"/>
                </a:moveTo>
                <a:lnTo>
                  <a:pt x="0" y="7703"/>
                </a:lnTo>
                <a:lnTo>
                  <a:pt x="0" y="0"/>
                </a:lnTo>
                <a:lnTo>
                  <a:pt x="632" y="0"/>
                </a:lnTo>
                <a:lnTo>
                  <a:pt x="632" y="4272"/>
                </a:lnTo>
                <a:lnTo>
                  <a:pt x="4513" y="1449"/>
                </a:lnTo>
                <a:lnTo>
                  <a:pt x="5841" y="2017"/>
                </a:lnTo>
                <a:lnTo>
                  <a:pt x="7667" y="357"/>
                </a:lnTo>
                <a:lnTo>
                  <a:pt x="7305" y="0"/>
                </a:lnTo>
                <a:lnTo>
                  <a:pt x="8541" y="0"/>
                </a:lnTo>
                <a:lnTo>
                  <a:pt x="8541" y="1235"/>
                </a:lnTo>
                <a:lnTo>
                  <a:pt x="8116" y="806"/>
                </a:lnTo>
                <a:lnTo>
                  <a:pt x="5965" y="2756"/>
                </a:lnTo>
                <a:lnTo>
                  <a:pt x="4593" y="2172"/>
                </a:lnTo>
                <a:lnTo>
                  <a:pt x="632" y="5054"/>
                </a:lnTo>
                <a:lnTo>
                  <a:pt x="632" y="7072"/>
                </a:lnTo>
                <a:lnTo>
                  <a:pt x="1348" y="7072"/>
                </a:lnTo>
                <a:lnTo>
                  <a:pt x="1348" y="5289"/>
                </a:lnTo>
                <a:lnTo>
                  <a:pt x="1980" y="5289"/>
                </a:lnTo>
                <a:lnTo>
                  <a:pt x="1980" y="7072"/>
                </a:lnTo>
                <a:lnTo>
                  <a:pt x="2517" y="7072"/>
                </a:lnTo>
                <a:lnTo>
                  <a:pt x="2517" y="4558"/>
                </a:lnTo>
                <a:lnTo>
                  <a:pt x="3149" y="4558"/>
                </a:lnTo>
                <a:lnTo>
                  <a:pt x="3149" y="7072"/>
                </a:lnTo>
                <a:lnTo>
                  <a:pt x="3686" y="7072"/>
                </a:lnTo>
                <a:lnTo>
                  <a:pt x="3686" y="3824"/>
                </a:lnTo>
                <a:lnTo>
                  <a:pt x="4318" y="3824"/>
                </a:lnTo>
                <a:lnTo>
                  <a:pt x="4318" y="7072"/>
                </a:lnTo>
                <a:lnTo>
                  <a:pt x="4855" y="7072"/>
                </a:lnTo>
                <a:lnTo>
                  <a:pt x="4855" y="3458"/>
                </a:lnTo>
                <a:lnTo>
                  <a:pt x="5491" y="3458"/>
                </a:lnTo>
                <a:lnTo>
                  <a:pt x="5491" y="7072"/>
                </a:lnTo>
                <a:lnTo>
                  <a:pt x="6028" y="7072"/>
                </a:lnTo>
                <a:lnTo>
                  <a:pt x="6028" y="4193"/>
                </a:lnTo>
                <a:lnTo>
                  <a:pt x="6660" y="4193"/>
                </a:lnTo>
                <a:lnTo>
                  <a:pt x="6660" y="7072"/>
                </a:lnTo>
                <a:lnTo>
                  <a:pt x="7197" y="7072"/>
                </a:lnTo>
                <a:lnTo>
                  <a:pt x="7197" y="2728"/>
                </a:lnTo>
                <a:lnTo>
                  <a:pt x="7830" y="2728"/>
                </a:lnTo>
                <a:lnTo>
                  <a:pt x="7830" y="7703"/>
                </a:lnTo>
                <a:lnTo>
                  <a:pt x="7830" y="7703"/>
                </a:lnTo>
                <a:close/>
              </a:path>
            </a:pathLst>
          </a:custGeom>
          <a:noFill/>
          <a:ln>
            <a:solidFill>
              <a:sysClr val="window" lastClr="FFFFFF"/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Arabic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8B0E71-33F0-BEF4-7A93-C3B7F9531611}"/>
              </a:ext>
            </a:extLst>
          </p:cNvPr>
          <p:cNvSpPr/>
          <p:nvPr/>
        </p:nvSpPr>
        <p:spPr>
          <a:xfrm>
            <a:off x="0" y="110490"/>
            <a:ext cx="643890" cy="5473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A453B1-26FC-0672-F052-8237172C617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1350" y="105411"/>
            <a:ext cx="9269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Implications</a:t>
            </a:r>
          </a:p>
          <a:p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4F0F513-69A0-5011-C38A-F5FB67DD375C}"/>
              </a:ext>
            </a:extLst>
          </p:cNvPr>
          <p:cNvCxnSpPr/>
          <p:nvPr/>
        </p:nvCxnSpPr>
        <p:spPr>
          <a:xfrm>
            <a:off x="641350" y="657860"/>
            <a:ext cx="85147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BA36D45-B09E-A68D-1C7C-9D4347F1F431}"/>
              </a:ext>
            </a:extLst>
          </p:cNvPr>
          <p:cNvSpPr/>
          <p:nvPr/>
        </p:nvSpPr>
        <p:spPr>
          <a:xfrm>
            <a:off x="2048037" y="915377"/>
            <a:ext cx="654592" cy="1640093"/>
          </a:xfrm>
          <a:prstGeom prst="rect">
            <a:avLst/>
          </a:prstGeom>
          <a:gradFill flip="none" rotWithShape="1">
            <a:gsLst>
              <a:gs pos="0">
                <a:srgbClr val="0B4FA1"/>
              </a:gs>
              <a:gs pos="100000">
                <a:srgbClr val="0B4FA1">
                  <a:lumMod val="95000"/>
                  <a:lumOff val="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807A1E-B20B-25D9-BBC6-65E9BBE86A72}"/>
              </a:ext>
            </a:extLst>
          </p:cNvPr>
          <p:cNvSpPr/>
          <p:nvPr/>
        </p:nvSpPr>
        <p:spPr>
          <a:xfrm>
            <a:off x="2048037" y="2890199"/>
            <a:ext cx="654592" cy="1640093"/>
          </a:xfrm>
          <a:prstGeom prst="rect">
            <a:avLst/>
          </a:prstGeom>
          <a:gradFill flip="none" rotWithShape="1">
            <a:gsLst>
              <a:gs pos="0">
                <a:srgbClr val="0B4FA1"/>
              </a:gs>
              <a:gs pos="100000">
                <a:srgbClr val="0B4FA1">
                  <a:lumMod val="95000"/>
                  <a:lumOff val="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05E2F3-F14F-66A1-7DC5-DC944DE015E6}"/>
              </a:ext>
            </a:extLst>
          </p:cNvPr>
          <p:cNvSpPr/>
          <p:nvPr/>
        </p:nvSpPr>
        <p:spPr>
          <a:xfrm>
            <a:off x="2048037" y="4917882"/>
            <a:ext cx="654592" cy="1640093"/>
          </a:xfrm>
          <a:prstGeom prst="rect">
            <a:avLst/>
          </a:prstGeom>
          <a:gradFill flip="none" rotWithShape="1">
            <a:gsLst>
              <a:gs pos="0">
                <a:srgbClr val="0B4FA1"/>
              </a:gs>
              <a:gs pos="100000">
                <a:srgbClr val="0B4FA1">
                  <a:lumMod val="95000"/>
                  <a:lumOff val="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/>
              <a:ea typeface="思源黑体 CN Medium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836420"/>
            <a:ext cx="12192000" cy="2926715"/>
          </a:xfrm>
          <a:prstGeom prst="rect">
            <a:avLst/>
          </a:prstGeom>
          <a:solidFill>
            <a:srgbClr val="0B4189"/>
          </a:solidFill>
          <a:ln>
            <a:solidFill>
              <a:srgbClr val="0A418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29995" y="2658745"/>
            <a:ext cx="9755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Thank  you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！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YwZTMzNmUzODQxMGQ4YzVjN2E5NTYyODA2NDg4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8.0614960629921,&quot;left&quot;:48.961102362204734,&quot;top&quot;:134.7944881889764,&quot;width&quot;:860.577795275590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91.7665354330708,&quot;left&quot;:78.95874015748032,&quot;top&quot;:133.5,&quot;width&quot;:804.399921259842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601</Words>
  <Application>Microsoft Office PowerPoint</Application>
  <PresentationFormat>宽屏</PresentationFormat>
  <Paragraphs>101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Adobe Arabic</vt:lpstr>
      <vt:lpstr>Akzidenz-Grotesk</vt:lpstr>
      <vt:lpstr>Akzidenz-Grotesk Bold</vt:lpstr>
      <vt:lpstr>DIN</vt:lpstr>
      <vt:lpstr>Roboto Bold</vt:lpstr>
      <vt:lpstr>思源黑体 3</vt:lpstr>
      <vt:lpstr>思源黑体 3 Bold</vt:lpstr>
      <vt:lpstr>微软雅黑</vt:lpstr>
      <vt:lpstr>Arial</vt:lpstr>
      <vt:lpstr>Calibri</vt:lpstr>
      <vt:lpstr>Wingdings</vt:lpstr>
      <vt:lpstr>WPS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Zhengxu Shan; JintaoLi</dc:creator>
  <cp:lastModifiedBy>毓森 邱</cp:lastModifiedBy>
  <cp:revision>181</cp:revision>
  <dcterms:created xsi:type="dcterms:W3CDTF">2019-06-19T02:08:00Z</dcterms:created>
  <dcterms:modified xsi:type="dcterms:W3CDTF">2026-04-17T07:37:56Z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D6D22CC113A7409BBA352DBD6ECC2913_13</vt:lpwstr>
  </property>
</Properties>
</file>