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318" r:id="rId3"/>
    <p:sldId id="260" r:id="rId4"/>
    <p:sldId id="321" r:id="rId5"/>
    <p:sldId id="258" r:id="rId6"/>
    <p:sldId id="319" r:id="rId7"/>
    <p:sldId id="320" r:id="rId8"/>
    <p:sldId id="257" r:id="rId9"/>
    <p:sldId id="322" r:id="rId10"/>
    <p:sldId id="324" r:id="rId11"/>
    <p:sldId id="333" r:id="rId12"/>
    <p:sldId id="325" r:id="rId13"/>
    <p:sldId id="326" r:id="rId14"/>
    <p:sldId id="328" r:id="rId15"/>
    <p:sldId id="329" r:id="rId16"/>
    <p:sldId id="336" r:id="rId17"/>
    <p:sldId id="330" r:id="rId18"/>
    <p:sldId id="332" r:id="rId19"/>
    <p:sldId id="334" r:id="rId20"/>
    <p:sldId id="335" r:id="rId21"/>
    <p:sldId id="259" r:id="rId22"/>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991C"/>
    <a:srgbClr val="5B63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174" autoAdjust="0"/>
  </p:normalViewPr>
  <p:slideViewPr>
    <p:cSldViewPr snapToGrid="0" showGuides="1">
      <p:cViewPr>
        <p:scale>
          <a:sx n="100" d="100"/>
          <a:sy n="100" d="100"/>
        </p:scale>
        <p:origin x="72" y="3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27EED7-64B4-475A-9206-B985EADA58FA}" type="datetimeFigureOut">
              <a:rPr lang="zh-CN" altLang="en-US" smtClean="0"/>
              <a:t>2026/4/20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72C434-8567-4407-B6F6-E087651574FD}" type="slidenum">
              <a:rPr lang="zh-CN" altLang="en-US" smtClean="0"/>
              <a:t>‹#›</a:t>
            </a:fld>
            <a:endParaRPr lang="zh-CN" altLang="en-US"/>
          </a:p>
        </p:txBody>
      </p:sp>
    </p:spTree>
    <p:extLst>
      <p:ext uri="{BB962C8B-B14F-4D97-AF65-F5344CB8AC3E}">
        <p14:creationId xmlns:p14="http://schemas.microsoft.com/office/powerpoint/2010/main" val="466761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672C434-8567-4407-B6F6-E087651574FD}" type="slidenum">
              <a:rPr lang="zh-CN" altLang="en-US" smtClean="0"/>
              <a:t>1</a:t>
            </a:fld>
            <a:endParaRPr lang="zh-CN" altLang="en-US"/>
          </a:p>
        </p:txBody>
      </p:sp>
    </p:spTree>
    <p:extLst>
      <p:ext uri="{BB962C8B-B14F-4D97-AF65-F5344CB8AC3E}">
        <p14:creationId xmlns:p14="http://schemas.microsoft.com/office/powerpoint/2010/main" val="1704249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6EDB8-B7C2-0719-8718-E4B1E278B9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745197A-121B-CE6C-8645-B3A81C668E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E5753E-263C-5518-1FF5-F4FA5EB42FA8}"/>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This project focuses on next-day Bitcoin direction prediction. Our goal is not to over-claim profitability, but to build a reproducible, leakage-safe, and interpretable end-to-end pipeline. We integrate four modules: data, baseline models, GRU, and SHAP, then compare them under a unified </a:t>
            </a:r>
            <a:r>
              <a:rPr lang="en-US" altLang="zh-CN" sz="1200" b="0" i="0" kern="1200" dirty="0" err="1">
                <a:solidFill>
                  <a:schemeClr val="tx1"/>
                </a:solidFill>
                <a:effectLst/>
                <a:latin typeface="+mn-lt"/>
                <a:ea typeface="+mn-ea"/>
                <a:cs typeface="+mn-cs"/>
              </a:rPr>
              <a:t>backtesting</a:t>
            </a:r>
            <a:r>
              <a:rPr lang="en-US" altLang="zh-CN" sz="1200" b="0" i="0" kern="1200" dirty="0">
                <a:solidFill>
                  <a:schemeClr val="tx1"/>
                </a:solidFill>
                <a:effectLst/>
                <a:latin typeface="+mn-lt"/>
                <a:ea typeface="+mn-ea"/>
                <a:cs typeface="+mn-cs"/>
              </a:rPr>
              <a:t> protocol.</a:t>
            </a:r>
          </a:p>
          <a:p>
            <a:r>
              <a:rPr lang="en-US" altLang="zh-CN" sz="1200" b="0" i="0" kern="1200" dirty="0">
                <a:solidFill>
                  <a:schemeClr val="tx1"/>
                </a:solidFill>
                <a:effectLst/>
                <a:latin typeface="+mn-lt"/>
                <a:ea typeface="+mn-ea"/>
                <a:cs typeface="+mn-cs"/>
              </a:rPr>
              <a:t>The task is daily binary classification with label </a:t>
            </a:r>
            <a:r>
              <a:rPr lang="en-US" altLang="zh-CN" sz="1200" b="0" i="0" kern="1200" dirty="0" err="1">
                <a:solidFill>
                  <a:schemeClr val="tx1"/>
                </a:solidFill>
                <a:effectLst/>
                <a:latin typeface="+mn-lt"/>
                <a:ea typeface="+mn-ea"/>
                <a:cs typeface="+mn-cs"/>
              </a:rPr>
              <a:t>target_t</a:t>
            </a:r>
            <a:r>
              <a:rPr lang="en-US" altLang="zh-CN" sz="1200" b="0" i="0" kern="1200" dirty="0">
                <a:solidFill>
                  <a:schemeClr val="tx1"/>
                </a:solidFill>
                <a:effectLst/>
                <a:latin typeface="+mn-lt"/>
                <a:ea typeface="+mn-ea"/>
                <a:cs typeface="+mn-cs"/>
              </a:rPr>
              <a:t> = 1[</a:t>
            </a:r>
            <a:r>
              <a:rPr lang="en-US" altLang="zh-CN" sz="1200" b="0" i="0" kern="1200" dirty="0" err="1">
                <a:solidFill>
                  <a:schemeClr val="tx1"/>
                </a:solidFill>
                <a:effectLst/>
                <a:latin typeface="+mn-lt"/>
                <a:ea typeface="+mn-ea"/>
                <a:cs typeface="+mn-cs"/>
              </a:rPr>
              <a:t>close_t</a:t>
            </a:r>
            <a:r>
              <a:rPr lang="en-US" altLang="zh-CN" sz="1200" b="0" i="0" kern="1200" dirty="0">
                <a:solidFill>
                  <a:schemeClr val="tx1"/>
                </a:solidFill>
                <a:effectLst/>
                <a:latin typeface="+mn-lt"/>
                <a:ea typeface="+mn-ea"/>
                <a:cs typeface="+mn-cs"/>
              </a:rPr>
              <a:t> &gt; close_{t-1}]. We use a two-layer evaluation: classification metrics first, unified financial </a:t>
            </a:r>
            <a:r>
              <a:rPr lang="en-US" altLang="zh-CN" sz="1200" b="0" i="0" kern="1200" dirty="0" err="1">
                <a:solidFill>
                  <a:schemeClr val="tx1"/>
                </a:solidFill>
                <a:effectLst/>
                <a:latin typeface="+mn-lt"/>
                <a:ea typeface="+mn-ea"/>
                <a:cs typeface="+mn-cs"/>
              </a:rPr>
              <a:t>backtest</a:t>
            </a:r>
            <a:r>
              <a:rPr lang="en-US" altLang="zh-CN" sz="1200" b="0" i="0" kern="1200" dirty="0">
                <a:solidFill>
                  <a:schemeClr val="tx1"/>
                </a:solidFill>
                <a:effectLst/>
                <a:latin typeface="+mn-lt"/>
                <a:ea typeface="+mn-ea"/>
                <a:cs typeface="+mn-cs"/>
              </a:rPr>
              <a:t> metrics second. This avoids relying on accuracy/AUC alone without checking trading consequences.</a:t>
            </a:r>
            <a:endParaRPr lang="zh-CN" altLang="en-US" dirty="0"/>
          </a:p>
        </p:txBody>
      </p:sp>
      <p:sp>
        <p:nvSpPr>
          <p:cNvPr id="4" name="灯片编号占位符 3">
            <a:extLst>
              <a:ext uri="{FF2B5EF4-FFF2-40B4-BE49-F238E27FC236}">
                <a16:creationId xmlns:a16="http://schemas.microsoft.com/office/drawing/2014/main" id="{F099109F-EDC6-C27E-24BB-05C68F9C951B}"/>
              </a:ext>
            </a:extLst>
          </p:cNvPr>
          <p:cNvSpPr>
            <a:spLocks noGrp="1"/>
          </p:cNvSpPr>
          <p:nvPr>
            <p:ph type="sldNum" sz="quarter" idx="5"/>
          </p:nvPr>
        </p:nvSpPr>
        <p:spPr/>
        <p:txBody>
          <a:bodyPr/>
          <a:lstStyle/>
          <a:p>
            <a:fld id="{F672C434-8567-4407-B6F6-E087651574FD}" type="slidenum">
              <a:rPr lang="zh-CN" altLang="en-US" smtClean="0"/>
              <a:t>2</a:t>
            </a:fld>
            <a:endParaRPr lang="zh-CN" altLang="en-US"/>
          </a:p>
        </p:txBody>
      </p:sp>
    </p:spTree>
    <p:extLst>
      <p:ext uri="{BB962C8B-B14F-4D97-AF65-F5344CB8AC3E}">
        <p14:creationId xmlns:p14="http://schemas.microsoft.com/office/powerpoint/2010/main" val="3854058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The presentation has four parts: Data Engineering, Baseline &amp; GRU, SHAP &amp; Financial </a:t>
            </a:r>
            <a:r>
              <a:rPr lang="en-US" altLang="zh-CN" sz="1200" b="0" i="0" kern="1200" dirty="0" err="1">
                <a:solidFill>
                  <a:schemeClr val="tx1"/>
                </a:solidFill>
                <a:effectLst/>
                <a:latin typeface="+mn-lt"/>
                <a:ea typeface="+mn-ea"/>
                <a:cs typeface="+mn-cs"/>
              </a:rPr>
              <a:t>Backtest</a:t>
            </a:r>
            <a:r>
              <a:rPr lang="en-US" altLang="zh-CN" sz="1200" b="0" i="0" kern="1200" dirty="0">
                <a:solidFill>
                  <a:schemeClr val="tx1"/>
                </a:solidFill>
                <a:effectLst/>
                <a:latin typeface="+mn-lt"/>
                <a:ea typeface="+mn-ea"/>
                <a:cs typeface="+mn-cs"/>
              </a:rPr>
              <a:t>, and Summary. The logic is: ensure data rigor first, compare models second, interpret decisions third, and deliver a disciplined conclusion last.</a:t>
            </a:r>
            <a:endParaRPr lang="zh-CN" altLang="en-US" dirty="0"/>
          </a:p>
        </p:txBody>
      </p:sp>
      <p:sp>
        <p:nvSpPr>
          <p:cNvPr id="4" name="灯片编号占位符 3"/>
          <p:cNvSpPr>
            <a:spLocks noGrp="1"/>
          </p:cNvSpPr>
          <p:nvPr>
            <p:ph type="sldNum" sz="quarter" idx="5"/>
          </p:nvPr>
        </p:nvSpPr>
        <p:spPr/>
        <p:txBody>
          <a:bodyPr/>
          <a:lstStyle/>
          <a:p>
            <a:fld id="{F672C434-8567-4407-B6F6-E087651574FD}" type="slidenum">
              <a:rPr lang="zh-CN" altLang="en-US" smtClean="0"/>
              <a:t>3</a:t>
            </a:fld>
            <a:endParaRPr lang="zh-CN" altLang="en-US"/>
          </a:p>
        </p:txBody>
      </p:sp>
    </p:spTree>
    <p:extLst>
      <p:ext uri="{BB962C8B-B14F-4D97-AF65-F5344CB8AC3E}">
        <p14:creationId xmlns:p14="http://schemas.microsoft.com/office/powerpoint/2010/main" val="1624418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530E2-3EEA-BC54-22C6-AA80ADEE6C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33D69B-400B-47DC-A93B-D285F81133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818F21-EB3D-B35B-C3CB-F3721150EFD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46F038F-746C-79C6-447B-33CE5C2019CD}"/>
              </a:ext>
            </a:extLst>
          </p:cNvPr>
          <p:cNvSpPr>
            <a:spLocks noGrp="1"/>
          </p:cNvSpPr>
          <p:nvPr>
            <p:ph type="sldNum" sz="quarter" idx="5"/>
          </p:nvPr>
        </p:nvSpPr>
        <p:spPr/>
        <p:txBody>
          <a:bodyPr/>
          <a:lstStyle/>
          <a:p>
            <a:fld id="{F672C434-8567-4407-B6F6-E087651574FD}" type="slidenum">
              <a:rPr lang="zh-CN" altLang="en-US" smtClean="0"/>
              <a:t>4</a:t>
            </a:fld>
            <a:endParaRPr lang="zh-CN" altLang="en-US"/>
          </a:p>
        </p:txBody>
      </p:sp>
    </p:spTree>
    <p:extLst>
      <p:ext uri="{BB962C8B-B14F-4D97-AF65-F5344CB8AC3E}">
        <p14:creationId xmlns:p14="http://schemas.microsoft.com/office/powerpoint/2010/main" val="1365511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We combine four source types: exchange market data, on-chain indicators, macro factors, and sentiment index. The final dataset has 2,966 rows, 27 columns, and 0% missingness. This gives a consistent and traceable input foundation for all experiments.</a:t>
            </a:r>
            <a:endParaRPr lang="zh-CN" altLang="en-US" dirty="0"/>
          </a:p>
        </p:txBody>
      </p:sp>
      <p:sp>
        <p:nvSpPr>
          <p:cNvPr id="4" name="灯片编号占位符 3"/>
          <p:cNvSpPr>
            <a:spLocks noGrp="1"/>
          </p:cNvSpPr>
          <p:nvPr>
            <p:ph type="sldNum" sz="quarter" idx="5"/>
          </p:nvPr>
        </p:nvSpPr>
        <p:spPr/>
        <p:txBody>
          <a:bodyPr/>
          <a:lstStyle/>
          <a:p>
            <a:fld id="{F672C434-8567-4407-B6F6-E087651574FD}" type="slidenum">
              <a:rPr lang="zh-CN" altLang="en-US" smtClean="0"/>
              <a:t>5</a:t>
            </a:fld>
            <a:endParaRPr lang="zh-CN" altLang="en-US"/>
          </a:p>
        </p:txBody>
      </p:sp>
    </p:spTree>
    <p:extLst>
      <p:ext uri="{BB962C8B-B14F-4D97-AF65-F5344CB8AC3E}">
        <p14:creationId xmlns:p14="http://schemas.microsoft.com/office/powerpoint/2010/main" val="2410492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BAB65-A08A-B91E-AD5B-7995B0B466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E56CA5-EF50-F13E-5549-38B83E20712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6AC08D-424F-140A-391B-35740ED0143C}"/>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Features are grouped into price/trading, on-chain activity, macro factors, sentiment, and engineered features. Engineered features capture short-horizon dynamics such as returns, volatility, ratios, and change signals. The target definition is fixed across all models for consistency.</a:t>
            </a:r>
            <a:endParaRPr lang="zh-CN" altLang="en-US" dirty="0"/>
          </a:p>
        </p:txBody>
      </p:sp>
      <p:sp>
        <p:nvSpPr>
          <p:cNvPr id="4" name="灯片编号占位符 3">
            <a:extLst>
              <a:ext uri="{FF2B5EF4-FFF2-40B4-BE49-F238E27FC236}">
                <a16:creationId xmlns:a16="http://schemas.microsoft.com/office/drawing/2014/main" id="{FB907122-25A5-882A-8DC2-5D4CB4975597}"/>
              </a:ext>
            </a:extLst>
          </p:cNvPr>
          <p:cNvSpPr>
            <a:spLocks noGrp="1"/>
          </p:cNvSpPr>
          <p:nvPr>
            <p:ph type="sldNum" sz="quarter" idx="5"/>
          </p:nvPr>
        </p:nvSpPr>
        <p:spPr/>
        <p:txBody>
          <a:bodyPr/>
          <a:lstStyle/>
          <a:p>
            <a:fld id="{F672C434-8567-4407-B6F6-E087651574FD}" type="slidenum">
              <a:rPr lang="zh-CN" altLang="en-US" smtClean="0"/>
              <a:t>6</a:t>
            </a:fld>
            <a:endParaRPr lang="zh-CN" altLang="en-US"/>
          </a:p>
        </p:txBody>
      </p:sp>
    </p:spTree>
    <p:extLst>
      <p:ext uri="{BB962C8B-B14F-4D97-AF65-F5344CB8AC3E}">
        <p14:creationId xmlns:p14="http://schemas.microsoft.com/office/powerpoint/2010/main" val="2085527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FE3C9-7C80-CDB8-0FCA-7743ABB14FE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E0C85C-E2C2-6B5B-6090-1FE184E875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355D37A-193C-6796-8477-B08C0F41A911}"/>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We enforce three leakage-control rules: one-period feature lagging, exclusion of the latest incomplete trading day, and fixed target definition with regression checks. The key principle is that information at time </a:t>
            </a:r>
            <a:r>
              <a:rPr lang="en-US" altLang="zh-CN" sz="1200" b="0" i="1" kern="1200" dirty="0">
                <a:solidFill>
                  <a:schemeClr val="tx1"/>
                </a:solidFill>
                <a:effectLst/>
                <a:latin typeface="+mn-lt"/>
                <a:ea typeface="+mn-ea"/>
                <a:cs typeface="+mn-cs"/>
              </a:rPr>
              <a:t>t</a:t>
            </a:r>
            <a:r>
              <a:rPr lang="en-US" altLang="zh-CN" sz="1200" b="0" i="0" kern="1200" dirty="0">
                <a:solidFill>
                  <a:schemeClr val="tx1"/>
                </a:solidFill>
                <a:effectLst/>
                <a:latin typeface="+mn-lt"/>
                <a:ea typeface="+mn-ea"/>
                <a:cs typeface="+mn-cs"/>
              </a:rPr>
              <a:t> must be available at time </a:t>
            </a:r>
            <a:r>
              <a:rPr lang="en-US" altLang="zh-CN" sz="1200" b="0" i="1" kern="1200" dirty="0">
                <a:solidFill>
                  <a:schemeClr val="tx1"/>
                </a:solidFill>
                <a:effectLst/>
                <a:latin typeface="+mn-lt"/>
                <a:ea typeface="+mn-ea"/>
                <a:cs typeface="+mn-cs"/>
              </a:rPr>
              <a:t>t</a:t>
            </a:r>
            <a:r>
              <a:rPr lang="en-US" altLang="zh-CN" sz="1200" b="0" i="0" kern="1200" dirty="0">
                <a:solidFill>
                  <a:schemeClr val="tx1"/>
                </a:solidFill>
                <a:effectLst/>
                <a:latin typeface="+mn-lt"/>
                <a:ea typeface="+mn-ea"/>
                <a:cs typeface="+mn-cs"/>
              </a:rPr>
              <a:t>. This section is central to methodological credibility.</a:t>
            </a:r>
            <a:endParaRPr lang="zh-CN" altLang="en-US" dirty="0"/>
          </a:p>
        </p:txBody>
      </p:sp>
      <p:sp>
        <p:nvSpPr>
          <p:cNvPr id="4" name="灯片编号占位符 3">
            <a:extLst>
              <a:ext uri="{FF2B5EF4-FFF2-40B4-BE49-F238E27FC236}">
                <a16:creationId xmlns:a16="http://schemas.microsoft.com/office/drawing/2014/main" id="{B412E784-986A-1C9F-50DE-7376B6563F0B}"/>
              </a:ext>
            </a:extLst>
          </p:cNvPr>
          <p:cNvSpPr>
            <a:spLocks noGrp="1"/>
          </p:cNvSpPr>
          <p:nvPr>
            <p:ph type="sldNum" sz="quarter" idx="5"/>
          </p:nvPr>
        </p:nvSpPr>
        <p:spPr/>
        <p:txBody>
          <a:bodyPr/>
          <a:lstStyle/>
          <a:p>
            <a:fld id="{F672C434-8567-4407-B6F6-E087651574FD}" type="slidenum">
              <a:rPr lang="zh-CN" altLang="en-US" smtClean="0"/>
              <a:t>7</a:t>
            </a:fld>
            <a:endParaRPr lang="zh-CN" altLang="en-US"/>
          </a:p>
        </p:txBody>
      </p:sp>
    </p:spTree>
    <p:extLst>
      <p:ext uri="{BB962C8B-B14F-4D97-AF65-F5344CB8AC3E}">
        <p14:creationId xmlns:p14="http://schemas.microsoft.com/office/powerpoint/2010/main" val="385581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672C434-8567-4407-B6F6-E087651574FD}" type="slidenum">
              <a:rPr lang="zh-CN" altLang="en-US" smtClean="0"/>
              <a:t>8</a:t>
            </a:fld>
            <a:endParaRPr lang="zh-CN" altLang="en-US"/>
          </a:p>
        </p:txBody>
      </p:sp>
    </p:spTree>
    <p:extLst>
      <p:ext uri="{BB962C8B-B14F-4D97-AF65-F5344CB8AC3E}">
        <p14:creationId xmlns:p14="http://schemas.microsoft.com/office/powerpoint/2010/main" val="2510493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1EA6F-4776-4E3E-23B5-9339D2079D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F03925-F3E6-592D-2390-AEFBEDCD5C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0B70657-2C2E-4A34-455B-DE95BD82F391}"/>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Baseline models are Logistic Regression (L1) and Random Forest. Their classification performance is near random, indicating a noisy and challenging task. These models serve as empirical reference levels for later comparison.</a:t>
            </a:r>
            <a:endParaRPr lang="zh-CN" altLang="en-US" dirty="0"/>
          </a:p>
        </p:txBody>
      </p:sp>
      <p:sp>
        <p:nvSpPr>
          <p:cNvPr id="4" name="灯片编号占位符 3">
            <a:extLst>
              <a:ext uri="{FF2B5EF4-FFF2-40B4-BE49-F238E27FC236}">
                <a16:creationId xmlns:a16="http://schemas.microsoft.com/office/drawing/2014/main" id="{2E6B7F98-CE12-007A-892C-B57D83C53536}"/>
              </a:ext>
            </a:extLst>
          </p:cNvPr>
          <p:cNvSpPr>
            <a:spLocks noGrp="1"/>
          </p:cNvSpPr>
          <p:nvPr>
            <p:ph type="sldNum" sz="quarter" idx="5"/>
          </p:nvPr>
        </p:nvSpPr>
        <p:spPr/>
        <p:txBody>
          <a:bodyPr/>
          <a:lstStyle/>
          <a:p>
            <a:fld id="{F672C434-8567-4407-B6F6-E087651574FD}" type="slidenum">
              <a:rPr lang="zh-CN" altLang="en-US" smtClean="0"/>
              <a:t>9</a:t>
            </a:fld>
            <a:endParaRPr lang="zh-CN" altLang="en-US"/>
          </a:p>
        </p:txBody>
      </p:sp>
    </p:spTree>
    <p:extLst>
      <p:ext uri="{BB962C8B-B14F-4D97-AF65-F5344CB8AC3E}">
        <p14:creationId xmlns:p14="http://schemas.microsoft.com/office/powerpoint/2010/main" val="2926675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EAC1A-243A-D5F2-C11E-3EC015256B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3426FF-07EF-9F78-8B96-EB62068B24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90ED747-52CB-3D5C-00CA-FABA9252343B}"/>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Random Forest importance suggests short-horizon returns and activity-related variables are the strongest contributors. So the model is not purely random; it is driven by a concentrated subset of signals. This also provides a useful prior check against later SHAP findings.</a:t>
            </a:r>
            <a:endParaRPr lang="zh-CN" altLang="en-US" dirty="0"/>
          </a:p>
        </p:txBody>
      </p:sp>
      <p:sp>
        <p:nvSpPr>
          <p:cNvPr id="4" name="灯片编号占位符 3">
            <a:extLst>
              <a:ext uri="{FF2B5EF4-FFF2-40B4-BE49-F238E27FC236}">
                <a16:creationId xmlns:a16="http://schemas.microsoft.com/office/drawing/2014/main" id="{6CE029A9-4E5A-A848-F787-0DE54B070955}"/>
              </a:ext>
            </a:extLst>
          </p:cNvPr>
          <p:cNvSpPr>
            <a:spLocks noGrp="1"/>
          </p:cNvSpPr>
          <p:nvPr>
            <p:ph type="sldNum" sz="quarter" idx="5"/>
          </p:nvPr>
        </p:nvSpPr>
        <p:spPr/>
        <p:txBody>
          <a:bodyPr/>
          <a:lstStyle/>
          <a:p>
            <a:fld id="{F672C434-8567-4407-B6F6-E087651574FD}" type="slidenum">
              <a:rPr lang="zh-CN" altLang="en-US" smtClean="0"/>
              <a:t>10</a:t>
            </a:fld>
            <a:endParaRPr lang="zh-CN" altLang="en-US"/>
          </a:p>
        </p:txBody>
      </p:sp>
    </p:spTree>
    <p:extLst>
      <p:ext uri="{BB962C8B-B14F-4D97-AF65-F5344CB8AC3E}">
        <p14:creationId xmlns:p14="http://schemas.microsoft.com/office/powerpoint/2010/main" val="4368395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373BB-D8A0-FC1E-8579-3955F7BF9C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6728CE-EA30-8ED5-99D8-7D3D6270A5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E608BC-0AC4-EC67-235F-783437DD9B55}"/>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GRU uses temporal split (70/15/15), class-weighted BCE, with </a:t>
            </a:r>
            <a:r>
              <a:rPr lang="en-US" altLang="zh-CN" sz="1200" b="0" i="0" kern="1200" dirty="0" err="1">
                <a:solidFill>
                  <a:schemeClr val="tx1"/>
                </a:solidFill>
                <a:effectLst/>
                <a:latin typeface="+mn-lt"/>
                <a:ea typeface="+mn-ea"/>
                <a:cs typeface="+mn-cs"/>
              </a:rPr>
              <a:t>seq_len</a:t>
            </a:r>
            <a:r>
              <a:rPr lang="en-US" altLang="zh-CN" sz="1200" b="0" i="0" kern="1200" dirty="0">
                <a:solidFill>
                  <a:schemeClr val="tx1"/>
                </a:solidFill>
                <a:effectLst/>
                <a:latin typeface="+mn-lt"/>
                <a:ea typeface="+mn-ea"/>
                <a:cs typeface="+mn-cs"/>
              </a:rPr>
              <a:t>=10, </a:t>
            </a:r>
            <a:r>
              <a:rPr lang="en-US" altLang="zh-CN" sz="1200" b="0" i="0" kern="1200" dirty="0" err="1">
                <a:solidFill>
                  <a:schemeClr val="tx1"/>
                </a:solidFill>
                <a:effectLst/>
                <a:latin typeface="+mn-lt"/>
                <a:ea typeface="+mn-ea"/>
                <a:cs typeface="+mn-cs"/>
              </a:rPr>
              <a:t>hidden_size</a:t>
            </a:r>
            <a:r>
              <a:rPr lang="en-US" altLang="zh-CN" sz="1200" b="0" i="0" kern="1200" dirty="0">
                <a:solidFill>
                  <a:schemeClr val="tx1"/>
                </a:solidFill>
                <a:effectLst/>
                <a:latin typeface="+mn-lt"/>
                <a:ea typeface="+mn-ea"/>
                <a:cs typeface="+mn-cs"/>
              </a:rPr>
              <a:t>=32, and </a:t>
            </a:r>
            <a:r>
              <a:rPr lang="en-US" altLang="zh-CN" sz="1200" b="0" i="0" kern="1200" dirty="0" err="1">
                <a:solidFill>
                  <a:schemeClr val="tx1"/>
                </a:solidFill>
                <a:effectLst/>
                <a:latin typeface="+mn-lt"/>
                <a:ea typeface="+mn-ea"/>
                <a:cs typeface="+mn-cs"/>
              </a:rPr>
              <a:t>lr</a:t>
            </a:r>
            <a:r>
              <a:rPr lang="en-US" altLang="zh-CN" sz="1200" b="0" i="0" kern="1200" dirty="0">
                <a:solidFill>
                  <a:schemeClr val="tx1"/>
                </a:solidFill>
                <a:effectLst/>
                <a:latin typeface="+mn-lt"/>
                <a:ea typeface="+mn-ea"/>
                <a:cs typeface="+mn-cs"/>
              </a:rPr>
              <a:t>=5e-4. GRU achieves higher AUC than baselines, while F1 remains low, indicating conservative “up” predictions. The takeaway is modest classification improvement that still requires financial validation.</a:t>
            </a:r>
            <a:endParaRPr lang="zh-CN" altLang="en-US" dirty="0"/>
          </a:p>
        </p:txBody>
      </p:sp>
      <p:sp>
        <p:nvSpPr>
          <p:cNvPr id="4" name="灯片编号占位符 3">
            <a:extLst>
              <a:ext uri="{FF2B5EF4-FFF2-40B4-BE49-F238E27FC236}">
                <a16:creationId xmlns:a16="http://schemas.microsoft.com/office/drawing/2014/main" id="{5349146B-8ADC-54A2-8893-A1271C13C5A1}"/>
              </a:ext>
            </a:extLst>
          </p:cNvPr>
          <p:cNvSpPr>
            <a:spLocks noGrp="1"/>
          </p:cNvSpPr>
          <p:nvPr>
            <p:ph type="sldNum" sz="quarter" idx="5"/>
          </p:nvPr>
        </p:nvSpPr>
        <p:spPr/>
        <p:txBody>
          <a:bodyPr/>
          <a:lstStyle/>
          <a:p>
            <a:fld id="{F672C434-8567-4407-B6F6-E087651574FD}" type="slidenum">
              <a:rPr lang="zh-CN" altLang="en-US" smtClean="0"/>
              <a:t>11</a:t>
            </a:fld>
            <a:endParaRPr lang="zh-CN" altLang="en-US"/>
          </a:p>
        </p:txBody>
      </p:sp>
    </p:spTree>
    <p:extLst>
      <p:ext uri="{BB962C8B-B14F-4D97-AF65-F5344CB8AC3E}">
        <p14:creationId xmlns:p14="http://schemas.microsoft.com/office/powerpoint/2010/main" val="18449992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C053D-52C5-3C85-972E-E0B77ED272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3F450B-3A54-92A4-E50A-65DF848EB97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8DED4B5-806B-DADC-FAD6-41CDE1CD3E7C}"/>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This slide highlights metric structure: GRU improves ranking ability, but threshold-based classification gains are limited. In other words, statistical signal exists, but it does not automatically imply strong tradable alpha. That is why unified </a:t>
            </a:r>
            <a:r>
              <a:rPr lang="en-US" altLang="zh-CN" sz="1200" b="0" i="0" kern="1200" dirty="0" err="1">
                <a:solidFill>
                  <a:schemeClr val="tx1"/>
                </a:solidFill>
                <a:effectLst/>
                <a:latin typeface="+mn-lt"/>
                <a:ea typeface="+mn-ea"/>
                <a:cs typeface="+mn-cs"/>
              </a:rPr>
              <a:t>backtesting</a:t>
            </a:r>
            <a:r>
              <a:rPr lang="en-US" altLang="zh-CN" sz="1200" b="0" i="0" kern="1200" dirty="0">
                <a:solidFill>
                  <a:schemeClr val="tx1"/>
                </a:solidFill>
                <a:effectLst/>
                <a:latin typeface="+mn-lt"/>
                <a:ea typeface="+mn-ea"/>
                <a:cs typeface="+mn-cs"/>
              </a:rPr>
              <a:t> is necessary.</a:t>
            </a:r>
            <a:endParaRPr lang="zh-CN" altLang="en-US" dirty="0"/>
          </a:p>
        </p:txBody>
      </p:sp>
      <p:sp>
        <p:nvSpPr>
          <p:cNvPr id="4" name="灯片编号占位符 3">
            <a:extLst>
              <a:ext uri="{FF2B5EF4-FFF2-40B4-BE49-F238E27FC236}">
                <a16:creationId xmlns:a16="http://schemas.microsoft.com/office/drawing/2014/main" id="{EFB0C9CA-C31F-06FE-3C2C-C3A242FA0A1E}"/>
              </a:ext>
            </a:extLst>
          </p:cNvPr>
          <p:cNvSpPr>
            <a:spLocks noGrp="1"/>
          </p:cNvSpPr>
          <p:nvPr>
            <p:ph type="sldNum" sz="quarter" idx="5"/>
          </p:nvPr>
        </p:nvSpPr>
        <p:spPr/>
        <p:txBody>
          <a:bodyPr/>
          <a:lstStyle/>
          <a:p>
            <a:fld id="{F672C434-8567-4407-B6F6-E087651574FD}" type="slidenum">
              <a:rPr lang="zh-CN" altLang="en-US" smtClean="0"/>
              <a:t>12</a:t>
            </a:fld>
            <a:endParaRPr lang="zh-CN" altLang="en-US"/>
          </a:p>
        </p:txBody>
      </p:sp>
    </p:spTree>
    <p:extLst>
      <p:ext uri="{BB962C8B-B14F-4D97-AF65-F5344CB8AC3E}">
        <p14:creationId xmlns:p14="http://schemas.microsoft.com/office/powerpoint/2010/main" val="153353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875C3-1AAC-C12A-2BC0-10EF51F858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69D5E8-B7ED-2E73-D443-5EC7C6CD003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EB2742-5D36-A251-B7D1-2CF8FF3D78B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9518094-9CF4-6E7B-FD4F-00B47CE40812}"/>
              </a:ext>
            </a:extLst>
          </p:cNvPr>
          <p:cNvSpPr>
            <a:spLocks noGrp="1"/>
          </p:cNvSpPr>
          <p:nvPr>
            <p:ph type="sldNum" sz="quarter" idx="5"/>
          </p:nvPr>
        </p:nvSpPr>
        <p:spPr/>
        <p:txBody>
          <a:bodyPr/>
          <a:lstStyle/>
          <a:p>
            <a:fld id="{F672C434-8567-4407-B6F6-E087651574FD}" type="slidenum">
              <a:rPr lang="zh-CN" altLang="en-US" smtClean="0"/>
              <a:t>13</a:t>
            </a:fld>
            <a:endParaRPr lang="zh-CN" altLang="en-US"/>
          </a:p>
        </p:txBody>
      </p:sp>
    </p:spTree>
    <p:extLst>
      <p:ext uri="{BB962C8B-B14F-4D97-AF65-F5344CB8AC3E}">
        <p14:creationId xmlns:p14="http://schemas.microsoft.com/office/powerpoint/2010/main" val="3112451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9FC55-B74F-DDD3-8745-80A2DC14DF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0E1534C-1A89-8594-C14C-B399362BB3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58B940C-E672-3282-7E8B-B8718AEFB7F6}"/>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Global SHAP identifies </a:t>
            </a:r>
            <a:r>
              <a:rPr lang="en-US" altLang="zh-CN" sz="1200" b="0" i="0" kern="1200" dirty="0" err="1">
                <a:solidFill>
                  <a:schemeClr val="tx1"/>
                </a:solidFill>
                <a:effectLst/>
                <a:latin typeface="+mn-lt"/>
                <a:ea typeface="+mn-ea"/>
                <a:cs typeface="+mn-cs"/>
              </a:rPr>
              <a:t>active_addresses_change</a:t>
            </a:r>
            <a:r>
              <a:rPr lang="en-US" altLang="zh-CN" sz="1200" b="0" i="0" kern="1200" dirty="0">
                <a:solidFill>
                  <a:schemeClr val="tx1"/>
                </a:solidFill>
                <a:effectLst/>
                <a:latin typeface="+mn-lt"/>
                <a:ea typeface="+mn-ea"/>
                <a:cs typeface="+mn-cs"/>
              </a:rPr>
              <a:t> as the dominant feature, with </a:t>
            </a:r>
            <a:r>
              <a:rPr lang="en-US" altLang="zh-CN" sz="1200" b="0" i="0" kern="1200" dirty="0" err="1">
                <a:solidFill>
                  <a:schemeClr val="tx1"/>
                </a:solidFill>
                <a:effectLst/>
                <a:latin typeface="+mn-lt"/>
                <a:ea typeface="+mn-ea"/>
                <a:cs typeface="+mn-cs"/>
              </a:rPr>
              <a:t>volume_change</a:t>
            </a:r>
            <a:r>
              <a:rPr lang="en-US" altLang="zh-CN" sz="1200" b="0" i="0" kern="1200" dirty="0">
                <a:solidFill>
                  <a:schemeClr val="tx1"/>
                </a:solidFill>
                <a:effectLst/>
                <a:latin typeface="+mn-lt"/>
                <a:ea typeface="+mn-ea"/>
                <a:cs typeface="+mn-cs"/>
              </a:rPr>
              <a:t> and short-horizon return factors also influential. This suggests the model uses meaningful market and on-chain structure rather than pure noise. It answers the question: what the model mainly relies on.</a:t>
            </a:r>
            <a:endParaRPr lang="zh-CN" altLang="en-US" dirty="0"/>
          </a:p>
        </p:txBody>
      </p:sp>
      <p:sp>
        <p:nvSpPr>
          <p:cNvPr id="4" name="灯片编号占位符 3">
            <a:extLst>
              <a:ext uri="{FF2B5EF4-FFF2-40B4-BE49-F238E27FC236}">
                <a16:creationId xmlns:a16="http://schemas.microsoft.com/office/drawing/2014/main" id="{06F8548A-285B-CB38-8A37-50E38FDE1D0D}"/>
              </a:ext>
            </a:extLst>
          </p:cNvPr>
          <p:cNvSpPr>
            <a:spLocks noGrp="1"/>
          </p:cNvSpPr>
          <p:nvPr>
            <p:ph type="sldNum" sz="quarter" idx="5"/>
          </p:nvPr>
        </p:nvSpPr>
        <p:spPr/>
        <p:txBody>
          <a:bodyPr/>
          <a:lstStyle/>
          <a:p>
            <a:fld id="{F672C434-8567-4407-B6F6-E087651574FD}" type="slidenum">
              <a:rPr lang="zh-CN" altLang="en-US" smtClean="0"/>
              <a:t>14</a:t>
            </a:fld>
            <a:endParaRPr lang="zh-CN" altLang="en-US"/>
          </a:p>
        </p:txBody>
      </p:sp>
    </p:spTree>
    <p:extLst>
      <p:ext uri="{BB962C8B-B14F-4D97-AF65-F5344CB8AC3E}">
        <p14:creationId xmlns:p14="http://schemas.microsoft.com/office/powerpoint/2010/main" val="454625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EB3B8-BF3C-1913-1D67-74ABBA1BDC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3A60BB1-5EF3-532B-2D67-DC3743F4AD7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1EA5D8D-DE1E-B1C0-72B8-C52DDB002816}"/>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The dependence plot shows directional local effects for key features and is consistent with global ranking. This strengthens interpretability because we observe not only importance, but also contribution direction. The interpretation is broadly aligned with economic intuition.</a:t>
            </a:r>
            <a:endParaRPr lang="zh-CN" altLang="en-US" dirty="0"/>
          </a:p>
        </p:txBody>
      </p:sp>
      <p:sp>
        <p:nvSpPr>
          <p:cNvPr id="4" name="灯片编号占位符 3">
            <a:extLst>
              <a:ext uri="{FF2B5EF4-FFF2-40B4-BE49-F238E27FC236}">
                <a16:creationId xmlns:a16="http://schemas.microsoft.com/office/drawing/2014/main" id="{518B95E0-D685-BB5E-4CC1-B94D2452A40B}"/>
              </a:ext>
            </a:extLst>
          </p:cNvPr>
          <p:cNvSpPr>
            <a:spLocks noGrp="1"/>
          </p:cNvSpPr>
          <p:nvPr>
            <p:ph type="sldNum" sz="quarter" idx="5"/>
          </p:nvPr>
        </p:nvSpPr>
        <p:spPr/>
        <p:txBody>
          <a:bodyPr/>
          <a:lstStyle/>
          <a:p>
            <a:fld id="{F672C434-8567-4407-B6F6-E087651574FD}" type="slidenum">
              <a:rPr lang="zh-CN" altLang="en-US" smtClean="0"/>
              <a:t>15</a:t>
            </a:fld>
            <a:endParaRPr lang="zh-CN" altLang="en-US"/>
          </a:p>
        </p:txBody>
      </p:sp>
    </p:spTree>
    <p:extLst>
      <p:ext uri="{BB962C8B-B14F-4D97-AF65-F5344CB8AC3E}">
        <p14:creationId xmlns:p14="http://schemas.microsoft.com/office/powerpoint/2010/main" val="3049214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53D02-F167-0265-EB30-B023957E1FF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72ECB7-32F5-52AC-A8A9-83E52D4E39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4BD9F6-F5E3-79D8-55ED-31BF72EB7536}"/>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Unified </a:t>
            </a:r>
            <a:r>
              <a:rPr lang="en-US" altLang="zh-CN" sz="1200" b="0" i="0" kern="1200" dirty="0" err="1">
                <a:solidFill>
                  <a:schemeClr val="tx1"/>
                </a:solidFill>
                <a:effectLst/>
                <a:latin typeface="+mn-lt"/>
                <a:ea typeface="+mn-ea"/>
                <a:cs typeface="+mn-cs"/>
              </a:rPr>
              <a:t>backtesting</a:t>
            </a:r>
            <a:r>
              <a:rPr lang="en-US" altLang="zh-CN" sz="1200" b="0" i="0" kern="1200" dirty="0">
                <a:solidFill>
                  <a:schemeClr val="tx1"/>
                </a:solidFill>
                <a:effectLst/>
                <a:latin typeface="+mn-lt"/>
                <a:ea typeface="+mn-ea"/>
                <a:cs typeface="+mn-cs"/>
              </a:rPr>
              <a:t> translates predictions into realized return/risk under executable rules. We keep one protocol for all models: same signal rule, transaction cost, and metric family. This ensures fair comparison at the strategy level, not only at the classifier-score level.</a:t>
            </a:r>
            <a:endParaRPr lang="zh-CN" altLang="en-US" dirty="0"/>
          </a:p>
        </p:txBody>
      </p:sp>
      <p:sp>
        <p:nvSpPr>
          <p:cNvPr id="4" name="灯片编号占位符 3">
            <a:extLst>
              <a:ext uri="{FF2B5EF4-FFF2-40B4-BE49-F238E27FC236}">
                <a16:creationId xmlns:a16="http://schemas.microsoft.com/office/drawing/2014/main" id="{D512959A-460C-B060-7DB8-2E509DC4EE8C}"/>
              </a:ext>
            </a:extLst>
          </p:cNvPr>
          <p:cNvSpPr>
            <a:spLocks noGrp="1"/>
          </p:cNvSpPr>
          <p:nvPr>
            <p:ph type="sldNum" sz="quarter" idx="5"/>
          </p:nvPr>
        </p:nvSpPr>
        <p:spPr/>
        <p:txBody>
          <a:bodyPr/>
          <a:lstStyle/>
          <a:p>
            <a:fld id="{F672C434-8567-4407-B6F6-E087651574FD}" type="slidenum">
              <a:rPr lang="zh-CN" altLang="en-US" smtClean="0"/>
              <a:t>16</a:t>
            </a:fld>
            <a:endParaRPr lang="zh-CN" altLang="en-US"/>
          </a:p>
        </p:txBody>
      </p:sp>
    </p:spTree>
    <p:extLst>
      <p:ext uri="{BB962C8B-B14F-4D97-AF65-F5344CB8AC3E}">
        <p14:creationId xmlns:p14="http://schemas.microsoft.com/office/powerpoint/2010/main" val="42515600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C117B-AA9C-11C0-CBDD-5E7C2492A4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E449E7-8786-017C-1923-137459A838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E20BBC-026D-01CA-E2B8-9F715EFC89C4}"/>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The cumulative curves diverge clearly in the mid-to-late test window. GRU stays above 1.0 for most of the period and follows a more stable path; both baselines finish below 1.0. This is the visual evidence of relative strategy-level advantage under unified rules.</a:t>
            </a:r>
            <a:endParaRPr lang="zh-CN" altLang="en-US" dirty="0"/>
          </a:p>
        </p:txBody>
      </p:sp>
      <p:sp>
        <p:nvSpPr>
          <p:cNvPr id="4" name="灯片编号占位符 3">
            <a:extLst>
              <a:ext uri="{FF2B5EF4-FFF2-40B4-BE49-F238E27FC236}">
                <a16:creationId xmlns:a16="http://schemas.microsoft.com/office/drawing/2014/main" id="{118708E1-4D49-66D5-CB6F-035A719B3358}"/>
              </a:ext>
            </a:extLst>
          </p:cNvPr>
          <p:cNvSpPr>
            <a:spLocks noGrp="1"/>
          </p:cNvSpPr>
          <p:nvPr>
            <p:ph type="sldNum" sz="quarter" idx="5"/>
          </p:nvPr>
        </p:nvSpPr>
        <p:spPr/>
        <p:txBody>
          <a:bodyPr/>
          <a:lstStyle/>
          <a:p>
            <a:fld id="{F672C434-8567-4407-B6F6-E087651574FD}" type="slidenum">
              <a:rPr lang="zh-CN" altLang="en-US" smtClean="0"/>
              <a:t>17</a:t>
            </a:fld>
            <a:endParaRPr lang="zh-CN" altLang="en-US"/>
          </a:p>
        </p:txBody>
      </p:sp>
    </p:spTree>
    <p:extLst>
      <p:ext uri="{BB962C8B-B14F-4D97-AF65-F5344CB8AC3E}">
        <p14:creationId xmlns:p14="http://schemas.microsoft.com/office/powerpoint/2010/main" val="23552883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1CF62-D229-7034-8435-EA61BFA54F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F0941F-735B-D588-ED0C-D86B2C2C9BC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6F5320-4C7E-3A27-6275-90E82BEAD4CF}"/>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Metric-level results confirm the curve pattern: GRU is relatively better in total return, Sharpe, and drawdown. We keep the conclusion disciplined: this is a relative improvement, not a strong alpha claim. The contribution is best framed as rigorous workflow + weak-signal evidence + consistent interpretability.</a:t>
            </a:r>
            <a:endParaRPr lang="zh-CN" altLang="en-US" dirty="0"/>
          </a:p>
        </p:txBody>
      </p:sp>
      <p:sp>
        <p:nvSpPr>
          <p:cNvPr id="4" name="灯片编号占位符 3">
            <a:extLst>
              <a:ext uri="{FF2B5EF4-FFF2-40B4-BE49-F238E27FC236}">
                <a16:creationId xmlns:a16="http://schemas.microsoft.com/office/drawing/2014/main" id="{0CECD31D-C466-3294-9A4C-40AC11869785}"/>
              </a:ext>
            </a:extLst>
          </p:cNvPr>
          <p:cNvSpPr>
            <a:spLocks noGrp="1"/>
          </p:cNvSpPr>
          <p:nvPr>
            <p:ph type="sldNum" sz="quarter" idx="5"/>
          </p:nvPr>
        </p:nvSpPr>
        <p:spPr/>
        <p:txBody>
          <a:bodyPr/>
          <a:lstStyle/>
          <a:p>
            <a:fld id="{F672C434-8567-4407-B6F6-E087651574FD}" type="slidenum">
              <a:rPr lang="zh-CN" altLang="en-US" smtClean="0"/>
              <a:t>18</a:t>
            </a:fld>
            <a:endParaRPr lang="zh-CN" altLang="en-US"/>
          </a:p>
        </p:txBody>
      </p:sp>
    </p:spTree>
    <p:extLst>
      <p:ext uri="{BB962C8B-B14F-4D97-AF65-F5344CB8AC3E}">
        <p14:creationId xmlns:p14="http://schemas.microsoft.com/office/powerpoint/2010/main" val="26175081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3C378-14D5-53F0-B662-75E9D55B99C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BB8658-121E-0414-140D-FFD076061D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C3BE9A9-5727-7F45-F496-5D8EC7CFF38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25999F6-D514-2453-F8B1-DEAF4008C2A4}"/>
              </a:ext>
            </a:extLst>
          </p:cNvPr>
          <p:cNvSpPr>
            <a:spLocks noGrp="1"/>
          </p:cNvSpPr>
          <p:nvPr>
            <p:ph type="sldNum" sz="quarter" idx="5"/>
          </p:nvPr>
        </p:nvSpPr>
        <p:spPr/>
        <p:txBody>
          <a:bodyPr/>
          <a:lstStyle/>
          <a:p>
            <a:fld id="{F672C434-8567-4407-B6F6-E087651574FD}" type="slidenum">
              <a:rPr lang="zh-CN" altLang="en-US" smtClean="0"/>
              <a:t>19</a:t>
            </a:fld>
            <a:endParaRPr lang="zh-CN" altLang="en-US"/>
          </a:p>
        </p:txBody>
      </p:sp>
    </p:spTree>
    <p:extLst>
      <p:ext uri="{BB962C8B-B14F-4D97-AF65-F5344CB8AC3E}">
        <p14:creationId xmlns:p14="http://schemas.microsoft.com/office/powerpoint/2010/main" val="1902956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3C7BA-0E85-25AF-472B-089B0D0718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412ADC-F379-B3A0-382F-C2902142C89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0E59653-0756-926D-4408-03612ABF9796}"/>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What we learned: there is predictive signal, but not strong enough for aggressive alpha claims; interpretability helps identify drivers; methodological rigor is a major contribution. Limitations come from high noise and event-driven behavior in short-horizon BTC direction. Next steps include regime-aware modeling, risk-targeted objectives, and stronger threshold/position design.</a:t>
            </a:r>
            <a:endParaRPr lang="zh-CN" altLang="en-US" dirty="0"/>
          </a:p>
        </p:txBody>
      </p:sp>
      <p:sp>
        <p:nvSpPr>
          <p:cNvPr id="4" name="灯片编号占位符 3">
            <a:extLst>
              <a:ext uri="{FF2B5EF4-FFF2-40B4-BE49-F238E27FC236}">
                <a16:creationId xmlns:a16="http://schemas.microsoft.com/office/drawing/2014/main" id="{98FD5B2C-DC73-225E-BA72-7800579B4DF8}"/>
              </a:ext>
            </a:extLst>
          </p:cNvPr>
          <p:cNvSpPr>
            <a:spLocks noGrp="1"/>
          </p:cNvSpPr>
          <p:nvPr>
            <p:ph type="sldNum" sz="quarter" idx="5"/>
          </p:nvPr>
        </p:nvSpPr>
        <p:spPr/>
        <p:txBody>
          <a:bodyPr/>
          <a:lstStyle/>
          <a:p>
            <a:fld id="{F672C434-8567-4407-B6F6-E087651574FD}" type="slidenum">
              <a:rPr lang="zh-CN" altLang="en-US" smtClean="0"/>
              <a:t>20</a:t>
            </a:fld>
            <a:endParaRPr lang="zh-CN" altLang="en-US"/>
          </a:p>
        </p:txBody>
      </p:sp>
    </p:spTree>
    <p:extLst>
      <p:ext uri="{BB962C8B-B14F-4D97-AF65-F5344CB8AC3E}">
        <p14:creationId xmlns:p14="http://schemas.microsoft.com/office/powerpoint/2010/main" val="25574276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672C434-8567-4407-B6F6-E087651574FD}" type="slidenum">
              <a:rPr lang="zh-CN" altLang="en-US" smtClean="0"/>
              <a:t>21</a:t>
            </a:fld>
            <a:endParaRPr lang="zh-CN" altLang="en-US"/>
          </a:p>
        </p:txBody>
      </p:sp>
    </p:spTree>
    <p:extLst>
      <p:ext uri="{BB962C8B-B14F-4D97-AF65-F5344CB8AC3E}">
        <p14:creationId xmlns:p14="http://schemas.microsoft.com/office/powerpoint/2010/main" val="1257116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5882826"/>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0033097"/>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5214573"/>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CF4C8A-5429-4A5B-B90F-647674CD7BE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689130978"/>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0284496"/>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69" r:id="rId4"/>
  </p:sldLayoutIdLst>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github.com/QuantLet/BCN-XMU-course2026/blob/main/group02/process_file/data/notebooks/build_dataset_v2_plus.py"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github.com/QuantLet/BCN-XMU-course2026/tree/main/group02/process_file/data/notebook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github.com/QuantLet/BCN-XMU-course2026/blob/main/group02/process_file/data/notebooks/build_dataset_v2_plus.py"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github.com/QuantLet/BCN-XMU-course2026/tree/main/group02/process_file/baseline"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github.com/QuantLet/BCN-XMU-course2026/tree/main/group02/process_file/GRU"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github.com/QuantLet/BCN-XMU-course2026/tree/main/group02/process_file/SHAP" TargetMode="Externa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github.com/QuantLet/BCN-XMU-course2026/blob/main/group02/code_report.ipynb"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剪去左右顶角 4">
            <a:extLst>
              <a:ext uri="{FF2B5EF4-FFF2-40B4-BE49-F238E27FC236}">
                <a16:creationId xmlns:a16="http://schemas.microsoft.com/office/drawing/2014/main" id="{89E72FE0-0639-439D-9DF8-A4EAD8D2E0A8}"/>
              </a:ext>
            </a:extLst>
          </p:cNvPr>
          <p:cNvSpPr/>
          <p:nvPr/>
        </p:nvSpPr>
        <p:spPr>
          <a:xfrm flipV="1">
            <a:off x="3996331" y="0"/>
            <a:ext cx="4199336" cy="2215991"/>
          </a:xfrm>
          <a:prstGeom prst="snip2SameRect">
            <a:avLst>
              <a:gd name="adj1" fmla="val 20749"/>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文本框 40">
            <a:extLst>
              <a:ext uri="{FF2B5EF4-FFF2-40B4-BE49-F238E27FC236}">
                <a16:creationId xmlns:a16="http://schemas.microsoft.com/office/drawing/2014/main" id="{A7405C68-EE1E-4577-A617-5012F9CD8CC0}"/>
              </a:ext>
            </a:extLst>
          </p:cNvPr>
          <p:cNvSpPr txBox="1"/>
          <p:nvPr/>
        </p:nvSpPr>
        <p:spPr>
          <a:xfrm>
            <a:off x="325529" y="2790637"/>
            <a:ext cx="11534775" cy="1754326"/>
          </a:xfrm>
          <a:prstGeom prst="rect">
            <a:avLst/>
          </a:prstGeom>
          <a:noFill/>
        </p:spPr>
        <p:txBody>
          <a:bodyPr wrap="square" rtlCol="0">
            <a:spAutoFit/>
          </a:bodyPr>
          <a:lstStyle/>
          <a:p>
            <a:pPr algn="ctr"/>
            <a:r>
              <a:rPr lang="en-US" altLang="zh-CN" sz="3600" b="1" dirty="0">
                <a:solidFill>
                  <a:schemeClr val="accent1"/>
                </a:solidFill>
                <a:latin typeface="字魂59号-创粗黑" panose="00000500000000000000" pitchFamily="2" charset="-122"/>
                <a:ea typeface="字魂59号-创粗黑" panose="00000500000000000000" pitchFamily="2" charset="-122"/>
              </a:rPr>
              <a:t>Bitcoin Return Direction Prediction </a:t>
            </a:r>
            <a:br>
              <a:rPr lang="en-US" altLang="zh-CN" sz="3600" b="1" dirty="0">
                <a:solidFill>
                  <a:schemeClr val="accent1"/>
                </a:solidFill>
                <a:latin typeface="字魂59号-创粗黑" panose="00000500000000000000" pitchFamily="2" charset="-122"/>
                <a:ea typeface="字魂59号-创粗黑" panose="00000500000000000000" pitchFamily="2" charset="-122"/>
              </a:rPr>
            </a:br>
            <a:r>
              <a:rPr lang="en-US" altLang="zh-CN" sz="3600" b="1" dirty="0">
                <a:solidFill>
                  <a:schemeClr val="accent1"/>
                </a:solidFill>
                <a:latin typeface="字魂59号-创粗黑" panose="00000500000000000000" pitchFamily="2" charset="-122"/>
                <a:ea typeface="字魂59号-创粗黑" panose="00000500000000000000" pitchFamily="2" charset="-122"/>
              </a:rPr>
              <a:t>——with Deep Learning and Interpretable Features</a:t>
            </a:r>
            <a:endParaRPr lang="zh-CN" altLang="en-US" sz="3600" b="1" dirty="0">
              <a:solidFill>
                <a:schemeClr val="accent1"/>
              </a:solidFill>
              <a:latin typeface="字魂59号-创粗黑" panose="00000500000000000000" pitchFamily="2" charset="-122"/>
              <a:ea typeface="字魂59号-创粗黑" panose="00000500000000000000" pitchFamily="2" charset="-122"/>
            </a:endParaRPr>
          </a:p>
        </p:txBody>
      </p:sp>
      <p:cxnSp>
        <p:nvCxnSpPr>
          <p:cNvPr id="43" name="直接连接符 42">
            <a:extLst>
              <a:ext uri="{FF2B5EF4-FFF2-40B4-BE49-F238E27FC236}">
                <a16:creationId xmlns:a16="http://schemas.microsoft.com/office/drawing/2014/main" id="{E2F62EF0-A284-4197-BBEF-1E7280449FCB}"/>
              </a:ext>
            </a:extLst>
          </p:cNvPr>
          <p:cNvCxnSpPr>
            <a:cxnSpLocks/>
          </p:cNvCxnSpPr>
          <p:nvPr/>
        </p:nvCxnSpPr>
        <p:spPr>
          <a:xfrm>
            <a:off x="1733605" y="48520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0D98D5A3-433B-4FF6-B25A-982B87E76E9E}"/>
              </a:ext>
            </a:extLst>
          </p:cNvPr>
          <p:cNvSpPr txBox="1"/>
          <p:nvPr/>
        </p:nvSpPr>
        <p:spPr>
          <a:xfrm>
            <a:off x="1806665" y="5147361"/>
            <a:ext cx="8572500" cy="369332"/>
          </a:xfrm>
          <a:prstGeom prst="rect">
            <a:avLst/>
          </a:prstGeom>
          <a:solidFill>
            <a:schemeClr val="bg1"/>
          </a:solidFill>
        </p:spPr>
        <p:txBody>
          <a:bodyPr wrap="square" rtlCol="0">
            <a:spAutoFit/>
          </a:bodyPr>
          <a:lstStyle/>
          <a:p>
            <a:r>
              <a:rPr lang="en-US" altLang="zh-CN" dirty="0">
                <a:solidFill>
                  <a:schemeClr val="tx2"/>
                </a:solidFill>
                <a:latin typeface="字魂59号-创粗黑" panose="00000500000000000000" pitchFamily="2" charset="-122"/>
                <a:ea typeface="字魂59号-创粗黑" panose="00000500000000000000" pitchFamily="2" charset="-122"/>
              </a:rPr>
              <a:t>Group 2: Duan Kaifeng | Xia </a:t>
            </a:r>
            <a:r>
              <a:rPr lang="en-US" altLang="zh-CN" dirty="0" err="1">
                <a:solidFill>
                  <a:schemeClr val="tx2"/>
                </a:solidFill>
                <a:latin typeface="字魂59号-创粗黑" panose="00000500000000000000" pitchFamily="2" charset="-122"/>
                <a:ea typeface="字魂59号-创粗黑" panose="00000500000000000000" pitchFamily="2" charset="-122"/>
              </a:rPr>
              <a:t>yi</a:t>
            </a:r>
            <a:r>
              <a:rPr lang="en-US" altLang="zh-CN" dirty="0">
                <a:solidFill>
                  <a:schemeClr val="tx2"/>
                </a:solidFill>
                <a:latin typeface="字魂59号-创粗黑" panose="00000500000000000000" pitchFamily="2" charset="-122"/>
                <a:ea typeface="字魂59号-创粗黑" panose="00000500000000000000" pitchFamily="2" charset="-122"/>
              </a:rPr>
              <a:t> | Zheng Wenxin | Kuang Xuan | Duan </a:t>
            </a:r>
            <a:r>
              <a:rPr lang="en-US" altLang="zh-CN" dirty="0" err="1">
                <a:solidFill>
                  <a:schemeClr val="tx2"/>
                </a:solidFill>
                <a:latin typeface="字魂59号-创粗黑" panose="00000500000000000000" pitchFamily="2" charset="-122"/>
                <a:ea typeface="字魂59号-创粗黑" panose="00000500000000000000" pitchFamily="2" charset="-122"/>
              </a:rPr>
              <a:t>Shunxin</a:t>
            </a:r>
            <a:endParaRPr lang="zh-CN" altLang="en-US" dirty="0">
              <a:solidFill>
                <a:schemeClr val="tx2"/>
              </a:solidFill>
              <a:latin typeface="字魂59号-创粗黑" panose="00000500000000000000" pitchFamily="2" charset="-122"/>
              <a:ea typeface="字魂59号-创粗黑" panose="00000500000000000000" pitchFamily="2" charset="-122"/>
            </a:endParaRPr>
          </a:p>
        </p:txBody>
      </p:sp>
      <p:pic>
        <p:nvPicPr>
          <p:cNvPr id="47" name="图片 4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3974" y="131752"/>
            <a:ext cx="2357882" cy="2268905"/>
          </a:xfrm>
          <a:prstGeom prst="rect">
            <a:avLst/>
          </a:prstGeom>
        </p:spPr>
      </p:pic>
      <p:sp>
        <p:nvSpPr>
          <p:cNvPr id="2" name="文本框 1">
            <a:extLst>
              <a:ext uri="{FF2B5EF4-FFF2-40B4-BE49-F238E27FC236}">
                <a16:creationId xmlns:a16="http://schemas.microsoft.com/office/drawing/2014/main" id="{B8103DDF-78FE-E626-95CD-9C5B7B264498}"/>
              </a:ext>
            </a:extLst>
          </p:cNvPr>
          <p:cNvSpPr txBox="1"/>
          <p:nvPr/>
        </p:nvSpPr>
        <p:spPr>
          <a:xfrm>
            <a:off x="5383762" y="5590995"/>
            <a:ext cx="1418305" cy="369332"/>
          </a:xfrm>
          <a:prstGeom prst="rect">
            <a:avLst/>
          </a:prstGeom>
          <a:solidFill>
            <a:schemeClr val="bg1"/>
          </a:solidFill>
        </p:spPr>
        <p:txBody>
          <a:bodyPr wrap="square" rtlCol="0">
            <a:spAutoFit/>
          </a:bodyPr>
          <a:lstStyle/>
          <a:p>
            <a:r>
              <a:rPr lang="en-US" altLang="zh-CN" dirty="0">
                <a:solidFill>
                  <a:schemeClr val="tx2"/>
                </a:solidFill>
                <a:latin typeface="字魂59号-创粗黑" panose="00000500000000000000" pitchFamily="2" charset="-122"/>
                <a:ea typeface="字魂59号-创粗黑" panose="00000500000000000000" pitchFamily="2" charset="-122"/>
              </a:rPr>
              <a:t>2026.04.02</a:t>
            </a:r>
            <a:endParaRPr lang="zh-CN" altLang="en-US" dirty="0">
              <a:solidFill>
                <a:schemeClr val="tx2"/>
              </a:solidFill>
              <a:latin typeface="字魂59号-创粗黑" panose="00000500000000000000" pitchFamily="2" charset="-122"/>
              <a:ea typeface="字魂59号-创粗黑" panose="00000500000000000000" pitchFamily="2" charset="-122"/>
            </a:endParaRPr>
          </a:p>
        </p:txBody>
      </p:sp>
      <p:grpSp>
        <p:nvGrpSpPr>
          <p:cNvPr id="79" name="组合 78">
            <a:extLst>
              <a:ext uri="{FF2B5EF4-FFF2-40B4-BE49-F238E27FC236}">
                <a16:creationId xmlns:a16="http://schemas.microsoft.com/office/drawing/2014/main" id="{CC14A07B-1E5D-656F-664D-F22A55FFCB9E}"/>
              </a:ext>
            </a:extLst>
          </p:cNvPr>
          <p:cNvGrpSpPr/>
          <p:nvPr/>
        </p:nvGrpSpPr>
        <p:grpSpPr>
          <a:xfrm>
            <a:off x="1" y="1468932"/>
            <a:ext cx="4741702" cy="275672"/>
            <a:chOff x="893633" y="2495362"/>
            <a:chExt cx="4395511" cy="275672"/>
          </a:xfrm>
        </p:grpSpPr>
        <p:grpSp>
          <p:nvGrpSpPr>
            <p:cNvPr id="46" name="组合 45">
              <a:extLst>
                <a:ext uri="{FF2B5EF4-FFF2-40B4-BE49-F238E27FC236}">
                  <a16:creationId xmlns:a16="http://schemas.microsoft.com/office/drawing/2014/main" id="{846A0DDE-7CD8-6A6E-7923-A515F881EEBB}"/>
                </a:ext>
              </a:extLst>
            </p:cNvPr>
            <p:cNvGrpSpPr/>
            <p:nvPr/>
          </p:nvGrpSpPr>
          <p:grpSpPr>
            <a:xfrm>
              <a:off x="893633" y="2495363"/>
              <a:ext cx="4395511" cy="275671"/>
              <a:chOff x="-57370" y="2710927"/>
              <a:chExt cx="9005941" cy="718073"/>
            </a:xfrm>
          </p:grpSpPr>
          <p:cxnSp>
            <p:nvCxnSpPr>
              <p:cNvPr id="50" name="直接连接符 49">
                <a:extLst>
                  <a:ext uri="{FF2B5EF4-FFF2-40B4-BE49-F238E27FC236}">
                    <a16:creationId xmlns:a16="http://schemas.microsoft.com/office/drawing/2014/main" id="{48AD5EC0-C303-577E-775D-FD64154AAB44}"/>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C535F0B7-84BA-7C64-4C35-906CA73EF5FF}"/>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65237FC5-5232-8DA6-A092-C01433E06C7C}"/>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BD8D5933-710C-9EE6-F641-847A9A4E87F8}"/>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1486EE05-7827-C1A0-DE38-50BFEB269374}"/>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9BCF9744-4C9F-5D8A-94DF-D53B9C8F1346}"/>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11A3D7F8-FC11-3F15-4FEE-0F3A69FB92B0}"/>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33661F93-5293-360C-0377-2328BD7ABEA1}"/>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BA8BFB90-617F-C369-00FA-9204A054C2A0}"/>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8F75331B-C342-9001-9AC1-49BF4E2F24F0}"/>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2C2A48DC-DFC8-2B4E-634C-2EF66BA70F84}"/>
                  </a:ext>
                </a:extLst>
              </p:cNvPr>
              <p:cNvCxnSpPr/>
              <p:nvPr userDrawn="1"/>
            </p:nvCxnSpPr>
            <p:spPr>
              <a:xfrm flipH="1">
                <a:off x="678986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913D0C71-48AD-06FA-DDB3-C8879A07922A}"/>
                  </a:ext>
                </a:extLst>
              </p:cNvPr>
              <p:cNvCxnSpPr/>
              <p:nvPr userDrawn="1"/>
            </p:nvCxnSpPr>
            <p:spPr>
              <a:xfrm flipH="1">
                <a:off x="715025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BF4AF71E-0F1F-61C2-E64E-0FADD8FF492D}"/>
                  </a:ext>
                </a:extLst>
              </p:cNvPr>
              <p:cNvCxnSpPr/>
              <p:nvPr userDrawn="1"/>
            </p:nvCxnSpPr>
            <p:spPr>
              <a:xfrm flipH="1">
                <a:off x="822780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F3488F08-9248-03F7-C6CD-40277A5B2F1F}"/>
                  </a:ext>
                </a:extLst>
              </p:cNvPr>
              <p:cNvCxnSpPr/>
              <p:nvPr userDrawn="1"/>
            </p:nvCxnSpPr>
            <p:spPr>
              <a:xfrm flipH="1">
                <a:off x="-5737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F6CD6FD0-20BB-3068-B856-C1042C56CC70}"/>
                  </a:ext>
                </a:extLst>
              </p:cNvPr>
              <p:cNvCxnSpPr/>
              <p:nvPr userDrawn="1"/>
            </p:nvCxnSpPr>
            <p:spPr>
              <a:xfrm flipH="1">
                <a:off x="30301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19E20EC7-ABFD-5E31-C0ED-FB9145088A6F}"/>
                  </a:ext>
                </a:extLst>
              </p:cNvPr>
              <p:cNvCxnSpPr/>
              <p:nvPr userDrawn="1"/>
            </p:nvCxnSpPr>
            <p:spPr>
              <a:xfrm flipH="1">
                <a:off x="66339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E88EF8E4-368D-52D5-2A60-0844A982E6E8}"/>
                  </a:ext>
                </a:extLst>
              </p:cNvPr>
              <p:cNvCxnSpPr/>
              <p:nvPr userDrawn="1"/>
            </p:nvCxnSpPr>
            <p:spPr>
              <a:xfrm flipH="1">
                <a:off x="102377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E97B12C8-8277-7138-81C6-A49D507AD77C}"/>
                  </a:ext>
                </a:extLst>
              </p:cNvPr>
              <p:cNvCxnSpPr/>
              <p:nvPr userDrawn="1"/>
            </p:nvCxnSpPr>
            <p:spPr>
              <a:xfrm flipH="1">
                <a:off x="138415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A2AA3533-622E-98F8-131E-D70F62498C7A}"/>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B1EB3618-EC86-ADCB-5FDA-4188736881DC}"/>
                  </a:ext>
                </a:extLst>
              </p:cNvPr>
              <p:cNvCxnSpPr/>
              <p:nvPr userDrawn="1"/>
            </p:nvCxnSpPr>
            <p:spPr>
              <a:xfrm flipH="1">
                <a:off x="210491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443DDA28-CC80-5F1C-A4A9-588AB5BEEBB3}"/>
                  </a:ext>
                </a:extLst>
              </p:cNvPr>
              <p:cNvCxnSpPr/>
              <p:nvPr userDrawn="1"/>
            </p:nvCxnSpPr>
            <p:spPr>
              <a:xfrm flipH="1">
                <a:off x="246529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8BE6D990-6E6E-CA52-85B3-7C9DFB7A5F46}"/>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48" name="直接连接符 47">
              <a:extLst>
                <a:ext uri="{FF2B5EF4-FFF2-40B4-BE49-F238E27FC236}">
                  <a16:creationId xmlns:a16="http://schemas.microsoft.com/office/drawing/2014/main" id="{F4C5DE22-ADC0-4E96-6066-CA7FE661E32D}"/>
                </a:ext>
              </a:extLst>
            </p:cNvPr>
            <p:cNvCxnSpPr/>
            <p:nvPr/>
          </p:nvCxnSpPr>
          <p:spPr>
            <a:xfrm flipH="1">
              <a:off x="4589201" y="249536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EB23AFD3-AC5B-3609-2982-05A00E9D8114}"/>
                </a:ext>
              </a:extLst>
            </p:cNvPr>
            <p:cNvCxnSpPr/>
            <p:nvPr/>
          </p:nvCxnSpPr>
          <p:spPr>
            <a:xfrm flipH="1">
              <a:off x="4765091" y="249536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80" name="组合 79">
            <a:extLst>
              <a:ext uri="{FF2B5EF4-FFF2-40B4-BE49-F238E27FC236}">
                <a16:creationId xmlns:a16="http://schemas.microsoft.com/office/drawing/2014/main" id="{038A29B6-6298-9C1B-396C-46DF10098697}"/>
              </a:ext>
            </a:extLst>
          </p:cNvPr>
          <p:cNvGrpSpPr/>
          <p:nvPr/>
        </p:nvGrpSpPr>
        <p:grpSpPr>
          <a:xfrm>
            <a:off x="7461561" y="1468933"/>
            <a:ext cx="4730438" cy="275672"/>
            <a:chOff x="893633" y="2495362"/>
            <a:chExt cx="4395511" cy="275672"/>
          </a:xfrm>
        </p:grpSpPr>
        <p:grpSp>
          <p:nvGrpSpPr>
            <p:cNvPr id="81" name="组合 80">
              <a:extLst>
                <a:ext uri="{FF2B5EF4-FFF2-40B4-BE49-F238E27FC236}">
                  <a16:creationId xmlns:a16="http://schemas.microsoft.com/office/drawing/2014/main" id="{A2341F51-61FA-5822-6861-C17A1C5839D9}"/>
                </a:ext>
              </a:extLst>
            </p:cNvPr>
            <p:cNvGrpSpPr/>
            <p:nvPr/>
          </p:nvGrpSpPr>
          <p:grpSpPr>
            <a:xfrm>
              <a:off x="893633" y="2495363"/>
              <a:ext cx="4395511" cy="275671"/>
              <a:chOff x="-57370" y="2710927"/>
              <a:chExt cx="9005941" cy="718073"/>
            </a:xfrm>
          </p:grpSpPr>
          <p:cxnSp>
            <p:nvCxnSpPr>
              <p:cNvPr id="84" name="直接连接符 83">
                <a:extLst>
                  <a:ext uri="{FF2B5EF4-FFF2-40B4-BE49-F238E27FC236}">
                    <a16:creationId xmlns:a16="http://schemas.microsoft.com/office/drawing/2014/main" id="{DB4B0C17-C1FC-4A2F-A0F3-ECCD88F71FBF}"/>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6D591E16-FC36-F833-8946-69EC96ED8978}"/>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A168B9C1-CE53-D30E-B184-FDF7552722A5}"/>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B82E15C5-4F0B-7DE9-C29A-18B5CF3E8D36}"/>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D1268DCC-3734-6ED3-E4D4-A5E7BC7C2BD0}"/>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9BAA27CA-660D-60A0-C2F9-A4BDA24231F5}"/>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88D74E06-5715-7F99-E0EF-A957993D9C93}"/>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6A159666-6631-5356-E0E0-F42CFF3E224A}"/>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326DABC5-E766-EC4D-3696-4FA5C75647FF}"/>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B2D00E34-4254-F8E8-30EA-96621820DEDB}"/>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369D75B2-A59E-E391-F1FC-EDCFA3B68336}"/>
                  </a:ext>
                </a:extLst>
              </p:cNvPr>
              <p:cNvCxnSpPr/>
              <p:nvPr userDrawn="1"/>
            </p:nvCxnSpPr>
            <p:spPr>
              <a:xfrm flipH="1">
                <a:off x="678986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D028469E-0607-AB1E-A04B-438161D45EA1}"/>
                  </a:ext>
                </a:extLst>
              </p:cNvPr>
              <p:cNvCxnSpPr/>
              <p:nvPr userDrawn="1"/>
            </p:nvCxnSpPr>
            <p:spPr>
              <a:xfrm flipH="1">
                <a:off x="715025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38F13BDC-2B50-F222-C994-A0C89B5C25AE}"/>
                  </a:ext>
                </a:extLst>
              </p:cNvPr>
              <p:cNvCxnSpPr/>
              <p:nvPr userDrawn="1"/>
            </p:nvCxnSpPr>
            <p:spPr>
              <a:xfrm flipH="1">
                <a:off x="822780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C229D509-12E8-745F-92C8-0EA907CE9573}"/>
                  </a:ext>
                </a:extLst>
              </p:cNvPr>
              <p:cNvCxnSpPr/>
              <p:nvPr userDrawn="1"/>
            </p:nvCxnSpPr>
            <p:spPr>
              <a:xfrm flipH="1">
                <a:off x="-5737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97C5B10C-93B9-A543-83AD-1773E5E99A85}"/>
                  </a:ext>
                </a:extLst>
              </p:cNvPr>
              <p:cNvCxnSpPr/>
              <p:nvPr userDrawn="1"/>
            </p:nvCxnSpPr>
            <p:spPr>
              <a:xfrm flipH="1">
                <a:off x="30301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BEC7CA2E-D00B-819A-6A71-81DECCC23876}"/>
                  </a:ext>
                </a:extLst>
              </p:cNvPr>
              <p:cNvCxnSpPr/>
              <p:nvPr userDrawn="1"/>
            </p:nvCxnSpPr>
            <p:spPr>
              <a:xfrm flipH="1">
                <a:off x="66339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EB8652DB-76BF-20D5-E86C-C3C1E60E7496}"/>
                  </a:ext>
                </a:extLst>
              </p:cNvPr>
              <p:cNvCxnSpPr/>
              <p:nvPr userDrawn="1"/>
            </p:nvCxnSpPr>
            <p:spPr>
              <a:xfrm flipH="1">
                <a:off x="102377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0D72537A-695D-727D-518A-E58783C32AB9}"/>
                  </a:ext>
                </a:extLst>
              </p:cNvPr>
              <p:cNvCxnSpPr/>
              <p:nvPr userDrawn="1"/>
            </p:nvCxnSpPr>
            <p:spPr>
              <a:xfrm flipH="1">
                <a:off x="138415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37D7AC61-83BD-3195-C99F-544F0F4B2E81}"/>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DE24BCAF-5F75-6A07-B146-4FE213A30817}"/>
                  </a:ext>
                </a:extLst>
              </p:cNvPr>
              <p:cNvCxnSpPr/>
              <p:nvPr userDrawn="1"/>
            </p:nvCxnSpPr>
            <p:spPr>
              <a:xfrm flipH="1">
                <a:off x="210491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F38CA589-A1FC-5A7F-5EAA-CAF8891772FF}"/>
                  </a:ext>
                </a:extLst>
              </p:cNvPr>
              <p:cNvCxnSpPr/>
              <p:nvPr userDrawn="1"/>
            </p:nvCxnSpPr>
            <p:spPr>
              <a:xfrm flipH="1">
                <a:off x="246529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D7F25D03-FF23-78E0-2E79-DA834A65F1DE}"/>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82" name="直接连接符 81">
              <a:extLst>
                <a:ext uri="{FF2B5EF4-FFF2-40B4-BE49-F238E27FC236}">
                  <a16:creationId xmlns:a16="http://schemas.microsoft.com/office/drawing/2014/main" id="{4BF97EAC-F7EE-DE33-DD4A-3430E1CF3BE1}"/>
                </a:ext>
              </a:extLst>
            </p:cNvPr>
            <p:cNvCxnSpPr/>
            <p:nvPr/>
          </p:nvCxnSpPr>
          <p:spPr>
            <a:xfrm flipH="1">
              <a:off x="4589201" y="249536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27DF444E-7D16-8785-2EAC-7D5FC9523568}"/>
                </a:ext>
              </a:extLst>
            </p:cNvPr>
            <p:cNvCxnSpPr/>
            <p:nvPr/>
          </p:nvCxnSpPr>
          <p:spPr>
            <a:xfrm flipH="1">
              <a:off x="4765091" y="249536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40286754"/>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E4B31-D11B-5D4C-8393-1FEBBA8D465A}"/>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F92CB214-56B6-4CE8-09FC-EEB73A1CD5D5}"/>
              </a:ext>
            </a:extLst>
          </p:cNvPr>
          <p:cNvGrpSpPr/>
          <p:nvPr/>
        </p:nvGrpSpPr>
        <p:grpSpPr>
          <a:xfrm>
            <a:off x="-1" y="957421"/>
            <a:ext cx="12193200" cy="44820"/>
            <a:chOff x="1773217" y="5185185"/>
            <a:chExt cx="8645561" cy="44820"/>
          </a:xfrm>
        </p:grpSpPr>
        <p:cxnSp>
          <p:nvCxnSpPr>
            <p:cNvPr id="50" name="直接连接符 49">
              <a:extLst>
                <a:ext uri="{FF2B5EF4-FFF2-40B4-BE49-F238E27FC236}">
                  <a16:creationId xmlns:a16="http://schemas.microsoft.com/office/drawing/2014/main" id="{3BFF9F8C-C82C-2967-8F66-6E314A9F85E5}"/>
                </a:ext>
              </a:extLst>
            </p:cNvPr>
            <p:cNvCxnSpPr>
              <a:cxnSpLocks/>
            </p:cNvCxnSpPr>
            <p:nvPr userDrawn="1"/>
          </p:nvCxnSpPr>
          <p:spPr>
            <a:xfrm>
              <a:off x="1773218" y="51851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F32B20-35A4-86BD-CE2B-AF4524D21693}"/>
                </a:ext>
              </a:extLst>
            </p:cNvPr>
            <p:cNvCxnSpPr>
              <a:cxnSpLocks/>
            </p:cNvCxnSpPr>
            <p:nvPr userDrawn="1"/>
          </p:nvCxnSpPr>
          <p:spPr>
            <a:xfrm>
              <a:off x="1773217" y="5230005"/>
              <a:ext cx="864556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4" name="文本框 3">
            <a:extLst>
              <a:ext uri="{FF2B5EF4-FFF2-40B4-BE49-F238E27FC236}">
                <a16:creationId xmlns:a16="http://schemas.microsoft.com/office/drawing/2014/main" id="{F8BABD77-E077-32C8-2CF0-4CE0828C12D1}"/>
              </a:ext>
            </a:extLst>
          </p:cNvPr>
          <p:cNvSpPr txBox="1"/>
          <p:nvPr/>
        </p:nvSpPr>
        <p:spPr>
          <a:xfrm>
            <a:off x="158533" y="202191"/>
            <a:ext cx="5118317" cy="646331"/>
          </a:xfrm>
          <a:prstGeom prst="rect">
            <a:avLst/>
          </a:prstGeom>
          <a:noFill/>
        </p:spPr>
        <p:txBody>
          <a:bodyPr wrap="square" rtlCol="0">
            <a:spAutoFit/>
          </a:bodyPr>
          <a:lstStyle/>
          <a:p>
            <a:r>
              <a:rPr lang="en-US" altLang="zh-CN" sz="3600" b="1" dirty="0">
                <a:solidFill>
                  <a:schemeClr val="accent1"/>
                </a:solidFill>
                <a:latin typeface="字魂59号-创粗黑" panose="00000500000000000000" pitchFamily="2" charset="-122"/>
                <a:ea typeface="字魂59号-创粗黑" panose="00000500000000000000" pitchFamily="2" charset="-122"/>
              </a:rPr>
              <a:t>ABSTRACT</a:t>
            </a:r>
            <a:endParaRPr lang="zh-CN" altLang="en-US" sz="3600" b="1" dirty="0">
              <a:solidFill>
                <a:schemeClr val="accent1"/>
              </a:solidFill>
              <a:latin typeface="字魂59号-创粗黑" panose="00000500000000000000" pitchFamily="2" charset="-122"/>
              <a:ea typeface="字魂59号-创粗黑" panose="00000500000000000000" pitchFamily="2" charset="-122"/>
            </a:endParaRPr>
          </a:p>
        </p:txBody>
      </p:sp>
      <p:pic>
        <p:nvPicPr>
          <p:cNvPr id="121" name="图片 120">
            <a:extLst>
              <a:ext uri="{FF2B5EF4-FFF2-40B4-BE49-F238E27FC236}">
                <a16:creationId xmlns:a16="http://schemas.microsoft.com/office/drawing/2014/main" id="{E738BDB9-CF00-BD25-769A-66C4836619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49" y="5933398"/>
            <a:ext cx="850620" cy="850620"/>
          </a:xfrm>
          <a:prstGeom prst="rect">
            <a:avLst/>
          </a:prstGeom>
        </p:spPr>
      </p:pic>
      <p:sp>
        <p:nvSpPr>
          <p:cNvPr id="56" name="文本框 55">
            <a:extLst>
              <a:ext uri="{FF2B5EF4-FFF2-40B4-BE49-F238E27FC236}">
                <a16:creationId xmlns:a16="http://schemas.microsoft.com/office/drawing/2014/main" id="{DCD04F30-732E-2C2A-C9E1-BC7ABA9897E8}"/>
              </a:ext>
            </a:extLst>
          </p:cNvPr>
          <p:cNvSpPr txBox="1"/>
          <p:nvPr/>
        </p:nvSpPr>
        <p:spPr>
          <a:xfrm>
            <a:off x="495459" y="1189585"/>
            <a:ext cx="6095841" cy="400110"/>
          </a:xfrm>
          <a:prstGeom prst="rect">
            <a:avLst/>
          </a:prstGeom>
          <a:noFill/>
        </p:spPr>
        <p:txBody>
          <a:bodyPr wrap="square" rtlCol="0">
            <a:spAutoFit/>
          </a:bodyPr>
          <a:lstStyle/>
          <a:p>
            <a:r>
              <a:rPr lang="en-US" altLang="zh-CN" sz="2000" b="1" dirty="0">
                <a:solidFill>
                  <a:schemeClr val="accent1"/>
                </a:solidFill>
                <a:latin typeface="字魂59号-创粗黑" panose="00000500000000000000" pitchFamily="2" charset="-122"/>
                <a:ea typeface="字魂59号-创粗黑" panose="00000500000000000000" pitchFamily="2" charset="-122"/>
              </a:rPr>
              <a:t>Problem Definition and Research Objectives</a:t>
            </a:r>
            <a:endParaRPr lang="zh-CN" altLang="en-US" sz="2000" b="1" dirty="0">
              <a:solidFill>
                <a:schemeClr val="accent1"/>
              </a:solidFill>
              <a:latin typeface="字魂59号-创粗黑" panose="00000500000000000000" pitchFamily="2" charset="-122"/>
              <a:ea typeface="字魂59号-创粗黑" panose="00000500000000000000" pitchFamily="2" charset="-122"/>
            </a:endParaRPr>
          </a:p>
        </p:txBody>
      </p:sp>
      <p:sp>
        <p:nvSpPr>
          <p:cNvPr id="60" name="文本框 59">
            <a:extLst>
              <a:ext uri="{FF2B5EF4-FFF2-40B4-BE49-F238E27FC236}">
                <a16:creationId xmlns:a16="http://schemas.microsoft.com/office/drawing/2014/main" id="{39E75192-9DD6-489C-D3AF-EE9446FC0A36}"/>
              </a:ext>
            </a:extLst>
          </p:cNvPr>
          <p:cNvSpPr txBox="1"/>
          <p:nvPr/>
        </p:nvSpPr>
        <p:spPr>
          <a:xfrm>
            <a:off x="1662509" y="1836582"/>
            <a:ext cx="8870931" cy="401917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Overview:</a:t>
            </a:r>
            <a:r>
              <a:rPr lang="en-US" altLang="zh-CN" sz="1600" dirty="0">
                <a:latin typeface="字魂58号-创中黑" panose="00000500000000000000" pitchFamily="2" charset="-122"/>
                <a:ea typeface="字魂58号-创中黑" panose="00000500000000000000" pitchFamily="2" charset="-122"/>
              </a:rPr>
              <a:t> We developed a system</a:t>
            </a:r>
            <a:r>
              <a:rPr lang="zh-CN" altLang="en-US" sz="1600" dirty="0">
                <a:latin typeface="字魂58号-创中黑" panose="00000500000000000000" pitchFamily="2" charset="-122"/>
                <a:ea typeface="字魂58号-创中黑" panose="00000500000000000000" pitchFamily="2" charset="-122"/>
              </a:rPr>
              <a:t> </a:t>
            </a:r>
            <a:r>
              <a:rPr lang="en-US" altLang="zh-CN" sz="1600" dirty="0">
                <a:latin typeface="字魂58号-创中黑" panose="00000500000000000000" pitchFamily="2" charset="-122"/>
                <a:ea typeface="字魂58号-创中黑" panose="00000500000000000000" pitchFamily="2" charset="-122"/>
              </a:rPr>
              <a:t>that</a:t>
            </a:r>
            <a:r>
              <a:rPr lang="zh-CN" altLang="en-US" sz="1600" dirty="0">
                <a:latin typeface="字魂58号-创中黑" panose="00000500000000000000" pitchFamily="2" charset="-122"/>
                <a:ea typeface="字魂58号-创中黑" panose="00000500000000000000" pitchFamily="2" charset="-122"/>
              </a:rPr>
              <a:t> </a:t>
            </a:r>
            <a:r>
              <a:rPr lang="en-US" altLang="zh-CN" sz="1600" dirty="0">
                <a:latin typeface="字魂58号-创中黑" panose="00000500000000000000" pitchFamily="2" charset="-122"/>
                <a:ea typeface="字魂58号-创中黑" panose="00000500000000000000" pitchFamily="2" charset="-122"/>
              </a:rPr>
              <a:t>predict the next-day direction of Bitcoin (Single Asset) based on Deep Learning method that combines market, on-chain, macro, and sentiment features.</a:t>
            </a:r>
          </a:p>
          <a:p>
            <a:pPr marL="285750" indent="-285750">
              <a:lnSpc>
                <a:spcPct val="150000"/>
              </a:lnSpc>
              <a:buFont typeface="Arial" panose="020B0604020202020204" pitchFamily="34" charset="0"/>
              <a:buChar char="•"/>
            </a:pPr>
            <a:endParaRPr lang="en-US" altLang="zh-CN" sz="1400" dirty="0">
              <a:latin typeface="字魂58号-创中黑" panose="00000500000000000000" pitchFamily="2" charset="-122"/>
              <a:ea typeface="字魂58号-创中黑" panose="00000500000000000000" pitchFamily="2" charset="-122"/>
            </a:endParaRPr>
          </a:p>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Task formulation: </a:t>
            </a:r>
            <a:r>
              <a:rPr lang="en-US" altLang="zh-CN" sz="1600" dirty="0">
                <a:latin typeface="字魂58号-创中黑" panose="00000500000000000000" pitchFamily="2" charset="-122"/>
                <a:ea typeface="字魂58号-创中黑" panose="00000500000000000000" pitchFamily="2" charset="-122"/>
              </a:rPr>
              <a:t>Binary classification task on daily frequency.</a:t>
            </a:r>
          </a:p>
          <a:p>
            <a:pPr marL="742950" lvl="1"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a:t>
            </a:r>
            <a:r>
              <a:rPr lang="en-US" altLang="zh-CN" sz="1600" dirty="0" err="1">
                <a:latin typeface="字魂58号-创中黑" panose="00000500000000000000" pitchFamily="2" charset="-122"/>
                <a:ea typeface="字魂58号-创中黑" panose="00000500000000000000" pitchFamily="2" charset="-122"/>
              </a:rPr>
              <a:t>target_t</a:t>
            </a:r>
            <a:r>
              <a:rPr lang="en-US" altLang="zh-CN" sz="1600" dirty="0">
                <a:latin typeface="字魂58号-创中黑" panose="00000500000000000000" pitchFamily="2" charset="-122"/>
                <a:ea typeface="字魂58号-创中黑" panose="00000500000000000000" pitchFamily="2" charset="-122"/>
              </a:rPr>
              <a:t> = 1[</a:t>
            </a:r>
            <a:r>
              <a:rPr lang="en-US" altLang="zh-CN" sz="1600" dirty="0" err="1">
                <a:latin typeface="字魂58号-创中黑" panose="00000500000000000000" pitchFamily="2" charset="-122"/>
                <a:ea typeface="字魂58号-创中黑" panose="00000500000000000000" pitchFamily="2" charset="-122"/>
              </a:rPr>
              <a:t>close_t</a:t>
            </a:r>
            <a:r>
              <a:rPr lang="en-US" altLang="zh-CN" sz="1600" dirty="0">
                <a:latin typeface="字魂58号-创中黑" panose="00000500000000000000" pitchFamily="2" charset="-122"/>
                <a:ea typeface="字魂58号-创中黑" panose="00000500000000000000" pitchFamily="2" charset="-122"/>
              </a:rPr>
              <a:t> &gt; close_{t-1}]`</a:t>
            </a:r>
          </a:p>
          <a:p>
            <a:pPr marL="742950" lvl="1"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a:t>
            </a:r>
            <a:r>
              <a:rPr lang="en-US" altLang="zh-CN" sz="1600" dirty="0" err="1">
                <a:latin typeface="字魂58号-创中黑" panose="00000500000000000000" pitchFamily="2" charset="-122"/>
                <a:ea typeface="字魂58号-创中黑" panose="00000500000000000000" pitchFamily="2" charset="-122"/>
              </a:rPr>
              <a:t>target_t</a:t>
            </a:r>
            <a:r>
              <a:rPr lang="en-US" altLang="zh-CN" sz="1600" dirty="0">
                <a:latin typeface="字魂58号-创中黑" panose="00000500000000000000" pitchFamily="2" charset="-122"/>
                <a:ea typeface="字魂58号-创中黑" panose="00000500000000000000" pitchFamily="2" charset="-122"/>
              </a:rPr>
              <a:t> = 0 otherwise`</a:t>
            </a:r>
          </a:p>
          <a:p>
            <a:pPr marL="742950" lvl="1" indent="-285750">
              <a:lnSpc>
                <a:spcPct val="150000"/>
              </a:lnSpc>
              <a:buFont typeface="Arial" panose="020B0604020202020204" pitchFamily="34" charset="0"/>
              <a:buChar char="•"/>
            </a:pPr>
            <a:endParaRPr lang="en-US" altLang="zh-CN" sz="1400" dirty="0">
              <a:latin typeface="字魂58号-创中黑" panose="00000500000000000000" pitchFamily="2" charset="-122"/>
              <a:ea typeface="字魂58号-创中黑" panose="00000500000000000000" pitchFamily="2" charset="-122"/>
            </a:endParaRPr>
          </a:p>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Evaluation: </a:t>
            </a:r>
            <a:r>
              <a:rPr lang="en-US" altLang="zh-CN" sz="1600" dirty="0">
                <a:latin typeface="字魂58号-创中黑" panose="00000500000000000000" pitchFamily="2" charset="-122"/>
                <a:ea typeface="字魂58号-创中黑" panose="00000500000000000000" pitchFamily="2" charset="-122"/>
              </a:rPr>
              <a:t>Classification metrics + unified financial </a:t>
            </a:r>
            <a:r>
              <a:rPr lang="en-US" altLang="zh-CN" sz="1600" dirty="0" err="1">
                <a:latin typeface="字魂58号-创中黑" panose="00000500000000000000" pitchFamily="2" charset="-122"/>
                <a:ea typeface="字魂58号-创中黑" panose="00000500000000000000" pitchFamily="2" charset="-122"/>
              </a:rPr>
              <a:t>backtest</a:t>
            </a:r>
            <a:r>
              <a:rPr lang="en-US" altLang="zh-CN" sz="1600" dirty="0">
                <a:latin typeface="字魂58号-创中黑" panose="00000500000000000000" pitchFamily="2" charset="-122"/>
                <a:ea typeface="字魂58号-创中黑" panose="00000500000000000000" pitchFamily="2" charset="-122"/>
              </a:rPr>
              <a:t> metrics.</a:t>
            </a:r>
          </a:p>
          <a:p>
            <a:pPr marL="742950" lvl="1"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Classification metrics (e.g., AUC/F1)</a:t>
            </a:r>
          </a:p>
          <a:p>
            <a:pPr marL="742950" lvl="1"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Financial metrics (e.g., return/Sharpe/drawdown)</a:t>
            </a:r>
            <a:endParaRPr lang="en-US" altLang="zh-CN" sz="1400" dirty="0">
              <a:latin typeface="字魂58号-创中黑" panose="00000500000000000000" pitchFamily="2" charset="-122"/>
              <a:ea typeface="字魂58号-创中黑" panose="00000500000000000000" pitchFamily="2" charset="-122"/>
            </a:endParaRPr>
          </a:p>
        </p:txBody>
      </p:sp>
      <p:grpSp>
        <p:nvGrpSpPr>
          <p:cNvPr id="152" name="组合 151">
            <a:extLst>
              <a:ext uri="{FF2B5EF4-FFF2-40B4-BE49-F238E27FC236}">
                <a16:creationId xmlns:a16="http://schemas.microsoft.com/office/drawing/2014/main" id="{0948F811-C753-94CE-8F59-0994F659A3EC}"/>
              </a:ext>
            </a:extLst>
          </p:cNvPr>
          <p:cNvGrpSpPr/>
          <p:nvPr/>
        </p:nvGrpSpPr>
        <p:grpSpPr>
          <a:xfrm>
            <a:off x="6423214" y="408158"/>
            <a:ext cx="5459843" cy="275671"/>
            <a:chOff x="6423214" y="408158"/>
            <a:chExt cx="5459843" cy="275671"/>
          </a:xfrm>
        </p:grpSpPr>
        <p:grpSp>
          <p:nvGrpSpPr>
            <p:cNvPr id="153" name="组合 152">
              <a:extLst>
                <a:ext uri="{FF2B5EF4-FFF2-40B4-BE49-F238E27FC236}">
                  <a16:creationId xmlns:a16="http://schemas.microsoft.com/office/drawing/2014/main" id="{FB5D40F6-93AE-0D38-69AE-3A579BB0B7C3}"/>
                </a:ext>
              </a:extLst>
            </p:cNvPr>
            <p:cNvGrpSpPr/>
            <p:nvPr/>
          </p:nvGrpSpPr>
          <p:grpSpPr>
            <a:xfrm>
              <a:off x="6423214" y="408158"/>
              <a:ext cx="2817867" cy="275671"/>
              <a:chOff x="7104504" y="2125822"/>
              <a:chExt cx="2817867" cy="275671"/>
            </a:xfrm>
          </p:grpSpPr>
          <p:grpSp>
            <p:nvGrpSpPr>
              <p:cNvPr id="171" name="组合 170">
                <a:extLst>
                  <a:ext uri="{FF2B5EF4-FFF2-40B4-BE49-F238E27FC236}">
                    <a16:creationId xmlns:a16="http://schemas.microsoft.com/office/drawing/2014/main" id="{92ED1ED1-7CB5-9FF8-A3AD-836A26D28048}"/>
                  </a:ext>
                </a:extLst>
              </p:cNvPr>
              <p:cNvGrpSpPr/>
              <p:nvPr/>
            </p:nvGrpSpPr>
            <p:grpSpPr>
              <a:xfrm>
                <a:off x="7284014" y="2125822"/>
                <a:ext cx="2638357" cy="275671"/>
                <a:chOff x="1744535" y="2710927"/>
                <a:chExt cx="5405715" cy="718073"/>
              </a:xfrm>
            </p:grpSpPr>
            <p:cxnSp>
              <p:nvCxnSpPr>
                <p:cNvPr id="175" name="直接连接符 174">
                  <a:extLst>
                    <a:ext uri="{FF2B5EF4-FFF2-40B4-BE49-F238E27FC236}">
                      <a16:creationId xmlns:a16="http://schemas.microsoft.com/office/drawing/2014/main" id="{5C0DE192-F493-28C4-B9D8-D57077156504}"/>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6AE86544-7E56-6C76-4BA1-4382F8C8D3A9}"/>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7" name="直接连接符 176">
                  <a:extLst>
                    <a:ext uri="{FF2B5EF4-FFF2-40B4-BE49-F238E27FC236}">
                      <a16:creationId xmlns:a16="http://schemas.microsoft.com/office/drawing/2014/main" id="{BC14E160-719A-F86B-92AB-557E834BC238}"/>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4221662E-7B80-2AAB-BE87-DB69FE4A1210}"/>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E4C5BD65-CB65-AA0F-9159-27AFAC9A35EC}"/>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0" name="直接连接符 179">
                  <a:extLst>
                    <a:ext uri="{FF2B5EF4-FFF2-40B4-BE49-F238E27FC236}">
                      <a16:creationId xmlns:a16="http://schemas.microsoft.com/office/drawing/2014/main" id="{A28AB05F-2CBE-45A8-2601-7C57CB32BAA8}"/>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1" name="直接连接符 180">
                  <a:extLst>
                    <a:ext uri="{FF2B5EF4-FFF2-40B4-BE49-F238E27FC236}">
                      <a16:creationId xmlns:a16="http://schemas.microsoft.com/office/drawing/2014/main" id="{CF1AD606-FA7C-3CA7-ED7C-A97A21507325}"/>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2" name="直接连接符 181">
                  <a:extLst>
                    <a:ext uri="{FF2B5EF4-FFF2-40B4-BE49-F238E27FC236}">
                      <a16:creationId xmlns:a16="http://schemas.microsoft.com/office/drawing/2014/main" id="{8D69AE2C-685C-357C-57D9-909E46104FDC}"/>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3" name="直接连接符 182">
                  <a:extLst>
                    <a:ext uri="{FF2B5EF4-FFF2-40B4-BE49-F238E27FC236}">
                      <a16:creationId xmlns:a16="http://schemas.microsoft.com/office/drawing/2014/main" id="{493A9129-5C49-6B2E-49D1-2529B6365753}"/>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F1C968E6-C89E-A33E-45AC-75DE91A6EF5B}"/>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10C0265F-567A-DAA2-FE89-9A00A7DF7FAB}"/>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6" name="直接连接符 185">
                  <a:extLst>
                    <a:ext uri="{FF2B5EF4-FFF2-40B4-BE49-F238E27FC236}">
                      <a16:creationId xmlns:a16="http://schemas.microsoft.com/office/drawing/2014/main" id="{D04A7A2A-495E-A5FD-4639-B9F3A0E57989}"/>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172" name="直接连接符 171">
                <a:extLst>
                  <a:ext uri="{FF2B5EF4-FFF2-40B4-BE49-F238E27FC236}">
                    <a16:creationId xmlns:a16="http://schemas.microsoft.com/office/drawing/2014/main" id="{F7FE611B-4D42-C827-39EA-956FE72D25D1}"/>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1A85E1AC-99E7-40E9-E46F-D122C298A45E}"/>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2A717673-CEC5-682B-9DD2-42DC0856471C}"/>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154" name="组合 153">
              <a:extLst>
                <a:ext uri="{FF2B5EF4-FFF2-40B4-BE49-F238E27FC236}">
                  <a16:creationId xmlns:a16="http://schemas.microsoft.com/office/drawing/2014/main" id="{2F5E3342-487F-BFA4-145A-6409A55AAE0B}"/>
                </a:ext>
              </a:extLst>
            </p:cNvPr>
            <p:cNvGrpSpPr/>
            <p:nvPr/>
          </p:nvGrpSpPr>
          <p:grpSpPr>
            <a:xfrm>
              <a:off x="9065190" y="408158"/>
              <a:ext cx="2817867" cy="275671"/>
              <a:chOff x="7104504" y="2125822"/>
              <a:chExt cx="2817867" cy="275671"/>
            </a:xfrm>
          </p:grpSpPr>
          <p:grpSp>
            <p:nvGrpSpPr>
              <p:cNvPr id="155" name="组合 154">
                <a:extLst>
                  <a:ext uri="{FF2B5EF4-FFF2-40B4-BE49-F238E27FC236}">
                    <a16:creationId xmlns:a16="http://schemas.microsoft.com/office/drawing/2014/main" id="{81489A56-5479-A48C-373E-6A9D50D6B796}"/>
                  </a:ext>
                </a:extLst>
              </p:cNvPr>
              <p:cNvGrpSpPr/>
              <p:nvPr/>
            </p:nvGrpSpPr>
            <p:grpSpPr>
              <a:xfrm>
                <a:off x="7284014" y="2125822"/>
                <a:ext cx="2638357" cy="275671"/>
                <a:chOff x="1744535" y="2710927"/>
                <a:chExt cx="5405715" cy="718073"/>
              </a:xfrm>
            </p:grpSpPr>
            <p:cxnSp>
              <p:nvCxnSpPr>
                <p:cNvPr id="159" name="直接连接符 158">
                  <a:extLst>
                    <a:ext uri="{FF2B5EF4-FFF2-40B4-BE49-F238E27FC236}">
                      <a16:creationId xmlns:a16="http://schemas.microsoft.com/office/drawing/2014/main" id="{6A0CCB0C-8E6A-AEFD-34DA-4D55D923FE27}"/>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7574EA8D-9C44-0116-8647-1D818D2C245C}"/>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1" name="直接连接符 160">
                  <a:extLst>
                    <a:ext uri="{FF2B5EF4-FFF2-40B4-BE49-F238E27FC236}">
                      <a16:creationId xmlns:a16="http://schemas.microsoft.com/office/drawing/2014/main" id="{320D4D71-D728-E940-0467-E2C0DEADE2F4}"/>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EED2CBD2-B0AD-AEE2-971A-2B0153A36976}"/>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3" name="直接连接符 162">
                  <a:extLst>
                    <a:ext uri="{FF2B5EF4-FFF2-40B4-BE49-F238E27FC236}">
                      <a16:creationId xmlns:a16="http://schemas.microsoft.com/office/drawing/2014/main" id="{8E875FBA-039B-8F68-FF94-09DA4B048F5A}"/>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DBF2BE5D-CA09-859C-CB77-295A09044B97}"/>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2C6A3991-A9AC-55C4-F6DB-042D2D3F27D5}"/>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1A7C3452-45EC-EBC1-E8E9-38859BA4784F}"/>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F56ABAA0-2D42-610C-0577-3B9F158458A7}"/>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095EDACC-FD5A-3C5F-06DC-158E11A31928}"/>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0E343074-262B-1BC8-D3A4-3252D2449D56}"/>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C44D8FDB-3098-2BF8-986C-864B83B78019}"/>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156" name="直接连接符 155">
                <a:extLst>
                  <a:ext uri="{FF2B5EF4-FFF2-40B4-BE49-F238E27FC236}">
                    <a16:creationId xmlns:a16="http://schemas.microsoft.com/office/drawing/2014/main" id="{70E80B27-2366-D93B-25E6-9475FDCB519D}"/>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62F8D3DA-1A47-04A0-F712-FDD8EDCBD444}"/>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EDB29E7D-92F7-7F98-0137-869DE678B006}"/>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pic>
        <p:nvPicPr>
          <p:cNvPr id="6" name="图片 5">
            <a:hlinkClick r:id="rId4"/>
            <a:extLst>
              <a:ext uri="{FF2B5EF4-FFF2-40B4-BE49-F238E27FC236}">
                <a16:creationId xmlns:a16="http://schemas.microsoft.com/office/drawing/2014/main" id="{42849C33-4B32-7D6F-1907-513CB1C26628}"/>
              </a:ext>
            </a:extLst>
          </p:cNvPr>
          <p:cNvPicPr>
            <a:picLocks noChangeAspect="1"/>
          </p:cNvPicPr>
          <p:nvPr/>
        </p:nvPicPr>
        <p:blipFill>
          <a:blip r:embed="rId5">
            <a:extLst>
              <a:ext uri="{28A0092B-C50C-407E-A947-70E740481C1C}">
                <a14:useLocalDpi xmlns:a14="http://schemas.microsoft.com/office/drawing/2010/main" val="0"/>
              </a:ext>
            </a:extLst>
          </a:blip>
          <a:srcRect l="8048"/>
          <a:stretch>
            <a:fillRect/>
          </a:stretch>
        </p:blipFill>
        <p:spPr>
          <a:xfrm>
            <a:off x="6042665" y="3846170"/>
            <a:ext cx="380549" cy="388620"/>
          </a:xfrm>
          <a:prstGeom prst="rect">
            <a:avLst/>
          </a:prstGeom>
        </p:spPr>
      </p:pic>
    </p:spTree>
    <p:extLst>
      <p:ext uri="{BB962C8B-B14F-4D97-AF65-F5344CB8AC3E}">
        <p14:creationId xmlns:p14="http://schemas.microsoft.com/office/powerpoint/2010/main" val="3220707738"/>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6ABBA28D-1FDE-4174-9BA7-4C3F5C68C7A1}"/>
              </a:ext>
            </a:extLst>
          </p:cNvPr>
          <p:cNvGrpSpPr/>
          <p:nvPr/>
        </p:nvGrpSpPr>
        <p:grpSpPr>
          <a:xfrm>
            <a:off x="6844320" y="980413"/>
            <a:ext cx="5274964" cy="275671"/>
            <a:chOff x="6404562" y="2125822"/>
            <a:chExt cx="5274964" cy="275671"/>
          </a:xfrm>
        </p:grpSpPr>
        <p:grpSp>
          <p:nvGrpSpPr>
            <p:cNvPr id="5" name="组合 4">
              <a:extLst>
                <a:ext uri="{FF2B5EF4-FFF2-40B4-BE49-F238E27FC236}">
                  <a16:creationId xmlns:a16="http://schemas.microsoft.com/office/drawing/2014/main" id="{676AEA79-3433-478E-8B46-1455F677D0B6}"/>
                </a:ext>
              </a:extLst>
            </p:cNvPr>
            <p:cNvGrpSpPr/>
            <p:nvPr/>
          </p:nvGrpSpPr>
          <p:grpSpPr>
            <a:xfrm>
              <a:off x="6404562" y="2125822"/>
              <a:ext cx="5274964" cy="275671"/>
              <a:chOff x="-57370" y="2710927"/>
              <a:chExt cx="10807846" cy="718073"/>
            </a:xfrm>
          </p:grpSpPr>
          <p:cxnSp>
            <p:nvCxnSpPr>
              <p:cNvPr id="9" name="直接连接符 8">
                <a:extLst>
                  <a:ext uri="{FF2B5EF4-FFF2-40B4-BE49-F238E27FC236}">
                    <a16:creationId xmlns:a16="http://schemas.microsoft.com/office/drawing/2014/main" id="{45E7CFD4-16DA-4671-B716-30F6236F7C0E}"/>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69D8DAB8-CAEF-4C9C-AA8D-4275B0B7EA3C}"/>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E69BBC77-207A-49D8-87A8-1014109CA1A9}"/>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7AE80C5C-6A54-4450-9563-9BF7D2DB5903}"/>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EEEFC76D-41A3-45A7-957A-F05F19E4F22F}"/>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55BEA965-0819-4380-B845-CC1B90371CC6}"/>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68CB39BF-3B1B-40C6-A897-0A26D8DBC346}"/>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A51382F7-DC82-45F7-BAAA-529771682C07}"/>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F582915F-D026-4BBE-9ECB-90782EACD5CF}"/>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09746E1-FB42-4384-BF07-9064C79DA12F}"/>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302319E7-3D18-480C-8285-8D806667C4F7}"/>
                  </a:ext>
                </a:extLst>
              </p:cNvPr>
              <p:cNvCxnSpPr/>
              <p:nvPr userDrawn="1"/>
            </p:nvCxnSpPr>
            <p:spPr>
              <a:xfrm flipH="1">
                <a:off x="678986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4D27493D-9F8D-4CA0-B608-A0B8338C243D}"/>
                  </a:ext>
                </a:extLst>
              </p:cNvPr>
              <p:cNvCxnSpPr/>
              <p:nvPr userDrawn="1"/>
            </p:nvCxnSpPr>
            <p:spPr>
              <a:xfrm flipH="1">
                <a:off x="715025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FC0E134A-4940-4CE4-AB6E-9C596B5F773A}"/>
                  </a:ext>
                </a:extLst>
              </p:cNvPr>
              <p:cNvCxnSpPr/>
              <p:nvPr userDrawn="1"/>
            </p:nvCxnSpPr>
            <p:spPr>
              <a:xfrm flipH="1">
                <a:off x="750704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E851ABDE-3CB1-4078-9FDD-15BD1FDE0328}"/>
                  </a:ext>
                </a:extLst>
              </p:cNvPr>
              <p:cNvCxnSpPr/>
              <p:nvPr userDrawn="1"/>
            </p:nvCxnSpPr>
            <p:spPr>
              <a:xfrm flipH="1">
                <a:off x="786742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C539EC07-7376-47CC-AA94-B216E32C55F5}"/>
                  </a:ext>
                </a:extLst>
              </p:cNvPr>
              <p:cNvCxnSpPr/>
              <p:nvPr userDrawn="1"/>
            </p:nvCxnSpPr>
            <p:spPr>
              <a:xfrm flipH="1">
                <a:off x="822780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0BAEA749-2288-45D0-9ECC-24A583DC8362}"/>
                  </a:ext>
                </a:extLst>
              </p:cNvPr>
              <p:cNvCxnSpPr/>
              <p:nvPr userDrawn="1"/>
            </p:nvCxnSpPr>
            <p:spPr>
              <a:xfrm flipH="1">
                <a:off x="858819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8E083567-6ADD-44F0-9BFE-5E349208861D}"/>
                  </a:ext>
                </a:extLst>
              </p:cNvPr>
              <p:cNvCxnSpPr/>
              <p:nvPr userDrawn="1"/>
            </p:nvCxnSpPr>
            <p:spPr>
              <a:xfrm flipH="1">
                <a:off x="894857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935BC21B-08BA-4BD2-97BB-F52A4ED59A30}"/>
                  </a:ext>
                </a:extLst>
              </p:cNvPr>
              <p:cNvCxnSpPr/>
              <p:nvPr userDrawn="1"/>
            </p:nvCxnSpPr>
            <p:spPr>
              <a:xfrm flipH="1">
                <a:off x="930895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531EBD66-D007-459F-BD7F-D7832AF27648}"/>
                  </a:ext>
                </a:extLst>
              </p:cNvPr>
              <p:cNvCxnSpPr/>
              <p:nvPr userDrawn="1"/>
            </p:nvCxnSpPr>
            <p:spPr>
              <a:xfrm flipH="1">
                <a:off x="966933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A2E6722F-0388-4031-A967-3F60FF8E2B1B}"/>
                  </a:ext>
                </a:extLst>
              </p:cNvPr>
              <p:cNvCxnSpPr/>
              <p:nvPr userDrawn="1"/>
            </p:nvCxnSpPr>
            <p:spPr>
              <a:xfrm flipH="1">
                <a:off x="1002971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C4460B56-E4D4-4BB0-9F25-E7AD86983DDA}"/>
                  </a:ext>
                </a:extLst>
              </p:cNvPr>
              <p:cNvCxnSpPr/>
              <p:nvPr userDrawn="1"/>
            </p:nvCxnSpPr>
            <p:spPr>
              <a:xfrm flipH="1">
                <a:off x="-5737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7A8C269A-5FBC-4DCB-BFFD-8F14C4C98D23}"/>
                  </a:ext>
                </a:extLst>
              </p:cNvPr>
              <p:cNvCxnSpPr/>
              <p:nvPr userDrawn="1"/>
            </p:nvCxnSpPr>
            <p:spPr>
              <a:xfrm flipH="1">
                <a:off x="30301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BE24F0F9-6828-4625-8B8F-A6E5C90DEAAF}"/>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6B88125-CB61-4D7F-B618-04833106A04D}"/>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7" name="直接连接符 6">
              <a:extLst>
                <a:ext uri="{FF2B5EF4-FFF2-40B4-BE49-F238E27FC236}">
                  <a16:creationId xmlns:a16="http://schemas.microsoft.com/office/drawing/2014/main" id="{C308107B-F0C4-44D6-BAC5-35851152E9D9}"/>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4F8B9DAB-8D32-4069-A7E1-C9790A531114}"/>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34" name="组合 33">
            <a:extLst>
              <a:ext uri="{FF2B5EF4-FFF2-40B4-BE49-F238E27FC236}">
                <a16:creationId xmlns:a16="http://schemas.microsoft.com/office/drawing/2014/main" id="{B9E547FD-54EF-4C4A-9E86-2E24D4B59631}"/>
              </a:ext>
            </a:extLst>
          </p:cNvPr>
          <p:cNvGrpSpPr/>
          <p:nvPr/>
        </p:nvGrpSpPr>
        <p:grpSpPr>
          <a:xfrm>
            <a:off x="112583" y="980413"/>
            <a:ext cx="5978525" cy="275672"/>
            <a:chOff x="601928" y="2125822"/>
            <a:chExt cx="5978525" cy="275672"/>
          </a:xfrm>
        </p:grpSpPr>
        <p:grpSp>
          <p:nvGrpSpPr>
            <p:cNvPr id="35" name="组合 34">
              <a:extLst>
                <a:ext uri="{FF2B5EF4-FFF2-40B4-BE49-F238E27FC236}">
                  <a16:creationId xmlns:a16="http://schemas.microsoft.com/office/drawing/2014/main" id="{2A4323DE-4BD3-4202-B7A3-67915E76DDCE}"/>
                </a:ext>
              </a:extLst>
            </p:cNvPr>
            <p:cNvGrpSpPr/>
            <p:nvPr/>
          </p:nvGrpSpPr>
          <p:grpSpPr>
            <a:xfrm>
              <a:off x="601928" y="2125823"/>
              <a:ext cx="5978525" cy="275671"/>
              <a:chOff x="-57370" y="2710927"/>
              <a:chExt cx="12249370" cy="718073"/>
            </a:xfrm>
          </p:grpSpPr>
          <p:cxnSp>
            <p:nvCxnSpPr>
              <p:cNvPr id="39" name="直接连接符 38">
                <a:extLst>
                  <a:ext uri="{FF2B5EF4-FFF2-40B4-BE49-F238E27FC236}">
                    <a16:creationId xmlns:a16="http://schemas.microsoft.com/office/drawing/2014/main" id="{4727460E-855D-4F9D-9B1D-DD1B69B2509A}"/>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CB55DD6A-EAC9-4E24-8E03-C6191DDE3654}"/>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046E9A83-12CB-4100-A36E-62142372A226}"/>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EB942956-99A3-4123-A699-E670206E27E4}"/>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6391322-2EE1-495F-A375-C3EBDEE7BE26}"/>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2F4C4536-2E64-49BB-8CBD-309EE92EC6FF}"/>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99461B71-D0A6-4E52-B086-EC70182C5DCD}"/>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A364A463-BC9F-4BC9-BA99-B5676C45DE46}"/>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0F3BD27-EB55-43C1-806D-637E4262D7D3}"/>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97998B48-DF91-41FF-8FBB-5B2005ACCF50}"/>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EDA46E78-A142-4DD4-BCD6-10C4AB4C2A48}"/>
                  </a:ext>
                </a:extLst>
              </p:cNvPr>
              <p:cNvCxnSpPr/>
              <p:nvPr userDrawn="1"/>
            </p:nvCxnSpPr>
            <p:spPr>
              <a:xfrm flipH="1">
                <a:off x="678986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3C17EBD6-D998-41BF-8CA5-1D994950C435}"/>
                  </a:ext>
                </a:extLst>
              </p:cNvPr>
              <p:cNvCxnSpPr/>
              <p:nvPr userDrawn="1"/>
            </p:nvCxnSpPr>
            <p:spPr>
              <a:xfrm flipH="1">
                <a:off x="715025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8311B67F-16BA-40B5-8B75-FA513B93729F}"/>
                  </a:ext>
                </a:extLst>
              </p:cNvPr>
              <p:cNvCxnSpPr/>
              <p:nvPr userDrawn="1"/>
            </p:nvCxnSpPr>
            <p:spPr>
              <a:xfrm flipH="1">
                <a:off x="822780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7FAD3936-7F8E-4C20-A1AD-A900AA5F3FED}"/>
                  </a:ext>
                </a:extLst>
              </p:cNvPr>
              <p:cNvCxnSpPr/>
              <p:nvPr userDrawn="1"/>
            </p:nvCxnSpPr>
            <p:spPr>
              <a:xfrm flipH="1">
                <a:off x="930895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0DDD67E-9D27-4D08-B5F8-9CEDA9CDEE16}"/>
                  </a:ext>
                </a:extLst>
              </p:cNvPr>
              <p:cNvCxnSpPr/>
              <p:nvPr userDrawn="1"/>
            </p:nvCxnSpPr>
            <p:spPr>
              <a:xfrm flipH="1">
                <a:off x="966933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FDF5E472-E121-4410-BF4F-AF4F61145DF4}"/>
                  </a:ext>
                </a:extLst>
              </p:cNvPr>
              <p:cNvCxnSpPr/>
              <p:nvPr userDrawn="1"/>
            </p:nvCxnSpPr>
            <p:spPr>
              <a:xfrm flipH="1">
                <a:off x="1002971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682B6EEB-8F40-4198-A071-8C1977266A43}"/>
                  </a:ext>
                </a:extLst>
              </p:cNvPr>
              <p:cNvCxnSpPr/>
              <p:nvPr userDrawn="1"/>
            </p:nvCxnSpPr>
            <p:spPr>
              <a:xfrm flipH="1">
                <a:off x="1039009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2E281170-5C2D-41CA-BDB8-76D020C1752F}"/>
                  </a:ext>
                </a:extLst>
              </p:cNvPr>
              <p:cNvCxnSpPr/>
              <p:nvPr userDrawn="1"/>
            </p:nvCxnSpPr>
            <p:spPr>
              <a:xfrm flipH="1">
                <a:off x="1075047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8FC2B3DF-5819-42E4-A1C1-FA17F363DFF2}"/>
                  </a:ext>
                </a:extLst>
              </p:cNvPr>
              <p:cNvCxnSpPr/>
              <p:nvPr userDrawn="1"/>
            </p:nvCxnSpPr>
            <p:spPr>
              <a:xfrm flipH="1">
                <a:off x="1111085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5751C8C-00BC-4B0D-887A-815EA11FB884}"/>
                  </a:ext>
                </a:extLst>
              </p:cNvPr>
              <p:cNvCxnSpPr/>
              <p:nvPr userDrawn="1"/>
            </p:nvCxnSpPr>
            <p:spPr>
              <a:xfrm flipH="1">
                <a:off x="1147123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ABFF4044-35B4-476E-9D3E-B9CD5941F9B8}"/>
                  </a:ext>
                </a:extLst>
              </p:cNvPr>
              <p:cNvCxnSpPr/>
              <p:nvPr userDrawn="1"/>
            </p:nvCxnSpPr>
            <p:spPr>
              <a:xfrm flipH="1">
                <a:off x="-5737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48E42A33-212B-48AB-8D1F-B617766A1526}"/>
                  </a:ext>
                </a:extLst>
              </p:cNvPr>
              <p:cNvCxnSpPr/>
              <p:nvPr userDrawn="1"/>
            </p:nvCxnSpPr>
            <p:spPr>
              <a:xfrm flipH="1">
                <a:off x="30301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35906DF3-956B-4AB5-A48A-B7D576178E7E}"/>
                  </a:ext>
                </a:extLst>
              </p:cNvPr>
              <p:cNvCxnSpPr/>
              <p:nvPr userDrawn="1"/>
            </p:nvCxnSpPr>
            <p:spPr>
              <a:xfrm flipH="1">
                <a:off x="66339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B79888CB-0DB7-498A-ACA1-710A20A95D3A}"/>
                  </a:ext>
                </a:extLst>
              </p:cNvPr>
              <p:cNvCxnSpPr/>
              <p:nvPr userDrawn="1"/>
            </p:nvCxnSpPr>
            <p:spPr>
              <a:xfrm flipH="1">
                <a:off x="102377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B77846BC-2FDB-48FF-BDC8-BF48DBDD6183}"/>
                  </a:ext>
                </a:extLst>
              </p:cNvPr>
              <p:cNvCxnSpPr/>
              <p:nvPr userDrawn="1"/>
            </p:nvCxnSpPr>
            <p:spPr>
              <a:xfrm flipH="1">
                <a:off x="138415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6040A8E0-9FD4-481E-9F38-602DBDDA333E}"/>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979F7732-6017-4A5A-804F-4C6FC12A92CF}"/>
                  </a:ext>
                </a:extLst>
              </p:cNvPr>
              <p:cNvCxnSpPr/>
              <p:nvPr userDrawn="1"/>
            </p:nvCxnSpPr>
            <p:spPr>
              <a:xfrm flipH="1">
                <a:off x="210491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C1CD6213-E787-4FD8-9CE1-6A6B88060928}"/>
                  </a:ext>
                </a:extLst>
              </p:cNvPr>
              <p:cNvCxnSpPr/>
              <p:nvPr userDrawn="1"/>
            </p:nvCxnSpPr>
            <p:spPr>
              <a:xfrm flipH="1">
                <a:off x="246529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CA32ADBD-AF87-45AB-B04E-253C856AB5CB}"/>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36" name="直接连接符 35">
              <a:extLst>
                <a:ext uri="{FF2B5EF4-FFF2-40B4-BE49-F238E27FC236}">
                  <a16:creationId xmlns:a16="http://schemas.microsoft.com/office/drawing/2014/main" id="{C3593A0A-F418-4AFC-9E25-8CE648E4FC21}"/>
                </a:ext>
              </a:extLst>
            </p:cNvPr>
            <p:cNvCxnSpPr/>
            <p:nvPr/>
          </p:nvCxnSpPr>
          <p:spPr>
            <a:xfrm flipH="1">
              <a:off x="4297496"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22231AFA-7D0A-4347-9D71-496DB829AF68}"/>
                </a:ext>
              </a:extLst>
            </p:cNvPr>
            <p:cNvCxnSpPr/>
            <p:nvPr/>
          </p:nvCxnSpPr>
          <p:spPr>
            <a:xfrm flipH="1">
              <a:off x="4473386"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68" name="文本框 67">
            <a:extLst>
              <a:ext uri="{FF2B5EF4-FFF2-40B4-BE49-F238E27FC236}">
                <a16:creationId xmlns:a16="http://schemas.microsoft.com/office/drawing/2014/main" id="{8B974462-2102-453B-9893-0C50E556959C}"/>
              </a:ext>
            </a:extLst>
          </p:cNvPr>
          <p:cNvSpPr txBox="1"/>
          <p:nvPr/>
        </p:nvSpPr>
        <p:spPr>
          <a:xfrm>
            <a:off x="4370921" y="702749"/>
            <a:ext cx="3231364" cy="830997"/>
          </a:xfrm>
          <a:prstGeom prst="rect">
            <a:avLst/>
          </a:prstGeom>
          <a:solidFill>
            <a:schemeClr val="bg1"/>
          </a:solidFill>
        </p:spPr>
        <p:txBody>
          <a:bodyPr wrap="square" rtlCol="0">
            <a:spAutoFit/>
          </a:bodyPr>
          <a:lstStyle/>
          <a:p>
            <a:pPr algn="ctr"/>
            <a:r>
              <a:rPr lang="en-US" altLang="zh-CN" sz="4800" b="1" dirty="0">
                <a:solidFill>
                  <a:schemeClr val="accent1"/>
                </a:solidFill>
                <a:latin typeface="字魂59号-创粗黑" panose="00000500000000000000" pitchFamily="2" charset="-122"/>
                <a:ea typeface="字魂59号-创粗黑" panose="00000500000000000000" pitchFamily="2" charset="-122"/>
              </a:rPr>
              <a:t>CONTENT</a:t>
            </a:r>
            <a:endParaRPr lang="zh-CN" altLang="en-US" sz="4800" b="1" dirty="0">
              <a:solidFill>
                <a:schemeClr val="accent1"/>
              </a:solidFill>
              <a:latin typeface="字魂59号-创粗黑" panose="00000500000000000000" pitchFamily="2" charset="-122"/>
              <a:ea typeface="字魂59号-创粗黑" panose="00000500000000000000" pitchFamily="2" charset="-122"/>
            </a:endParaRPr>
          </a:p>
        </p:txBody>
      </p:sp>
      <p:grpSp>
        <p:nvGrpSpPr>
          <p:cNvPr id="69" name="组合 68">
            <a:extLst>
              <a:ext uri="{FF2B5EF4-FFF2-40B4-BE49-F238E27FC236}">
                <a16:creationId xmlns:a16="http://schemas.microsoft.com/office/drawing/2014/main" id="{9926457F-91B4-49FD-98F8-AA6251923D08}"/>
              </a:ext>
            </a:extLst>
          </p:cNvPr>
          <p:cNvGrpSpPr/>
          <p:nvPr/>
        </p:nvGrpSpPr>
        <p:grpSpPr>
          <a:xfrm>
            <a:off x="5551108" y="1585224"/>
            <a:ext cx="1080000" cy="44820"/>
            <a:chOff x="1773217" y="5185185"/>
            <a:chExt cx="8645561" cy="44820"/>
          </a:xfrm>
        </p:grpSpPr>
        <p:cxnSp>
          <p:nvCxnSpPr>
            <p:cNvPr id="70" name="直接连接符 69">
              <a:extLst>
                <a:ext uri="{FF2B5EF4-FFF2-40B4-BE49-F238E27FC236}">
                  <a16:creationId xmlns:a16="http://schemas.microsoft.com/office/drawing/2014/main" id="{C17128D2-47BE-44B5-A84A-2EB8DDEBDD45}"/>
                </a:ext>
              </a:extLst>
            </p:cNvPr>
            <p:cNvCxnSpPr>
              <a:cxnSpLocks/>
            </p:cNvCxnSpPr>
            <p:nvPr userDrawn="1"/>
          </p:nvCxnSpPr>
          <p:spPr>
            <a:xfrm>
              <a:off x="1773218" y="51851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A77F498C-3D76-4C49-A3EB-6F4E72EA57AE}"/>
                </a:ext>
              </a:extLst>
            </p:cNvPr>
            <p:cNvCxnSpPr>
              <a:cxnSpLocks/>
            </p:cNvCxnSpPr>
            <p:nvPr userDrawn="1"/>
          </p:nvCxnSpPr>
          <p:spPr>
            <a:xfrm>
              <a:off x="1773217" y="5230005"/>
              <a:ext cx="8645560"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404BA097-E798-48E3-A2C7-C202AA4A3DED}"/>
              </a:ext>
            </a:extLst>
          </p:cNvPr>
          <p:cNvGrpSpPr/>
          <p:nvPr/>
        </p:nvGrpSpPr>
        <p:grpSpPr>
          <a:xfrm>
            <a:off x="600391" y="1630044"/>
            <a:ext cx="10991221" cy="4673937"/>
            <a:chOff x="600391" y="1630044"/>
            <a:chExt cx="10991221" cy="4673937"/>
          </a:xfrm>
        </p:grpSpPr>
        <p:grpSp>
          <p:nvGrpSpPr>
            <p:cNvPr id="6" name="组合 5">
              <a:extLst>
                <a:ext uri="{FF2B5EF4-FFF2-40B4-BE49-F238E27FC236}">
                  <a16:creationId xmlns:a16="http://schemas.microsoft.com/office/drawing/2014/main" id="{DE73E055-592E-48B5-965E-AC8262A0D1EE}"/>
                </a:ext>
              </a:extLst>
            </p:cNvPr>
            <p:cNvGrpSpPr/>
            <p:nvPr/>
          </p:nvGrpSpPr>
          <p:grpSpPr>
            <a:xfrm>
              <a:off x="5849067" y="1630044"/>
              <a:ext cx="488972" cy="4673937"/>
              <a:chOff x="5849067" y="1630044"/>
              <a:chExt cx="488972" cy="4673937"/>
            </a:xfrm>
          </p:grpSpPr>
          <p:cxnSp>
            <p:nvCxnSpPr>
              <p:cNvPr id="73" name="直接连接符 72">
                <a:extLst>
                  <a:ext uri="{FF2B5EF4-FFF2-40B4-BE49-F238E27FC236}">
                    <a16:creationId xmlns:a16="http://schemas.microsoft.com/office/drawing/2014/main" id="{BF09845A-1971-40C4-A53B-D621FD1C5D3B}"/>
                  </a:ext>
                </a:extLst>
              </p:cNvPr>
              <p:cNvCxnSpPr/>
              <p:nvPr/>
            </p:nvCxnSpPr>
            <p:spPr>
              <a:xfrm>
                <a:off x="6096000" y="1630044"/>
                <a:ext cx="0" cy="467393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74" name="矩形 73">
                <a:extLst>
                  <a:ext uri="{FF2B5EF4-FFF2-40B4-BE49-F238E27FC236}">
                    <a16:creationId xmlns:a16="http://schemas.microsoft.com/office/drawing/2014/main" id="{FB135692-FB42-49F1-8E67-8E80B65ACDAC}"/>
                  </a:ext>
                </a:extLst>
              </p:cNvPr>
              <p:cNvSpPr/>
              <p:nvPr/>
            </p:nvSpPr>
            <p:spPr>
              <a:xfrm>
                <a:off x="5853960" y="2095212"/>
                <a:ext cx="484079" cy="48407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1"/>
                    </a:solidFill>
                    <a:latin typeface="字魂59号-创粗黑" panose="00000500000000000000" pitchFamily="2" charset="-122"/>
                    <a:ea typeface="字魂59号-创粗黑" panose="00000500000000000000" pitchFamily="2" charset="-122"/>
                  </a:rPr>
                  <a:t>1</a:t>
                </a:r>
                <a:endParaRPr lang="zh-CN" altLang="en-US" sz="3200" dirty="0">
                  <a:solidFill>
                    <a:schemeClr val="accent1"/>
                  </a:solidFill>
                  <a:latin typeface="字魂59号-创粗黑" panose="00000500000000000000" pitchFamily="2" charset="-122"/>
                  <a:ea typeface="字魂59号-创粗黑" panose="00000500000000000000" pitchFamily="2" charset="-122"/>
                </a:endParaRPr>
              </a:p>
            </p:txBody>
          </p:sp>
          <p:sp>
            <p:nvSpPr>
              <p:cNvPr id="75" name="矩形 74">
                <a:extLst>
                  <a:ext uri="{FF2B5EF4-FFF2-40B4-BE49-F238E27FC236}">
                    <a16:creationId xmlns:a16="http://schemas.microsoft.com/office/drawing/2014/main" id="{81CD4CA1-3A04-4B18-8240-EDF980474DDF}"/>
                  </a:ext>
                </a:extLst>
              </p:cNvPr>
              <p:cNvSpPr/>
              <p:nvPr/>
            </p:nvSpPr>
            <p:spPr>
              <a:xfrm>
                <a:off x="5849068" y="3101877"/>
                <a:ext cx="484079" cy="48407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1"/>
                    </a:solidFill>
                    <a:latin typeface="字魂59号-创粗黑" panose="00000500000000000000" pitchFamily="2" charset="-122"/>
                    <a:ea typeface="字魂59号-创粗黑" panose="00000500000000000000" pitchFamily="2" charset="-122"/>
                  </a:rPr>
                  <a:t>2</a:t>
                </a:r>
                <a:endParaRPr lang="zh-CN" altLang="en-US" sz="3200" dirty="0">
                  <a:solidFill>
                    <a:schemeClr val="accent1"/>
                  </a:solidFill>
                  <a:latin typeface="字魂59号-创粗黑" panose="00000500000000000000" pitchFamily="2" charset="-122"/>
                  <a:ea typeface="字魂59号-创粗黑" panose="00000500000000000000" pitchFamily="2" charset="-122"/>
                </a:endParaRPr>
              </a:p>
            </p:txBody>
          </p:sp>
          <p:sp>
            <p:nvSpPr>
              <p:cNvPr id="76" name="矩形 75">
                <a:extLst>
                  <a:ext uri="{FF2B5EF4-FFF2-40B4-BE49-F238E27FC236}">
                    <a16:creationId xmlns:a16="http://schemas.microsoft.com/office/drawing/2014/main" id="{C654DAA7-8B9B-4A9D-961F-4270FF0E4A71}"/>
                  </a:ext>
                </a:extLst>
              </p:cNvPr>
              <p:cNvSpPr/>
              <p:nvPr/>
            </p:nvSpPr>
            <p:spPr>
              <a:xfrm>
                <a:off x="5853960" y="4108542"/>
                <a:ext cx="484079" cy="48407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1"/>
                    </a:solidFill>
                    <a:latin typeface="字魂59号-创粗黑" panose="00000500000000000000" pitchFamily="2" charset="-122"/>
                    <a:ea typeface="字魂59号-创粗黑" panose="00000500000000000000" pitchFamily="2" charset="-122"/>
                  </a:rPr>
                  <a:t>3</a:t>
                </a:r>
                <a:endParaRPr lang="zh-CN" altLang="en-US" sz="3200" dirty="0">
                  <a:solidFill>
                    <a:schemeClr val="accent1"/>
                  </a:solidFill>
                  <a:latin typeface="字魂59号-创粗黑" panose="00000500000000000000" pitchFamily="2" charset="-122"/>
                  <a:ea typeface="字魂59号-创粗黑" panose="00000500000000000000" pitchFamily="2" charset="-122"/>
                </a:endParaRPr>
              </a:p>
            </p:txBody>
          </p:sp>
          <p:sp>
            <p:nvSpPr>
              <p:cNvPr id="77" name="矩形 76">
                <a:extLst>
                  <a:ext uri="{FF2B5EF4-FFF2-40B4-BE49-F238E27FC236}">
                    <a16:creationId xmlns:a16="http://schemas.microsoft.com/office/drawing/2014/main" id="{C7C70B4F-D57E-4587-96F1-3E9C6449A4F5}"/>
                  </a:ext>
                </a:extLst>
              </p:cNvPr>
              <p:cNvSpPr/>
              <p:nvPr/>
            </p:nvSpPr>
            <p:spPr>
              <a:xfrm>
                <a:off x="5849067" y="5115208"/>
                <a:ext cx="484079" cy="48407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1"/>
                    </a:solidFill>
                    <a:latin typeface="字魂59号-创粗黑" panose="00000500000000000000" pitchFamily="2" charset="-122"/>
                    <a:ea typeface="字魂59号-创粗黑" panose="00000500000000000000" pitchFamily="2" charset="-122"/>
                  </a:rPr>
                  <a:t>4</a:t>
                </a:r>
                <a:endParaRPr lang="zh-CN" altLang="en-US" sz="3200" dirty="0">
                  <a:solidFill>
                    <a:schemeClr val="accent1"/>
                  </a:solidFill>
                  <a:latin typeface="字魂59号-创粗黑" panose="00000500000000000000" pitchFamily="2" charset="-122"/>
                  <a:ea typeface="字魂59号-创粗黑" panose="00000500000000000000" pitchFamily="2" charset="-122"/>
                </a:endParaRPr>
              </a:p>
            </p:txBody>
          </p:sp>
        </p:grpSp>
        <p:sp>
          <p:nvSpPr>
            <p:cNvPr id="78" name="文本框 77">
              <a:extLst>
                <a:ext uri="{FF2B5EF4-FFF2-40B4-BE49-F238E27FC236}">
                  <a16:creationId xmlns:a16="http://schemas.microsoft.com/office/drawing/2014/main" id="{A0B41C2C-3D7C-4766-8C2C-CE925F277939}"/>
                </a:ext>
              </a:extLst>
            </p:cNvPr>
            <p:cNvSpPr txBox="1"/>
            <p:nvPr/>
          </p:nvSpPr>
          <p:spPr>
            <a:xfrm>
              <a:off x="911571" y="2075641"/>
              <a:ext cx="4649322" cy="954107"/>
            </a:xfrm>
            <a:prstGeom prst="rect">
              <a:avLst/>
            </a:prstGeom>
            <a:noFill/>
          </p:spPr>
          <p:txBody>
            <a:bodyPr wrap="square" rtlCol="0">
              <a:spAutoFit/>
            </a:bodyPr>
            <a:lstStyle/>
            <a:p>
              <a:pPr algn="r"/>
              <a:r>
                <a:rPr lang="en-US" altLang="zh-CN" sz="2800" b="1" dirty="0">
                  <a:solidFill>
                    <a:schemeClr val="accent1"/>
                  </a:solidFill>
                  <a:latin typeface="字魂59号-创粗黑" panose="00000500000000000000" pitchFamily="2" charset="-122"/>
                  <a:ea typeface="字魂59号-创粗黑" panose="00000500000000000000" pitchFamily="2" charset="-122"/>
                </a:rPr>
                <a:t>DATA ENGINEERING</a:t>
              </a:r>
            </a:p>
            <a:p>
              <a:pPr algn="r"/>
              <a:endParaRPr lang="zh-CN" altLang="en-US" sz="2800" b="1" dirty="0">
                <a:solidFill>
                  <a:schemeClr val="accent1"/>
                </a:solidFill>
                <a:latin typeface="字魂59号-创粗黑" panose="00000500000000000000" pitchFamily="2" charset="-122"/>
                <a:ea typeface="字魂59号-创粗黑" panose="00000500000000000000" pitchFamily="2" charset="-122"/>
              </a:endParaRPr>
            </a:p>
          </p:txBody>
        </p:sp>
        <p:sp>
          <p:nvSpPr>
            <p:cNvPr id="79" name="文本框 78">
              <a:extLst>
                <a:ext uri="{FF2B5EF4-FFF2-40B4-BE49-F238E27FC236}">
                  <a16:creationId xmlns:a16="http://schemas.microsoft.com/office/drawing/2014/main" id="{C61FC0D3-5170-4D6E-B243-F23F2CC0E639}"/>
                </a:ext>
              </a:extLst>
            </p:cNvPr>
            <p:cNvSpPr txBox="1"/>
            <p:nvPr/>
          </p:nvSpPr>
          <p:spPr>
            <a:xfrm>
              <a:off x="600391" y="4088971"/>
              <a:ext cx="4950717" cy="523220"/>
            </a:xfrm>
            <a:prstGeom prst="rect">
              <a:avLst/>
            </a:prstGeom>
            <a:noFill/>
          </p:spPr>
          <p:txBody>
            <a:bodyPr wrap="square" rtlCol="0">
              <a:spAutoFit/>
            </a:bodyPr>
            <a:lstStyle/>
            <a:p>
              <a:pPr algn="r"/>
              <a:r>
                <a:rPr lang="en-US" altLang="zh-CN" sz="2800" b="1" dirty="0">
                  <a:solidFill>
                    <a:schemeClr val="accent1"/>
                  </a:solidFill>
                  <a:latin typeface="字魂59号-创粗黑" panose="00000500000000000000" pitchFamily="2" charset="-122"/>
                  <a:ea typeface="字魂59号-创粗黑" panose="00000500000000000000" pitchFamily="2" charset="-122"/>
                </a:rPr>
                <a:t>SHAP &amp; Financial </a:t>
              </a:r>
              <a:r>
                <a:rPr lang="en-US" altLang="zh-CN" sz="2800" b="1" dirty="0" err="1">
                  <a:solidFill>
                    <a:schemeClr val="accent1"/>
                  </a:solidFill>
                  <a:latin typeface="字魂59号-创粗黑" panose="00000500000000000000" pitchFamily="2" charset="-122"/>
                  <a:ea typeface="字魂59号-创粗黑" panose="00000500000000000000" pitchFamily="2" charset="-122"/>
                </a:rPr>
                <a:t>Backtest</a:t>
              </a:r>
              <a:r>
                <a:rPr lang="en-US" altLang="zh-CN" sz="2800" b="1" dirty="0">
                  <a:solidFill>
                    <a:schemeClr val="accent1"/>
                  </a:solidFill>
                  <a:latin typeface="字魂59号-创粗黑" panose="00000500000000000000" pitchFamily="2" charset="-122"/>
                  <a:ea typeface="字魂59号-创粗黑" panose="00000500000000000000" pitchFamily="2" charset="-122"/>
                </a:rPr>
                <a:t> </a:t>
              </a:r>
              <a:endParaRPr lang="zh-CN" altLang="en-US" sz="2800" b="1" dirty="0">
                <a:solidFill>
                  <a:schemeClr val="accent1"/>
                </a:solidFill>
                <a:latin typeface="字魂59号-创粗黑" panose="00000500000000000000" pitchFamily="2" charset="-122"/>
                <a:ea typeface="字魂59号-创粗黑" panose="00000500000000000000" pitchFamily="2" charset="-122"/>
              </a:endParaRPr>
            </a:p>
          </p:txBody>
        </p:sp>
        <p:sp>
          <p:nvSpPr>
            <p:cNvPr id="80" name="文本框 79">
              <a:extLst>
                <a:ext uri="{FF2B5EF4-FFF2-40B4-BE49-F238E27FC236}">
                  <a16:creationId xmlns:a16="http://schemas.microsoft.com/office/drawing/2014/main" id="{772217CE-3849-4E88-86BC-3ECE4EA50562}"/>
                </a:ext>
              </a:extLst>
            </p:cNvPr>
            <p:cNvSpPr txBox="1"/>
            <p:nvPr/>
          </p:nvSpPr>
          <p:spPr>
            <a:xfrm>
              <a:off x="6630344" y="3082306"/>
              <a:ext cx="4961268" cy="954107"/>
            </a:xfrm>
            <a:prstGeom prst="rect">
              <a:avLst/>
            </a:prstGeom>
            <a:noFill/>
          </p:spPr>
          <p:txBody>
            <a:bodyPr wrap="square" rtlCol="0">
              <a:spAutoFit/>
            </a:bodyPr>
            <a:lstStyle/>
            <a:p>
              <a:r>
                <a:rPr lang="en-US" altLang="zh-CN" sz="2800" b="1" dirty="0">
                  <a:solidFill>
                    <a:schemeClr val="accent1"/>
                  </a:solidFill>
                  <a:latin typeface="字魂59号-创粗黑" panose="00000500000000000000" pitchFamily="2" charset="-122"/>
                  <a:ea typeface="字魂59号-创粗黑" panose="00000500000000000000" pitchFamily="2" charset="-122"/>
                </a:rPr>
                <a:t>BASELINE &amp; GRU</a:t>
              </a:r>
              <a:endParaRPr lang="zh-CN" altLang="en-US" sz="2800" b="1" dirty="0">
                <a:solidFill>
                  <a:schemeClr val="accent1"/>
                </a:solidFill>
                <a:latin typeface="字魂59号-创粗黑" panose="00000500000000000000" pitchFamily="2" charset="-122"/>
                <a:ea typeface="字魂59号-创粗黑" panose="00000500000000000000" pitchFamily="2" charset="-122"/>
              </a:endParaRPr>
            </a:p>
            <a:p>
              <a:endParaRPr lang="zh-CN" altLang="en-US" sz="2800" b="1" dirty="0">
                <a:solidFill>
                  <a:schemeClr val="accent1"/>
                </a:solidFill>
                <a:latin typeface="字魂59号-创粗黑" panose="00000500000000000000" pitchFamily="2" charset="-122"/>
                <a:ea typeface="字魂59号-创粗黑" panose="00000500000000000000" pitchFamily="2" charset="-122"/>
              </a:endParaRPr>
            </a:p>
          </p:txBody>
        </p:sp>
        <p:sp>
          <p:nvSpPr>
            <p:cNvPr id="81" name="文本框 80">
              <a:extLst>
                <a:ext uri="{FF2B5EF4-FFF2-40B4-BE49-F238E27FC236}">
                  <a16:creationId xmlns:a16="http://schemas.microsoft.com/office/drawing/2014/main" id="{1F057B04-B735-4211-8257-784583460A34}"/>
                </a:ext>
              </a:extLst>
            </p:cNvPr>
            <p:cNvSpPr txBox="1"/>
            <p:nvPr/>
          </p:nvSpPr>
          <p:spPr>
            <a:xfrm>
              <a:off x="6630344" y="5095637"/>
              <a:ext cx="4649322" cy="523220"/>
            </a:xfrm>
            <a:prstGeom prst="rect">
              <a:avLst/>
            </a:prstGeom>
            <a:noFill/>
          </p:spPr>
          <p:txBody>
            <a:bodyPr wrap="square" rtlCol="0">
              <a:spAutoFit/>
            </a:bodyPr>
            <a:lstStyle/>
            <a:p>
              <a:r>
                <a:rPr lang="en-US" altLang="zh-CN" sz="2800" b="1" dirty="0">
                  <a:solidFill>
                    <a:schemeClr val="accent1"/>
                  </a:solidFill>
                  <a:latin typeface="字魂59号-创粗黑" panose="00000500000000000000" pitchFamily="2" charset="-122"/>
                  <a:ea typeface="字魂59号-创粗黑" panose="00000500000000000000" pitchFamily="2" charset="-122"/>
                </a:rPr>
                <a:t>SUMMARY</a:t>
              </a:r>
              <a:endParaRPr lang="zh-CN" altLang="en-US" sz="2800" b="1" dirty="0">
                <a:solidFill>
                  <a:schemeClr val="accent1"/>
                </a:solidFill>
                <a:latin typeface="字魂59号-创粗黑" panose="00000500000000000000" pitchFamily="2" charset="-122"/>
                <a:ea typeface="字魂59号-创粗黑" panose="00000500000000000000" pitchFamily="2" charset="-122"/>
              </a:endParaRPr>
            </a:p>
          </p:txBody>
        </p:sp>
        <p:sp>
          <p:nvSpPr>
            <p:cNvPr id="82" name="文本框 81">
              <a:extLst>
                <a:ext uri="{FF2B5EF4-FFF2-40B4-BE49-F238E27FC236}">
                  <a16:creationId xmlns:a16="http://schemas.microsoft.com/office/drawing/2014/main" id="{9AC7FF40-4B37-455D-877E-FA4529133299}"/>
                </a:ext>
              </a:extLst>
            </p:cNvPr>
            <p:cNvSpPr txBox="1"/>
            <p:nvPr/>
          </p:nvSpPr>
          <p:spPr>
            <a:xfrm>
              <a:off x="1343816" y="2598861"/>
              <a:ext cx="4217077" cy="830997"/>
            </a:xfrm>
            <a:prstGeom prst="rect">
              <a:avLst/>
            </a:prstGeom>
            <a:noFill/>
          </p:spPr>
          <p:txBody>
            <a:bodyPr wrap="square" rtlCol="0">
              <a:spAutoFit/>
            </a:bodyPr>
            <a:lstStyle/>
            <a:p>
              <a:pPr algn="r"/>
              <a:r>
                <a:rPr lang="en-US" altLang="zh-CN" sz="1600" dirty="0">
                  <a:solidFill>
                    <a:schemeClr val="bg2">
                      <a:lumMod val="50000"/>
                    </a:schemeClr>
                  </a:solidFill>
                  <a:latin typeface="字魂58号-创中黑" panose="00000500000000000000" pitchFamily="2" charset="-122"/>
                  <a:ea typeface="字魂58号-创中黑" panose="00000500000000000000" pitchFamily="2" charset="-122"/>
                </a:rPr>
                <a:t>Data Sources and Features</a:t>
              </a:r>
            </a:p>
            <a:p>
              <a:pPr algn="r"/>
              <a:r>
                <a:rPr lang="en-US" altLang="zh-CN" sz="1600" dirty="0">
                  <a:solidFill>
                    <a:schemeClr val="bg2">
                      <a:lumMod val="50000"/>
                    </a:schemeClr>
                  </a:solidFill>
                  <a:latin typeface="字魂58号-创中黑" panose="00000500000000000000" pitchFamily="2" charset="-122"/>
                  <a:ea typeface="字魂58号-创中黑" panose="00000500000000000000" pitchFamily="2" charset="-122"/>
                </a:rPr>
                <a:t>Final Feature Groups</a:t>
              </a:r>
            </a:p>
            <a:p>
              <a:pPr algn="r"/>
              <a:r>
                <a:rPr lang="en-US" altLang="zh-CN" sz="1600" dirty="0">
                  <a:solidFill>
                    <a:schemeClr val="bg2">
                      <a:lumMod val="50000"/>
                    </a:schemeClr>
                  </a:solidFill>
                  <a:latin typeface="字魂58号-创中黑" panose="00000500000000000000" pitchFamily="2" charset="-122"/>
                  <a:ea typeface="字魂58号-创中黑" panose="00000500000000000000" pitchFamily="2" charset="-122"/>
                </a:rPr>
                <a:t>Leakage Control</a:t>
              </a:r>
              <a:endParaRPr lang="zh-CN" altLang="en-US" sz="1600" dirty="0">
                <a:solidFill>
                  <a:schemeClr val="bg2">
                    <a:lumMod val="50000"/>
                  </a:schemeClr>
                </a:solidFill>
                <a:latin typeface="字魂58号-创中黑" panose="00000500000000000000" pitchFamily="2" charset="-122"/>
                <a:ea typeface="字魂58号-创中黑" panose="00000500000000000000" pitchFamily="2" charset="-122"/>
              </a:endParaRPr>
            </a:p>
          </p:txBody>
        </p:sp>
        <p:sp>
          <p:nvSpPr>
            <p:cNvPr id="83" name="文本框 82">
              <a:extLst>
                <a:ext uri="{FF2B5EF4-FFF2-40B4-BE49-F238E27FC236}">
                  <a16:creationId xmlns:a16="http://schemas.microsoft.com/office/drawing/2014/main" id="{655D3E9B-8DB0-42CF-954E-D1CDA12F201A}"/>
                </a:ext>
              </a:extLst>
            </p:cNvPr>
            <p:cNvSpPr txBox="1"/>
            <p:nvPr/>
          </p:nvSpPr>
          <p:spPr>
            <a:xfrm>
              <a:off x="640254" y="4612424"/>
              <a:ext cx="4920639" cy="830997"/>
            </a:xfrm>
            <a:prstGeom prst="rect">
              <a:avLst/>
            </a:prstGeom>
            <a:noFill/>
          </p:spPr>
          <p:txBody>
            <a:bodyPr wrap="square" rtlCol="0">
              <a:spAutoFit/>
            </a:bodyPr>
            <a:lstStyle/>
            <a:p>
              <a:pPr algn="r"/>
              <a:r>
                <a:rPr lang="en-US" altLang="zh-CN" sz="1600" dirty="0">
                  <a:solidFill>
                    <a:schemeClr val="bg2">
                      <a:lumMod val="50000"/>
                    </a:schemeClr>
                  </a:solidFill>
                  <a:latin typeface="字魂58号-创中黑" panose="00000500000000000000" pitchFamily="2" charset="-122"/>
                  <a:ea typeface="字魂58号-创中黑" panose="00000500000000000000" pitchFamily="2" charset="-122"/>
                </a:rPr>
                <a:t>SHAP Global Interpretation</a:t>
              </a:r>
              <a:br>
                <a:rPr lang="en-US" altLang="zh-CN" sz="1600" dirty="0">
                  <a:solidFill>
                    <a:schemeClr val="bg2">
                      <a:lumMod val="50000"/>
                    </a:schemeClr>
                  </a:solidFill>
                  <a:latin typeface="字魂58号-创中黑" panose="00000500000000000000" pitchFamily="2" charset="-122"/>
                  <a:ea typeface="字魂58号-创中黑" panose="00000500000000000000" pitchFamily="2" charset="-122"/>
                </a:rPr>
              </a:br>
              <a:r>
                <a:rPr lang="en-US" altLang="zh-CN" sz="1600" dirty="0">
                  <a:solidFill>
                    <a:schemeClr val="bg2">
                      <a:lumMod val="50000"/>
                    </a:schemeClr>
                  </a:solidFill>
                  <a:latin typeface="字魂58号-创中黑" panose="00000500000000000000" pitchFamily="2" charset="-122"/>
                  <a:ea typeface="字魂58号-创中黑" panose="00000500000000000000" pitchFamily="2" charset="-122"/>
                </a:rPr>
                <a:t>SHAP Local Interpretation and Feature Ranking</a:t>
              </a:r>
            </a:p>
            <a:p>
              <a:pPr algn="r"/>
              <a:r>
                <a:rPr lang="en-US" altLang="zh-CN" sz="1600" dirty="0">
                  <a:solidFill>
                    <a:schemeClr val="bg2">
                      <a:lumMod val="50000"/>
                    </a:schemeClr>
                  </a:solidFill>
                  <a:latin typeface="字魂58号-创中黑" panose="00000500000000000000" pitchFamily="2" charset="-122"/>
                  <a:ea typeface="字魂58号-创中黑" panose="00000500000000000000" pitchFamily="2" charset="-122"/>
                </a:rPr>
                <a:t>Unified </a:t>
              </a:r>
              <a:r>
                <a:rPr lang="en-US" altLang="zh-CN" sz="1600" dirty="0" err="1">
                  <a:solidFill>
                    <a:schemeClr val="bg2">
                      <a:lumMod val="50000"/>
                    </a:schemeClr>
                  </a:solidFill>
                  <a:latin typeface="字魂58号-创中黑" panose="00000500000000000000" pitchFamily="2" charset="-122"/>
                  <a:ea typeface="字魂58号-创中黑" panose="00000500000000000000" pitchFamily="2" charset="-122"/>
                </a:rPr>
                <a:t>Backtesting</a:t>
              </a:r>
              <a:r>
                <a:rPr lang="en-US" altLang="zh-CN" sz="1600" dirty="0">
                  <a:solidFill>
                    <a:schemeClr val="bg2">
                      <a:lumMod val="50000"/>
                    </a:schemeClr>
                  </a:solidFill>
                  <a:latin typeface="字魂58号-创中黑" panose="00000500000000000000" pitchFamily="2" charset="-122"/>
                  <a:ea typeface="字魂58号-创中黑" panose="00000500000000000000" pitchFamily="2" charset="-122"/>
                </a:rPr>
                <a:t> Results</a:t>
              </a:r>
            </a:p>
          </p:txBody>
        </p:sp>
        <p:sp>
          <p:nvSpPr>
            <p:cNvPr id="84" name="文本框 83">
              <a:extLst>
                <a:ext uri="{FF2B5EF4-FFF2-40B4-BE49-F238E27FC236}">
                  <a16:creationId xmlns:a16="http://schemas.microsoft.com/office/drawing/2014/main" id="{BD4DADAA-9C16-455E-B75C-A1911A73037D}"/>
                </a:ext>
              </a:extLst>
            </p:cNvPr>
            <p:cNvSpPr txBox="1"/>
            <p:nvPr/>
          </p:nvSpPr>
          <p:spPr>
            <a:xfrm>
              <a:off x="6630342" y="3607592"/>
              <a:ext cx="4961267" cy="584775"/>
            </a:xfrm>
            <a:prstGeom prst="rect">
              <a:avLst/>
            </a:prstGeom>
            <a:noFill/>
          </p:spPr>
          <p:txBody>
            <a:bodyPr wrap="square" rtlCol="0">
              <a:spAutoFit/>
            </a:bodyPr>
            <a:lstStyle/>
            <a:p>
              <a:r>
                <a:rPr lang="en-US" altLang="zh-CN" sz="1600" dirty="0">
                  <a:solidFill>
                    <a:schemeClr val="bg2">
                      <a:lumMod val="50000"/>
                    </a:schemeClr>
                  </a:solidFill>
                  <a:latin typeface="字魂58号-创中黑" panose="00000500000000000000" pitchFamily="2" charset="-122"/>
                  <a:ea typeface="字魂58号-创中黑" panose="00000500000000000000" pitchFamily="2" charset="-122"/>
                </a:rPr>
                <a:t>Baseline Experimental Results</a:t>
              </a:r>
            </a:p>
            <a:p>
              <a:r>
                <a:rPr lang="en-US" altLang="zh-CN" sz="1600" dirty="0">
                  <a:solidFill>
                    <a:schemeClr val="bg2">
                      <a:lumMod val="50000"/>
                    </a:schemeClr>
                  </a:solidFill>
                  <a:latin typeface="字魂58号-创中黑" panose="00000500000000000000" pitchFamily="2" charset="-122"/>
                  <a:ea typeface="字魂58号-创中黑" panose="00000500000000000000" pitchFamily="2" charset="-122"/>
                </a:rPr>
                <a:t>GRU Modeling and Experimental Results</a:t>
              </a:r>
            </a:p>
          </p:txBody>
        </p:sp>
        <p:sp>
          <p:nvSpPr>
            <p:cNvPr id="85" name="文本框 84">
              <a:extLst>
                <a:ext uri="{FF2B5EF4-FFF2-40B4-BE49-F238E27FC236}">
                  <a16:creationId xmlns:a16="http://schemas.microsoft.com/office/drawing/2014/main" id="{35EA7992-1581-4E5F-9E5B-048015D1C813}"/>
                </a:ext>
              </a:extLst>
            </p:cNvPr>
            <p:cNvSpPr txBox="1"/>
            <p:nvPr/>
          </p:nvSpPr>
          <p:spPr>
            <a:xfrm>
              <a:off x="6630344" y="5612591"/>
              <a:ext cx="4081815" cy="584775"/>
            </a:xfrm>
            <a:prstGeom prst="rect">
              <a:avLst/>
            </a:prstGeom>
            <a:noFill/>
          </p:spPr>
          <p:txBody>
            <a:bodyPr wrap="square" rtlCol="0">
              <a:spAutoFit/>
            </a:bodyPr>
            <a:lstStyle/>
            <a:p>
              <a:r>
                <a:rPr lang="en-US" altLang="zh-CN" sz="1600" dirty="0">
                  <a:solidFill>
                    <a:schemeClr val="bg2">
                      <a:lumMod val="50000"/>
                    </a:schemeClr>
                  </a:solidFill>
                  <a:latin typeface="字魂58号-创中黑" panose="00000500000000000000" pitchFamily="2" charset="-122"/>
                  <a:ea typeface="字魂58号-创中黑" panose="00000500000000000000" pitchFamily="2" charset="-122"/>
                </a:rPr>
                <a:t>What We Learned</a:t>
              </a:r>
            </a:p>
            <a:p>
              <a:r>
                <a:rPr lang="en-US" altLang="zh-CN" sz="1600" dirty="0">
                  <a:solidFill>
                    <a:schemeClr val="bg2">
                      <a:lumMod val="50000"/>
                    </a:schemeClr>
                  </a:solidFill>
                  <a:latin typeface="字魂58号-创中黑" panose="00000500000000000000" pitchFamily="2" charset="-122"/>
                  <a:ea typeface="字魂58号-创中黑" panose="00000500000000000000" pitchFamily="2" charset="-122"/>
                </a:rPr>
                <a:t>Conclusion, Limitation and Next Steps</a:t>
              </a:r>
              <a:endParaRPr lang="zh-CN" altLang="en-US" sz="1600" dirty="0">
                <a:solidFill>
                  <a:schemeClr val="bg2">
                    <a:lumMod val="50000"/>
                  </a:schemeClr>
                </a:solidFill>
                <a:latin typeface="字魂58号-创中黑" panose="00000500000000000000" pitchFamily="2" charset="-122"/>
                <a:ea typeface="字魂58号-创中黑" panose="00000500000000000000" pitchFamily="2" charset="-122"/>
              </a:endParaRPr>
            </a:p>
          </p:txBody>
        </p:sp>
      </p:grpSp>
    </p:spTree>
    <p:extLst>
      <p:ext uri="{BB962C8B-B14F-4D97-AF65-F5344CB8AC3E}">
        <p14:creationId xmlns:p14="http://schemas.microsoft.com/office/powerpoint/2010/main" val="2236557619"/>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D02D2-7D12-CC62-80E2-F2C57DB0E064}"/>
            </a:ext>
          </a:extLst>
        </p:cNvPr>
        <p:cNvGrpSpPr/>
        <p:nvPr/>
      </p:nvGrpSpPr>
      <p:grpSpPr>
        <a:xfrm>
          <a:off x="0" y="0"/>
          <a:ext cx="0" cy="0"/>
          <a:chOff x="0" y="0"/>
          <a:chExt cx="0" cy="0"/>
        </a:xfrm>
      </p:grpSpPr>
      <p:grpSp>
        <p:nvGrpSpPr>
          <p:cNvPr id="118" name="组合 117">
            <a:extLst>
              <a:ext uri="{FF2B5EF4-FFF2-40B4-BE49-F238E27FC236}">
                <a16:creationId xmlns:a16="http://schemas.microsoft.com/office/drawing/2014/main" id="{F5A7251D-13E0-3777-8DB2-2B5B61A652F5}"/>
              </a:ext>
            </a:extLst>
          </p:cNvPr>
          <p:cNvGrpSpPr/>
          <p:nvPr/>
        </p:nvGrpSpPr>
        <p:grpSpPr>
          <a:xfrm>
            <a:off x="328612" y="1923644"/>
            <a:ext cx="11534775" cy="2304111"/>
            <a:chOff x="328612" y="1923644"/>
            <a:chExt cx="11534775" cy="2304111"/>
          </a:xfrm>
        </p:grpSpPr>
        <p:grpSp>
          <p:nvGrpSpPr>
            <p:cNvPr id="117" name="组合 116">
              <a:extLst>
                <a:ext uri="{FF2B5EF4-FFF2-40B4-BE49-F238E27FC236}">
                  <a16:creationId xmlns:a16="http://schemas.microsoft.com/office/drawing/2014/main" id="{1A88CD7C-154E-B422-CEB1-62C3C8AAD3E3}"/>
                </a:ext>
              </a:extLst>
            </p:cNvPr>
            <p:cNvGrpSpPr/>
            <p:nvPr/>
          </p:nvGrpSpPr>
          <p:grpSpPr>
            <a:xfrm>
              <a:off x="6404562" y="2125822"/>
              <a:ext cx="5450854" cy="275671"/>
              <a:chOff x="6404562" y="2125822"/>
              <a:chExt cx="5450854" cy="275671"/>
            </a:xfrm>
          </p:grpSpPr>
          <p:grpSp>
            <p:nvGrpSpPr>
              <p:cNvPr id="73" name="组合 72">
                <a:extLst>
                  <a:ext uri="{FF2B5EF4-FFF2-40B4-BE49-F238E27FC236}">
                    <a16:creationId xmlns:a16="http://schemas.microsoft.com/office/drawing/2014/main" id="{04F39704-E5ED-DF46-38F4-71589CBA275F}"/>
                  </a:ext>
                </a:extLst>
              </p:cNvPr>
              <p:cNvGrpSpPr/>
              <p:nvPr/>
            </p:nvGrpSpPr>
            <p:grpSpPr>
              <a:xfrm>
                <a:off x="6404562" y="2125822"/>
                <a:ext cx="5450854" cy="275671"/>
                <a:chOff x="-57370" y="2710927"/>
                <a:chExt cx="11168227" cy="718073"/>
              </a:xfrm>
            </p:grpSpPr>
            <p:cxnSp>
              <p:nvCxnSpPr>
                <p:cNvPr id="74" name="直接连接符 73">
                  <a:extLst>
                    <a:ext uri="{FF2B5EF4-FFF2-40B4-BE49-F238E27FC236}">
                      <a16:creationId xmlns:a16="http://schemas.microsoft.com/office/drawing/2014/main" id="{4B99C6D5-D585-451B-BFD9-E3AA05538543}"/>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FF30D9FB-AC00-FCF4-BD3E-51C2336BED17}"/>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7F193DD0-031A-06B1-6791-C193DAAB4A4E}"/>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5275CE3B-0670-77F1-52A5-7D23686E2A20}"/>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70203B7D-635B-B386-5C45-EF5E076F4604}"/>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66E57D7C-FE9F-3150-BC15-2041903214D3}"/>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E3DDA025-F3AB-7630-8B87-A6DF6D30FB68}"/>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F1E4ADF3-EBD3-CB25-D49C-AA9939EE8ED8}"/>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A2CD0C07-E7A9-72CB-AB7C-85B1DFEF5ECF}"/>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D046069E-A098-E984-9C85-A3690235C845}"/>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D1840D1A-0B97-E5B7-F80C-D86026E19177}"/>
                    </a:ext>
                  </a:extLst>
                </p:cNvPr>
                <p:cNvCxnSpPr/>
                <p:nvPr userDrawn="1"/>
              </p:nvCxnSpPr>
              <p:spPr>
                <a:xfrm flipH="1">
                  <a:off x="678986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621EDE2-1A24-E2BE-5FED-012828690B3A}"/>
                    </a:ext>
                  </a:extLst>
                </p:cNvPr>
                <p:cNvCxnSpPr/>
                <p:nvPr userDrawn="1"/>
              </p:nvCxnSpPr>
              <p:spPr>
                <a:xfrm flipH="1">
                  <a:off x="715025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9A7FA015-8F6A-72B3-14DF-CDD4A5AD96C1}"/>
                    </a:ext>
                  </a:extLst>
                </p:cNvPr>
                <p:cNvCxnSpPr/>
                <p:nvPr userDrawn="1"/>
              </p:nvCxnSpPr>
              <p:spPr>
                <a:xfrm flipH="1">
                  <a:off x="750704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F4EDB520-78F8-32D0-2C74-0E45D684B282}"/>
                    </a:ext>
                  </a:extLst>
                </p:cNvPr>
                <p:cNvCxnSpPr/>
                <p:nvPr userDrawn="1"/>
              </p:nvCxnSpPr>
              <p:spPr>
                <a:xfrm flipH="1">
                  <a:off x="786742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DD5D5909-B1EA-09FE-089B-9F0097C7F8AF}"/>
                    </a:ext>
                  </a:extLst>
                </p:cNvPr>
                <p:cNvCxnSpPr/>
                <p:nvPr userDrawn="1"/>
              </p:nvCxnSpPr>
              <p:spPr>
                <a:xfrm flipH="1">
                  <a:off x="822780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74E98FD1-FF67-EB73-6D78-3317F2BE537F}"/>
                    </a:ext>
                  </a:extLst>
                </p:cNvPr>
                <p:cNvCxnSpPr/>
                <p:nvPr userDrawn="1"/>
              </p:nvCxnSpPr>
              <p:spPr>
                <a:xfrm flipH="1">
                  <a:off x="858819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5B770B19-1922-F56C-AA32-D58CC77F8AAB}"/>
                    </a:ext>
                  </a:extLst>
                </p:cNvPr>
                <p:cNvCxnSpPr/>
                <p:nvPr userDrawn="1"/>
              </p:nvCxnSpPr>
              <p:spPr>
                <a:xfrm flipH="1">
                  <a:off x="894857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91F38358-08C6-52A2-740F-5E9FC87E6023}"/>
                    </a:ext>
                  </a:extLst>
                </p:cNvPr>
                <p:cNvCxnSpPr/>
                <p:nvPr userDrawn="1"/>
              </p:nvCxnSpPr>
              <p:spPr>
                <a:xfrm flipH="1">
                  <a:off x="930895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8238EFC6-8296-FF8A-FBBC-CCD0CA96C6C9}"/>
                    </a:ext>
                  </a:extLst>
                </p:cNvPr>
                <p:cNvCxnSpPr/>
                <p:nvPr userDrawn="1"/>
              </p:nvCxnSpPr>
              <p:spPr>
                <a:xfrm flipH="1">
                  <a:off x="966933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97180293-6568-269B-2FBB-DADD6CA9B1F6}"/>
                    </a:ext>
                  </a:extLst>
                </p:cNvPr>
                <p:cNvCxnSpPr/>
                <p:nvPr userDrawn="1"/>
              </p:nvCxnSpPr>
              <p:spPr>
                <a:xfrm flipH="1">
                  <a:off x="1002971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262F0771-2527-DF21-78BD-B699467B579B}"/>
                    </a:ext>
                  </a:extLst>
                </p:cNvPr>
                <p:cNvCxnSpPr/>
                <p:nvPr userDrawn="1"/>
              </p:nvCxnSpPr>
              <p:spPr>
                <a:xfrm flipH="1">
                  <a:off x="1039009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41B63501-9553-FF58-99D0-303BA514504B}"/>
                    </a:ext>
                  </a:extLst>
                </p:cNvPr>
                <p:cNvCxnSpPr/>
                <p:nvPr userDrawn="1"/>
              </p:nvCxnSpPr>
              <p:spPr>
                <a:xfrm flipH="1">
                  <a:off x="-5737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EA7376E1-E8B6-4267-A355-DF2424E9BAE2}"/>
                    </a:ext>
                  </a:extLst>
                </p:cNvPr>
                <p:cNvCxnSpPr/>
                <p:nvPr userDrawn="1"/>
              </p:nvCxnSpPr>
              <p:spPr>
                <a:xfrm flipH="1">
                  <a:off x="30301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620851AF-F6BD-DBB1-1D13-6BCB75C29880}"/>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83938D07-D1C5-3F98-559D-C92FB23B351E}"/>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113" name="直接连接符 112">
                <a:extLst>
                  <a:ext uri="{FF2B5EF4-FFF2-40B4-BE49-F238E27FC236}">
                    <a16:creationId xmlns:a16="http://schemas.microsoft.com/office/drawing/2014/main" id="{A0207688-EC08-71E0-BCC9-5E56F4280A82}"/>
                  </a:ext>
                </a:extLst>
              </p:cNvPr>
              <p:cNvCxnSpPr/>
              <p:nvPr/>
            </p:nvCxnSpPr>
            <p:spPr>
              <a:xfrm flipH="1">
                <a:off x="728763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03198883-0116-F89E-1D42-498C878DF698}"/>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55C6B314-4836-64E2-7304-1C6840D762B9}"/>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116" name="组合 115">
              <a:extLst>
                <a:ext uri="{FF2B5EF4-FFF2-40B4-BE49-F238E27FC236}">
                  <a16:creationId xmlns:a16="http://schemas.microsoft.com/office/drawing/2014/main" id="{359BCC85-5045-64CC-614C-CBAAB0BB90F5}"/>
                </a:ext>
              </a:extLst>
            </p:cNvPr>
            <p:cNvGrpSpPr/>
            <p:nvPr/>
          </p:nvGrpSpPr>
          <p:grpSpPr>
            <a:xfrm>
              <a:off x="601928" y="2125822"/>
              <a:ext cx="5978525" cy="275672"/>
              <a:chOff x="601928" y="2125822"/>
              <a:chExt cx="5978525" cy="275672"/>
            </a:xfrm>
          </p:grpSpPr>
          <p:grpSp>
            <p:nvGrpSpPr>
              <p:cNvPr id="37" name="组合 36">
                <a:extLst>
                  <a:ext uri="{FF2B5EF4-FFF2-40B4-BE49-F238E27FC236}">
                    <a16:creationId xmlns:a16="http://schemas.microsoft.com/office/drawing/2014/main" id="{D5DD4157-1609-003B-B756-7E000C24C525}"/>
                  </a:ext>
                </a:extLst>
              </p:cNvPr>
              <p:cNvGrpSpPr/>
              <p:nvPr/>
            </p:nvGrpSpPr>
            <p:grpSpPr>
              <a:xfrm>
                <a:off x="601928" y="2125823"/>
                <a:ext cx="5978525" cy="275671"/>
                <a:chOff x="-57370" y="2710927"/>
                <a:chExt cx="12249370" cy="718073"/>
              </a:xfrm>
            </p:grpSpPr>
            <p:cxnSp>
              <p:nvCxnSpPr>
                <p:cNvPr id="38" name="直接连接符 37">
                  <a:extLst>
                    <a:ext uri="{FF2B5EF4-FFF2-40B4-BE49-F238E27FC236}">
                      <a16:creationId xmlns:a16="http://schemas.microsoft.com/office/drawing/2014/main" id="{92E82857-1A8B-139C-8C11-A04C94738E19}"/>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257E8CDC-93BD-9A25-A8E9-7A7F5B7A72CC}"/>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3B4505E7-CF8F-CEE3-624A-EFEB67433CBA}"/>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9454D516-2888-33FB-0C4D-BEBAD66255C1}"/>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0645326C-B505-C2CF-2859-F3466E236F64}"/>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99A38F14-F7C9-F28C-D58F-792B8A5432B1}"/>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BEBB0929-FC7E-DDEB-0CC6-E0E71FEABEC3}"/>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4BD1BEE-E44C-0FF3-306D-DC7B9F37E569}"/>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E53C726-4BA9-838E-B961-E97203D8EDDB}"/>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708B9E28-8F7E-8C77-4097-A1BD93723386}"/>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0B256F44-7252-07D5-DA5D-024837CEE713}"/>
                    </a:ext>
                  </a:extLst>
                </p:cNvPr>
                <p:cNvCxnSpPr/>
                <p:nvPr userDrawn="1"/>
              </p:nvCxnSpPr>
              <p:spPr>
                <a:xfrm flipH="1">
                  <a:off x="678986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45AEDDB6-4A4A-988D-86DB-1926128D932B}"/>
                    </a:ext>
                  </a:extLst>
                </p:cNvPr>
                <p:cNvCxnSpPr/>
                <p:nvPr userDrawn="1"/>
              </p:nvCxnSpPr>
              <p:spPr>
                <a:xfrm flipH="1">
                  <a:off x="715025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EEB7E7A6-81FC-4FA7-33C1-35166C51277E}"/>
                    </a:ext>
                  </a:extLst>
                </p:cNvPr>
                <p:cNvCxnSpPr/>
                <p:nvPr userDrawn="1"/>
              </p:nvCxnSpPr>
              <p:spPr>
                <a:xfrm flipH="1">
                  <a:off x="822780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4A2592EB-785E-48EB-5B5C-AE4E07D4362F}"/>
                    </a:ext>
                  </a:extLst>
                </p:cNvPr>
                <p:cNvCxnSpPr/>
                <p:nvPr userDrawn="1"/>
              </p:nvCxnSpPr>
              <p:spPr>
                <a:xfrm flipH="1">
                  <a:off x="930895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97C2A07C-95B6-BAA6-09D5-A02FABAA29F4}"/>
                    </a:ext>
                  </a:extLst>
                </p:cNvPr>
                <p:cNvCxnSpPr/>
                <p:nvPr userDrawn="1"/>
              </p:nvCxnSpPr>
              <p:spPr>
                <a:xfrm flipH="1">
                  <a:off x="966933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9C5EDFD8-E5E2-F759-5757-E1790A4DFAD1}"/>
                    </a:ext>
                  </a:extLst>
                </p:cNvPr>
                <p:cNvCxnSpPr/>
                <p:nvPr userDrawn="1"/>
              </p:nvCxnSpPr>
              <p:spPr>
                <a:xfrm flipH="1">
                  <a:off x="1002971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75CDA41E-17F9-8071-5172-C8CC97CE3D5C}"/>
                    </a:ext>
                  </a:extLst>
                </p:cNvPr>
                <p:cNvCxnSpPr/>
                <p:nvPr userDrawn="1"/>
              </p:nvCxnSpPr>
              <p:spPr>
                <a:xfrm flipH="1">
                  <a:off x="1039009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B7BD0A80-9484-16CF-C5F8-8F5E8CF6DF52}"/>
                    </a:ext>
                  </a:extLst>
                </p:cNvPr>
                <p:cNvCxnSpPr/>
                <p:nvPr userDrawn="1"/>
              </p:nvCxnSpPr>
              <p:spPr>
                <a:xfrm flipH="1">
                  <a:off x="1075047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7BD6811-FD63-3B3C-EB90-F5E37B435C51}"/>
                    </a:ext>
                  </a:extLst>
                </p:cNvPr>
                <p:cNvCxnSpPr/>
                <p:nvPr userDrawn="1"/>
              </p:nvCxnSpPr>
              <p:spPr>
                <a:xfrm flipH="1">
                  <a:off x="1111085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5F42ED39-CE10-D280-23E8-F47181223453}"/>
                    </a:ext>
                  </a:extLst>
                </p:cNvPr>
                <p:cNvCxnSpPr/>
                <p:nvPr userDrawn="1"/>
              </p:nvCxnSpPr>
              <p:spPr>
                <a:xfrm flipH="1">
                  <a:off x="1147123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CD6F69B6-F321-01F7-C02E-82A42F69583E}"/>
                    </a:ext>
                  </a:extLst>
                </p:cNvPr>
                <p:cNvCxnSpPr/>
                <p:nvPr userDrawn="1"/>
              </p:nvCxnSpPr>
              <p:spPr>
                <a:xfrm flipH="1">
                  <a:off x="-5737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E2A702CC-0964-EEDF-33DD-7112A7D7C58A}"/>
                    </a:ext>
                  </a:extLst>
                </p:cNvPr>
                <p:cNvCxnSpPr/>
                <p:nvPr userDrawn="1"/>
              </p:nvCxnSpPr>
              <p:spPr>
                <a:xfrm flipH="1">
                  <a:off x="30301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B2EF107E-9E28-0197-FAAA-6E4DD6D4FC0B}"/>
                    </a:ext>
                  </a:extLst>
                </p:cNvPr>
                <p:cNvCxnSpPr/>
                <p:nvPr userDrawn="1"/>
              </p:nvCxnSpPr>
              <p:spPr>
                <a:xfrm flipH="1">
                  <a:off x="66339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F12C40C-A0D7-821A-899B-BBB50C815D69}"/>
                    </a:ext>
                  </a:extLst>
                </p:cNvPr>
                <p:cNvCxnSpPr/>
                <p:nvPr userDrawn="1"/>
              </p:nvCxnSpPr>
              <p:spPr>
                <a:xfrm flipH="1">
                  <a:off x="102377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9EAB2361-412A-6DD5-A921-8900AAA113D3}"/>
                    </a:ext>
                  </a:extLst>
                </p:cNvPr>
                <p:cNvCxnSpPr/>
                <p:nvPr userDrawn="1"/>
              </p:nvCxnSpPr>
              <p:spPr>
                <a:xfrm flipH="1">
                  <a:off x="138415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D3A3B877-7911-CC8A-6796-83E06E303A8A}"/>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A80939D8-CC27-2314-42D5-8A27BEC7F872}"/>
                    </a:ext>
                  </a:extLst>
                </p:cNvPr>
                <p:cNvCxnSpPr/>
                <p:nvPr userDrawn="1"/>
              </p:nvCxnSpPr>
              <p:spPr>
                <a:xfrm flipH="1">
                  <a:off x="210491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87B28625-3103-787A-6DBE-7A69BCE824B4}"/>
                    </a:ext>
                  </a:extLst>
                </p:cNvPr>
                <p:cNvCxnSpPr/>
                <p:nvPr userDrawn="1"/>
              </p:nvCxnSpPr>
              <p:spPr>
                <a:xfrm flipH="1">
                  <a:off x="246529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983D6344-34D0-DDF8-B8C4-C865C064E7FE}"/>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110" name="直接连接符 109">
                <a:extLst>
                  <a:ext uri="{FF2B5EF4-FFF2-40B4-BE49-F238E27FC236}">
                    <a16:creationId xmlns:a16="http://schemas.microsoft.com/office/drawing/2014/main" id="{4F0F1075-373D-E4B9-8998-043C2210E0B5}"/>
                  </a:ext>
                </a:extLst>
              </p:cNvPr>
              <p:cNvCxnSpPr/>
              <p:nvPr/>
            </p:nvCxnSpPr>
            <p:spPr>
              <a:xfrm flipH="1">
                <a:off x="4297496"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E6A91CFE-9D2C-3020-091D-B51ED5496B5F}"/>
                  </a:ext>
                </a:extLst>
              </p:cNvPr>
              <p:cNvCxnSpPr/>
              <p:nvPr/>
            </p:nvCxnSpPr>
            <p:spPr>
              <a:xfrm flipH="1">
                <a:off x="4473386"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1CC38DEB-5296-F513-D4E0-8AE980940D3E}"/>
                  </a:ext>
                </a:extLst>
              </p:cNvPr>
              <p:cNvCxnSpPr/>
              <p:nvPr/>
            </p:nvCxnSpPr>
            <p:spPr>
              <a:xfrm flipH="1">
                <a:off x="4649276"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矩形 1">
              <a:extLst>
                <a:ext uri="{FF2B5EF4-FFF2-40B4-BE49-F238E27FC236}">
                  <a16:creationId xmlns:a16="http://schemas.microsoft.com/office/drawing/2014/main" id="{68450D41-F8AF-1913-B245-7B0359003534}"/>
                </a:ext>
              </a:extLst>
            </p:cNvPr>
            <p:cNvSpPr/>
            <p:nvPr/>
          </p:nvSpPr>
          <p:spPr>
            <a:xfrm>
              <a:off x="328612" y="1923644"/>
              <a:ext cx="11534775" cy="2304111"/>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矩形 70">
              <a:extLst>
                <a:ext uri="{FF2B5EF4-FFF2-40B4-BE49-F238E27FC236}">
                  <a16:creationId xmlns:a16="http://schemas.microsoft.com/office/drawing/2014/main" id="{65B1697A-A1D4-F7B2-519B-4452809F993A}"/>
                </a:ext>
              </a:extLst>
            </p:cNvPr>
            <p:cNvSpPr/>
            <p:nvPr/>
          </p:nvSpPr>
          <p:spPr>
            <a:xfrm>
              <a:off x="328612" y="1923644"/>
              <a:ext cx="441235" cy="2304111"/>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a:extLst>
                <a:ext uri="{FF2B5EF4-FFF2-40B4-BE49-F238E27FC236}">
                  <a16:creationId xmlns:a16="http://schemas.microsoft.com/office/drawing/2014/main" id="{A899591C-6827-EAD9-0620-2FC0950FB925}"/>
                </a:ext>
              </a:extLst>
            </p:cNvPr>
            <p:cNvSpPr/>
            <p:nvPr/>
          </p:nvSpPr>
          <p:spPr>
            <a:xfrm>
              <a:off x="11422150" y="1923644"/>
              <a:ext cx="441237" cy="2304111"/>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108">
              <a:extLst>
                <a:ext uri="{FF2B5EF4-FFF2-40B4-BE49-F238E27FC236}">
                  <a16:creationId xmlns:a16="http://schemas.microsoft.com/office/drawing/2014/main" id="{A086A6FC-8E16-54B4-7B7D-955B2854890D}"/>
                </a:ext>
              </a:extLst>
            </p:cNvPr>
            <p:cNvSpPr txBox="1"/>
            <p:nvPr/>
          </p:nvSpPr>
          <p:spPr>
            <a:xfrm>
              <a:off x="911568" y="2806792"/>
              <a:ext cx="10368861" cy="1015663"/>
            </a:xfrm>
            <a:prstGeom prst="rect">
              <a:avLst/>
            </a:prstGeom>
            <a:noFill/>
          </p:spPr>
          <p:txBody>
            <a:bodyPr wrap="square" rtlCol="0">
              <a:spAutoFit/>
            </a:bodyPr>
            <a:lstStyle/>
            <a:p>
              <a:pPr algn="ctr"/>
              <a:r>
                <a:rPr lang="en-US" altLang="zh-CN" sz="6000" b="1" dirty="0">
                  <a:solidFill>
                    <a:schemeClr val="accent1"/>
                  </a:solidFill>
                  <a:latin typeface="字魂59号-创粗黑" panose="00000500000000000000" pitchFamily="2" charset="-122"/>
                  <a:ea typeface="字魂59号-创粗黑" panose="00000500000000000000" pitchFamily="2" charset="-122"/>
                </a:rPr>
                <a:t>DATA ENGINEERING</a:t>
              </a:r>
            </a:p>
          </p:txBody>
        </p:sp>
      </p:grpSp>
      <p:sp>
        <p:nvSpPr>
          <p:cNvPr id="3" name="文本框 2">
            <a:extLst>
              <a:ext uri="{FF2B5EF4-FFF2-40B4-BE49-F238E27FC236}">
                <a16:creationId xmlns:a16="http://schemas.microsoft.com/office/drawing/2014/main" id="{99E806EE-CCC5-427A-9148-94088707E338}"/>
              </a:ext>
            </a:extLst>
          </p:cNvPr>
          <p:cNvSpPr txBox="1"/>
          <p:nvPr/>
        </p:nvSpPr>
        <p:spPr>
          <a:xfrm>
            <a:off x="5014901" y="1971269"/>
            <a:ext cx="2184009" cy="584775"/>
          </a:xfrm>
          <a:prstGeom prst="rect">
            <a:avLst/>
          </a:prstGeom>
          <a:solidFill>
            <a:schemeClr val="bg1"/>
          </a:solidFill>
        </p:spPr>
        <p:txBody>
          <a:bodyPr wrap="square" rtlCol="0">
            <a:spAutoFit/>
          </a:bodyPr>
          <a:lstStyle/>
          <a:p>
            <a:pPr algn="ctr"/>
            <a:r>
              <a:rPr lang="en-US" altLang="zh-CN" sz="3200" dirty="0">
                <a:solidFill>
                  <a:schemeClr val="tx2"/>
                </a:solidFill>
                <a:latin typeface="字魂59号-创粗黑" panose="00000500000000000000" pitchFamily="2" charset="-122"/>
                <a:ea typeface="字魂59号-创粗黑" panose="00000500000000000000" pitchFamily="2" charset="-122"/>
              </a:rPr>
              <a:t>PART 1</a:t>
            </a:r>
            <a:endParaRPr lang="zh-CN" altLang="en-US" sz="3200" dirty="0">
              <a:solidFill>
                <a:schemeClr val="tx2"/>
              </a:solidFill>
              <a:latin typeface="字魂59号-创粗黑" panose="00000500000000000000" pitchFamily="2" charset="-122"/>
              <a:ea typeface="字魂59号-创粗黑" panose="00000500000000000000" pitchFamily="2" charset="-122"/>
            </a:endParaRPr>
          </a:p>
        </p:txBody>
      </p:sp>
    </p:spTree>
    <p:extLst>
      <p:ext uri="{BB962C8B-B14F-4D97-AF65-F5344CB8AC3E}">
        <p14:creationId xmlns:p14="http://schemas.microsoft.com/office/powerpoint/2010/main" val="2412445634"/>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57B84FC-0AE1-47C8-A323-91081A073D39}"/>
              </a:ext>
            </a:extLst>
          </p:cNvPr>
          <p:cNvGrpSpPr/>
          <p:nvPr/>
        </p:nvGrpSpPr>
        <p:grpSpPr>
          <a:xfrm>
            <a:off x="-1" y="957421"/>
            <a:ext cx="12193200" cy="44820"/>
            <a:chOff x="1773217" y="5185185"/>
            <a:chExt cx="8645561" cy="44820"/>
          </a:xfrm>
        </p:grpSpPr>
        <p:cxnSp>
          <p:nvCxnSpPr>
            <p:cNvPr id="3" name="直接连接符 2">
              <a:extLst>
                <a:ext uri="{FF2B5EF4-FFF2-40B4-BE49-F238E27FC236}">
                  <a16:creationId xmlns:a16="http://schemas.microsoft.com/office/drawing/2014/main" id="{D39575E8-624F-4FC1-B722-56722847B854}"/>
                </a:ext>
              </a:extLst>
            </p:cNvPr>
            <p:cNvCxnSpPr>
              <a:cxnSpLocks/>
            </p:cNvCxnSpPr>
            <p:nvPr userDrawn="1"/>
          </p:nvCxnSpPr>
          <p:spPr>
            <a:xfrm>
              <a:off x="1773218" y="51851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53E5E961-30BC-471F-B276-FF589B978E25}"/>
                </a:ext>
              </a:extLst>
            </p:cNvPr>
            <p:cNvCxnSpPr>
              <a:cxnSpLocks/>
            </p:cNvCxnSpPr>
            <p:nvPr userDrawn="1"/>
          </p:nvCxnSpPr>
          <p:spPr>
            <a:xfrm>
              <a:off x="1773217" y="5230005"/>
              <a:ext cx="864556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92722C6D-50B2-4B4E-8AAF-350908727311}"/>
              </a:ext>
            </a:extLst>
          </p:cNvPr>
          <p:cNvSpPr txBox="1"/>
          <p:nvPr/>
        </p:nvSpPr>
        <p:spPr>
          <a:xfrm>
            <a:off x="158533" y="202191"/>
            <a:ext cx="5461441" cy="646331"/>
          </a:xfrm>
          <a:prstGeom prst="rect">
            <a:avLst/>
          </a:prstGeom>
          <a:noFill/>
        </p:spPr>
        <p:txBody>
          <a:bodyPr wrap="square" rtlCol="0">
            <a:spAutoFit/>
          </a:bodyPr>
          <a:lstStyle/>
          <a:p>
            <a:r>
              <a:rPr lang="en-US" altLang="zh-CN" sz="3600" b="1" dirty="0">
                <a:solidFill>
                  <a:schemeClr val="accent1"/>
                </a:solidFill>
                <a:latin typeface="字魂59号-创粗黑" panose="00000500000000000000" pitchFamily="2" charset="-122"/>
                <a:ea typeface="字魂59号-创粗黑" panose="00000500000000000000" pitchFamily="2" charset="-122"/>
              </a:rPr>
              <a:t>1. DATA ENGINEERING</a:t>
            </a:r>
          </a:p>
        </p:txBody>
      </p:sp>
      <p:cxnSp>
        <p:nvCxnSpPr>
          <p:cNvPr id="80" name="直接连接符 79">
            <a:extLst>
              <a:ext uri="{FF2B5EF4-FFF2-40B4-BE49-F238E27FC236}">
                <a16:creationId xmlns:a16="http://schemas.microsoft.com/office/drawing/2014/main" id="{3871F0CE-40AD-45FB-8411-8F46DB50F3F1}"/>
              </a:ext>
            </a:extLst>
          </p:cNvPr>
          <p:cNvCxnSpPr/>
          <p:nvPr/>
        </p:nvCxnSpPr>
        <p:spPr>
          <a:xfrm>
            <a:off x="647252" y="5395969"/>
            <a:ext cx="10897496" cy="0"/>
          </a:xfrm>
          <a:prstGeom prst="line">
            <a:avLst/>
          </a:prstGeom>
          <a:ln cap="rnd">
            <a:solidFill>
              <a:schemeClr val="accent1">
                <a:lumMod val="60000"/>
                <a:lumOff val="40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pic>
        <p:nvPicPr>
          <p:cNvPr id="52" name="图片 5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49" y="5933398"/>
            <a:ext cx="850620" cy="850620"/>
          </a:xfrm>
          <a:prstGeom prst="rect">
            <a:avLst/>
          </a:prstGeom>
        </p:spPr>
      </p:pic>
      <p:grpSp>
        <p:nvGrpSpPr>
          <p:cNvPr id="104" name="组合 103">
            <a:extLst>
              <a:ext uri="{FF2B5EF4-FFF2-40B4-BE49-F238E27FC236}">
                <a16:creationId xmlns:a16="http://schemas.microsoft.com/office/drawing/2014/main" id="{2AB29B5D-C6D3-58F7-0D49-9A1AB8509A74}"/>
              </a:ext>
            </a:extLst>
          </p:cNvPr>
          <p:cNvGrpSpPr/>
          <p:nvPr/>
        </p:nvGrpSpPr>
        <p:grpSpPr>
          <a:xfrm>
            <a:off x="6423214" y="408158"/>
            <a:ext cx="5459843" cy="275671"/>
            <a:chOff x="6423214" y="408158"/>
            <a:chExt cx="5459843" cy="275671"/>
          </a:xfrm>
        </p:grpSpPr>
        <p:grpSp>
          <p:nvGrpSpPr>
            <p:cNvPr id="53" name="组合 52">
              <a:extLst>
                <a:ext uri="{FF2B5EF4-FFF2-40B4-BE49-F238E27FC236}">
                  <a16:creationId xmlns:a16="http://schemas.microsoft.com/office/drawing/2014/main" id="{35A82E20-6004-2C12-06CF-99CBF1D13D8B}"/>
                </a:ext>
              </a:extLst>
            </p:cNvPr>
            <p:cNvGrpSpPr/>
            <p:nvPr/>
          </p:nvGrpSpPr>
          <p:grpSpPr>
            <a:xfrm>
              <a:off x="6423214" y="408158"/>
              <a:ext cx="2817867" cy="275671"/>
              <a:chOff x="7104504" y="2125822"/>
              <a:chExt cx="2817867" cy="275671"/>
            </a:xfrm>
          </p:grpSpPr>
          <p:grpSp>
            <p:nvGrpSpPr>
              <p:cNvPr id="54" name="组合 53">
                <a:extLst>
                  <a:ext uri="{FF2B5EF4-FFF2-40B4-BE49-F238E27FC236}">
                    <a16:creationId xmlns:a16="http://schemas.microsoft.com/office/drawing/2014/main" id="{35C044B1-4775-376A-3668-CBC0282F85E5}"/>
                  </a:ext>
                </a:extLst>
              </p:cNvPr>
              <p:cNvGrpSpPr/>
              <p:nvPr/>
            </p:nvGrpSpPr>
            <p:grpSpPr>
              <a:xfrm>
                <a:off x="7284014" y="2125822"/>
                <a:ext cx="2638357" cy="275671"/>
                <a:chOff x="1744535" y="2710927"/>
                <a:chExt cx="5405715" cy="718073"/>
              </a:xfrm>
            </p:grpSpPr>
            <p:cxnSp>
              <p:nvCxnSpPr>
                <p:cNvPr id="58" name="直接连接符 57">
                  <a:extLst>
                    <a:ext uri="{FF2B5EF4-FFF2-40B4-BE49-F238E27FC236}">
                      <a16:creationId xmlns:a16="http://schemas.microsoft.com/office/drawing/2014/main" id="{1FD508A6-0003-0196-44D9-AC91BAE80BD5}"/>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2588D7E5-E5D5-1C51-EC0E-DFBFA5D24A1A}"/>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97D0B73E-860D-B915-0DB7-7ACBF1E6AA1A}"/>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E0EF1E53-0A0B-A7A4-DB5A-707D16B43418}"/>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4FF881B7-E3E3-81FD-54D3-A84E5D0D0FA3}"/>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8CC7CEB7-AE23-8C9A-2D39-B523645F43CD}"/>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88DAF413-2E6A-425A-CC80-E5B1AFC91A94}"/>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2598C0D7-FB29-7083-81B7-03253704FE2E}"/>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CEF6625-89C2-789C-6B71-FC2BD3AF133E}"/>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AB81F100-4C0C-777C-2F39-33A515BF9722}"/>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8521C972-1CF6-B78A-2727-FEDE21AC2D65}"/>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64075929-D244-880B-EAEC-3289AD0F47C0}"/>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55" name="直接连接符 54">
                <a:extLst>
                  <a:ext uri="{FF2B5EF4-FFF2-40B4-BE49-F238E27FC236}">
                    <a16:creationId xmlns:a16="http://schemas.microsoft.com/office/drawing/2014/main" id="{27CC366E-713D-B80B-2A74-BEA0EADAA5C4}"/>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E353B0B1-3728-0013-5B40-7A1DF4513AA5}"/>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E5663523-EE5F-F639-F7C4-4CA8F9AF587B}"/>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87" name="组合 86">
              <a:extLst>
                <a:ext uri="{FF2B5EF4-FFF2-40B4-BE49-F238E27FC236}">
                  <a16:creationId xmlns:a16="http://schemas.microsoft.com/office/drawing/2014/main" id="{77BD0B21-8F0A-08F7-1311-7BDEAE5985BA}"/>
                </a:ext>
              </a:extLst>
            </p:cNvPr>
            <p:cNvGrpSpPr/>
            <p:nvPr/>
          </p:nvGrpSpPr>
          <p:grpSpPr>
            <a:xfrm>
              <a:off x="9065190" y="408158"/>
              <a:ext cx="2817867" cy="275671"/>
              <a:chOff x="7104504" y="2125822"/>
              <a:chExt cx="2817867" cy="275671"/>
            </a:xfrm>
          </p:grpSpPr>
          <p:grpSp>
            <p:nvGrpSpPr>
              <p:cNvPr id="88" name="组合 87">
                <a:extLst>
                  <a:ext uri="{FF2B5EF4-FFF2-40B4-BE49-F238E27FC236}">
                    <a16:creationId xmlns:a16="http://schemas.microsoft.com/office/drawing/2014/main" id="{00A1AE1A-569D-0A8C-7991-92818EB4309F}"/>
                  </a:ext>
                </a:extLst>
              </p:cNvPr>
              <p:cNvGrpSpPr/>
              <p:nvPr/>
            </p:nvGrpSpPr>
            <p:grpSpPr>
              <a:xfrm>
                <a:off x="7284014" y="2125822"/>
                <a:ext cx="2638357" cy="275671"/>
                <a:chOff x="1744535" y="2710927"/>
                <a:chExt cx="5405715" cy="718073"/>
              </a:xfrm>
            </p:grpSpPr>
            <p:cxnSp>
              <p:nvCxnSpPr>
                <p:cNvPr id="92" name="直接连接符 91">
                  <a:extLst>
                    <a:ext uri="{FF2B5EF4-FFF2-40B4-BE49-F238E27FC236}">
                      <a16:creationId xmlns:a16="http://schemas.microsoft.com/office/drawing/2014/main" id="{5296AF60-87FB-D382-034E-B686226BDC5C}"/>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B23B96C1-1391-BBAF-1679-61266D334E2A}"/>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C2E0C163-44DB-3F9C-F215-403D890DC2B4}"/>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E1872EEC-F462-9845-D932-3E3D74D5DB55}"/>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486D6786-6229-1330-9AC6-4CC02746F264}"/>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E896BD9C-718B-7B03-C85E-C11327800D97}"/>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1D93387C-F6D7-59F4-9B30-F8166CA7B0CD}"/>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230EB63-4563-547E-B6C4-D14DBAD19C84}"/>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10157476-CFD9-5ED2-1ADA-605776EA403D}"/>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47B08AE9-FAA0-6CF5-F84D-86089C6E129B}"/>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C38A6B83-569B-F54D-43A3-5B2823449A82}"/>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63B51EE9-3DB0-CE80-58BB-7B268768D32D}"/>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89" name="直接连接符 88">
                <a:extLst>
                  <a:ext uri="{FF2B5EF4-FFF2-40B4-BE49-F238E27FC236}">
                    <a16:creationId xmlns:a16="http://schemas.microsoft.com/office/drawing/2014/main" id="{DB1D58DA-C261-6EA9-D286-AF3509C9F453}"/>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5FCF6E8A-91F2-F300-742A-F681249FEA78}"/>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9462F042-8E29-9F41-573D-27F5E5927A4E}"/>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sp>
        <p:nvSpPr>
          <p:cNvPr id="105" name="文本框 104">
            <a:extLst>
              <a:ext uri="{FF2B5EF4-FFF2-40B4-BE49-F238E27FC236}">
                <a16:creationId xmlns:a16="http://schemas.microsoft.com/office/drawing/2014/main" id="{54006471-7824-B218-DF5B-21C018A2C021}"/>
              </a:ext>
            </a:extLst>
          </p:cNvPr>
          <p:cNvSpPr txBox="1"/>
          <p:nvPr/>
        </p:nvSpPr>
        <p:spPr>
          <a:xfrm>
            <a:off x="495459" y="1189585"/>
            <a:ext cx="6810827" cy="707886"/>
          </a:xfrm>
          <a:prstGeom prst="rect">
            <a:avLst/>
          </a:prstGeom>
          <a:noFill/>
        </p:spPr>
        <p:txBody>
          <a:bodyPr wrap="square" rtlCol="0">
            <a:spAutoFit/>
          </a:bodyPr>
          <a:lstStyle/>
          <a:p>
            <a:r>
              <a:rPr lang="en-US" altLang="zh-CN" sz="2000" b="1" dirty="0">
                <a:solidFill>
                  <a:schemeClr val="accent1"/>
                </a:solidFill>
                <a:latin typeface="字魂59号-创粗黑" panose="00000500000000000000" pitchFamily="2" charset="-122"/>
                <a:ea typeface="字魂59号-创粗黑" panose="00000500000000000000" pitchFamily="2" charset="-122"/>
              </a:rPr>
              <a:t>1.1 Data Sources and Features</a:t>
            </a:r>
          </a:p>
          <a:p>
            <a:endParaRPr lang="zh-CN" altLang="en-US" sz="2000" b="1" dirty="0">
              <a:solidFill>
                <a:schemeClr val="accent1"/>
              </a:solidFill>
              <a:latin typeface="字魂59号-创粗黑" panose="00000500000000000000" pitchFamily="2" charset="-122"/>
              <a:ea typeface="字魂59号-创粗黑" panose="00000500000000000000" pitchFamily="2" charset="-122"/>
            </a:endParaRPr>
          </a:p>
        </p:txBody>
      </p:sp>
      <p:graphicFrame>
        <p:nvGraphicFramePr>
          <p:cNvPr id="106" name="表格 105">
            <a:extLst>
              <a:ext uri="{FF2B5EF4-FFF2-40B4-BE49-F238E27FC236}">
                <a16:creationId xmlns:a16="http://schemas.microsoft.com/office/drawing/2014/main" id="{6F5EAEE5-175B-E420-D2FC-904F6C1CA2DD}"/>
              </a:ext>
            </a:extLst>
          </p:cNvPr>
          <p:cNvGraphicFramePr>
            <a:graphicFrameLocks noGrp="1"/>
          </p:cNvGraphicFramePr>
          <p:nvPr>
            <p:extLst>
              <p:ext uri="{D42A27DB-BD31-4B8C-83A1-F6EECF244321}">
                <p14:modId xmlns:p14="http://schemas.microsoft.com/office/powerpoint/2010/main" val="2272340193"/>
              </p:ext>
            </p:extLst>
          </p:nvPr>
        </p:nvGraphicFramePr>
        <p:xfrm>
          <a:off x="1266175" y="1753320"/>
          <a:ext cx="9659650" cy="3429000"/>
        </p:xfrm>
        <a:graphic>
          <a:graphicData uri="http://schemas.openxmlformats.org/drawingml/2006/table">
            <a:tbl>
              <a:tblPr>
                <a:tableStyleId>{3C2FFA5D-87B4-456A-9821-1D502468CF0F}</a:tableStyleId>
              </a:tblPr>
              <a:tblGrid>
                <a:gridCol w="1525794">
                  <a:extLst>
                    <a:ext uri="{9D8B030D-6E8A-4147-A177-3AD203B41FA5}">
                      <a16:colId xmlns:a16="http://schemas.microsoft.com/office/drawing/2014/main" val="3602536762"/>
                    </a:ext>
                  </a:extLst>
                </a:gridCol>
                <a:gridCol w="2295525">
                  <a:extLst>
                    <a:ext uri="{9D8B030D-6E8A-4147-A177-3AD203B41FA5}">
                      <a16:colId xmlns:a16="http://schemas.microsoft.com/office/drawing/2014/main" val="2201998464"/>
                    </a:ext>
                  </a:extLst>
                </a:gridCol>
                <a:gridCol w="2304556">
                  <a:extLst>
                    <a:ext uri="{9D8B030D-6E8A-4147-A177-3AD203B41FA5}">
                      <a16:colId xmlns:a16="http://schemas.microsoft.com/office/drawing/2014/main" val="693643516"/>
                    </a:ext>
                  </a:extLst>
                </a:gridCol>
                <a:gridCol w="3533775">
                  <a:extLst>
                    <a:ext uri="{9D8B030D-6E8A-4147-A177-3AD203B41FA5}">
                      <a16:colId xmlns:a16="http://schemas.microsoft.com/office/drawing/2014/main" val="3205932751"/>
                    </a:ext>
                  </a:extLst>
                </a:gridCol>
              </a:tblGrid>
              <a:tr h="0">
                <a:tc>
                  <a:txBody>
                    <a:bodyPr/>
                    <a:lstStyle/>
                    <a:p>
                      <a:pPr algn="l">
                        <a:buNone/>
                      </a:pPr>
                      <a:r>
                        <a:rPr lang="en-US" sz="2000" b="1" dirty="0">
                          <a:solidFill>
                            <a:srgbClr val="FFFFFF"/>
                          </a:solidFill>
                          <a:effectLst/>
                        </a:rPr>
                        <a:t>Source</a:t>
                      </a:r>
                    </a:p>
                  </a:txBody>
                  <a:tcPr marL="38100" marR="38100" marT="38100" marB="38100" anchor="ctr"/>
                </a:tc>
                <a:tc>
                  <a:txBody>
                    <a:bodyPr/>
                    <a:lstStyle/>
                    <a:p>
                      <a:pPr algn="l">
                        <a:buNone/>
                      </a:pPr>
                      <a:r>
                        <a:rPr lang="en-US" sz="2000" b="1" dirty="0">
                          <a:solidFill>
                            <a:srgbClr val="FFFFFF"/>
                          </a:solidFill>
                          <a:effectLst/>
                        </a:rPr>
                        <a:t>Type</a:t>
                      </a:r>
                    </a:p>
                  </a:txBody>
                  <a:tcPr marL="38100" marR="38100" marT="38100" marB="38100" anchor="ctr"/>
                </a:tc>
                <a:tc>
                  <a:txBody>
                    <a:bodyPr/>
                    <a:lstStyle/>
                    <a:p>
                      <a:pPr algn="l">
                        <a:buNone/>
                      </a:pPr>
                      <a:r>
                        <a:rPr lang="en-US" sz="2000" b="1">
                          <a:solidFill>
                            <a:srgbClr val="FFFFFF"/>
                          </a:solidFill>
                          <a:effectLst/>
                        </a:rPr>
                        <a:t>Example Variables</a:t>
                      </a:r>
                    </a:p>
                  </a:txBody>
                  <a:tcPr marL="38100" marR="38100" marT="38100" marB="38100" anchor="ctr"/>
                </a:tc>
                <a:tc>
                  <a:txBody>
                    <a:bodyPr/>
                    <a:lstStyle/>
                    <a:p>
                      <a:pPr algn="l">
                        <a:buNone/>
                      </a:pPr>
                      <a:r>
                        <a:rPr lang="en-US" sz="2000" b="1" dirty="0">
                          <a:solidFill>
                            <a:srgbClr val="FFFFFF"/>
                          </a:solidFill>
                          <a:effectLst/>
                        </a:rPr>
                        <a:t>Role in Modeling</a:t>
                      </a:r>
                    </a:p>
                  </a:txBody>
                  <a:tcPr marL="38100" marR="38100" marT="38100" marB="38100" anchor="ctr"/>
                </a:tc>
                <a:extLst>
                  <a:ext uri="{0D108BD9-81ED-4DB2-BD59-A6C34878D82A}">
                    <a16:rowId xmlns:a16="http://schemas.microsoft.com/office/drawing/2014/main" val="2200905877"/>
                  </a:ext>
                </a:extLst>
              </a:tr>
              <a:tr h="0">
                <a:tc>
                  <a:txBody>
                    <a:bodyPr/>
                    <a:lstStyle/>
                    <a:p>
                      <a:pPr>
                        <a:buNone/>
                      </a:pPr>
                      <a:r>
                        <a:rPr lang="en-US" dirty="0">
                          <a:effectLst/>
                        </a:rPr>
                        <a:t>Binance Spot API</a:t>
                      </a:r>
                    </a:p>
                  </a:txBody>
                  <a:tcPr marL="38100" marR="38100" marT="38100" marB="38100" anchor="ctr"/>
                </a:tc>
                <a:tc>
                  <a:txBody>
                    <a:bodyPr/>
                    <a:lstStyle/>
                    <a:p>
                      <a:pPr>
                        <a:buNone/>
                      </a:pPr>
                      <a:r>
                        <a:rPr lang="en-US" dirty="0">
                          <a:effectLst/>
                        </a:rPr>
                        <a:t>Market microstructure / price-volume</a:t>
                      </a:r>
                    </a:p>
                  </a:txBody>
                  <a:tcPr marL="38100" marR="38100" marT="38100" marB="38100" anchor="ctr"/>
                </a:tc>
                <a:tc>
                  <a:txBody>
                    <a:bodyPr/>
                    <a:lstStyle/>
                    <a:p>
                      <a:pPr>
                        <a:buNone/>
                      </a:pPr>
                      <a:r>
                        <a:rPr lang="en-US">
                          <a:effectLst/>
                        </a:rPr>
                        <a:t>open, high, low, close, volume, quote_volume, trade_count</a:t>
                      </a:r>
                    </a:p>
                  </a:txBody>
                  <a:tcPr marL="38100" marR="38100" marT="38100" marB="38100" anchor="ctr"/>
                </a:tc>
                <a:tc>
                  <a:txBody>
                    <a:bodyPr/>
                    <a:lstStyle/>
                    <a:p>
                      <a:pPr>
                        <a:buNone/>
                      </a:pPr>
                      <a:r>
                        <a:rPr lang="en-US">
                          <a:effectLst/>
                        </a:rPr>
                        <a:t>Core market state and return dynamics</a:t>
                      </a:r>
                    </a:p>
                  </a:txBody>
                  <a:tcPr marL="38100" marR="38100" marT="38100" marB="38100" anchor="ctr"/>
                </a:tc>
                <a:extLst>
                  <a:ext uri="{0D108BD9-81ED-4DB2-BD59-A6C34878D82A}">
                    <a16:rowId xmlns:a16="http://schemas.microsoft.com/office/drawing/2014/main" val="1108409649"/>
                  </a:ext>
                </a:extLst>
              </a:tr>
              <a:tr h="0">
                <a:tc>
                  <a:txBody>
                    <a:bodyPr/>
                    <a:lstStyle/>
                    <a:p>
                      <a:pPr>
                        <a:buNone/>
                      </a:pPr>
                      <a:r>
                        <a:rPr lang="en-US">
                          <a:effectLst/>
                        </a:rPr>
                        <a:t>Blockchain.com Charts API</a:t>
                      </a:r>
                    </a:p>
                  </a:txBody>
                  <a:tcPr marL="38100" marR="38100" marT="38100" marB="38100" anchor="ctr"/>
                </a:tc>
                <a:tc>
                  <a:txBody>
                    <a:bodyPr/>
                    <a:lstStyle/>
                    <a:p>
                      <a:pPr>
                        <a:buNone/>
                      </a:pPr>
                      <a:r>
                        <a:rPr lang="en-US">
                          <a:effectLst/>
                        </a:rPr>
                        <a:t>On-chain network activity</a:t>
                      </a:r>
                    </a:p>
                  </a:txBody>
                  <a:tcPr marL="38100" marR="38100" marT="38100" marB="38100" anchor="ctr"/>
                </a:tc>
                <a:tc>
                  <a:txBody>
                    <a:bodyPr/>
                    <a:lstStyle/>
                    <a:p>
                      <a:pPr>
                        <a:buNone/>
                      </a:pPr>
                      <a:r>
                        <a:rPr lang="en-US" dirty="0" err="1">
                          <a:effectLst/>
                        </a:rPr>
                        <a:t>active_addresses</a:t>
                      </a:r>
                      <a:r>
                        <a:rPr lang="en-US" dirty="0">
                          <a:effectLst/>
                        </a:rPr>
                        <a:t>, </a:t>
                      </a:r>
                      <a:r>
                        <a:rPr lang="en-US" dirty="0" err="1">
                          <a:effectLst/>
                        </a:rPr>
                        <a:t>tx_count</a:t>
                      </a:r>
                      <a:r>
                        <a:rPr lang="en-US" dirty="0">
                          <a:effectLst/>
                        </a:rPr>
                        <a:t>, </a:t>
                      </a:r>
                      <a:r>
                        <a:rPr lang="en-US" dirty="0" err="1">
                          <a:effectLst/>
                        </a:rPr>
                        <a:t>hash_rate</a:t>
                      </a:r>
                      <a:r>
                        <a:rPr lang="en-US" dirty="0">
                          <a:effectLst/>
                        </a:rPr>
                        <a:t>, fees, difficulty</a:t>
                      </a:r>
                    </a:p>
                  </a:txBody>
                  <a:tcPr marL="38100" marR="38100" marT="38100" marB="38100" anchor="ctr"/>
                </a:tc>
                <a:tc>
                  <a:txBody>
                    <a:bodyPr/>
                    <a:lstStyle/>
                    <a:p>
                      <a:pPr>
                        <a:buNone/>
                      </a:pPr>
                      <a:r>
                        <a:rPr lang="en-US">
                          <a:effectLst/>
                        </a:rPr>
                        <a:t>Captures blockchain usage, congestion, and mining condition</a:t>
                      </a:r>
                    </a:p>
                  </a:txBody>
                  <a:tcPr marL="38100" marR="38100" marT="38100" marB="38100" anchor="ctr"/>
                </a:tc>
                <a:extLst>
                  <a:ext uri="{0D108BD9-81ED-4DB2-BD59-A6C34878D82A}">
                    <a16:rowId xmlns:a16="http://schemas.microsoft.com/office/drawing/2014/main" val="2458672633"/>
                  </a:ext>
                </a:extLst>
              </a:tr>
              <a:tr h="0">
                <a:tc>
                  <a:txBody>
                    <a:bodyPr/>
                    <a:lstStyle/>
                    <a:p>
                      <a:pPr>
                        <a:buNone/>
                      </a:pPr>
                      <a:r>
                        <a:rPr lang="en-US">
                          <a:effectLst/>
                        </a:rPr>
                        <a:t>FRED</a:t>
                      </a:r>
                    </a:p>
                  </a:txBody>
                  <a:tcPr marL="38100" marR="38100" marT="38100" marB="38100" anchor="ctr"/>
                </a:tc>
                <a:tc>
                  <a:txBody>
                    <a:bodyPr/>
                    <a:lstStyle/>
                    <a:p>
                      <a:pPr>
                        <a:buNone/>
                      </a:pPr>
                      <a:r>
                        <a:rPr lang="en-US">
                          <a:effectLst/>
                        </a:rPr>
                        <a:t>Macro-financial environment</a:t>
                      </a:r>
                    </a:p>
                  </a:txBody>
                  <a:tcPr marL="38100" marR="38100" marT="38100" marB="38100" anchor="ctr"/>
                </a:tc>
                <a:tc>
                  <a:txBody>
                    <a:bodyPr/>
                    <a:lstStyle/>
                    <a:p>
                      <a:pPr>
                        <a:buNone/>
                      </a:pPr>
                      <a:r>
                        <a:rPr lang="en-US" dirty="0" err="1">
                          <a:effectLst/>
                        </a:rPr>
                        <a:t>vix</a:t>
                      </a:r>
                      <a:r>
                        <a:rPr lang="en-US" dirty="0">
                          <a:effectLst/>
                        </a:rPr>
                        <a:t>, sp500_return, </a:t>
                      </a:r>
                      <a:r>
                        <a:rPr lang="en-US" dirty="0" err="1">
                          <a:effectLst/>
                        </a:rPr>
                        <a:t>dxy_proxy</a:t>
                      </a:r>
                      <a:endParaRPr lang="en-US" dirty="0">
                        <a:effectLst/>
                      </a:endParaRPr>
                    </a:p>
                  </a:txBody>
                  <a:tcPr marL="38100" marR="38100" marT="38100" marB="38100" anchor="ctr"/>
                </a:tc>
                <a:tc>
                  <a:txBody>
                    <a:bodyPr/>
                    <a:lstStyle/>
                    <a:p>
                      <a:pPr>
                        <a:buNone/>
                      </a:pPr>
                      <a:r>
                        <a:rPr lang="en-US">
                          <a:effectLst/>
                        </a:rPr>
                        <a:t>Adds global risk sentiment and cross-market context</a:t>
                      </a:r>
                    </a:p>
                  </a:txBody>
                  <a:tcPr marL="38100" marR="38100" marT="38100" marB="38100" anchor="ctr"/>
                </a:tc>
                <a:extLst>
                  <a:ext uri="{0D108BD9-81ED-4DB2-BD59-A6C34878D82A}">
                    <a16:rowId xmlns:a16="http://schemas.microsoft.com/office/drawing/2014/main" val="2630488379"/>
                  </a:ext>
                </a:extLst>
              </a:tr>
              <a:tr h="0">
                <a:tc>
                  <a:txBody>
                    <a:bodyPr/>
                    <a:lstStyle/>
                    <a:p>
                      <a:pPr>
                        <a:buNone/>
                      </a:pPr>
                      <a:r>
                        <a:rPr lang="en-US">
                          <a:effectLst/>
                        </a:rPr>
                        <a:t>Alternative.me</a:t>
                      </a:r>
                    </a:p>
                  </a:txBody>
                  <a:tcPr marL="38100" marR="38100" marT="38100" marB="38100" anchor="ctr"/>
                </a:tc>
                <a:tc>
                  <a:txBody>
                    <a:bodyPr/>
                    <a:lstStyle/>
                    <a:p>
                      <a:pPr>
                        <a:buNone/>
                      </a:pPr>
                      <a:r>
                        <a:rPr lang="en-US">
                          <a:effectLst/>
                        </a:rPr>
                        <a:t>Crypto sentiment index</a:t>
                      </a:r>
                    </a:p>
                  </a:txBody>
                  <a:tcPr marL="38100" marR="38100" marT="38100" marB="38100" anchor="ctr"/>
                </a:tc>
                <a:tc>
                  <a:txBody>
                    <a:bodyPr/>
                    <a:lstStyle/>
                    <a:p>
                      <a:pPr>
                        <a:buNone/>
                      </a:pPr>
                      <a:r>
                        <a:rPr lang="en-US" dirty="0" err="1">
                          <a:effectLst/>
                        </a:rPr>
                        <a:t>fear_greed_index</a:t>
                      </a:r>
                      <a:endParaRPr lang="en-US" dirty="0">
                        <a:effectLst/>
                      </a:endParaRPr>
                    </a:p>
                  </a:txBody>
                  <a:tcPr marL="38100" marR="38100" marT="38100" marB="38100" anchor="ctr"/>
                </a:tc>
                <a:tc>
                  <a:txBody>
                    <a:bodyPr/>
                    <a:lstStyle/>
                    <a:p>
                      <a:pPr>
                        <a:buNone/>
                      </a:pPr>
                      <a:r>
                        <a:rPr lang="en-US" dirty="0">
                          <a:effectLst/>
                        </a:rPr>
                        <a:t>Proxies market emotion and short-term behavioral pressure</a:t>
                      </a:r>
                    </a:p>
                  </a:txBody>
                  <a:tcPr marL="38100" marR="38100" marT="38100" marB="38100" anchor="ctr"/>
                </a:tc>
                <a:extLst>
                  <a:ext uri="{0D108BD9-81ED-4DB2-BD59-A6C34878D82A}">
                    <a16:rowId xmlns:a16="http://schemas.microsoft.com/office/drawing/2014/main" val="377182369"/>
                  </a:ext>
                </a:extLst>
              </a:tr>
            </a:tbl>
          </a:graphicData>
        </a:graphic>
      </p:graphicFrame>
      <p:sp>
        <p:nvSpPr>
          <p:cNvPr id="107" name="文本框 106">
            <a:extLst>
              <a:ext uri="{FF2B5EF4-FFF2-40B4-BE49-F238E27FC236}">
                <a16:creationId xmlns:a16="http://schemas.microsoft.com/office/drawing/2014/main" id="{1438C745-2180-B9CA-F79B-8026B0E83D46}"/>
              </a:ext>
            </a:extLst>
          </p:cNvPr>
          <p:cNvSpPr txBox="1"/>
          <p:nvPr/>
        </p:nvSpPr>
        <p:spPr>
          <a:xfrm>
            <a:off x="1223697" y="5395969"/>
            <a:ext cx="5296811" cy="102374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400" dirty="0">
                <a:latin typeface="字魂58号-创中黑" panose="00000500000000000000" pitchFamily="2" charset="-122"/>
                <a:ea typeface="字魂58号-创中黑" panose="00000500000000000000" pitchFamily="2" charset="-122"/>
              </a:rPr>
              <a:t>Final dataset: 2966 rows, 27 columns</a:t>
            </a:r>
          </a:p>
          <a:p>
            <a:pPr marL="285750" indent="-285750">
              <a:lnSpc>
                <a:spcPct val="150000"/>
              </a:lnSpc>
              <a:buFont typeface="Arial" panose="020B0604020202020204" pitchFamily="34" charset="0"/>
              <a:buChar char="•"/>
            </a:pPr>
            <a:r>
              <a:rPr lang="en-US" altLang="zh-CN" sz="1400" dirty="0">
                <a:latin typeface="字魂58号-创中黑" panose="00000500000000000000" pitchFamily="2" charset="-122"/>
                <a:ea typeface="字魂58号-创中黑" panose="00000500000000000000" pitchFamily="2" charset="-122"/>
              </a:rPr>
              <a:t>Date range: 2018-02-02 to 2026-03-17</a:t>
            </a:r>
          </a:p>
          <a:p>
            <a:pPr marL="285750" indent="-285750">
              <a:lnSpc>
                <a:spcPct val="150000"/>
              </a:lnSpc>
              <a:buFont typeface="Arial" panose="020B0604020202020204" pitchFamily="34" charset="0"/>
              <a:buChar char="•"/>
            </a:pPr>
            <a:r>
              <a:rPr lang="en-US" altLang="zh-CN" sz="1400" dirty="0">
                <a:latin typeface="字魂58号-创中黑" panose="00000500000000000000" pitchFamily="2" charset="-122"/>
                <a:ea typeface="字魂58号-创中黑" panose="00000500000000000000" pitchFamily="2" charset="-122"/>
              </a:rPr>
              <a:t>Missing rate in final table: 0.00%</a:t>
            </a:r>
            <a:endParaRPr lang="zh-CN" altLang="en-US" sz="1400" dirty="0">
              <a:latin typeface="字魂58号-创中黑" panose="00000500000000000000" pitchFamily="2" charset="-122"/>
              <a:ea typeface="字魂58号-创中黑" panose="00000500000000000000" pitchFamily="2" charset="-122"/>
            </a:endParaRPr>
          </a:p>
        </p:txBody>
      </p:sp>
      <p:pic>
        <p:nvPicPr>
          <p:cNvPr id="6" name="图片 5">
            <a:hlinkClick r:id="rId4"/>
            <a:extLst>
              <a:ext uri="{FF2B5EF4-FFF2-40B4-BE49-F238E27FC236}">
                <a16:creationId xmlns:a16="http://schemas.microsoft.com/office/drawing/2014/main" id="{D8C06EA1-5080-7525-6CD5-A60D38983344}"/>
              </a:ext>
            </a:extLst>
          </p:cNvPr>
          <p:cNvPicPr>
            <a:picLocks noChangeAspect="1"/>
          </p:cNvPicPr>
          <p:nvPr/>
        </p:nvPicPr>
        <p:blipFill>
          <a:blip r:embed="rId5">
            <a:extLst>
              <a:ext uri="{28A0092B-C50C-407E-A947-70E740481C1C}">
                <a14:useLocalDpi xmlns:a14="http://schemas.microsoft.com/office/drawing/2010/main" val="0"/>
              </a:ext>
            </a:extLst>
          </a:blip>
          <a:srcRect l="8048"/>
          <a:stretch>
            <a:fillRect/>
          </a:stretch>
        </p:blipFill>
        <p:spPr>
          <a:xfrm>
            <a:off x="4593279" y="1184109"/>
            <a:ext cx="380549" cy="388620"/>
          </a:xfrm>
          <a:prstGeom prst="rect">
            <a:avLst/>
          </a:prstGeom>
        </p:spPr>
      </p:pic>
    </p:spTree>
    <p:extLst>
      <p:ext uri="{BB962C8B-B14F-4D97-AF65-F5344CB8AC3E}">
        <p14:creationId xmlns:p14="http://schemas.microsoft.com/office/powerpoint/2010/main" val="2845340083"/>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AC233-DF97-49F8-A5FB-5ED74101EB5D}"/>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CD4F74D-457B-B5FD-5B96-0E8B59C86C63}"/>
              </a:ext>
            </a:extLst>
          </p:cNvPr>
          <p:cNvGrpSpPr/>
          <p:nvPr/>
        </p:nvGrpSpPr>
        <p:grpSpPr>
          <a:xfrm>
            <a:off x="-1" y="957421"/>
            <a:ext cx="12193200" cy="44820"/>
            <a:chOff x="1773217" y="5185185"/>
            <a:chExt cx="8645561" cy="44820"/>
          </a:xfrm>
        </p:grpSpPr>
        <p:cxnSp>
          <p:nvCxnSpPr>
            <p:cNvPr id="3" name="直接连接符 2">
              <a:extLst>
                <a:ext uri="{FF2B5EF4-FFF2-40B4-BE49-F238E27FC236}">
                  <a16:creationId xmlns:a16="http://schemas.microsoft.com/office/drawing/2014/main" id="{9CE4E4E7-CD21-C927-CF89-A6E37B0FECD4}"/>
                </a:ext>
              </a:extLst>
            </p:cNvPr>
            <p:cNvCxnSpPr>
              <a:cxnSpLocks/>
            </p:cNvCxnSpPr>
            <p:nvPr userDrawn="1"/>
          </p:nvCxnSpPr>
          <p:spPr>
            <a:xfrm>
              <a:off x="1773218" y="51851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E364E0C5-3CD8-AC4F-FDD1-E69F268A52A7}"/>
                </a:ext>
              </a:extLst>
            </p:cNvPr>
            <p:cNvCxnSpPr>
              <a:cxnSpLocks/>
            </p:cNvCxnSpPr>
            <p:nvPr userDrawn="1"/>
          </p:nvCxnSpPr>
          <p:spPr>
            <a:xfrm>
              <a:off x="1773217" y="5230005"/>
              <a:ext cx="864556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235439DD-EFA5-66A3-5391-CF54DC2C2988}"/>
              </a:ext>
            </a:extLst>
          </p:cNvPr>
          <p:cNvSpPr txBox="1"/>
          <p:nvPr/>
        </p:nvSpPr>
        <p:spPr>
          <a:xfrm>
            <a:off x="158533" y="202191"/>
            <a:ext cx="5461441" cy="646331"/>
          </a:xfrm>
          <a:prstGeom prst="rect">
            <a:avLst/>
          </a:prstGeom>
          <a:noFill/>
        </p:spPr>
        <p:txBody>
          <a:bodyPr wrap="square" rtlCol="0">
            <a:spAutoFit/>
          </a:bodyPr>
          <a:lstStyle/>
          <a:p>
            <a:r>
              <a:rPr lang="en-US" altLang="zh-CN" sz="3600" b="1" dirty="0">
                <a:solidFill>
                  <a:schemeClr val="accent1"/>
                </a:solidFill>
                <a:latin typeface="字魂59号-创粗黑" panose="00000500000000000000" pitchFamily="2" charset="-122"/>
                <a:ea typeface="字魂59号-创粗黑" panose="00000500000000000000" pitchFamily="2" charset="-122"/>
              </a:rPr>
              <a:t>1. DATA ENGINEERING</a:t>
            </a:r>
          </a:p>
        </p:txBody>
      </p:sp>
      <p:pic>
        <p:nvPicPr>
          <p:cNvPr id="52" name="图片 51">
            <a:extLst>
              <a:ext uri="{FF2B5EF4-FFF2-40B4-BE49-F238E27FC236}">
                <a16:creationId xmlns:a16="http://schemas.microsoft.com/office/drawing/2014/main" id="{3411140A-1B7B-716D-70E1-EB62342632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49" y="5933398"/>
            <a:ext cx="850620" cy="850620"/>
          </a:xfrm>
          <a:prstGeom prst="rect">
            <a:avLst/>
          </a:prstGeom>
        </p:spPr>
      </p:pic>
      <p:grpSp>
        <p:nvGrpSpPr>
          <p:cNvPr id="104" name="组合 103">
            <a:extLst>
              <a:ext uri="{FF2B5EF4-FFF2-40B4-BE49-F238E27FC236}">
                <a16:creationId xmlns:a16="http://schemas.microsoft.com/office/drawing/2014/main" id="{5B98BCA4-3574-C0FA-E950-10C3D153DA24}"/>
              </a:ext>
            </a:extLst>
          </p:cNvPr>
          <p:cNvGrpSpPr/>
          <p:nvPr/>
        </p:nvGrpSpPr>
        <p:grpSpPr>
          <a:xfrm>
            <a:off x="6423214" y="408158"/>
            <a:ext cx="5459843" cy="275671"/>
            <a:chOff x="6423214" y="408158"/>
            <a:chExt cx="5459843" cy="275671"/>
          </a:xfrm>
        </p:grpSpPr>
        <p:grpSp>
          <p:nvGrpSpPr>
            <p:cNvPr id="53" name="组合 52">
              <a:extLst>
                <a:ext uri="{FF2B5EF4-FFF2-40B4-BE49-F238E27FC236}">
                  <a16:creationId xmlns:a16="http://schemas.microsoft.com/office/drawing/2014/main" id="{431D73A4-6126-E406-353E-7AA810DA9A8B}"/>
                </a:ext>
              </a:extLst>
            </p:cNvPr>
            <p:cNvGrpSpPr/>
            <p:nvPr/>
          </p:nvGrpSpPr>
          <p:grpSpPr>
            <a:xfrm>
              <a:off x="6423214" y="408158"/>
              <a:ext cx="2817867" cy="275671"/>
              <a:chOff x="7104504" y="2125822"/>
              <a:chExt cx="2817867" cy="275671"/>
            </a:xfrm>
          </p:grpSpPr>
          <p:grpSp>
            <p:nvGrpSpPr>
              <p:cNvPr id="54" name="组合 53">
                <a:extLst>
                  <a:ext uri="{FF2B5EF4-FFF2-40B4-BE49-F238E27FC236}">
                    <a16:creationId xmlns:a16="http://schemas.microsoft.com/office/drawing/2014/main" id="{16DC2415-7F6A-F15C-AA7E-F3C572B5BFEF}"/>
                  </a:ext>
                </a:extLst>
              </p:cNvPr>
              <p:cNvGrpSpPr/>
              <p:nvPr/>
            </p:nvGrpSpPr>
            <p:grpSpPr>
              <a:xfrm>
                <a:off x="7284014" y="2125822"/>
                <a:ext cx="2638357" cy="275671"/>
                <a:chOff x="1744535" y="2710927"/>
                <a:chExt cx="5405715" cy="718073"/>
              </a:xfrm>
            </p:grpSpPr>
            <p:cxnSp>
              <p:nvCxnSpPr>
                <p:cNvPr id="58" name="直接连接符 57">
                  <a:extLst>
                    <a:ext uri="{FF2B5EF4-FFF2-40B4-BE49-F238E27FC236}">
                      <a16:creationId xmlns:a16="http://schemas.microsoft.com/office/drawing/2014/main" id="{BB7F161E-8525-E3EC-71DE-750317F52AFA}"/>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12866603-469E-4665-4DF2-321DEA8031F3}"/>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6877BFE7-C96C-61FC-9B08-51FFEC75AA8D}"/>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4C90E93-DD50-3FD3-2613-C3D26E74AA2E}"/>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AB57BBC-9FE4-7333-BF34-A16334526C27}"/>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43EBA8AA-D7F3-BE60-4D54-797A2E41F973}"/>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7E5AAF7B-86FE-ED81-F2B1-D5BC0DA7755F}"/>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9872E46C-2B31-2477-D28C-3310D8EB65D2}"/>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C1BC3538-7D7E-C52C-6B91-E9BB8493604C}"/>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51E76ED9-688D-B8D2-C409-F3DF28F3D268}"/>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B2E04BB-D87F-8D19-E43C-1A97EC98DD49}"/>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DE5F450A-CFE0-D96B-F976-3621B290749E}"/>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55" name="直接连接符 54">
                <a:extLst>
                  <a:ext uri="{FF2B5EF4-FFF2-40B4-BE49-F238E27FC236}">
                    <a16:creationId xmlns:a16="http://schemas.microsoft.com/office/drawing/2014/main" id="{A751994B-1878-1813-559C-455E9131FD12}"/>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A022EC69-2188-3E5F-83DA-F206612CA121}"/>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14A4490F-6D46-B777-8286-E796E3914B18}"/>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87" name="组合 86">
              <a:extLst>
                <a:ext uri="{FF2B5EF4-FFF2-40B4-BE49-F238E27FC236}">
                  <a16:creationId xmlns:a16="http://schemas.microsoft.com/office/drawing/2014/main" id="{D0086AB6-5CEF-07C8-6AEA-566409FB239C}"/>
                </a:ext>
              </a:extLst>
            </p:cNvPr>
            <p:cNvGrpSpPr/>
            <p:nvPr/>
          </p:nvGrpSpPr>
          <p:grpSpPr>
            <a:xfrm>
              <a:off x="9065190" y="408158"/>
              <a:ext cx="2817867" cy="275671"/>
              <a:chOff x="7104504" y="2125822"/>
              <a:chExt cx="2817867" cy="275671"/>
            </a:xfrm>
          </p:grpSpPr>
          <p:grpSp>
            <p:nvGrpSpPr>
              <p:cNvPr id="88" name="组合 87">
                <a:extLst>
                  <a:ext uri="{FF2B5EF4-FFF2-40B4-BE49-F238E27FC236}">
                    <a16:creationId xmlns:a16="http://schemas.microsoft.com/office/drawing/2014/main" id="{18533377-FF7B-A077-3B85-7FA72D8F3C8C}"/>
                  </a:ext>
                </a:extLst>
              </p:cNvPr>
              <p:cNvGrpSpPr/>
              <p:nvPr/>
            </p:nvGrpSpPr>
            <p:grpSpPr>
              <a:xfrm>
                <a:off x="7284014" y="2125822"/>
                <a:ext cx="2638357" cy="275671"/>
                <a:chOff x="1744535" y="2710927"/>
                <a:chExt cx="5405715" cy="718073"/>
              </a:xfrm>
            </p:grpSpPr>
            <p:cxnSp>
              <p:nvCxnSpPr>
                <p:cNvPr id="92" name="直接连接符 91">
                  <a:extLst>
                    <a:ext uri="{FF2B5EF4-FFF2-40B4-BE49-F238E27FC236}">
                      <a16:creationId xmlns:a16="http://schemas.microsoft.com/office/drawing/2014/main" id="{9536FF47-969D-4BD1-1E0B-7ECA829D03BE}"/>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6B27E87B-FF1D-D0AC-DDBC-895304936BC0}"/>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B3E5D07C-2770-6525-B19F-D32920FC0DE4}"/>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2E2955E9-652A-19FA-5438-0B883F8ED402}"/>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76638F52-E3E1-A365-10BB-B898CB5E91CB}"/>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92F9CC65-FDBB-8B68-3298-D6E044D8186D}"/>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D71D8E9D-E94A-1478-0EAD-2293ABA9B262}"/>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C8F15D94-D033-C7DD-31C3-557697BCB1D8}"/>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D0703CDC-175C-89EA-CA7B-93A2D8D4765E}"/>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769EF16E-A449-5B76-998C-B1D4AFFA8E11}"/>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E3014E4F-327C-6863-97F0-6267B67BE42D}"/>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46F79DE7-EDD6-358A-78F3-9774ECFCEE7F}"/>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89" name="直接连接符 88">
                <a:extLst>
                  <a:ext uri="{FF2B5EF4-FFF2-40B4-BE49-F238E27FC236}">
                    <a16:creationId xmlns:a16="http://schemas.microsoft.com/office/drawing/2014/main" id="{EEE67794-F6A8-7289-C6F9-6607EA9F3156}"/>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F5D8EF53-7C96-77D8-867D-BAE1B4A41FA3}"/>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8B1AB453-B2A3-410D-84D1-DCCA9B5D511A}"/>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sp>
        <p:nvSpPr>
          <p:cNvPr id="105" name="文本框 104">
            <a:extLst>
              <a:ext uri="{FF2B5EF4-FFF2-40B4-BE49-F238E27FC236}">
                <a16:creationId xmlns:a16="http://schemas.microsoft.com/office/drawing/2014/main" id="{5EF4A856-9732-A17D-053B-E3045029B462}"/>
              </a:ext>
            </a:extLst>
          </p:cNvPr>
          <p:cNvSpPr txBox="1"/>
          <p:nvPr/>
        </p:nvSpPr>
        <p:spPr>
          <a:xfrm>
            <a:off x="495459" y="1189585"/>
            <a:ext cx="6810827" cy="707886"/>
          </a:xfrm>
          <a:prstGeom prst="rect">
            <a:avLst/>
          </a:prstGeom>
          <a:noFill/>
        </p:spPr>
        <p:txBody>
          <a:bodyPr wrap="square" rtlCol="0">
            <a:spAutoFit/>
          </a:bodyPr>
          <a:lstStyle/>
          <a:p>
            <a:r>
              <a:rPr lang="en-US" altLang="zh-CN" sz="2000" b="1" dirty="0">
                <a:solidFill>
                  <a:schemeClr val="accent1"/>
                </a:solidFill>
                <a:latin typeface="字魂59号-创粗黑" panose="00000500000000000000" pitchFamily="2" charset="-122"/>
                <a:ea typeface="字魂59号-创粗黑" panose="00000500000000000000" pitchFamily="2" charset="-122"/>
              </a:rPr>
              <a:t>1.2 Final Feature Groups</a:t>
            </a:r>
          </a:p>
          <a:p>
            <a:endParaRPr lang="zh-CN" altLang="en-US" sz="2000" b="1" dirty="0">
              <a:solidFill>
                <a:schemeClr val="accent1"/>
              </a:solidFill>
              <a:latin typeface="字魂59号-创粗黑" panose="00000500000000000000" pitchFamily="2" charset="-122"/>
              <a:ea typeface="字魂59号-创粗黑" panose="00000500000000000000" pitchFamily="2" charset="-122"/>
            </a:endParaRPr>
          </a:p>
        </p:txBody>
      </p:sp>
      <p:graphicFrame>
        <p:nvGraphicFramePr>
          <p:cNvPr id="6" name="表格 5">
            <a:extLst>
              <a:ext uri="{FF2B5EF4-FFF2-40B4-BE49-F238E27FC236}">
                <a16:creationId xmlns:a16="http://schemas.microsoft.com/office/drawing/2014/main" id="{871C7AAC-5118-F6E9-A27B-F4C3415BA96C}"/>
              </a:ext>
            </a:extLst>
          </p:cNvPr>
          <p:cNvGraphicFramePr>
            <a:graphicFrameLocks noGrp="1"/>
          </p:cNvGraphicFramePr>
          <p:nvPr>
            <p:extLst>
              <p:ext uri="{D42A27DB-BD31-4B8C-83A1-F6EECF244321}">
                <p14:modId xmlns:p14="http://schemas.microsoft.com/office/powerpoint/2010/main" val="3307101378"/>
              </p:ext>
            </p:extLst>
          </p:nvPr>
        </p:nvGraphicFramePr>
        <p:xfrm>
          <a:off x="542076" y="1737237"/>
          <a:ext cx="11107847" cy="3801548"/>
        </p:xfrm>
        <a:graphic>
          <a:graphicData uri="http://schemas.openxmlformats.org/drawingml/2006/table">
            <a:tbl>
              <a:tblPr>
                <a:tableStyleId>{3C2FFA5D-87B4-456A-9821-1D502468CF0F}</a:tableStyleId>
              </a:tblPr>
              <a:tblGrid>
                <a:gridCol w="2401060">
                  <a:extLst>
                    <a:ext uri="{9D8B030D-6E8A-4147-A177-3AD203B41FA5}">
                      <a16:colId xmlns:a16="http://schemas.microsoft.com/office/drawing/2014/main" val="1560515272"/>
                    </a:ext>
                  </a:extLst>
                </a:gridCol>
                <a:gridCol w="5216425">
                  <a:extLst>
                    <a:ext uri="{9D8B030D-6E8A-4147-A177-3AD203B41FA5}">
                      <a16:colId xmlns:a16="http://schemas.microsoft.com/office/drawing/2014/main" val="3667820230"/>
                    </a:ext>
                  </a:extLst>
                </a:gridCol>
                <a:gridCol w="3490362">
                  <a:extLst>
                    <a:ext uri="{9D8B030D-6E8A-4147-A177-3AD203B41FA5}">
                      <a16:colId xmlns:a16="http://schemas.microsoft.com/office/drawing/2014/main" val="175662717"/>
                    </a:ext>
                  </a:extLst>
                </a:gridCol>
              </a:tblGrid>
              <a:tr h="292836">
                <a:tc>
                  <a:txBody>
                    <a:bodyPr/>
                    <a:lstStyle/>
                    <a:p>
                      <a:pPr algn="l">
                        <a:buNone/>
                      </a:pPr>
                      <a:r>
                        <a:rPr lang="en-US" sz="1800" b="1" dirty="0">
                          <a:solidFill>
                            <a:srgbClr val="FFFFFF"/>
                          </a:solidFill>
                          <a:effectLst/>
                        </a:rPr>
                        <a:t>Feature Group</a:t>
                      </a:r>
                    </a:p>
                  </a:txBody>
                  <a:tcPr marL="33679" marR="33679" marT="33679" marB="33679" anchor="ctr"/>
                </a:tc>
                <a:tc>
                  <a:txBody>
                    <a:bodyPr/>
                    <a:lstStyle/>
                    <a:p>
                      <a:pPr algn="l">
                        <a:buNone/>
                      </a:pPr>
                      <a:r>
                        <a:rPr lang="en-US" sz="1800" b="1" dirty="0">
                          <a:solidFill>
                            <a:srgbClr val="FFFFFF"/>
                          </a:solidFill>
                          <a:effectLst/>
                        </a:rPr>
                        <a:t>Variables</a:t>
                      </a:r>
                    </a:p>
                  </a:txBody>
                  <a:tcPr marL="33679" marR="33679" marT="33679" marB="33679" anchor="ctr"/>
                </a:tc>
                <a:tc>
                  <a:txBody>
                    <a:bodyPr/>
                    <a:lstStyle/>
                    <a:p>
                      <a:pPr algn="l">
                        <a:buNone/>
                      </a:pPr>
                      <a:r>
                        <a:rPr lang="en-US" sz="1800" b="1" dirty="0">
                          <a:solidFill>
                            <a:srgbClr val="FFFFFF"/>
                          </a:solidFill>
                          <a:effectLst/>
                        </a:rPr>
                        <a:t>Why It Matters</a:t>
                      </a:r>
                    </a:p>
                  </a:txBody>
                  <a:tcPr marL="33679" marR="33679" marT="33679" marB="33679" anchor="ctr"/>
                </a:tc>
                <a:extLst>
                  <a:ext uri="{0D108BD9-81ED-4DB2-BD59-A6C34878D82A}">
                    <a16:rowId xmlns:a16="http://schemas.microsoft.com/office/drawing/2014/main" val="2859167495"/>
                  </a:ext>
                </a:extLst>
              </a:tr>
              <a:tr h="475696">
                <a:tc>
                  <a:txBody>
                    <a:bodyPr/>
                    <a:lstStyle/>
                    <a:p>
                      <a:pPr>
                        <a:buNone/>
                      </a:pPr>
                      <a:r>
                        <a:rPr lang="en-US" sz="1600" b="1" dirty="0">
                          <a:effectLst/>
                        </a:rPr>
                        <a:t>Price &amp; Trading</a:t>
                      </a:r>
                    </a:p>
                  </a:txBody>
                  <a:tcPr marL="33679" marR="33679" marT="33679" marB="33679" anchor="ctr"/>
                </a:tc>
                <a:tc>
                  <a:txBody>
                    <a:bodyPr/>
                    <a:lstStyle/>
                    <a:p>
                      <a:pPr>
                        <a:buNone/>
                      </a:pPr>
                      <a:r>
                        <a:rPr lang="en-US" sz="1600" dirty="0">
                          <a:effectLst/>
                        </a:rPr>
                        <a:t>open, high, low, close, volume, </a:t>
                      </a:r>
                      <a:r>
                        <a:rPr lang="en-US" sz="1600" dirty="0" err="1">
                          <a:effectLst/>
                        </a:rPr>
                        <a:t>quote_volume</a:t>
                      </a:r>
                      <a:r>
                        <a:rPr lang="en-US" sz="1600" dirty="0">
                          <a:effectLst/>
                        </a:rPr>
                        <a:t>, </a:t>
                      </a:r>
                      <a:r>
                        <a:rPr lang="en-US" sz="1600" dirty="0" err="1">
                          <a:effectLst/>
                        </a:rPr>
                        <a:t>trade_count</a:t>
                      </a:r>
                      <a:endParaRPr lang="en-US" sz="1600" dirty="0">
                        <a:effectLst/>
                      </a:endParaRPr>
                    </a:p>
                  </a:txBody>
                  <a:tcPr marL="33679" marR="33679" marT="33679" marB="33679" anchor="ctr"/>
                </a:tc>
                <a:tc>
                  <a:txBody>
                    <a:bodyPr/>
                    <a:lstStyle/>
                    <a:p>
                      <a:pPr>
                        <a:buNone/>
                      </a:pPr>
                      <a:r>
                        <a:rPr lang="en-US" sz="1600">
                          <a:effectLst/>
                        </a:rPr>
                        <a:t>Captures immediate market movement and liquidity condition</a:t>
                      </a:r>
                    </a:p>
                  </a:txBody>
                  <a:tcPr marL="33679" marR="33679" marT="33679" marB="33679" anchor="ctr"/>
                </a:tc>
                <a:extLst>
                  <a:ext uri="{0D108BD9-81ED-4DB2-BD59-A6C34878D82A}">
                    <a16:rowId xmlns:a16="http://schemas.microsoft.com/office/drawing/2014/main" val="135222358"/>
                  </a:ext>
                </a:extLst>
              </a:tr>
              <a:tr h="684680">
                <a:tc>
                  <a:txBody>
                    <a:bodyPr/>
                    <a:lstStyle/>
                    <a:p>
                      <a:pPr>
                        <a:buNone/>
                      </a:pPr>
                      <a:r>
                        <a:rPr lang="en-US" sz="1600" b="1" dirty="0">
                          <a:effectLst/>
                        </a:rPr>
                        <a:t>On-chain Activity</a:t>
                      </a:r>
                    </a:p>
                  </a:txBody>
                  <a:tcPr marL="33679" marR="33679" marT="33679" marB="33679" anchor="ctr"/>
                </a:tc>
                <a:tc>
                  <a:txBody>
                    <a:bodyPr/>
                    <a:lstStyle/>
                    <a:p>
                      <a:pPr>
                        <a:buNone/>
                      </a:pPr>
                      <a:r>
                        <a:rPr lang="en-US" sz="1600" dirty="0" err="1">
                          <a:effectLst/>
                        </a:rPr>
                        <a:t>active_addresses</a:t>
                      </a:r>
                      <a:r>
                        <a:rPr lang="en-US" sz="1600" dirty="0">
                          <a:effectLst/>
                        </a:rPr>
                        <a:t>, </a:t>
                      </a:r>
                      <a:r>
                        <a:rPr lang="en-US" sz="1600" dirty="0" err="1">
                          <a:effectLst/>
                        </a:rPr>
                        <a:t>tx_count</a:t>
                      </a:r>
                      <a:r>
                        <a:rPr lang="en-US" sz="1600" dirty="0">
                          <a:effectLst/>
                        </a:rPr>
                        <a:t>, </a:t>
                      </a:r>
                      <a:r>
                        <a:rPr lang="en-US" sz="1600" dirty="0" err="1">
                          <a:effectLst/>
                        </a:rPr>
                        <a:t>hash_rate</a:t>
                      </a:r>
                      <a:r>
                        <a:rPr lang="en-US" sz="1600" dirty="0">
                          <a:effectLst/>
                        </a:rPr>
                        <a:t>, fees, difficulty</a:t>
                      </a:r>
                    </a:p>
                  </a:txBody>
                  <a:tcPr marL="33679" marR="33679" marT="33679" marB="33679" anchor="ctr"/>
                </a:tc>
                <a:tc>
                  <a:txBody>
                    <a:bodyPr/>
                    <a:lstStyle/>
                    <a:p>
                      <a:pPr>
                        <a:buNone/>
                      </a:pPr>
                      <a:r>
                        <a:rPr lang="en-US" sz="1600" dirty="0">
                          <a:effectLst/>
                        </a:rPr>
                        <a:t>Reflects network utilization, transaction pressure, and mining regime</a:t>
                      </a:r>
                    </a:p>
                  </a:txBody>
                  <a:tcPr marL="33679" marR="33679" marT="33679" marB="33679" anchor="ctr"/>
                </a:tc>
                <a:extLst>
                  <a:ext uri="{0D108BD9-81ED-4DB2-BD59-A6C34878D82A}">
                    <a16:rowId xmlns:a16="http://schemas.microsoft.com/office/drawing/2014/main" val="1512569588"/>
                  </a:ext>
                </a:extLst>
              </a:tr>
              <a:tr h="475696">
                <a:tc>
                  <a:txBody>
                    <a:bodyPr/>
                    <a:lstStyle/>
                    <a:p>
                      <a:pPr>
                        <a:buNone/>
                      </a:pPr>
                      <a:r>
                        <a:rPr lang="en-US" sz="1600" b="1" dirty="0">
                          <a:effectLst/>
                        </a:rPr>
                        <a:t>Macro Factors</a:t>
                      </a:r>
                    </a:p>
                  </a:txBody>
                  <a:tcPr marL="33679" marR="33679" marT="33679" marB="33679" anchor="ctr"/>
                </a:tc>
                <a:tc>
                  <a:txBody>
                    <a:bodyPr/>
                    <a:lstStyle/>
                    <a:p>
                      <a:pPr>
                        <a:buNone/>
                      </a:pPr>
                      <a:r>
                        <a:rPr lang="en-US" sz="1600">
                          <a:effectLst/>
                        </a:rPr>
                        <a:t>vix, sp500_return, dxy_proxy</a:t>
                      </a:r>
                    </a:p>
                  </a:txBody>
                  <a:tcPr marL="33679" marR="33679" marT="33679" marB="33679" anchor="ctr"/>
                </a:tc>
                <a:tc>
                  <a:txBody>
                    <a:bodyPr/>
                    <a:lstStyle/>
                    <a:p>
                      <a:pPr>
                        <a:buNone/>
                      </a:pPr>
                      <a:r>
                        <a:rPr lang="en-US" sz="1600">
                          <a:effectLst/>
                        </a:rPr>
                        <a:t>Encodes broader market risk and dollar/liquidity conditions</a:t>
                      </a:r>
                    </a:p>
                  </a:txBody>
                  <a:tcPr marL="33679" marR="33679" marT="33679" marB="33679" anchor="ctr"/>
                </a:tc>
                <a:extLst>
                  <a:ext uri="{0D108BD9-81ED-4DB2-BD59-A6C34878D82A}">
                    <a16:rowId xmlns:a16="http://schemas.microsoft.com/office/drawing/2014/main" val="2640635292"/>
                  </a:ext>
                </a:extLst>
              </a:tr>
              <a:tr h="475696">
                <a:tc>
                  <a:txBody>
                    <a:bodyPr/>
                    <a:lstStyle/>
                    <a:p>
                      <a:pPr>
                        <a:buNone/>
                      </a:pPr>
                      <a:r>
                        <a:rPr lang="en-US" sz="1600" b="1" dirty="0">
                          <a:effectLst/>
                        </a:rPr>
                        <a:t>Sentiment</a:t>
                      </a:r>
                    </a:p>
                  </a:txBody>
                  <a:tcPr marL="33679" marR="33679" marT="33679" marB="33679" anchor="ctr"/>
                </a:tc>
                <a:tc>
                  <a:txBody>
                    <a:bodyPr/>
                    <a:lstStyle/>
                    <a:p>
                      <a:pPr>
                        <a:buNone/>
                      </a:pPr>
                      <a:r>
                        <a:rPr lang="en-US" sz="1600" dirty="0" err="1">
                          <a:effectLst/>
                        </a:rPr>
                        <a:t>fear_greed_index</a:t>
                      </a:r>
                      <a:endParaRPr lang="en-US" sz="1600" dirty="0">
                        <a:effectLst/>
                      </a:endParaRPr>
                    </a:p>
                  </a:txBody>
                  <a:tcPr marL="33679" marR="33679" marT="33679" marB="33679" anchor="ctr"/>
                </a:tc>
                <a:tc>
                  <a:txBody>
                    <a:bodyPr/>
                    <a:lstStyle/>
                    <a:p>
                      <a:pPr>
                        <a:buNone/>
                      </a:pPr>
                      <a:r>
                        <a:rPr lang="en-US" sz="1600">
                          <a:effectLst/>
                        </a:rPr>
                        <a:t>Adds behavioral signal from crypto crowd sentiment</a:t>
                      </a:r>
                    </a:p>
                  </a:txBody>
                  <a:tcPr marL="33679" marR="33679" marT="33679" marB="33679" anchor="ctr"/>
                </a:tc>
                <a:extLst>
                  <a:ext uri="{0D108BD9-81ED-4DB2-BD59-A6C34878D82A}">
                    <a16:rowId xmlns:a16="http://schemas.microsoft.com/office/drawing/2014/main" val="716529876"/>
                  </a:ext>
                </a:extLst>
              </a:tr>
              <a:tr h="538329">
                <a:tc>
                  <a:txBody>
                    <a:bodyPr/>
                    <a:lstStyle/>
                    <a:p>
                      <a:pPr>
                        <a:buNone/>
                      </a:pPr>
                      <a:r>
                        <a:rPr lang="en-US" sz="1600" b="1" dirty="0">
                          <a:effectLst/>
                        </a:rPr>
                        <a:t>Engineered Features</a:t>
                      </a:r>
                    </a:p>
                  </a:txBody>
                  <a:tcPr marL="33679" marR="33679" marT="33679" marB="33679" anchor="ctr"/>
                </a:tc>
                <a:tc>
                  <a:txBody>
                    <a:bodyPr/>
                    <a:lstStyle/>
                    <a:p>
                      <a:pPr>
                        <a:buNone/>
                      </a:pPr>
                      <a:r>
                        <a:rPr lang="en-US" sz="1600" dirty="0">
                          <a:effectLst/>
                        </a:rPr>
                        <a:t>*Short-horizon transformed signals from price, volume, and on-chain dynamics</a:t>
                      </a:r>
                    </a:p>
                  </a:txBody>
                  <a:tcPr marL="33679" marR="33679" marT="33679" marB="33679" anchor="ctr"/>
                </a:tc>
                <a:tc>
                  <a:txBody>
                    <a:bodyPr/>
                    <a:lstStyle/>
                    <a:p>
                      <a:pPr>
                        <a:buNone/>
                      </a:pPr>
                      <a:r>
                        <a:rPr lang="en-US" sz="1600">
                          <a:effectLst/>
                        </a:rPr>
                        <a:t>Transforms raw signals into model-friendly short-horizon predictors</a:t>
                      </a:r>
                    </a:p>
                  </a:txBody>
                  <a:tcPr marL="33679" marR="33679" marT="33679" marB="33679" anchor="ctr"/>
                </a:tc>
                <a:extLst>
                  <a:ext uri="{0D108BD9-81ED-4DB2-BD59-A6C34878D82A}">
                    <a16:rowId xmlns:a16="http://schemas.microsoft.com/office/drawing/2014/main" val="340578740"/>
                  </a:ext>
                </a:extLst>
              </a:tr>
              <a:tr h="475696">
                <a:tc>
                  <a:txBody>
                    <a:bodyPr/>
                    <a:lstStyle/>
                    <a:p>
                      <a:pPr>
                        <a:buNone/>
                      </a:pPr>
                      <a:r>
                        <a:rPr lang="en-US" sz="1600" b="1" dirty="0">
                          <a:effectLst/>
                        </a:rPr>
                        <a:t>Target</a:t>
                      </a:r>
                    </a:p>
                  </a:txBody>
                  <a:tcPr marL="33679" marR="33679" marT="33679" marB="33679" anchor="ctr"/>
                </a:tc>
                <a:tc>
                  <a:txBody>
                    <a:bodyPr/>
                    <a:lstStyle/>
                    <a:p>
                      <a:pPr>
                        <a:buNone/>
                      </a:pPr>
                      <a:r>
                        <a:rPr lang="en-US" sz="1600" dirty="0">
                          <a:effectLst/>
                        </a:rPr>
                        <a:t>target = 1[</a:t>
                      </a:r>
                      <a:r>
                        <a:rPr lang="en-US" sz="1600" dirty="0" err="1">
                          <a:effectLst/>
                        </a:rPr>
                        <a:t>close_t</a:t>
                      </a:r>
                      <a:r>
                        <a:rPr lang="en-US" sz="1600" dirty="0">
                          <a:effectLst/>
                        </a:rPr>
                        <a:t> &gt; close_{t-1}]</a:t>
                      </a:r>
                    </a:p>
                  </a:txBody>
                  <a:tcPr marL="33679" marR="33679" marT="33679" marB="33679" anchor="ctr"/>
                </a:tc>
                <a:tc>
                  <a:txBody>
                    <a:bodyPr/>
                    <a:lstStyle/>
                    <a:p>
                      <a:pPr>
                        <a:buNone/>
                      </a:pPr>
                      <a:r>
                        <a:rPr lang="en-US" sz="1600" dirty="0">
                          <a:effectLst/>
                        </a:rPr>
                        <a:t>Binary direction label for daily prediction</a:t>
                      </a:r>
                    </a:p>
                  </a:txBody>
                  <a:tcPr marL="33679" marR="33679" marT="33679" marB="33679" anchor="ctr"/>
                </a:tc>
                <a:extLst>
                  <a:ext uri="{0D108BD9-81ED-4DB2-BD59-A6C34878D82A}">
                    <a16:rowId xmlns:a16="http://schemas.microsoft.com/office/drawing/2014/main" val="972961199"/>
                  </a:ext>
                </a:extLst>
              </a:tr>
            </a:tbl>
          </a:graphicData>
        </a:graphic>
      </p:graphicFrame>
      <p:sp>
        <p:nvSpPr>
          <p:cNvPr id="8" name="文本框 7">
            <a:extLst>
              <a:ext uri="{FF2B5EF4-FFF2-40B4-BE49-F238E27FC236}">
                <a16:creationId xmlns:a16="http://schemas.microsoft.com/office/drawing/2014/main" id="{6FFDB3A3-2BBE-B36D-E670-D567FD653A37}"/>
              </a:ext>
            </a:extLst>
          </p:cNvPr>
          <p:cNvSpPr txBox="1"/>
          <p:nvPr/>
        </p:nvSpPr>
        <p:spPr>
          <a:xfrm>
            <a:off x="1118100" y="5789981"/>
            <a:ext cx="10237285" cy="65986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400" dirty="0">
                <a:latin typeface="字魂58号-创中黑" panose="00000500000000000000" pitchFamily="2" charset="-122"/>
                <a:ea typeface="字魂58号-创中黑" panose="00000500000000000000" pitchFamily="2" charset="-122"/>
              </a:rPr>
              <a:t>*Engineered Features Specs:</a:t>
            </a:r>
          </a:p>
          <a:p>
            <a:pPr>
              <a:lnSpc>
                <a:spcPct val="150000"/>
              </a:lnSpc>
            </a:pPr>
            <a:r>
              <a:rPr lang="en-US" altLang="zh-CN" sz="1200" dirty="0">
                <a:latin typeface="字魂58号-创中黑" panose="00000500000000000000" pitchFamily="2" charset="-122"/>
                <a:ea typeface="字魂58号-创中黑" panose="00000500000000000000" pitchFamily="2" charset="-122"/>
              </a:rPr>
              <a:t>ret_1d, ret_3d, volatility_7d, ma_ratio_7_30, </a:t>
            </a:r>
            <a:r>
              <a:rPr lang="en-US" altLang="zh-CN" sz="1200" dirty="0" err="1">
                <a:latin typeface="字魂58号-创中黑" panose="00000500000000000000" pitchFamily="2" charset="-122"/>
                <a:ea typeface="字魂58号-创中黑" panose="00000500000000000000" pitchFamily="2" charset="-122"/>
              </a:rPr>
              <a:t>high_low_spread</a:t>
            </a:r>
            <a:r>
              <a:rPr lang="en-US" altLang="zh-CN" sz="1200" dirty="0">
                <a:latin typeface="字魂58号-创中黑" panose="00000500000000000000" pitchFamily="2" charset="-122"/>
                <a:ea typeface="字魂58号-创中黑" panose="00000500000000000000" pitchFamily="2" charset="-122"/>
              </a:rPr>
              <a:t>, </a:t>
            </a:r>
            <a:r>
              <a:rPr lang="en-US" altLang="zh-CN" sz="1200" dirty="0" err="1">
                <a:latin typeface="字魂58号-创中黑" panose="00000500000000000000" pitchFamily="2" charset="-122"/>
                <a:ea typeface="字魂58号-创中黑" panose="00000500000000000000" pitchFamily="2" charset="-122"/>
              </a:rPr>
              <a:t>volume_change</a:t>
            </a:r>
            <a:r>
              <a:rPr lang="en-US" altLang="zh-CN" sz="1200" dirty="0">
                <a:latin typeface="字魂58号-创中黑" panose="00000500000000000000" pitchFamily="2" charset="-122"/>
                <a:ea typeface="字魂58号-创中黑" panose="00000500000000000000" pitchFamily="2" charset="-122"/>
              </a:rPr>
              <a:t>, </a:t>
            </a:r>
            <a:r>
              <a:rPr lang="en-US" altLang="zh-CN" sz="1200" dirty="0" err="1">
                <a:latin typeface="字魂58号-创中黑" panose="00000500000000000000" pitchFamily="2" charset="-122"/>
                <a:ea typeface="字魂58号-创中黑" panose="00000500000000000000" pitchFamily="2" charset="-122"/>
              </a:rPr>
              <a:t>active_addresses_change</a:t>
            </a:r>
            <a:r>
              <a:rPr lang="en-US" altLang="zh-CN" sz="1200" dirty="0">
                <a:latin typeface="字魂58号-创中黑" panose="00000500000000000000" pitchFamily="2" charset="-122"/>
                <a:ea typeface="字魂58号-创中黑" panose="00000500000000000000" pitchFamily="2" charset="-122"/>
              </a:rPr>
              <a:t>, </a:t>
            </a:r>
            <a:r>
              <a:rPr lang="en-US" altLang="zh-CN" sz="1200" dirty="0" err="1">
                <a:latin typeface="字魂58号-创中黑" panose="00000500000000000000" pitchFamily="2" charset="-122"/>
                <a:ea typeface="字魂58号-创中黑" panose="00000500000000000000" pitchFamily="2" charset="-122"/>
              </a:rPr>
              <a:t>fees_per_tx</a:t>
            </a:r>
            <a:r>
              <a:rPr lang="en-US" altLang="zh-CN" sz="1200" dirty="0">
                <a:latin typeface="字魂58号-创中黑" panose="00000500000000000000" pitchFamily="2" charset="-122"/>
                <a:ea typeface="字魂58号-创中黑" panose="00000500000000000000" pitchFamily="2" charset="-122"/>
              </a:rPr>
              <a:t>, </a:t>
            </a:r>
            <a:r>
              <a:rPr lang="en-US" altLang="zh-CN" sz="1200" dirty="0" err="1">
                <a:latin typeface="字魂58号-创中黑" panose="00000500000000000000" pitchFamily="2" charset="-122"/>
                <a:ea typeface="字魂58号-创中黑" panose="00000500000000000000" pitchFamily="2" charset="-122"/>
              </a:rPr>
              <a:t>difficulty_change</a:t>
            </a:r>
            <a:endParaRPr lang="zh-CN" altLang="en-US" sz="1400" dirty="0">
              <a:latin typeface="字魂58号-创中黑" panose="00000500000000000000" pitchFamily="2" charset="-122"/>
              <a:ea typeface="字魂58号-创中黑" panose="00000500000000000000" pitchFamily="2" charset="-122"/>
            </a:endParaRPr>
          </a:p>
        </p:txBody>
      </p:sp>
      <p:cxnSp>
        <p:nvCxnSpPr>
          <p:cNvPr id="9" name="直接连接符 8">
            <a:extLst>
              <a:ext uri="{FF2B5EF4-FFF2-40B4-BE49-F238E27FC236}">
                <a16:creationId xmlns:a16="http://schemas.microsoft.com/office/drawing/2014/main" id="{168D1F9A-E36D-FEEB-9C29-B9EE453F48A5}"/>
              </a:ext>
            </a:extLst>
          </p:cNvPr>
          <p:cNvCxnSpPr/>
          <p:nvPr/>
        </p:nvCxnSpPr>
        <p:spPr>
          <a:xfrm>
            <a:off x="647252" y="5786494"/>
            <a:ext cx="10897496" cy="0"/>
          </a:xfrm>
          <a:prstGeom prst="line">
            <a:avLst/>
          </a:prstGeom>
          <a:ln cap="rnd">
            <a:solidFill>
              <a:schemeClr val="accent1">
                <a:lumMod val="60000"/>
                <a:lumOff val="40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pic>
        <p:nvPicPr>
          <p:cNvPr id="10" name="图片 9">
            <a:hlinkClick r:id="rId4"/>
            <a:extLst>
              <a:ext uri="{FF2B5EF4-FFF2-40B4-BE49-F238E27FC236}">
                <a16:creationId xmlns:a16="http://schemas.microsoft.com/office/drawing/2014/main" id="{278D5185-C8B2-B002-FADE-587AD962B282}"/>
              </a:ext>
            </a:extLst>
          </p:cNvPr>
          <p:cNvPicPr>
            <a:picLocks noChangeAspect="1"/>
          </p:cNvPicPr>
          <p:nvPr/>
        </p:nvPicPr>
        <p:blipFill>
          <a:blip r:embed="rId5">
            <a:extLst>
              <a:ext uri="{28A0092B-C50C-407E-A947-70E740481C1C}">
                <a14:useLocalDpi xmlns:a14="http://schemas.microsoft.com/office/drawing/2010/main" val="0"/>
              </a:ext>
            </a:extLst>
          </a:blip>
          <a:srcRect l="8048"/>
          <a:stretch>
            <a:fillRect/>
          </a:stretch>
        </p:blipFill>
        <p:spPr>
          <a:xfrm>
            <a:off x="3900872" y="1166200"/>
            <a:ext cx="380549" cy="388620"/>
          </a:xfrm>
          <a:prstGeom prst="rect">
            <a:avLst/>
          </a:prstGeom>
        </p:spPr>
      </p:pic>
    </p:spTree>
    <p:extLst>
      <p:ext uri="{BB962C8B-B14F-4D97-AF65-F5344CB8AC3E}">
        <p14:creationId xmlns:p14="http://schemas.microsoft.com/office/powerpoint/2010/main" val="3738478245"/>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A58A1-3B76-023A-86D3-C107A6054F2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F8B061C9-D997-DA30-934E-9D7BAC2D984E}"/>
              </a:ext>
            </a:extLst>
          </p:cNvPr>
          <p:cNvGrpSpPr/>
          <p:nvPr/>
        </p:nvGrpSpPr>
        <p:grpSpPr>
          <a:xfrm>
            <a:off x="-1" y="957421"/>
            <a:ext cx="12193200" cy="44820"/>
            <a:chOff x="1773217" y="5185185"/>
            <a:chExt cx="8645561" cy="44820"/>
          </a:xfrm>
        </p:grpSpPr>
        <p:cxnSp>
          <p:nvCxnSpPr>
            <p:cNvPr id="3" name="直接连接符 2">
              <a:extLst>
                <a:ext uri="{FF2B5EF4-FFF2-40B4-BE49-F238E27FC236}">
                  <a16:creationId xmlns:a16="http://schemas.microsoft.com/office/drawing/2014/main" id="{C3628B33-99CB-6537-03FA-A0BA68E17116}"/>
                </a:ext>
              </a:extLst>
            </p:cNvPr>
            <p:cNvCxnSpPr>
              <a:cxnSpLocks/>
            </p:cNvCxnSpPr>
            <p:nvPr userDrawn="1"/>
          </p:nvCxnSpPr>
          <p:spPr>
            <a:xfrm>
              <a:off x="1773218" y="51851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AF534BDE-0B68-AC7D-2EE3-8DCCA2E9DF81}"/>
                </a:ext>
              </a:extLst>
            </p:cNvPr>
            <p:cNvCxnSpPr>
              <a:cxnSpLocks/>
            </p:cNvCxnSpPr>
            <p:nvPr userDrawn="1"/>
          </p:nvCxnSpPr>
          <p:spPr>
            <a:xfrm>
              <a:off x="1773217" y="5230005"/>
              <a:ext cx="864556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D7642C1A-D5E0-2D49-6978-D6A645A96084}"/>
              </a:ext>
            </a:extLst>
          </p:cNvPr>
          <p:cNvSpPr txBox="1"/>
          <p:nvPr/>
        </p:nvSpPr>
        <p:spPr>
          <a:xfrm>
            <a:off x="158533" y="202191"/>
            <a:ext cx="5937467" cy="1200329"/>
          </a:xfrm>
          <a:prstGeom prst="rect">
            <a:avLst/>
          </a:prstGeom>
          <a:noFill/>
        </p:spPr>
        <p:txBody>
          <a:bodyPr wrap="square" rtlCol="0">
            <a:spAutoFit/>
          </a:bodyPr>
          <a:lstStyle/>
          <a:p>
            <a:r>
              <a:rPr lang="en-US" altLang="zh-CN" sz="3600" b="1" dirty="0">
                <a:solidFill>
                  <a:schemeClr val="accent1"/>
                </a:solidFill>
                <a:latin typeface="字魂59号-创粗黑" panose="00000500000000000000" pitchFamily="2" charset="-122"/>
                <a:ea typeface="字魂59号-创粗黑" panose="00000500000000000000" pitchFamily="2" charset="-122"/>
              </a:rPr>
              <a:t>1. DATA ENGINEERING</a:t>
            </a:r>
          </a:p>
          <a:p>
            <a:endParaRPr lang="en-US" altLang="zh-CN" sz="3600" b="1" dirty="0">
              <a:solidFill>
                <a:schemeClr val="accent1"/>
              </a:solidFill>
              <a:latin typeface="字魂59号-创粗黑" panose="00000500000000000000" pitchFamily="2" charset="-122"/>
              <a:ea typeface="字魂59号-创粗黑" panose="00000500000000000000" pitchFamily="2" charset="-122"/>
            </a:endParaRPr>
          </a:p>
        </p:txBody>
      </p:sp>
      <p:pic>
        <p:nvPicPr>
          <p:cNvPr id="52" name="图片 51">
            <a:extLst>
              <a:ext uri="{FF2B5EF4-FFF2-40B4-BE49-F238E27FC236}">
                <a16:creationId xmlns:a16="http://schemas.microsoft.com/office/drawing/2014/main" id="{36F04B77-876A-247A-69AD-541E6D6C52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49" y="5933398"/>
            <a:ext cx="850620" cy="850620"/>
          </a:xfrm>
          <a:prstGeom prst="rect">
            <a:avLst/>
          </a:prstGeom>
        </p:spPr>
      </p:pic>
      <p:grpSp>
        <p:nvGrpSpPr>
          <p:cNvPr id="104" name="组合 103">
            <a:extLst>
              <a:ext uri="{FF2B5EF4-FFF2-40B4-BE49-F238E27FC236}">
                <a16:creationId xmlns:a16="http://schemas.microsoft.com/office/drawing/2014/main" id="{F73C8727-B0E3-8998-6308-E58A4CBB48CC}"/>
              </a:ext>
            </a:extLst>
          </p:cNvPr>
          <p:cNvGrpSpPr/>
          <p:nvPr/>
        </p:nvGrpSpPr>
        <p:grpSpPr>
          <a:xfrm>
            <a:off x="6423214" y="408158"/>
            <a:ext cx="5459843" cy="275671"/>
            <a:chOff x="6423214" y="408158"/>
            <a:chExt cx="5459843" cy="275671"/>
          </a:xfrm>
        </p:grpSpPr>
        <p:grpSp>
          <p:nvGrpSpPr>
            <p:cNvPr id="53" name="组合 52">
              <a:extLst>
                <a:ext uri="{FF2B5EF4-FFF2-40B4-BE49-F238E27FC236}">
                  <a16:creationId xmlns:a16="http://schemas.microsoft.com/office/drawing/2014/main" id="{8E14D834-6B3C-F23B-B513-2EB4AA59E215}"/>
                </a:ext>
              </a:extLst>
            </p:cNvPr>
            <p:cNvGrpSpPr/>
            <p:nvPr/>
          </p:nvGrpSpPr>
          <p:grpSpPr>
            <a:xfrm>
              <a:off x="6423214" y="408158"/>
              <a:ext cx="2817867" cy="275671"/>
              <a:chOff x="7104504" y="2125822"/>
              <a:chExt cx="2817867" cy="275671"/>
            </a:xfrm>
          </p:grpSpPr>
          <p:grpSp>
            <p:nvGrpSpPr>
              <p:cNvPr id="54" name="组合 53">
                <a:extLst>
                  <a:ext uri="{FF2B5EF4-FFF2-40B4-BE49-F238E27FC236}">
                    <a16:creationId xmlns:a16="http://schemas.microsoft.com/office/drawing/2014/main" id="{A52B9772-1881-ED0A-6E9F-96521E6EADC4}"/>
                  </a:ext>
                </a:extLst>
              </p:cNvPr>
              <p:cNvGrpSpPr/>
              <p:nvPr/>
            </p:nvGrpSpPr>
            <p:grpSpPr>
              <a:xfrm>
                <a:off x="7284014" y="2125822"/>
                <a:ext cx="2638357" cy="275671"/>
                <a:chOff x="1744535" y="2710927"/>
                <a:chExt cx="5405715" cy="718073"/>
              </a:xfrm>
            </p:grpSpPr>
            <p:cxnSp>
              <p:nvCxnSpPr>
                <p:cNvPr id="58" name="直接连接符 57">
                  <a:extLst>
                    <a:ext uri="{FF2B5EF4-FFF2-40B4-BE49-F238E27FC236}">
                      <a16:creationId xmlns:a16="http://schemas.microsoft.com/office/drawing/2014/main" id="{96900A94-50B8-A8F9-599A-0740FBB9D610}"/>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FECDBE78-8B6E-EBBD-7AAC-60FA225D5BE0}"/>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850807FF-7561-EAAB-3C35-72114534458D}"/>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BA252A18-F1E8-A3C9-C5B1-E3C4AAFF8C0A}"/>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AEE2E9D7-9A08-A0D8-D22C-530452C6864A}"/>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4E3398E4-5821-F33D-89A9-9AD9D469C65E}"/>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29E8294C-2776-C183-9408-63D1782EDE09}"/>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018748A7-466E-F3D5-9A45-230D90025859}"/>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489E238F-DA86-3E4D-E9F3-85539D35547F}"/>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92F9DC19-8646-8DB6-E21C-1791400F7FA5}"/>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19C9065B-5711-A48C-1E4C-4DD41EB1E824}"/>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3647DCB5-240A-08DD-F98E-6D0C68452B13}"/>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55" name="直接连接符 54">
                <a:extLst>
                  <a:ext uri="{FF2B5EF4-FFF2-40B4-BE49-F238E27FC236}">
                    <a16:creationId xmlns:a16="http://schemas.microsoft.com/office/drawing/2014/main" id="{1A2B802D-4743-6758-BF2C-365168D0D75C}"/>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B926935B-C6A1-75AB-97DB-925752370C58}"/>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CEA787C8-1420-8D2C-151C-290DD444AAB5}"/>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87" name="组合 86">
              <a:extLst>
                <a:ext uri="{FF2B5EF4-FFF2-40B4-BE49-F238E27FC236}">
                  <a16:creationId xmlns:a16="http://schemas.microsoft.com/office/drawing/2014/main" id="{D3591675-150C-1D68-CD6E-110A0F4586EF}"/>
                </a:ext>
              </a:extLst>
            </p:cNvPr>
            <p:cNvGrpSpPr/>
            <p:nvPr/>
          </p:nvGrpSpPr>
          <p:grpSpPr>
            <a:xfrm>
              <a:off x="9065190" y="408158"/>
              <a:ext cx="2817867" cy="275671"/>
              <a:chOff x="7104504" y="2125822"/>
              <a:chExt cx="2817867" cy="275671"/>
            </a:xfrm>
          </p:grpSpPr>
          <p:grpSp>
            <p:nvGrpSpPr>
              <p:cNvPr id="88" name="组合 87">
                <a:extLst>
                  <a:ext uri="{FF2B5EF4-FFF2-40B4-BE49-F238E27FC236}">
                    <a16:creationId xmlns:a16="http://schemas.microsoft.com/office/drawing/2014/main" id="{8D105461-F4DC-6008-BA00-FEDD49F2A360}"/>
                  </a:ext>
                </a:extLst>
              </p:cNvPr>
              <p:cNvGrpSpPr/>
              <p:nvPr/>
            </p:nvGrpSpPr>
            <p:grpSpPr>
              <a:xfrm>
                <a:off x="7284014" y="2125822"/>
                <a:ext cx="2638357" cy="275671"/>
                <a:chOff x="1744535" y="2710927"/>
                <a:chExt cx="5405715" cy="718073"/>
              </a:xfrm>
            </p:grpSpPr>
            <p:cxnSp>
              <p:nvCxnSpPr>
                <p:cNvPr id="92" name="直接连接符 91">
                  <a:extLst>
                    <a:ext uri="{FF2B5EF4-FFF2-40B4-BE49-F238E27FC236}">
                      <a16:creationId xmlns:a16="http://schemas.microsoft.com/office/drawing/2014/main" id="{BF0228E5-62E7-733D-D366-B9D33ABE5C00}"/>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CDC20F57-9AAC-A5EB-15BC-89371CF9CE50}"/>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F6195E14-10F9-F1D0-B386-BA6002606838}"/>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737AAC04-584A-ECB2-991F-97632373585B}"/>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730ADD44-5BAE-D9F5-B097-827CEE6B5BD8}"/>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99F9C24D-E87D-EFB5-5AC1-47B177D06C2D}"/>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532A3AEE-24DA-D819-122D-CAE86C2FD5C6}"/>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41593381-59C2-4EB2-2A00-FDD8EDE5BCA3}"/>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1CE39434-187E-A0B0-443C-B3D15ED88811}"/>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8CBA434B-14DA-581A-A2F9-2A99AA9E85D6}"/>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564B02EE-92F4-ED4E-9B2B-0E598CCB335E}"/>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7F061088-6D7D-4600-5EFB-65813755618A}"/>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89" name="直接连接符 88">
                <a:extLst>
                  <a:ext uri="{FF2B5EF4-FFF2-40B4-BE49-F238E27FC236}">
                    <a16:creationId xmlns:a16="http://schemas.microsoft.com/office/drawing/2014/main" id="{C2A54A43-998E-8A5E-0EFD-396EE5B5A06B}"/>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014EE5A4-5CF5-CBDC-6A55-F8F788263E3D}"/>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384BCE8C-D60B-F3F6-4D56-A37F573BD26E}"/>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sp>
        <p:nvSpPr>
          <p:cNvPr id="105" name="文本框 104">
            <a:extLst>
              <a:ext uri="{FF2B5EF4-FFF2-40B4-BE49-F238E27FC236}">
                <a16:creationId xmlns:a16="http://schemas.microsoft.com/office/drawing/2014/main" id="{BF780A03-F9C0-6DEB-6A78-673067DBCC04}"/>
              </a:ext>
            </a:extLst>
          </p:cNvPr>
          <p:cNvSpPr txBox="1"/>
          <p:nvPr/>
        </p:nvSpPr>
        <p:spPr>
          <a:xfrm>
            <a:off x="495459" y="1189585"/>
            <a:ext cx="6810827" cy="707886"/>
          </a:xfrm>
          <a:prstGeom prst="rect">
            <a:avLst/>
          </a:prstGeom>
          <a:noFill/>
        </p:spPr>
        <p:txBody>
          <a:bodyPr wrap="square" rtlCol="0">
            <a:spAutoFit/>
          </a:bodyPr>
          <a:lstStyle/>
          <a:p>
            <a:r>
              <a:rPr lang="en-US" altLang="zh-CN" sz="2000" b="1" dirty="0">
                <a:solidFill>
                  <a:schemeClr val="accent1"/>
                </a:solidFill>
                <a:latin typeface="字魂59号-创粗黑" panose="00000500000000000000" pitchFamily="2" charset="-122"/>
                <a:ea typeface="字魂59号-创粗黑" panose="00000500000000000000" pitchFamily="2" charset="-122"/>
              </a:rPr>
              <a:t>1.3 Leakage Control</a:t>
            </a:r>
          </a:p>
          <a:p>
            <a:endParaRPr lang="zh-CN" altLang="en-US" sz="2000" b="1" dirty="0">
              <a:solidFill>
                <a:schemeClr val="accent1"/>
              </a:solidFill>
              <a:latin typeface="字魂59号-创粗黑" panose="00000500000000000000" pitchFamily="2" charset="-122"/>
              <a:ea typeface="字魂59号-创粗黑" panose="00000500000000000000" pitchFamily="2" charset="-122"/>
            </a:endParaRPr>
          </a:p>
        </p:txBody>
      </p:sp>
      <p:sp>
        <p:nvSpPr>
          <p:cNvPr id="9" name="文本框 8">
            <a:extLst>
              <a:ext uri="{FF2B5EF4-FFF2-40B4-BE49-F238E27FC236}">
                <a16:creationId xmlns:a16="http://schemas.microsoft.com/office/drawing/2014/main" id="{0C824F30-0D24-9C29-04A5-EB0F4229FBAD}"/>
              </a:ext>
            </a:extLst>
          </p:cNvPr>
          <p:cNvSpPr txBox="1"/>
          <p:nvPr/>
        </p:nvSpPr>
        <p:spPr>
          <a:xfrm>
            <a:off x="619059" y="2520060"/>
            <a:ext cx="5051406" cy="189551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R1: </a:t>
            </a:r>
            <a:r>
              <a:rPr lang="en-US" altLang="zh-CN" sz="1600" dirty="0">
                <a:latin typeface="字魂58号-创中黑" panose="00000500000000000000" pitchFamily="2" charset="-122"/>
                <a:ea typeface="字魂58号-创中黑" panose="00000500000000000000" pitchFamily="2" charset="-122"/>
              </a:rPr>
              <a:t>Shift all modeling predictors by one period</a:t>
            </a:r>
          </a:p>
          <a:p>
            <a:pPr marL="285750" indent="-285750">
              <a:lnSpc>
                <a:spcPct val="150000"/>
              </a:lnSpc>
              <a:buFont typeface="Arial" panose="020B0604020202020204" pitchFamily="34" charset="0"/>
              <a:buChar char="•"/>
            </a:pPr>
            <a:endParaRPr lang="en-US" altLang="zh-CN" sz="1600" dirty="0">
              <a:latin typeface="字魂58号-创中黑" panose="00000500000000000000" pitchFamily="2" charset="-122"/>
              <a:ea typeface="字魂58号-创中黑" panose="00000500000000000000" pitchFamily="2" charset="-122"/>
            </a:endParaRPr>
          </a:p>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R2: </a:t>
            </a:r>
            <a:r>
              <a:rPr lang="en-US" altLang="zh-CN" sz="1600" dirty="0">
                <a:latin typeface="字魂58号-创中黑" panose="00000500000000000000" pitchFamily="2" charset="-122"/>
                <a:ea typeface="字魂58号-创中黑" panose="00000500000000000000" pitchFamily="2" charset="-122"/>
              </a:rPr>
              <a:t>Exclude the latest incomplete trading day</a:t>
            </a:r>
          </a:p>
          <a:p>
            <a:pPr marL="285750" indent="-285750">
              <a:lnSpc>
                <a:spcPct val="150000"/>
              </a:lnSpc>
              <a:buFont typeface="Arial" panose="020B0604020202020204" pitchFamily="34" charset="0"/>
              <a:buChar char="•"/>
            </a:pPr>
            <a:endParaRPr lang="en-US" altLang="zh-CN" sz="1600" dirty="0">
              <a:latin typeface="字魂58号-创中黑" panose="00000500000000000000" pitchFamily="2" charset="-122"/>
              <a:ea typeface="字魂58号-创中黑" panose="00000500000000000000" pitchFamily="2" charset="-122"/>
            </a:endParaRPr>
          </a:p>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R3: </a:t>
            </a:r>
            <a:r>
              <a:rPr lang="en-US" altLang="zh-CN" sz="1600" dirty="0">
                <a:latin typeface="字魂58号-创中黑" panose="00000500000000000000" pitchFamily="2" charset="-122"/>
                <a:ea typeface="字魂58号-创中黑" panose="00000500000000000000" pitchFamily="2" charset="-122"/>
              </a:rPr>
              <a:t>Keep a fixed target definition and test it</a:t>
            </a:r>
          </a:p>
        </p:txBody>
      </p:sp>
      <p:sp>
        <p:nvSpPr>
          <p:cNvPr id="10" name="矩形 9">
            <a:extLst>
              <a:ext uri="{FF2B5EF4-FFF2-40B4-BE49-F238E27FC236}">
                <a16:creationId xmlns:a16="http://schemas.microsoft.com/office/drawing/2014/main" id="{916EE8B3-8A34-E1DA-A917-2CE97EA686D4}"/>
              </a:ext>
            </a:extLst>
          </p:cNvPr>
          <p:cNvSpPr/>
          <p:nvPr/>
        </p:nvSpPr>
        <p:spPr>
          <a:xfrm>
            <a:off x="5794065" y="1556974"/>
            <a:ext cx="6190470" cy="4716921"/>
          </a:xfrm>
          <a:prstGeom prst="rect">
            <a:avLst/>
          </a:prstGeom>
          <a:ln w="28575"/>
        </p:spPr>
        <p:style>
          <a:lnRef idx="1">
            <a:schemeClr val="accent6"/>
          </a:lnRef>
          <a:fillRef idx="2">
            <a:schemeClr val="accent6"/>
          </a:fillRef>
          <a:effectRef idx="1">
            <a:schemeClr val="accent6"/>
          </a:effectRef>
          <a:fontRef idx="minor">
            <a:schemeClr val="dk1"/>
          </a:fontRef>
        </p:style>
        <p:txBody>
          <a:bodyPr rtlCol="0" anchor="ctr"/>
          <a:lstStyle/>
          <a:p>
            <a:pPr>
              <a:lnSpc>
                <a:spcPct val="120000"/>
              </a:lnSpc>
            </a:pPr>
            <a:r>
              <a:rPr lang="en-US" altLang="zh-CN" b="1" dirty="0"/>
              <a:t># Implementation (from original pipeline)</a:t>
            </a:r>
          </a:p>
          <a:p>
            <a:pPr>
              <a:lnSpc>
                <a:spcPct val="120000"/>
              </a:lnSpc>
            </a:pPr>
            <a:r>
              <a:rPr lang="en-US" altLang="zh-CN" sz="1600" dirty="0">
                <a:solidFill>
                  <a:schemeClr val="bg1">
                    <a:lumMod val="50000"/>
                  </a:schemeClr>
                </a:solidFill>
                <a:latin typeface="Consolas" panose="020B0609020204030204" pitchFamily="49" charset="0"/>
              </a:rPr>
              <a:t>```python</a:t>
            </a:r>
          </a:p>
          <a:p>
            <a:pPr lvl="1">
              <a:lnSpc>
                <a:spcPct val="120000"/>
              </a:lnSpc>
            </a:pPr>
            <a:r>
              <a:rPr lang="en-US" altLang="zh-CN" sz="1600" dirty="0" err="1">
                <a:latin typeface="Consolas" panose="020B0609020204030204" pitchFamily="49" charset="0"/>
              </a:rPr>
              <a:t>feature_columns</a:t>
            </a:r>
            <a:r>
              <a:rPr lang="en-US" altLang="zh-CN" sz="1600" dirty="0">
                <a:latin typeface="Consolas" panose="020B0609020204030204" pitchFamily="49" charset="0"/>
              </a:rPr>
              <a:t> = [...]</a:t>
            </a:r>
          </a:p>
          <a:p>
            <a:pPr lvl="1">
              <a:lnSpc>
                <a:spcPct val="120000"/>
              </a:lnSpc>
            </a:pPr>
            <a:r>
              <a:rPr lang="en-US" altLang="zh-CN" sz="1600" dirty="0">
                <a:latin typeface="Consolas" panose="020B0609020204030204" pitchFamily="49" charset="0"/>
              </a:rPr>
              <a:t>merged[</a:t>
            </a:r>
            <a:r>
              <a:rPr lang="en-US" altLang="zh-CN" sz="1600" dirty="0" err="1">
                <a:latin typeface="Consolas" panose="020B0609020204030204" pitchFamily="49" charset="0"/>
              </a:rPr>
              <a:t>feature_columns</a:t>
            </a:r>
            <a:r>
              <a:rPr lang="en-US" altLang="zh-CN" sz="1600" dirty="0">
                <a:latin typeface="Consolas" panose="020B0609020204030204" pitchFamily="49" charset="0"/>
              </a:rPr>
              <a:t>] = merged[</a:t>
            </a:r>
            <a:r>
              <a:rPr lang="en-US" altLang="zh-CN" sz="1600" dirty="0" err="1">
                <a:latin typeface="Consolas" panose="020B0609020204030204" pitchFamily="49" charset="0"/>
              </a:rPr>
              <a:t>feature_columns</a:t>
            </a:r>
            <a:r>
              <a:rPr lang="en-US" altLang="zh-CN" sz="1600" dirty="0">
                <a:latin typeface="Consolas" panose="020B0609020204030204" pitchFamily="49" charset="0"/>
              </a:rPr>
              <a:t>].shift(1)</a:t>
            </a:r>
          </a:p>
          <a:p>
            <a:pPr lvl="1">
              <a:lnSpc>
                <a:spcPct val="120000"/>
              </a:lnSpc>
            </a:pPr>
            <a:r>
              <a:rPr lang="en-US" altLang="zh-CN" sz="1600" dirty="0" err="1">
                <a:latin typeface="Consolas" panose="020B0609020204030204" pitchFamily="49" charset="0"/>
              </a:rPr>
              <a:t>final_df</a:t>
            </a:r>
            <a:r>
              <a:rPr lang="en-US" altLang="zh-CN" sz="1600" dirty="0">
                <a:latin typeface="Consolas" panose="020B0609020204030204" pitchFamily="49" charset="0"/>
              </a:rPr>
              <a:t> = </a:t>
            </a:r>
            <a:r>
              <a:rPr lang="en-US" altLang="zh-CN" sz="1600" dirty="0" err="1">
                <a:latin typeface="Consolas" panose="020B0609020204030204" pitchFamily="49" charset="0"/>
              </a:rPr>
              <a:t>merged.dropna</a:t>
            </a:r>
            <a:r>
              <a:rPr lang="en-US" altLang="zh-CN" sz="1600" dirty="0">
                <a:latin typeface="Consolas" panose="020B0609020204030204" pitchFamily="49" charset="0"/>
              </a:rPr>
              <a:t>(subset=[*</a:t>
            </a:r>
            <a:r>
              <a:rPr lang="en-US" altLang="zh-CN" sz="1600" dirty="0" err="1">
                <a:latin typeface="Consolas" panose="020B0609020204030204" pitchFamily="49" charset="0"/>
              </a:rPr>
              <a:t>feature_columns</a:t>
            </a:r>
            <a:r>
              <a:rPr lang="en-US" altLang="zh-CN" sz="1600" dirty="0">
                <a:latin typeface="Consolas" panose="020B0609020204030204" pitchFamily="49" charset="0"/>
              </a:rPr>
              <a:t>, "target"]).</a:t>
            </a:r>
            <a:r>
              <a:rPr lang="en-US" altLang="zh-CN" sz="1600" dirty="0" err="1">
                <a:latin typeface="Consolas" panose="020B0609020204030204" pitchFamily="49" charset="0"/>
              </a:rPr>
              <a:t>reset_index</a:t>
            </a:r>
            <a:r>
              <a:rPr lang="en-US" altLang="zh-CN" sz="1600" dirty="0">
                <a:latin typeface="Consolas" panose="020B0609020204030204" pitchFamily="49" charset="0"/>
              </a:rPr>
              <a:t>(drop=True)</a:t>
            </a:r>
          </a:p>
          <a:p>
            <a:pPr>
              <a:lnSpc>
                <a:spcPct val="120000"/>
              </a:lnSpc>
            </a:pPr>
            <a:r>
              <a:rPr lang="en-US" altLang="zh-CN" sz="1600" dirty="0">
                <a:solidFill>
                  <a:schemeClr val="bg1">
                    <a:lumMod val="50000"/>
                  </a:schemeClr>
                </a:solidFill>
                <a:latin typeface="Consolas" panose="020B0609020204030204" pitchFamily="49" charset="0"/>
              </a:rPr>
              <a:t>```</a:t>
            </a:r>
            <a:endParaRPr lang="en-US" altLang="zh-CN" sz="1600" dirty="0">
              <a:latin typeface="Consolas" panose="020B0609020204030204" pitchFamily="49" charset="0"/>
            </a:endParaRPr>
          </a:p>
          <a:p>
            <a:pPr>
              <a:lnSpc>
                <a:spcPct val="120000"/>
              </a:lnSpc>
            </a:pPr>
            <a:r>
              <a:rPr lang="en-US" altLang="zh-CN" b="1" dirty="0"/>
              <a:t># Latest day exclusion: </a:t>
            </a:r>
            <a:r>
              <a:rPr lang="en-US" altLang="zh-CN" sz="1600" dirty="0">
                <a:latin typeface="Consolas" panose="020B0609020204030204" pitchFamily="49" charset="0"/>
              </a:rPr>
              <a:t>`</a:t>
            </a:r>
            <a:r>
              <a:rPr lang="en-US" altLang="zh-CN" sz="1600" dirty="0" err="1">
                <a:latin typeface="Consolas" panose="020B0609020204030204" pitchFamily="49" charset="0"/>
              </a:rPr>
              <a:t>remove_latest_binance_day</a:t>
            </a:r>
            <a:r>
              <a:rPr lang="en-US" altLang="zh-CN" sz="1600" dirty="0">
                <a:latin typeface="Consolas" panose="020B0609020204030204" pitchFamily="49" charset="0"/>
              </a:rPr>
              <a:t>(...)`</a:t>
            </a:r>
          </a:p>
          <a:p>
            <a:pPr>
              <a:lnSpc>
                <a:spcPct val="120000"/>
              </a:lnSpc>
            </a:pPr>
            <a:endParaRPr lang="en-US" altLang="zh-CN" b="1" dirty="0"/>
          </a:p>
          <a:p>
            <a:pPr>
              <a:lnSpc>
                <a:spcPct val="120000"/>
              </a:lnSpc>
            </a:pPr>
            <a:r>
              <a:rPr lang="en-US" altLang="zh-CN" b="1" dirty="0"/>
              <a:t># Target rule: </a:t>
            </a:r>
            <a:r>
              <a:rPr lang="en-US" altLang="zh-CN" sz="1600" dirty="0">
                <a:latin typeface="Consolas" panose="020B0609020204030204" pitchFamily="49" charset="0"/>
              </a:rPr>
              <a:t>`target = (close &gt; </a:t>
            </a:r>
            <a:r>
              <a:rPr lang="en-US" altLang="zh-CN" sz="1600" dirty="0" err="1">
                <a:latin typeface="Consolas" panose="020B0609020204030204" pitchFamily="49" charset="0"/>
              </a:rPr>
              <a:t>close.shift</a:t>
            </a:r>
            <a:r>
              <a:rPr lang="en-US" altLang="zh-CN" sz="1600" dirty="0">
                <a:latin typeface="Consolas" panose="020B0609020204030204" pitchFamily="49" charset="0"/>
              </a:rPr>
              <a:t>(1))`</a:t>
            </a:r>
            <a:endParaRPr lang="en-US" altLang="zh-CN" dirty="0">
              <a:latin typeface="Consolas" panose="020B0609020204030204" pitchFamily="49" charset="0"/>
            </a:endParaRPr>
          </a:p>
        </p:txBody>
      </p:sp>
    </p:spTree>
    <p:extLst>
      <p:ext uri="{BB962C8B-B14F-4D97-AF65-F5344CB8AC3E}">
        <p14:creationId xmlns:p14="http://schemas.microsoft.com/office/powerpoint/2010/main" val="2268037085"/>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a:extLst>
              <a:ext uri="{FF2B5EF4-FFF2-40B4-BE49-F238E27FC236}">
                <a16:creationId xmlns:a16="http://schemas.microsoft.com/office/drawing/2014/main" id="{1468D710-0ECE-404A-A965-14BF868D514D}"/>
              </a:ext>
            </a:extLst>
          </p:cNvPr>
          <p:cNvGrpSpPr/>
          <p:nvPr/>
        </p:nvGrpSpPr>
        <p:grpSpPr>
          <a:xfrm>
            <a:off x="328612" y="1923644"/>
            <a:ext cx="11534775" cy="2304111"/>
            <a:chOff x="328612" y="1923644"/>
            <a:chExt cx="11534775" cy="2304111"/>
          </a:xfrm>
        </p:grpSpPr>
        <p:grpSp>
          <p:nvGrpSpPr>
            <p:cNvPr id="117" name="组合 116">
              <a:extLst>
                <a:ext uri="{FF2B5EF4-FFF2-40B4-BE49-F238E27FC236}">
                  <a16:creationId xmlns:a16="http://schemas.microsoft.com/office/drawing/2014/main" id="{BF981284-BA47-4F0D-AC98-C65D862AA993}"/>
                </a:ext>
              </a:extLst>
            </p:cNvPr>
            <p:cNvGrpSpPr/>
            <p:nvPr/>
          </p:nvGrpSpPr>
          <p:grpSpPr>
            <a:xfrm>
              <a:off x="6404562" y="2125822"/>
              <a:ext cx="5450854" cy="275671"/>
              <a:chOff x="6404562" y="2125822"/>
              <a:chExt cx="5450854" cy="275671"/>
            </a:xfrm>
          </p:grpSpPr>
          <p:grpSp>
            <p:nvGrpSpPr>
              <p:cNvPr id="73" name="组合 72">
                <a:extLst>
                  <a:ext uri="{FF2B5EF4-FFF2-40B4-BE49-F238E27FC236}">
                    <a16:creationId xmlns:a16="http://schemas.microsoft.com/office/drawing/2014/main" id="{7E16169B-788D-4A85-849F-D635A54FC899}"/>
                  </a:ext>
                </a:extLst>
              </p:cNvPr>
              <p:cNvGrpSpPr/>
              <p:nvPr/>
            </p:nvGrpSpPr>
            <p:grpSpPr>
              <a:xfrm>
                <a:off x="6404562" y="2125822"/>
                <a:ext cx="5450854" cy="275671"/>
                <a:chOff x="-57370" y="2710927"/>
                <a:chExt cx="11168227" cy="718073"/>
              </a:xfrm>
            </p:grpSpPr>
            <p:cxnSp>
              <p:nvCxnSpPr>
                <p:cNvPr id="74" name="直接连接符 73">
                  <a:extLst>
                    <a:ext uri="{FF2B5EF4-FFF2-40B4-BE49-F238E27FC236}">
                      <a16:creationId xmlns:a16="http://schemas.microsoft.com/office/drawing/2014/main" id="{9A3244DE-3220-4A4C-B7DF-3CED6CEE7DD2}"/>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7330F1DE-0B88-4771-92A8-0A8C3B3E3737}"/>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7B2FA9A5-01C6-4CF6-9E39-640B3178643A}"/>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AE050DD4-B788-49CA-BCB6-A8822D21B811}"/>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8842B65E-E103-4AC8-8D98-70BD945DC3CD}"/>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B3479B8A-2B5C-4377-92F9-3E9FD9BF20CE}"/>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2EF1E210-FD85-4020-A98A-0F0019E303BB}"/>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BE9D18E3-6FC2-406B-9FF8-3231F9955A0C}"/>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E9E6CE9E-4099-4213-8F3B-B3FAB8C16530}"/>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0177848A-7636-4090-8142-96F2A280441F}"/>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5E0B769D-1D2E-42DF-BB6F-93B8BE992471}"/>
                    </a:ext>
                  </a:extLst>
                </p:cNvPr>
                <p:cNvCxnSpPr/>
                <p:nvPr userDrawn="1"/>
              </p:nvCxnSpPr>
              <p:spPr>
                <a:xfrm flipH="1">
                  <a:off x="678986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79B6235B-82C9-4A01-93EE-7362D0D447FC}"/>
                    </a:ext>
                  </a:extLst>
                </p:cNvPr>
                <p:cNvCxnSpPr/>
                <p:nvPr userDrawn="1"/>
              </p:nvCxnSpPr>
              <p:spPr>
                <a:xfrm flipH="1">
                  <a:off x="715025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99C5B603-3C43-43A1-A2BD-3099E56C94F1}"/>
                    </a:ext>
                  </a:extLst>
                </p:cNvPr>
                <p:cNvCxnSpPr/>
                <p:nvPr userDrawn="1"/>
              </p:nvCxnSpPr>
              <p:spPr>
                <a:xfrm flipH="1">
                  <a:off x="750704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F5A74904-53D4-4512-B3FC-358C5C1B8720}"/>
                    </a:ext>
                  </a:extLst>
                </p:cNvPr>
                <p:cNvCxnSpPr/>
                <p:nvPr userDrawn="1"/>
              </p:nvCxnSpPr>
              <p:spPr>
                <a:xfrm flipH="1">
                  <a:off x="786742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38DD517C-12ED-4EFA-9F44-D19E638E6552}"/>
                    </a:ext>
                  </a:extLst>
                </p:cNvPr>
                <p:cNvCxnSpPr/>
                <p:nvPr userDrawn="1"/>
              </p:nvCxnSpPr>
              <p:spPr>
                <a:xfrm flipH="1">
                  <a:off x="822780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B3971588-9823-4D17-8AA7-BD27DD546D75}"/>
                    </a:ext>
                  </a:extLst>
                </p:cNvPr>
                <p:cNvCxnSpPr/>
                <p:nvPr userDrawn="1"/>
              </p:nvCxnSpPr>
              <p:spPr>
                <a:xfrm flipH="1">
                  <a:off x="858819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7E5D3EA0-D8EE-44B5-96D5-8CA2FFBE57BE}"/>
                    </a:ext>
                  </a:extLst>
                </p:cNvPr>
                <p:cNvCxnSpPr/>
                <p:nvPr userDrawn="1"/>
              </p:nvCxnSpPr>
              <p:spPr>
                <a:xfrm flipH="1">
                  <a:off x="894857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FA4D8DFE-8292-45C7-A45F-47D87F01A9C6}"/>
                    </a:ext>
                  </a:extLst>
                </p:cNvPr>
                <p:cNvCxnSpPr/>
                <p:nvPr userDrawn="1"/>
              </p:nvCxnSpPr>
              <p:spPr>
                <a:xfrm flipH="1">
                  <a:off x="930895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3BFFDC9A-D57F-4F49-965F-B55FA83B2017}"/>
                    </a:ext>
                  </a:extLst>
                </p:cNvPr>
                <p:cNvCxnSpPr/>
                <p:nvPr userDrawn="1"/>
              </p:nvCxnSpPr>
              <p:spPr>
                <a:xfrm flipH="1">
                  <a:off x="966933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654C556C-7256-464A-A922-AC8B8BDAB59A}"/>
                    </a:ext>
                  </a:extLst>
                </p:cNvPr>
                <p:cNvCxnSpPr/>
                <p:nvPr userDrawn="1"/>
              </p:nvCxnSpPr>
              <p:spPr>
                <a:xfrm flipH="1">
                  <a:off x="1002971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5B90A3E1-967C-4E9B-8ECE-C64076461274}"/>
                    </a:ext>
                  </a:extLst>
                </p:cNvPr>
                <p:cNvCxnSpPr/>
                <p:nvPr userDrawn="1"/>
              </p:nvCxnSpPr>
              <p:spPr>
                <a:xfrm flipH="1">
                  <a:off x="1039009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F63B594F-4C7A-4765-8325-DD8726A21B9A}"/>
                    </a:ext>
                  </a:extLst>
                </p:cNvPr>
                <p:cNvCxnSpPr/>
                <p:nvPr userDrawn="1"/>
              </p:nvCxnSpPr>
              <p:spPr>
                <a:xfrm flipH="1">
                  <a:off x="-5737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70B8E5BE-FCD2-4CF0-A881-8A4B52C0652D}"/>
                    </a:ext>
                  </a:extLst>
                </p:cNvPr>
                <p:cNvCxnSpPr/>
                <p:nvPr userDrawn="1"/>
              </p:nvCxnSpPr>
              <p:spPr>
                <a:xfrm flipH="1">
                  <a:off x="30301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E44D60AB-C232-4613-BA8F-F73236FF7634}"/>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49BA76E3-66FF-462F-B92B-253337712444}"/>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113" name="直接连接符 112">
                <a:extLst>
                  <a:ext uri="{FF2B5EF4-FFF2-40B4-BE49-F238E27FC236}">
                    <a16:creationId xmlns:a16="http://schemas.microsoft.com/office/drawing/2014/main" id="{4D93A424-CDA7-4B5D-A3AC-935E9A50ED8A}"/>
                  </a:ext>
                </a:extLst>
              </p:cNvPr>
              <p:cNvCxnSpPr/>
              <p:nvPr/>
            </p:nvCxnSpPr>
            <p:spPr>
              <a:xfrm flipH="1">
                <a:off x="728763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8DB2100E-2A19-4ED8-9EE0-F33742E9DA8F}"/>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FFF52598-8789-40FD-8D66-F6C67A4CAB1D}"/>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116" name="组合 115">
              <a:extLst>
                <a:ext uri="{FF2B5EF4-FFF2-40B4-BE49-F238E27FC236}">
                  <a16:creationId xmlns:a16="http://schemas.microsoft.com/office/drawing/2014/main" id="{D9F474FE-5A39-43D0-BA02-72545C25588D}"/>
                </a:ext>
              </a:extLst>
            </p:cNvPr>
            <p:cNvGrpSpPr/>
            <p:nvPr/>
          </p:nvGrpSpPr>
          <p:grpSpPr>
            <a:xfrm>
              <a:off x="601928" y="2125822"/>
              <a:ext cx="5978525" cy="275672"/>
              <a:chOff x="601928" y="2125822"/>
              <a:chExt cx="5978525" cy="275672"/>
            </a:xfrm>
          </p:grpSpPr>
          <p:grpSp>
            <p:nvGrpSpPr>
              <p:cNvPr id="37" name="组合 36">
                <a:extLst>
                  <a:ext uri="{FF2B5EF4-FFF2-40B4-BE49-F238E27FC236}">
                    <a16:creationId xmlns:a16="http://schemas.microsoft.com/office/drawing/2014/main" id="{AED035F6-A88A-44E8-873A-250DB3CA3328}"/>
                  </a:ext>
                </a:extLst>
              </p:cNvPr>
              <p:cNvGrpSpPr/>
              <p:nvPr/>
            </p:nvGrpSpPr>
            <p:grpSpPr>
              <a:xfrm>
                <a:off x="601928" y="2125823"/>
                <a:ext cx="5978525" cy="275671"/>
                <a:chOff x="-57370" y="2710927"/>
                <a:chExt cx="12249370" cy="718073"/>
              </a:xfrm>
            </p:grpSpPr>
            <p:cxnSp>
              <p:nvCxnSpPr>
                <p:cNvPr id="38" name="直接连接符 37">
                  <a:extLst>
                    <a:ext uri="{FF2B5EF4-FFF2-40B4-BE49-F238E27FC236}">
                      <a16:creationId xmlns:a16="http://schemas.microsoft.com/office/drawing/2014/main" id="{C77AED74-FBCA-48B1-92B7-6ACC17EFAEAC}"/>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8224C5F1-44CC-4AA5-932D-74BD3EE0F571}"/>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18E8C0B8-A715-4911-8239-DEAF53AA7D31}"/>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E81B2B64-8ED3-4AA7-A4E5-56A0093EB8F8}"/>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8167A70A-A715-4FE5-8D8D-E3D840CF0643}"/>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C67B3D26-5052-4A3A-ACF2-7581CC234C2F}"/>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75B8212D-8597-4384-BB35-805EB191AFE9}"/>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102C046-2D72-4965-8725-4FBFA1845701}"/>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F73872C-8601-4566-B7C8-FD1AAF645BBF}"/>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664B96C5-CA87-4186-A3E5-D386CCF3A0F6}"/>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AA64C084-DABB-4C33-877D-57A307A2E442}"/>
                    </a:ext>
                  </a:extLst>
                </p:cNvPr>
                <p:cNvCxnSpPr/>
                <p:nvPr userDrawn="1"/>
              </p:nvCxnSpPr>
              <p:spPr>
                <a:xfrm flipH="1">
                  <a:off x="678986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66F37D16-5D74-4C9F-817D-6CBA9FE87BB9}"/>
                    </a:ext>
                  </a:extLst>
                </p:cNvPr>
                <p:cNvCxnSpPr/>
                <p:nvPr userDrawn="1"/>
              </p:nvCxnSpPr>
              <p:spPr>
                <a:xfrm flipH="1">
                  <a:off x="715025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E6273AB1-F773-4AD4-A11C-CA78D6877029}"/>
                    </a:ext>
                  </a:extLst>
                </p:cNvPr>
                <p:cNvCxnSpPr/>
                <p:nvPr userDrawn="1"/>
              </p:nvCxnSpPr>
              <p:spPr>
                <a:xfrm flipH="1">
                  <a:off x="822780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0A79BC11-12AF-4AB6-824F-F72C734B02C1}"/>
                    </a:ext>
                  </a:extLst>
                </p:cNvPr>
                <p:cNvCxnSpPr/>
                <p:nvPr userDrawn="1"/>
              </p:nvCxnSpPr>
              <p:spPr>
                <a:xfrm flipH="1">
                  <a:off x="930895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80058ECE-C00D-4CEC-9C1D-D5B4C775F505}"/>
                    </a:ext>
                  </a:extLst>
                </p:cNvPr>
                <p:cNvCxnSpPr/>
                <p:nvPr userDrawn="1"/>
              </p:nvCxnSpPr>
              <p:spPr>
                <a:xfrm flipH="1">
                  <a:off x="966933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0A0A9398-C174-4CD4-B638-362EF730474C}"/>
                    </a:ext>
                  </a:extLst>
                </p:cNvPr>
                <p:cNvCxnSpPr/>
                <p:nvPr userDrawn="1"/>
              </p:nvCxnSpPr>
              <p:spPr>
                <a:xfrm flipH="1">
                  <a:off x="1002971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155243C-E467-4B9D-BE00-B750EDFD5016}"/>
                    </a:ext>
                  </a:extLst>
                </p:cNvPr>
                <p:cNvCxnSpPr/>
                <p:nvPr userDrawn="1"/>
              </p:nvCxnSpPr>
              <p:spPr>
                <a:xfrm flipH="1">
                  <a:off x="1039009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232FF717-96E4-47F7-890E-6FADB088F7B4}"/>
                    </a:ext>
                  </a:extLst>
                </p:cNvPr>
                <p:cNvCxnSpPr/>
                <p:nvPr userDrawn="1"/>
              </p:nvCxnSpPr>
              <p:spPr>
                <a:xfrm flipH="1">
                  <a:off x="1075047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A1B00B07-7793-4159-92C2-BC339C329DAF}"/>
                    </a:ext>
                  </a:extLst>
                </p:cNvPr>
                <p:cNvCxnSpPr/>
                <p:nvPr userDrawn="1"/>
              </p:nvCxnSpPr>
              <p:spPr>
                <a:xfrm flipH="1">
                  <a:off x="1111085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1A4ADE0A-BC8E-46F4-942E-19B3046BB9A6}"/>
                    </a:ext>
                  </a:extLst>
                </p:cNvPr>
                <p:cNvCxnSpPr/>
                <p:nvPr userDrawn="1"/>
              </p:nvCxnSpPr>
              <p:spPr>
                <a:xfrm flipH="1">
                  <a:off x="1147123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66AADB75-8C57-40E8-BE2B-DB11EA4ED910}"/>
                    </a:ext>
                  </a:extLst>
                </p:cNvPr>
                <p:cNvCxnSpPr/>
                <p:nvPr userDrawn="1"/>
              </p:nvCxnSpPr>
              <p:spPr>
                <a:xfrm flipH="1">
                  <a:off x="-5737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E8B609E5-F6A5-48BC-9948-4FE4F7B98DF9}"/>
                    </a:ext>
                  </a:extLst>
                </p:cNvPr>
                <p:cNvCxnSpPr/>
                <p:nvPr userDrawn="1"/>
              </p:nvCxnSpPr>
              <p:spPr>
                <a:xfrm flipH="1">
                  <a:off x="30301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78419D5B-47A3-4A84-88B6-74A39604A2EA}"/>
                    </a:ext>
                  </a:extLst>
                </p:cNvPr>
                <p:cNvCxnSpPr/>
                <p:nvPr userDrawn="1"/>
              </p:nvCxnSpPr>
              <p:spPr>
                <a:xfrm flipH="1">
                  <a:off x="66339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825A675A-65B8-40FA-843E-9ED06834EE43}"/>
                    </a:ext>
                  </a:extLst>
                </p:cNvPr>
                <p:cNvCxnSpPr/>
                <p:nvPr userDrawn="1"/>
              </p:nvCxnSpPr>
              <p:spPr>
                <a:xfrm flipH="1">
                  <a:off x="102377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41216DE1-FC28-4D6C-8D17-B18C835944EF}"/>
                    </a:ext>
                  </a:extLst>
                </p:cNvPr>
                <p:cNvCxnSpPr/>
                <p:nvPr userDrawn="1"/>
              </p:nvCxnSpPr>
              <p:spPr>
                <a:xfrm flipH="1">
                  <a:off x="138415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9E206A5B-E797-44A5-9940-3D9855A262B9}"/>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31267DBE-1074-48B9-A926-041B354BC83F}"/>
                    </a:ext>
                  </a:extLst>
                </p:cNvPr>
                <p:cNvCxnSpPr/>
                <p:nvPr userDrawn="1"/>
              </p:nvCxnSpPr>
              <p:spPr>
                <a:xfrm flipH="1">
                  <a:off x="210491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B0161E3E-D4F8-4193-83FE-B2D786940AFF}"/>
                    </a:ext>
                  </a:extLst>
                </p:cNvPr>
                <p:cNvCxnSpPr/>
                <p:nvPr userDrawn="1"/>
              </p:nvCxnSpPr>
              <p:spPr>
                <a:xfrm flipH="1">
                  <a:off x="246529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710038C0-6420-47A1-AC5E-A409463F5EB5}"/>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110" name="直接连接符 109">
                <a:extLst>
                  <a:ext uri="{FF2B5EF4-FFF2-40B4-BE49-F238E27FC236}">
                    <a16:creationId xmlns:a16="http://schemas.microsoft.com/office/drawing/2014/main" id="{204A2F9A-0E25-4802-A41F-DA07E8D35CF8}"/>
                  </a:ext>
                </a:extLst>
              </p:cNvPr>
              <p:cNvCxnSpPr/>
              <p:nvPr/>
            </p:nvCxnSpPr>
            <p:spPr>
              <a:xfrm flipH="1">
                <a:off x="4297496"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F1518B6B-8853-47A5-B5B2-4C2F1392EA7C}"/>
                  </a:ext>
                </a:extLst>
              </p:cNvPr>
              <p:cNvCxnSpPr/>
              <p:nvPr/>
            </p:nvCxnSpPr>
            <p:spPr>
              <a:xfrm flipH="1">
                <a:off x="4473386"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A36278BA-AE61-4192-AABA-FDE21788EA89}"/>
                  </a:ext>
                </a:extLst>
              </p:cNvPr>
              <p:cNvCxnSpPr/>
              <p:nvPr/>
            </p:nvCxnSpPr>
            <p:spPr>
              <a:xfrm flipH="1">
                <a:off x="4649276"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矩形 1">
              <a:extLst>
                <a:ext uri="{FF2B5EF4-FFF2-40B4-BE49-F238E27FC236}">
                  <a16:creationId xmlns:a16="http://schemas.microsoft.com/office/drawing/2014/main" id="{C05E14B5-5135-4E49-B4AB-F8173930E9F1}"/>
                </a:ext>
              </a:extLst>
            </p:cNvPr>
            <p:cNvSpPr/>
            <p:nvPr/>
          </p:nvSpPr>
          <p:spPr>
            <a:xfrm>
              <a:off x="328612" y="1923644"/>
              <a:ext cx="11534775" cy="2304111"/>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矩形 70">
              <a:extLst>
                <a:ext uri="{FF2B5EF4-FFF2-40B4-BE49-F238E27FC236}">
                  <a16:creationId xmlns:a16="http://schemas.microsoft.com/office/drawing/2014/main" id="{833C7B57-4157-4667-BED8-FBD7DC6E2C6B}"/>
                </a:ext>
              </a:extLst>
            </p:cNvPr>
            <p:cNvSpPr/>
            <p:nvPr/>
          </p:nvSpPr>
          <p:spPr>
            <a:xfrm>
              <a:off x="328612" y="1923644"/>
              <a:ext cx="441235" cy="2304111"/>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a:extLst>
                <a:ext uri="{FF2B5EF4-FFF2-40B4-BE49-F238E27FC236}">
                  <a16:creationId xmlns:a16="http://schemas.microsoft.com/office/drawing/2014/main" id="{F9BD12C9-EB77-40F8-AF9B-520AD01D2129}"/>
                </a:ext>
              </a:extLst>
            </p:cNvPr>
            <p:cNvSpPr/>
            <p:nvPr/>
          </p:nvSpPr>
          <p:spPr>
            <a:xfrm>
              <a:off x="11422150" y="1923644"/>
              <a:ext cx="441237" cy="2304111"/>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a:extLst>
                <a:ext uri="{FF2B5EF4-FFF2-40B4-BE49-F238E27FC236}">
                  <a16:creationId xmlns:a16="http://schemas.microsoft.com/office/drawing/2014/main" id="{99E806EE-CCC5-427A-9148-94088707E338}"/>
                </a:ext>
              </a:extLst>
            </p:cNvPr>
            <p:cNvSpPr txBox="1"/>
            <p:nvPr/>
          </p:nvSpPr>
          <p:spPr>
            <a:xfrm>
              <a:off x="4937436" y="1971269"/>
              <a:ext cx="2317125" cy="584775"/>
            </a:xfrm>
            <a:prstGeom prst="rect">
              <a:avLst/>
            </a:prstGeom>
            <a:solidFill>
              <a:schemeClr val="bg1"/>
            </a:solidFill>
          </p:spPr>
          <p:txBody>
            <a:bodyPr wrap="square" rtlCol="0">
              <a:spAutoFit/>
            </a:bodyPr>
            <a:lstStyle/>
            <a:p>
              <a:pPr algn="ctr"/>
              <a:r>
                <a:rPr lang="en-US" altLang="zh-CN" sz="3200" dirty="0">
                  <a:solidFill>
                    <a:schemeClr val="tx2"/>
                  </a:solidFill>
                  <a:latin typeface="字魂59号-创粗黑" panose="00000500000000000000" pitchFamily="2" charset="-122"/>
                  <a:ea typeface="字魂59号-创粗黑" panose="00000500000000000000" pitchFamily="2" charset="-122"/>
                </a:rPr>
                <a:t>PART 2</a:t>
              </a:r>
              <a:endParaRPr lang="zh-CN" altLang="en-US" sz="3200" dirty="0">
                <a:solidFill>
                  <a:schemeClr val="tx2"/>
                </a:solidFill>
                <a:latin typeface="字魂59号-创粗黑" panose="00000500000000000000" pitchFamily="2" charset="-122"/>
                <a:ea typeface="字魂59号-创粗黑" panose="00000500000000000000" pitchFamily="2" charset="-122"/>
              </a:endParaRPr>
            </a:p>
          </p:txBody>
        </p:sp>
        <p:sp>
          <p:nvSpPr>
            <p:cNvPr id="109" name="文本框 108">
              <a:extLst>
                <a:ext uri="{FF2B5EF4-FFF2-40B4-BE49-F238E27FC236}">
                  <a16:creationId xmlns:a16="http://schemas.microsoft.com/office/drawing/2014/main" id="{25D69A26-5666-4F62-BAEF-535A1A52FB27}"/>
                </a:ext>
              </a:extLst>
            </p:cNvPr>
            <p:cNvSpPr txBox="1"/>
            <p:nvPr/>
          </p:nvSpPr>
          <p:spPr>
            <a:xfrm>
              <a:off x="2778613" y="2806792"/>
              <a:ext cx="6900117" cy="1015663"/>
            </a:xfrm>
            <a:prstGeom prst="rect">
              <a:avLst/>
            </a:prstGeom>
            <a:noFill/>
          </p:spPr>
          <p:txBody>
            <a:bodyPr wrap="square" rtlCol="0">
              <a:spAutoFit/>
            </a:bodyPr>
            <a:lstStyle/>
            <a:p>
              <a:r>
                <a:rPr lang="en-US" altLang="zh-CN" sz="6000" b="1" dirty="0">
                  <a:solidFill>
                    <a:schemeClr val="accent1"/>
                  </a:solidFill>
                  <a:latin typeface="字魂59号-创粗黑" panose="00000500000000000000" pitchFamily="2" charset="-122"/>
                  <a:ea typeface="字魂59号-创粗黑" panose="00000500000000000000" pitchFamily="2" charset="-122"/>
                </a:rPr>
                <a:t>BASELINE &amp; GRU</a:t>
              </a:r>
              <a:endParaRPr lang="zh-CN" altLang="en-US" sz="6000" b="1" dirty="0">
                <a:solidFill>
                  <a:schemeClr val="accent1"/>
                </a:solidFill>
                <a:latin typeface="字魂59号-创粗黑" panose="00000500000000000000" pitchFamily="2" charset="-122"/>
                <a:ea typeface="字魂59号-创粗黑" panose="00000500000000000000" pitchFamily="2" charset="-122"/>
              </a:endParaRPr>
            </a:p>
          </p:txBody>
        </p:sp>
      </p:grpSp>
    </p:spTree>
    <p:extLst>
      <p:ext uri="{BB962C8B-B14F-4D97-AF65-F5344CB8AC3E}">
        <p14:creationId xmlns:p14="http://schemas.microsoft.com/office/powerpoint/2010/main" val="2947617672"/>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A53A3-6F0E-7246-ABCB-910D9D7F35F9}"/>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F322D41-C1C0-8292-D406-7B07E3594FC8}"/>
              </a:ext>
            </a:extLst>
          </p:cNvPr>
          <p:cNvGrpSpPr/>
          <p:nvPr/>
        </p:nvGrpSpPr>
        <p:grpSpPr>
          <a:xfrm>
            <a:off x="-1" y="957421"/>
            <a:ext cx="12193200" cy="44820"/>
            <a:chOff x="1773217" y="5185185"/>
            <a:chExt cx="8645561" cy="44820"/>
          </a:xfrm>
        </p:grpSpPr>
        <p:cxnSp>
          <p:nvCxnSpPr>
            <p:cNvPr id="3" name="直接连接符 2">
              <a:extLst>
                <a:ext uri="{FF2B5EF4-FFF2-40B4-BE49-F238E27FC236}">
                  <a16:creationId xmlns:a16="http://schemas.microsoft.com/office/drawing/2014/main" id="{5E2FA1E9-0045-2420-B722-D259E4BB9D25}"/>
                </a:ext>
              </a:extLst>
            </p:cNvPr>
            <p:cNvCxnSpPr>
              <a:cxnSpLocks/>
            </p:cNvCxnSpPr>
            <p:nvPr userDrawn="1"/>
          </p:nvCxnSpPr>
          <p:spPr>
            <a:xfrm>
              <a:off x="1773218" y="51851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A3425763-AB56-228A-34E3-F9F4082875CA}"/>
                </a:ext>
              </a:extLst>
            </p:cNvPr>
            <p:cNvCxnSpPr>
              <a:cxnSpLocks/>
            </p:cNvCxnSpPr>
            <p:nvPr userDrawn="1"/>
          </p:nvCxnSpPr>
          <p:spPr>
            <a:xfrm>
              <a:off x="1773217" y="5230005"/>
              <a:ext cx="864556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AFC35BE1-FEF4-EC0C-80E2-A181D6247123}"/>
              </a:ext>
            </a:extLst>
          </p:cNvPr>
          <p:cNvSpPr txBox="1"/>
          <p:nvPr/>
        </p:nvSpPr>
        <p:spPr>
          <a:xfrm>
            <a:off x="158533" y="202191"/>
            <a:ext cx="5937467" cy="1200329"/>
          </a:xfrm>
          <a:prstGeom prst="rect">
            <a:avLst/>
          </a:prstGeom>
          <a:noFill/>
        </p:spPr>
        <p:txBody>
          <a:bodyPr wrap="square" rtlCol="0">
            <a:spAutoFit/>
          </a:bodyPr>
          <a:lstStyle/>
          <a:p>
            <a:r>
              <a:rPr lang="en-US" altLang="zh-CN" sz="3600" b="1" dirty="0">
                <a:solidFill>
                  <a:schemeClr val="accent1"/>
                </a:solidFill>
                <a:latin typeface="字魂59号-创粗黑" panose="00000500000000000000" pitchFamily="2" charset="-122"/>
                <a:ea typeface="字魂59号-创粗黑" panose="00000500000000000000" pitchFamily="2" charset="-122"/>
              </a:rPr>
              <a:t>2. BASELINE &amp; GRU</a:t>
            </a:r>
          </a:p>
          <a:p>
            <a:endParaRPr lang="en-US" altLang="zh-CN" sz="3600" b="1" dirty="0">
              <a:solidFill>
                <a:schemeClr val="accent1"/>
              </a:solidFill>
              <a:latin typeface="字魂59号-创粗黑" panose="00000500000000000000" pitchFamily="2" charset="-122"/>
              <a:ea typeface="字魂59号-创粗黑" panose="00000500000000000000" pitchFamily="2" charset="-122"/>
            </a:endParaRPr>
          </a:p>
        </p:txBody>
      </p:sp>
      <p:pic>
        <p:nvPicPr>
          <p:cNvPr id="52" name="图片 51">
            <a:extLst>
              <a:ext uri="{FF2B5EF4-FFF2-40B4-BE49-F238E27FC236}">
                <a16:creationId xmlns:a16="http://schemas.microsoft.com/office/drawing/2014/main" id="{34D03048-1C4E-4F6A-5190-401617E2F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49" y="5933398"/>
            <a:ext cx="850620" cy="850620"/>
          </a:xfrm>
          <a:prstGeom prst="rect">
            <a:avLst/>
          </a:prstGeom>
        </p:spPr>
      </p:pic>
      <p:grpSp>
        <p:nvGrpSpPr>
          <p:cNvPr id="104" name="组合 103">
            <a:extLst>
              <a:ext uri="{FF2B5EF4-FFF2-40B4-BE49-F238E27FC236}">
                <a16:creationId xmlns:a16="http://schemas.microsoft.com/office/drawing/2014/main" id="{FEBD6B6A-3D97-0104-3F7D-18022C74A2DD}"/>
              </a:ext>
            </a:extLst>
          </p:cNvPr>
          <p:cNvGrpSpPr/>
          <p:nvPr/>
        </p:nvGrpSpPr>
        <p:grpSpPr>
          <a:xfrm>
            <a:off x="6423214" y="408158"/>
            <a:ext cx="5459843" cy="275671"/>
            <a:chOff x="6423214" y="408158"/>
            <a:chExt cx="5459843" cy="275671"/>
          </a:xfrm>
        </p:grpSpPr>
        <p:grpSp>
          <p:nvGrpSpPr>
            <p:cNvPr id="53" name="组合 52">
              <a:extLst>
                <a:ext uri="{FF2B5EF4-FFF2-40B4-BE49-F238E27FC236}">
                  <a16:creationId xmlns:a16="http://schemas.microsoft.com/office/drawing/2014/main" id="{14EF7F2E-A498-D91D-A7F2-A65A0A3A92A0}"/>
                </a:ext>
              </a:extLst>
            </p:cNvPr>
            <p:cNvGrpSpPr/>
            <p:nvPr/>
          </p:nvGrpSpPr>
          <p:grpSpPr>
            <a:xfrm>
              <a:off x="6423214" y="408158"/>
              <a:ext cx="2817867" cy="275671"/>
              <a:chOff x="7104504" y="2125822"/>
              <a:chExt cx="2817867" cy="275671"/>
            </a:xfrm>
          </p:grpSpPr>
          <p:grpSp>
            <p:nvGrpSpPr>
              <p:cNvPr id="54" name="组合 53">
                <a:extLst>
                  <a:ext uri="{FF2B5EF4-FFF2-40B4-BE49-F238E27FC236}">
                    <a16:creationId xmlns:a16="http://schemas.microsoft.com/office/drawing/2014/main" id="{A5732B5D-775E-4ABD-1F7D-52BF9445F5AB}"/>
                  </a:ext>
                </a:extLst>
              </p:cNvPr>
              <p:cNvGrpSpPr/>
              <p:nvPr/>
            </p:nvGrpSpPr>
            <p:grpSpPr>
              <a:xfrm>
                <a:off x="7284014" y="2125822"/>
                <a:ext cx="2638357" cy="275671"/>
                <a:chOff x="1744535" y="2710927"/>
                <a:chExt cx="5405715" cy="718073"/>
              </a:xfrm>
            </p:grpSpPr>
            <p:cxnSp>
              <p:nvCxnSpPr>
                <p:cNvPr id="58" name="直接连接符 57">
                  <a:extLst>
                    <a:ext uri="{FF2B5EF4-FFF2-40B4-BE49-F238E27FC236}">
                      <a16:creationId xmlns:a16="http://schemas.microsoft.com/office/drawing/2014/main" id="{8B4F2C4E-F2B5-BF35-4DF6-EDD321923CFD}"/>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53D5B193-DF5B-6DF0-FA49-833214AEB699}"/>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92C44252-9BFA-EA36-FCC7-2F8066D9B1ED}"/>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FEF77AA-38DF-FC07-6CDF-A9DA68A05768}"/>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6FA209-392E-7742-DE1C-6326CBA1DC38}"/>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BED130A9-39F5-DC26-3930-7B05E503A2D7}"/>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9D2CED49-7370-A4F0-20F6-A8E61B470926}"/>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2C63E0D1-316C-D91A-5662-AE9BCE4F6483}"/>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16E07971-4662-C894-F4DA-4EA9833D10A8}"/>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71877151-5767-188C-9186-2F5680BECB15}"/>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151CB0B-D4F6-1D18-0832-F299C6D6EF70}"/>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A5254EC8-13AD-C9E5-A3D8-14296BBC36BB}"/>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55" name="直接连接符 54">
                <a:extLst>
                  <a:ext uri="{FF2B5EF4-FFF2-40B4-BE49-F238E27FC236}">
                    <a16:creationId xmlns:a16="http://schemas.microsoft.com/office/drawing/2014/main" id="{74DAEBDB-5052-E7AD-D8D3-3ECAB67EAD98}"/>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79057173-66CC-193F-9EEC-5763F8251373}"/>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57CC4DC4-0F03-4108-DC5C-08FF9023E377}"/>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87" name="组合 86">
              <a:extLst>
                <a:ext uri="{FF2B5EF4-FFF2-40B4-BE49-F238E27FC236}">
                  <a16:creationId xmlns:a16="http://schemas.microsoft.com/office/drawing/2014/main" id="{605BE782-88C9-64C0-109F-E3953321C0CE}"/>
                </a:ext>
              </a:extLst>
            </p:cNvPr>
            <p:cNvGrpSpPr/>
            <p:nvPr/>
          </p:nvGrpSpPr>
          <p:grpSpPr>
            <a:xfrm>
              <a:off x="9065190" y="408158"/>
              <a:ext cx="2817867" cy="275671"/>
              <a:chOff x="7104504" y="2125822"/>
              <a:chExt cx="2817867" cy="275671"/>
            </a:xfrm>
          </p:grpSpPr>
          <p:grpSp>
            <p:nvGrpSpPr>
              <p:cNvPr id="88" name="组合 87">
                <a:extLst>
                  <a:ext uri="{FF2B5EF4-FFF2-40B4-BE49-F238E27FC236}">
                    <a16:creationId xmlns:a16="http://schemas.microsoft.com/office/drawing/2014/main" id="{12B862A8-F0E1-AA5C-B931-4B3FACADC596}"/>
                  </a:ext>
                </a:extLst>
              </p:cNvPr>
              <p:cNvGrpSpPr/>
              <p:nvPr/>
            </p:nvGrpSpPr>
            <p:grpSpPr>
              <a:xfrm>
                <a:off x="7284014" y="2125822"/>
                <a:ext cx="2638357" cy="275671"/>
                <a:chOff x="1744535" y="2710927"/>
                <a:chExt cx="5405715" cy="718073"/>
              </a:xfrm>
            </p:grpSpPr>
            <p:cxnSp>
              <p:nvCxnSpPr>
                <p:cNvPr id="92" name="直接连接符 91">
                  <a:extLst>
                    <a:ext uri="{FF2B5EF4-FFF2-40B4-BE49-F238E27FC236}">
                      <a16:creationId xmlns:a16="http://schemas.microsoft.com/office/drawing/2014/main" id="{28F3122A-47F6-1C7F-744B-3C09B10D2963}"/>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3642FD9F-E835-948C-28DB-F371BA965D1D}"/>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76EDBA9A-166D-9C9D-1E5A-089C9DB189AE}"/>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D6195816-CBD7-DEDD-EBD0-68368BEFE19F}"/>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3BBC556D-4BB4-CADE-C6B3-32C879C30EE2}"/>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EE28324C-64FE-96E2-F107-555EBBAFC2F2}"/>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D14F8921-23BB-458D-9802-1D6A52E4D6C0}"/>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DA9D2D1E-74A1-A96C-CD6C-000F414F0BC7}"/>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EFA7FCB7-5038-28CE-6FB1-3E0709D1D189}"/>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5D8B283E-EE02-F368-C2ED-790614ECADAE}"/>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F3453E69-1347-8A67-5202-79427FE05752}"/>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F24E2738-F25E-8314-2090-CB41A6164173}"/>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89" name="直接连接符 88">
                <a:extLst>
                  <a:ext uri="{FF2B5EF4-FFF2-40B4-BE49-F238E27FC236}">
                    <a16:creationId xmlns:a16="http://schemas.microsoft.com/office/drawing/2014/main" id="{5DA04AAF-79CF-8287-7457-F4E0BB08B71E}"/>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3311E5AA-9FA0-72DB-3074-2FB52065B42F}"/>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9F1FD41A-EA8C-5A99-42C3-D52477F3F551}"/>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sp>
        <p:nvSpPr>
          <p:cNvPr id="105" name="文本框 104">
            <a:extLst>
              <a:ext uri="{FF2B5EF4-FFF2-40B4-BE49-F238E27FC236}">
                <a16:creationId xmlns:a16="http://schemas.microsoft.com/office/drawing/2014/main" id="{D7FD4261-29CB-A7C9-860C-A72A5337C6FE}"/>
              </a:ext>
            </a:extLst>
          </p:cNvPr>
          <p:cNvSpPr txBox="1"/>
          <p:nvPr/>
        </p:nvSpPr>
        <p:spPr>
          <a:xfrm>
            <a:off x="495459" y="1189585"/>
            <a:ext cx="6810827" cy="1015663"/>
          </a:xfrm>
          <a:prstGeom prst="rect">
            <a:avLst/>
          </a:prstGeom>
          <a:noFill/>
        </p:spPr>
        <p:txBody>
          <a:bodyPr wrap="square" rtlCol="0">
            <a:spAutoFit/>
          </a:bodyPr>
          <a:lstStyle/>
          <a:p>
            <a:r>
              <a:rPr lang="en-US" altLang="zh-CN" sz="2000" b="1" dirty="0">
                <a:solidFill>
                  <a:schemeClr val="accent1"/>
                </a:solidFill>
                <a:latin typeface="字魂59号-创粗黑" panose="00000500000000000000" pitchFamily="2" charset="-122"/>
                <a:ea typeface="字魂59号-创粗黑" panose="00000500000000000000" pitchFamily="2" charset="-122"/>
              </a:rPr>
              <a:t>2.1 Baseline Experimental Results</a:t>
            </a:r>
          </a:p>
          <a:p>
            <a:endParaRPr lang="en-US" altLang="zh-CN" sz="2000" b="1" dirty="0">
              <a:solidFill>
                <a:schemeClr val="accent1"/>
              </a:solidFill>
              <a:latin typeface="字魂59号-创粗黑" panose="00000500000000000000" pitchFamily="2" charset="-122"/>
              <a:ea typeface="字魂59号-创粗黑" panose="00000500000000000000" pitchFamily="2" charset="-122"/>
            </a:endParaRPr>
          </a:p>
          <a:p>
            <a:endParaRPr lang="zh-CN" altLang="en-US" sz="2000" b="1" dirty="0">
              <a:solidFill>
                <a:schemeClr val="accent1"/>
              </a:solidFill>
              <a:latin typeface="字魂59号-创粗黑" panose="00000500000000000000" pitchFamily="2" charset="-122"/>
              <a:ea typeface="字魂59号-创粗黑" panose="00000500000000000000" pitchFamily="2" charset="-122"/>
            </a:endParaRPr>
          </a:p>
        </p:txBody>
      </p:sp>
      <p:sp>
        <p:nvSpPr>
          <p:cNvPr id="9" name="文本框 8">
            <a:extLst>
              <a:ext uri="{FF2B5EF4-FFF2-40B4-BE49-F238E27FC236}">
                <a16:creationId xmlns:a16="http://schemas.microsoft.com/office/drawing/2014/main" id="{FA98FD98-E07D-2D5E-818F-379243EB175E}"/>
              </a:ext>
            </a:extLst>
          </p:cNvPr>
          <p:cNvSpPr txBox="1"/>
          <p:nvPr/>
        </p:nvSpPr>
        <p:spPr>
          <a:xfrm>
            <a:off x="920769" y="1697416"/>
            <a:ext cx="6687227" cy="7875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Baselines: Logistic Regression (L1) and Random Forest</a:t>
            </a:r>
          </a:p>
          <a:p>
            <a:pPr marL="285750" indent="-285750">
              <a:lnSpc>
                <a:spcPct val="150000"/>
              </a:lnSpc>
              <a:buFont typeface="Arial" panose="020B0604020202020204" pitchFamily="34" charset="0"/>
              <a:buChar char="•"/>
            </a:pPr>
            <a:endParaRPr lang="en-US" altLang="zh-CN" sz="1600" b="1" dirty="0">
              <a:latin typeface="字魂58号-创中黑" panose="00000500000000000000" pitchFamily="2" charset="-122"/>
              <a:ea typeface="字魂58号-创中黑" panose="00000500000000000000" pitchFamily="2" charset="-122"/>
            </a:endParaRPr>
          </a:p>
        </p:txBody>
      </p:sp>
      <p:sp>
        <p:nvSpPr>
          <p:cNvPr id="7" name="文本框 6">
            <a:extLst>
              <a:ext uri="{FF2B5EF4-FFF2-40B4-BE49-F238E27FC236}">
                <a16:creationId xmlns:a16="http://schemas.microsoft.com/office/drawing/2014/main" id="{A215F92E-B8B5-B272-F71E-70B38704C873}"/>
              </a:ext>
            </a:extLst>
          </p:cNvPr>
          <p:cNvSpPr txBox="1"/>
          <p:nvPr/>
        </p:nvSpPr>
        <p:spPr>
          <a:xfrm>
            <a:off x="1250067" y="3630741"/>
            <a:ext cx="6631862" cy="115685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Classification quality remains near-random in this run</a:t>
            </a:r>
          </a:p>
          <a:p>
            <a:pPr marL="285750" indent="-285750">
              <a:lnSpc>
                <a:spcPct val="150000"/>
              </a:lnSpc>
              <a:buFont typeface="Arial" panose="020B0604020202020204" pitchFamily="34" charset="0"/>
              <a:buChar char="•"/>
            </a:pPr>
            <a:endParaRPr lang="en-US" altLang="zh-CN" sz="1600" b="1" dirty="0">
              <a:latin typeface="字魂58号-创中黑" panose="00000500000000000000" pitchFamily="2" charset="-122"/>
              <a:ea typeface="字魂58号-创中黑" panose="00000500000000000000" pitchFamily="2" charset="-122"/>
            </a:endParaRPr>
          </a:p>
          <a:p>
            <a:pPr marL="285750"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These models define the empirical reference level</a:t>
            </a:r>
          </a:p>
        </p:txBody>
      </p:sp>
      <p:graphicFrame>
        <p:nvGraphicFramePr>
          <p:cNvPr id="8" name="表格 7">
            <a:extLst>
              <a:ext uri="{FF2B5EF4-FFF2-40B4-BE49-F238E27FC236}">
                <a16:creationId xmlns:a16="http://schemas.microsoft.com/office/drawing/2014/main" id="{2951FBB5-97A8-1176-0FE0-51D35B3371FA}"/>
              </a:ext>
            </a:extLst>
          </p:cNvPr>
          <p:cNvGraphicFramePr>
            <a:graphicFrameLocks noGrp="1"/>
          </p:cNvGraphicFramePr>
          <p:nvPr>
            <p:extLst>
              <p:ext uri="{D42A27DB-BD31-4B8C-83A1-F6EECF244321}">
                <p14:modId xmlns:p14="http://schemas.microsoft.com/office/powerpoint/2010/main" val="2181247825"/>
              </p:ext>
            </p:extLst>
          </p:nvPr>
        </p:nvGraphicFramePr>
        <p:xfrm>
          <a:off x="1250067" y="2392591"/>
          <a:ext cx="8522304" cy="917092"/>
        </p:xfrm>
        <a:graphic>
          <a:graphicData uri="http://schemas.openxmlformats.org/drawingml/2006/table">
            <a:tbl>
              <a:tblPr>
                <a:tableStyleId>{3C2FFA5D-87B4-456A-9821-1D502468CF0F}</a:tableStyleId>
              </a:tblPr>
              <a:tblGrid>
                <a:gridCol w="1740783">
                  <a:extLst>
                    <a:ext uri="{9D8B030D-6E8A-4147-A177-3AD203B41FA5}">
                      <a16:colId xmlns:a16="http://schemas.microsoft.com/office/drawing/2014/main" val="1204198851"/>
                    </a:ext>
                  </a:extLst>
                </a:gridCol>
                <a:gridCol w="1099985">
                  <a:extLst>
                    <a:ext uri="{9D8B030D-6E8A-4147-A177-3AD203B41FA5}">
                      <a16:colId xmlns:a16="http://schemas.microsoft.com/office/drawing/2014/main" val="793928142"/>
                    </a:ext>
                  </a:extLst>
                </a:gridCol>
                <a:gridCol w="1420384">
                  <a:extLst>
                    <a:ext uri="{9D8B030D-6E8A-4147-A177-3AD203B41FA5}">
                      <a16:colId xmlns:a16="http://schemas.microsoft.com/office/drawing/2014/main" val="1942556433"/>
                    </a:ext>
                  </a:extLst>
                </a:gridCol>
                <a:gridCol w="1420384">
                  <a:extLst>
                    <a:ext uri="{9D8B030D-6E8A-4147-A177-3AD203B41FA5}">
                      <a16:colId xmlns:a16="http://schemas.microsoft.com/office/drawing/2014/main" val="3212433543"/>
                    </a:ext>
                  </a:extLst>
                </a:gridCol>
                <a:gridCol w="1420384">
                  <a:extLst>
                    <a:ext uri="{9D8B030D-6E8A-4147-A177-3AD203B41FA5}">
                      <a16:colId xmlns:a16="http://schemas.microsoft.com/office/drawing/2014/main" val="2372778003"/>
                    </a:ext>
                  </a:extLst>
                </a:gridCol>
                <a:gridCol w="1420384">
                  <a:extLst>
                    <a:ext uri="{9D8B030D-6E8A-4147-A177-3AD203B41FA5}">
                      <a16:colId xmlns:a16="http://schemas.microsoft.com/office/drawing/2014/main" val="1375343533"/>
                    </a:ext>
                  </a:extLst>
                </a:gridCol>
              </a:tblGrid>
              <a:tr h="321481">
                <a:tc>
                  <a:txBody>
                    <a:bodyPr/>
                    <a:lstStyle/>
                    <a:p>
                      <a:pPr algn="l" fontAlgn="ctr">
                        <a:buNone/>
                      </a:pPr>
                      <a:r>
                        <a:rPr lang="en-US" sz="1800" b="1" u="none" strike="noStrike" dirty="0">
                          <a:solidFill>
                            <a:schemeClr val="bg1"/>
                          </a:solidFill>
                          <a:effectLst/>
                        </a:rPr>
                        <a:t>Model</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dirty="0">
                          <a:solidFill>
                            <a:schemeClr val="bg1"/>
                          </a:solidFill>
                          <a:effectLst/>
                        </a:rPr>
                        <a:t>accuracy</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dirty="0">
                          <a:solidFill>
                            <a:schemeClr val="bg1"/>
                          </a:solidFill>
                          <a:effectLst/>
                        </a:rPr>
                        <a:t>precision</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dirty="0">
                          <a:solidFill>
                            <a:schemeClr val="bg1"/>
                          </a:solidFill>
                          <a:effectLst/>
                        </a:rPr>
                        <a:t>recall</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dirty="0">
                          <a:solidFill>
                            <a:schemeClr val="bg1"/>
                          </a:solidFill>
                          <a:effectLst/>
                        </a:rPr>
                        <a:t>f1</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dirty="0" err="1">
                          <a:solidFill>
                            <a:schemeClr val="bg1"/>
                          </a:solidFill>
                          <a:effectLst/>
                        </a:rPr>
                        <a:t>auc</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2337519133"/>
                  </a:ext>
                </a:extLst>
              </a:tr>
              <a:tr h="314325">
                <a:tc>
                  <a:txBody>
                    <a:bodyPr/>
                    <a:lstStyle/>
                    <a:p>
                      <a:pPr algn="l" fontAlgn="ctr">
                        <a:buNone/>
                      </a:pPr>
                      <a:r>
                        <a:rPr lang="en-US" sz="1600" b="1" u="none" strike="noStrike" dirty="0">
                          <a:solidFill>
                            <a:srgbClr val="000000"/>
                          </a:solidFill>
                          <a:effectLst/>
                        </a:rPr>
                        <a:t>Baseline-LR(L1)</a:t>
                      </a:r>
                      <a:endParaRPr lang="en-US" sz="1600" b="1"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0.499</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0.495</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0.659</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0.565</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0.493</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4249148346"/>
                  </a:ext>
                </a:extLst>
              </a:tr>
              <a:tr h="281286">
                <a:tc>
                  <a:txBody>
                    <a:bodyPr/>
                    <a:lstStyle/>
                    <a:p>
                      <a:pPr algn="l" fontAlgn="ctr">
                        <a:buNone/>
                      </a:pPr>
                      <a:r>
                        <a:rPr lang="en-US" sz="1600" b="1" u="none" strike="noStrike" dirty="0">
                          <a:solidFill>
                            <a:srgbClr val="000000"/>
                          </a:solidFill>
                          <a:effectLst/>
                        </a:rPr>
                        <a:t>Baseline-RF</a:t>
                      </a:r>
                      <a:endParaRPr lang="en-US" sz="1600" b="1"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0.499</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0.485</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0.227</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0.31</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0.456</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837166744"/>
                  </a:ext>
                </a:extLst>
              </a:tr>
            </a:tbl>
          </a:graphicData>
        </a:graphic>
      </p:graphicFrame>
      <p:pic>
        <p:nvPicPr>
          <p:cNvPr id="6" name="图片 5">
            <a:hlinkClick r:id="rId4"/>
            <a:extLst>
              <a:ext uri="{FF2B5EF4-FFF2-40B4-BE49-F238E27FC236}">
                <a16:creationId xmlns:a16="http://schemas.microsoft.com/office/drawing/2014/main" id="{7F66AE30-9AE1-13C7-FBF7-60E9A408F558}"/>
              </a:ext>
            </a:extLst>
          </p:cNvPr>
          <p:cNvPicPr>
            <a:picLocks noChangeAspect="1"/>
          </p:cNvPicPr>
          <p:nvPr/>
        </p:nvPicPr>
        <p:blipFill>
          <a:blip r:embed="rId5">
            <a:extLst>
              <a:ext uri="{28A0092B-C50C-407E-A947-70E740481C1C}">
                <a14:useLocalDpi xmlns:a14="http://schemas.microsoft.com/office/drawing/2010/main" val="0"/>
              </a:ext>
            </a:extLst>
          </a:blip>
          <a:srcRect l="8048"/>
          <a:stretch>
            <a:fillRect/>
          </a:stretch>
        </p:blipFill>
        <p:spPr>
          <a:xfrm>
            <a:off x="5130670" y="1201243"/>
            <a:ext cx="380549" cy="388620"/>
          </a:xfrm>
          <a:prstGeom prst="rect">
            <a:avLst/>
          </a:prstGeom>
        </p:spPr>
      </p:pic>
    </p:spTree>
    <p:extLst>
      <p:ext uri="{BB962C8B-B14F-4D97-AF65-F5344CB8AC3E}">
        <p14:creationId xmlns:p14="http://schemas.microsoft.com/office/powerpoint/2010/main" val="2721219520"/>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E8343-D355-5D71-4BCC-88DA41A799EE}"/>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7E8E0645-D670-7AF1-9256-70AEF3BBD37B}"/>
              </a:ext>
            </a:extLst>
          </p:cNvPr>
          <p:cNvGrpSpPr/>
          <p:nvPr/>
        </p:nvGrpSpPr>
        <p:grpSpPr>
          <a:xfrm>
            <a:off x="-1" y="957421"/>
            <a:ext cx="12193200" cy="44820"/>
            <a:chOff x="1773217" y="5185185"/>
            <a:chExt cx="8645561" cy="44820"/>
          </a:xfrm>
        </p:grpSpPr>
        <p:cxnSp>
          <p:nvCxnSpPr>
            <p:cNvPr id="3" name="直接连接符 2">
              <a:extLst>
                <a:ext uri="{FF2B5EF4-FFF2-40B4-BE49-F238E27FC236}">
                  <a16:creationId xmlns:a16="http://schemas.microsoft.com/office/drawing/2014/main" id="{1860AC8A-2688-60C0-367D-9F650A244292}"/>
                </a:ext>
              </a:extLst>
            </p:cNvPr>
            <p:cNvCxnSpPr>
              <a:cxnSpLocks/>
            </p:cNvCxnSpPr>
            <p:nvPr userDrawn="1"/>
          </p:nvCxnSpPr>
          <p:spPr>
            <a:xfrm>
              <a:off x="1773218" y="51851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472951DA-6897-C575-5A1B-1B5957A6F041}"/>
                </a:ext>
              </a:extLst>
            </p:cNvPr>
            <p:cNvCxnSpPr>
              <a:cxnSpLocks/>
            </p:cNvCxnSpPr>
            <p:nvPr userDrawn="1"/>
          </p:nvCxnSpPr>
          <p:spPr>
            <a:xfrm>
              <a:off x="1773217" y="5230005"/>
              <a:ext cx="864556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60234074-E0DF-D32F-5376-F9AFB53D4F7C}"/>
              </a:ext>
            </a:extLst>
          </p:cNvPr>
          <p:cNvSpPr txBox="1"/>
          <p:nvPr/>
        </p:nvSpPr>
        <p:spPr>
          <a:xfrm>
            <a:off x="158533" y="202191"/>
            <a:ext cx="5937467" cy="1200329"/>
          </a:xfrm>
          <a:prstGeom prst="rect">
            <a:avLst/>
          </a:prstGeom>
          <a:noFill/>
        </p:spPr>
        <p:txBody>
          <a:bodyPr wrap="square" rtlCol="0">
            <a:spAutoFit/>
          </a:bodyPr>
          <a:lstStyle/>
          <a:p>
            <a:r>
              <a:rPr lang="en-US" altLang="zh-CN" sz="3600" b="1" dirty="0">
                <a:solidFill>
                  <a:schemeClr val="accent1"/>
                </a:solidFill>
                <a:latin typeface="字魂59号-创粗黑" panose="00000500000000000000" pitchFamily="2" charset="-122"/>
                <a:ea typeface="字魂59号-创粗黑" panose="00000500000000000000" pitchFamily="2" charset="-122"/>
              </a:rPr>
              <a:t>2. BASELINE &amp; GRU</a:t>
            </a:r>
          </a:p>
          <a:p>
            <a:endParaRPr lang="en-US" altLang="zh-CN" sz="3600" b="1" dirty="0">
              <a:solidFill>
                <a:schemeClr val="accent1"/>
              </a:solidFill>
              <a:latin typeface="字魂59号-创粗黑" panose="00000500000000000000" pitchFamily="2" charset="-122"/>
              <a:ea typeface="字魂59号-创粗黑" panose="00000500000000000000" pitchFamily="2" charset="-122"/>
            </a:endParaRPr>
          </a:p>
        </p:txBody>
      </p:sp>
      <p:pic>
        <p:nvPicPr>
          <p:cNvPr id="52" name="图片 51">
            <a:extLst>
              <a:ext uri="{FF2B5EF4-FFF2-40B4-BE49-F238E27FC236}">
                <a16:creationId xmlns:a16="http://schemas.microsoft.com/office/drawing/2014/main" id="{609D1A8C-E394-32D3-1826-A48FC401C6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49" y="5933398"/>
            <a:ext cx="850620" cy="850620"/>
          </a:xfrm>
          <a:prstGeom prst="rect">
            <a:avLst/>
          </a:prstGeom>
        </p:spPr>
      </p:pic>
      <p:grpSp>
        <p:nvGrpSpPr>
          <p:cNvPr id="104" name="组合 103">
            <a:extLst>
              <a:ext uri="{FF2B5EF4-FFF2-40B4-BE49-F238E27FC236}">
                <a16:creationId xmlns:a16="http://schemas.microsoft.com/office/drawing/2014/main" id="{A45FA5B6-8153-C74C-8F79-C571414EB8DB}"/>
              </a:ext>
            </a:extLst>
          </p:cNvPr>
          <p:cNvGrpSpPr/>
          <p:nvPr/>
        </p:nvGrpSpPr>
        <p:grpSpPr>
          <a:xfrm>
            <a:off x="6423214" y="408158"/>
            <a:ext cx="5459843" cy="275671"/>
            <a:chOff x="6423214" y="408158"/>
            <a:chExt cx="5459843" cy="275671"/>
          </a:xfrm>
        </p:grpSpPr>
        <p:grpSp>
          <p:nvGrpSpPr>
            <p:cNvPr id="53" name="组合 52">
              <a:extLst>
                <a:ext uri="{FF2B5EF4-FFF2-40B4-BE49-F238E27FC236}">
                  <a16:creationId xmlns:a16="http://schemas.microsoft.com/office/drawing/2014/main" id="{55ED5516-1F55-48F7-10C8-AD7A26DDD674}"/>
                </a:ext>
              </a:extLst>
            </p:cNvPr>
            <p:cNvGrpSpPr/>
            <p:nvPr/>
          </p:nvGrpSpPr>
          <p:grpSpPr>
            <a:xfrm>
              <a:off x="6423214" y="408158"/>
              <a:ext cx="2817867" cy="275671"/>
              <a:chOff x="7104504" y="2125822"/>
              <a:chExt cx="2817867" cy="275671"/>
            </a:xfrm>
          </p:grpSpPr>
          <p:grpSp>
            <p:nvGrpSpPr>
              <p:cNvPr id="54" name="组合 53">
                <a:extLst>
                  <a:ext uri="{FF2B5EF4-FFF2-40B4-BE49-F238E27FC236}">
                    <a16:creationId xmlns:a16="http://schemas.microsoft.com/office/drawing/2014/main" id="{698C93BD-619F-5556-3B5E-49390F6B3B38}"/>
                  </a:ext>
                </a:extLst>
              </p:cNvPr>
              <p:cNvGrpSpPr/>
              <p:nvPr/>
            </p:nvGrpSpPr>
            <p:grpSpPr>
              <a:xfrm>
                <a:off x="7284014" y="2125822"/>
                <a:ext cx="2638357" cy="275671"/>
                <a:chOff x="1744535" y="2710927"/>
                <a:chExt cx="5405715" cy="718073"/>
              </a:xfrm>
            </p:grpSpPr>
            <p:cxnSp>
              <p:nvCxnSpPr>
                <p:cNvPr id="58" name="直接连接符 57">
                  <a:extLst>
                    <a:ext uri="{FF2B5EF4-FFF2-40B4-BE49-F238E27FC236}">
                      <a16:creationId xmlns:a16="http://schemas.microsoft.com/office/drawing/2014/main" id="{04675770-1DB5-A265-37D0-60D7A7F9F040}"/>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C80FF3C6-BDDD-9DCC-5D3A-A2B62D8FD458}"/>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62AF0FE9-D383-E8F5-5A8A-AF00186C3CC6}"/>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CD122564-5E97-5BC7-7B61-920CE049BE80}"/>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BEB3C11B-B446-E70D-2A11-D39422154748}"/>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B4B22AC9-FCC8-499D-B55D-AD8C9E57F1D4}"/>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15CFDA77-EB33-D327-114B-061A68BF79F0}"/>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8B223AAF-28D9-0EAF-8074-A5D8A58E569D}"/>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6C69069F-64E9-CF42-D915-075097CA0EAB}"/>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1ED5241B-D12B-50DE-42DA-066A2CC89028}"/>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DF927A49-3356-3B08-64DD-BDF7F092CEFA}"/>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AB70F713-B4E4-654C-2849-37B2F3A8FF62}"/>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55" name="直接连接符 54">
                <a:extLst>
                  <a:ext uri="{FF2B5EF4-FFF2-40B4-BE49-F238E27FC236}">
                    <a16:creationId xmlns:a16="http://schemas.microsoft.com/office/drawing/2014/main" id="{1D0F302C-2647-9B80-7DB3-920639E2E6D6}"/>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0BAD196-751F-12A8-5FBE-0E070237761D}"/>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088199B9-47EF-6F53-B0CB-65C7D43D14BA}"/>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87" name="组合 86">
              <a:extLst>
                <a:ext uri="{FF2B5EF4-FFF2-40B4-BE49-F238E27FC236}">
                  <a16:creationId xmlns:a16="http://schemas.microsoft.com/office/drawing/2014/main" id="{84B3EE5D-DAB0-FDF4-78B3-65110CF5E46C}"/>
                </a:ext>
              </a:extLst>
            </p:cNvPr>
            <p:cNvGrpSpPr/>
            <p:nvPr/>
          </p:nvGrpSpPr>
          <p:grpSpPr>
            <a:xfrm>
              <a:off x="9065190" y="408158"/>
              <a:ext cx="2817867" cy="275671"/>
              <a:chOff x="7104504" y="2125822"/>
              <a:chExt cx="2817867" cy="275671"/>
            </a:xfrm>
          </p:grpSpPr>
          <p:grpSp>
            <p:nvGrpSpPr>
              <p:cNvPr id="88" name="组合 87">
                <a:extLst>
                  <a:ext uri="{FF2B5EF4-FFF2-40B4-BE49-F238E27FC236}">
                    <a16:creationId xmlns:a16="http://schemas.microsoft.com/office/drawing/2014/main" id="{F204F85F-E073-32F4-8E89-6DED549E8387}"/>
                  </a:ext>
                </a:extLst>
              </p:cNvPr>
              <p:cNvGrpSpPr/>
              <p:nvPr/>
            </p:nvGrpSpPr>
            <p:grpSpPr>
              <a:xfrm>
                <a:off x="7284014" y="2125822"/>
                <a:ext cx="2638357" cy="275671"/>
                <a:chOff x="1744535" y="2710927"/>
                <a:chExt cx="5405715" cy="718073"/>
              </a:xfrm>
            </p:grpSpPr>
            <p:cxnSp>
              <p:nvCxnSpPr>
                <p:cNvPr id="92" name="直接连接符 91">
                  <a:extLst>
                    <a:ext uri="{FF2B5EF4-FFF2-40B4-BE49-F238E27FC236}">
                      <a16:creationId xmlns:a16="http://schemas.microsoft.com/office/drawing/2014/main" id="{0FD8B2EB-46F7-AE7D-7AA6-0A6B22643ED4}"/>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8F1D1DBB-F759-286F-2F1B-776B858655CA}"/>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6F8FB50A-2893-CE27-103B-E7452D57475F}"/>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DD525AF8-5B45-1B80-C5D5-0268C6468800}"/>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52E7EDCD-FCAE-8B5F-A017-7B903CED3DEF}"/>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A2FF1E79-547E-71B1-1EAD-D4B6C000BB63}"/>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07FC34F5-095F-AEA9-F963-7D0F5E26935F}"/>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267F3EBF-5357-78AA-F60B-544A9850A7B8}"/>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ED9D2C89-2C67-A0F0-8BB6-6290F97A956C}"/>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0EB22E22-8CC2-E28C-5E39-F2B272FC07EC}"/>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FE10AC51-2C73-0221-88B8-CE9EE37F1974}"/>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412CB7CC-F7D7-06B8-959E-7626FE592E11}"/>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89" name="直接连接符 88">
                <a:extLst>
                  <a:ext uri="{FF2B5EF4-FFF2-40B4-BE49-F238E27FC236}">
                    <a16:creationId xmlns:a16="http://schemas.microsoft.com/office/drawing/2014/main" id="{33D84583-C8FD-34D6-9E21-17F286A818EC}"/>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813FE3AA-2A20-2795-E945-4AD3FFB61FAC}"/>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32AA5392-57D5-2799-AF49-74CA27037D7B}"/>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sp>
        <p:nvSpPr>
          <p:cNvPr id="105" name="文本框 104">
            <a:extLst>
              <a:ext uri="{FF2B5EF4-FFF2-40B4-BE49-F238E27FC236}">
                <a16:creationId xmlns:a16="http://schemas.microsoft.com/office/drawing/2014/main" id="{D33B0500-4444-D966-8ECF-EBEB7E8FE7FE}"/>
              </a:ext>
            </a:extLst>
          </p:cNvPr>
          <p:cNvSpPr txBox="1"/>
          <p:nvPr/>
        </p:nvSpPr>
        <p:spPr>
          <a:xfrm>
            <a:off x="495459" y="1189585"/>
            <a:ext cx="6810827" cy="1015663"/>
          </a:xfrm>
          <a:prstGeom prst="rect">
            <a:avLst/>
          </a:prstGeom>
          <a:noFill/>
        </p:spPr>
        <p:txBody>
          <a:bodyPr wrap="square" rtlCol="0">
            <a:spAutoFit/>
          </a:bodyPr>
          <a:lstStyle/>
          <a:p>
            <a:r>
              <a:rPr lang="en-US" altLang="zh-CN" sz="2000" b="1" dirty="0">
                <a:solidFill>
                  <a:schemeClr val="accent1"/>
                </a:solidFill>
                <a:latin typeface="字魂59号-创粗黑" panose="00000500000000000000" pitchFamily="2" charset="-122"/>
                <a:ea typeface="字魂59号-创粗黑" panose="00000500000000000000" pitchFamily="2" charset="-122"/>
              </a:rPr>
              <a:t>2.1 Baseline Experimental Results</a:t>
            </a:r>
          </a:p>
          <a:p>
            <a:endParaRPr lang="en-US" altLang="zh-CN" sz="2000" b="1" dirty="0">
              <a:solidFill>
                <a:schemeClr val="accent1"/>
              </a:solidFill>
              <a:latin typeface="字魂59号-创粗黑" panose="00000500000000000000" pitchFamily="2" charset="-122"/>
              <a:ea typeface="字魂59号-创粗黑" panose="00000500000000000000" pitchFamily="2" charset="-122"/>
            </a:endParaRPr>
          </a:p>
          <a:p>
            <a:endParaRPr lang="zh-CN" altLang="en-US" sz="2000" b="1" dirty="0">
              <a:solidFill>
                <a:schemeClr val="accent1"/>
              </a:solidFill>
              <a:latin typeface="字魂59号-创粗黑" panose="00000500000000000000" pitchFamily="2" charset="-122"/>
              <a:ea typeface="字魂59号-创粗黑" panose="00000500000000000000" pitchFamily="2" charset="-122"/>
            </a:endParaRPr>
          </a:p>
        </p:txBody>
      </p:sp>
      <p:sp>
        <p:nvSpPr>
          <p:cNvPr id="9" name="文本框 8">
            <a:extLst>
              <a:ext uri="{FF2B5EF4-FFF2-40B4-BE49-F238E27FC236}">
                <a16:creationId xmlns:a16="http://schemas.microsoft.com/office/drawing/2014/main" id="{3F96C63C-0886-1B3B-8E0E-D70C606C4C8D}"/>
              </a:ext>
            </a:extLst>
          </p:cNvPr>
          <p:cNvSpPr txBox="1"/>
          <p:nvPr/>
        </p:nvSpPr>
        <p:spPr>
          <a:xfrm>
            <a:off x="920769" y="1697416"/>
            <a:ext cx="6687227" cy="7875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Baselines: Logistic Regression (L1) and Random Forest</a:t>
            </a:r>
          </a:p>
          <a:p>
            <a:pPr marL="285750" indent="-285750">
              <a:lnSpc>
                <a:spcPct val="150000"/>
              </a:lnSpc>
              <a:buFont typeface="Arial" panose="020B0604020202020204" pitchFamily="34" charset="0"/>
              <a:buChar char="•"/>
            </a:pPr>
            <a:endParaRPr lang="en-US" altLang="zh-CN" sz="1600" b="1" dirty="0">
              <a:latin typeface="字魂58号-创中黑" panose="00000500000000000000" pitchFamily="2" charset="-122"/>
              <a:ea typeface="字魂58号-创中黑" panose="00000500000000000000" pitchFamily="2" charset="-122"/>
            </a:endParaRPr>
          </a:p>
        </p:txBody>
      </p:sp>
      <p:sp>
        <p:nvSpPr>
          <p:cNvPr id="7" name="文本框 6">
            <a:extLst>
              <a:ext uri="{FF2B5EF4-FFF2-40B4-BE49-F238E27FC236}">
                <a16:creationId xmlns:a16="http://schemas.microsoft.com/office/drawing/2014/main" id="{FCE79B56-5F99-2B2C-7968-6A5EA5117137}"/>
              </a:ext>
            </a:extLst>
          </p:cNvPr>
          <p:cNvSpPr txBox="1"/>
          <p:nvPr/>
        </p:nvSpPr>
        <p:spPr>
          <a:xfrm>
            <a:off x="1250067" y="3708914"/>
            <a:ext cx="6631862" cy="115685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Classification quality remains near-random in this run</a:t>
            </a:r>
          </a:p>
          <a:p>
            <a:pPr marL="285750" indent="-285750">
              <a:lnSpc>
                <a:spcPct val="150000"/>
              </a:lnSpc>
              <a:buFont typeface="Arial" panose="020B0604020202020204" pitchFamily="34" charset="0"/>
              <a:buChar char="•"/>
            </a:pPr>
            <a:endParaRPr lang="en-US" altLang="zh-CN" sz="1600" b="1" dirty="0">
              <a:latin typeface="字魂58号-创中黑" panose="00000500000000000000" pitchFamily="2" charset="-122"/>
              <a:ea typeface="字魂58号-创中黑" panose="00000500000000000000" pitchFamily="2" charset="-122"/>
            </a:endParaRPr>
          </a:p>
          <a:p>
            <a:pPr marL="285750"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These models define the empirical reference level</a:t>
            </a:r>
          </a:p>
        </p:txBody>
      </p:sp>
      <p:graphicFrame>
        <p:nvGraphicFramePr>
          <p:cNvPr id="8" name="表格 7">
            <a:extLst>
              <a:ext uri="{FF2B5EF4-FFF2-40B4-BE49-F238E27FC236}">
                <a16:creationId xmlns:a16="http://schemas.microsoft.com/office/drawing/2014/main" id="{F8CB36BB-D2FD-F1F3-2CC7-99E46F7B30A8}"/>
              </a:ext>
            </a:extLst>
          </p:cNvPr>
          <p:cNvGraphicFramePr>
            <a:graphicFrameLocks noGrp="1"/>
          </p:cNvGraphicFramePr>
          <p:nvPr/>
        </p:nvGraphicFramePr>
        <p:xfrm>
          <a:off x="1250067" y="2505908"/>
          <a:ext cx="8522304" cy="917092"/>
        </p:xfrm>
        <a:graphic>
          <a:graphicData uri="http://schemas.openxmlformats.org/drawingml/2006/table">
            <a:tbl>
              <a:tblPr>
                <a:tableStyleId>{3C2FFA5D-87B4-456A-9821-1D502468CF0F}</a:tableStyleId>
              </a:tblPr>
              <a:tblGrid>
                <a:gridCol w="1740783">
                  <a:extLst>
                    <a:ext uri="{9D8B030D-6E8A-4147-A177-3AD203B41FA5}">
                      <a16:colId xmlns:a16="http://schemas.microsoft.com/office/drawing/2014/main" val="1204198851"/>
                    </a:ext>
                  </a:extLst>
                </a:gridCol>
                <a:gridCol w="1099985">
                  <a:extLst>
                    <a:ext uri="{9D8B030D-6E8A-4147-A177-3AD203B41FA5}">
                      <a16:colId xmlns:a16="http://schemas.microsoft.com/office/drawing/2014/main" val="793928142"/>
                    </a:ext>
                  </a:extLst>
                </a:gridCol>
                <a:gridCol w="1420384">
                  <a:extLst>
                    <a:ext uri="{9D8B030D-6E8A-4147-A177-3AD203B41FA5}">
                      <a16:colId xmlns:a16="http://schemas.microsoft.com/office/drawing/2014/main" val="1942556433"/>
                    </a:ext>
                  </a:extLst>
                </a:gridCol>
                <a:gridCol w="1420384">
                  <a:extLst>
                    <a:ext uri="{9D8B030D-6E8A-4147-A177-3AD203B41FA5}">
                      <a16:colId xmlns:a16="http://schemas.microsoft.com/office/drawing/2014/main" val="3212433543"/>
                    </a:ext>
                  </a:extLst>
                </a:gridCol>
                <a:gridCol w="1420384">
                  <a:extLst>
                    <a:ext uri="{9D8B030D-6E8A-4147-A177-3AD203B41FA5}">
                      <a16:colId xmlns:a16="http://schemas.microsoft.com/office/drawing/2014/main" val="2372778003"/>
                    </a:ext>
                  </a:extLst>
                </a:gridCol>
                <a:gridCol w="1420384">
                  <a:extLst>
                    <a:ext uri="{9D8B030D-6E8A-4147-A177-3AD203B41FA5}">
                      <a16:colId xmlns:a16="http://schemas.microsoft.com/office/drawing/2014/main" val="1375343533"/>
                    </a:ext>
                  </a:extLst>
                </a:gridCol>
              </a:tblGrid>
              <a:tr h="321481">
                <a:tc>
                  <a:txBody>
                    <a:bodyPr/>
                    <a:lstStyle/>
                    <a:p>
                      <a:pPr algn="l" fontAlgn="ctr">
                        <a:buNone/>
                      </a:pPr>
                      <a:r>
                        <a:rPr lang="en-US" sz="1800" b="1" u="none" strike="noStrike" dirty="0">
                          <a:solidFill>
                            <a:schemeClr val="bg1"/>
                          </a:solidFill>
                          <a:effectLst/>
                        </a:rPr>
                        <a:t>Model</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dirty="0">
                          <a:solidFill>
                            <a:schemeClr val="bg1"/>
                          </a:solidFill>
                          <a:effectLst/>
                        </a:rPr>
                        <a:t>accuracy</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dirty="0">
                          <a:solidFill>
                            <a:schemeClr val="bg1"/>
                          </a:solidFill>
                          <a:effectLst/>
                        </a:rPr>
                        <a:t>precision</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dirty="0">
                          <a:solidFill>
                            <a:schemeClr val="bg1"/>
                          </a:solidFill>
                          <a:effectLst/>
                        </a:rPr>
                        <a:t>recall</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dirty="0">
                          <a:solidFill>
                            <a:schemeClr val="bg1"/>
                          </a:solidFill>
                          <a:effectLst/>
                        </a:rPr>
                        <a:t>f1</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dirty="0" err="1">
                          <a:solidFill>
                            <a:schemeClr val="bg1"/>
                          </a:solidFill>
                          <a:effectLst/>
                        </a:rPr>
                        <a:t>auc</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2337519133"/>
                  </a:ext>
                </a:extLst>
              </a:tr>
              <a:tr h="314325">
                <a:tc>
                  <a:txBody>
                    <a:bodyPr/>
                    <a:lstStyle/>
                    <a:p>
                      <a:pPr algn="l" fontAlgn="ctr">
                        <a:buNone/>
                      </a:pPr>
                      <a:r>
                        <a:rPr lang="en-US" sz="1600" b="1" u="none" strike="noStrike" dirty="0">
                          <a:solidFill>
                            <a:srgbClr val="000000"/>
                          </a:solidFill>
                          <a:effectLst/>
                        </a:rPr>
                        <a:t>Baseline-LR(L1)</a:t>
                      </a:r>
                      <a:endParaRPr lang="en-US" sz="1600" b="1"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a:solidFill>
                            <a:srgbClr val="000000"/>
                          </a:solidFill>
                          <a:effectLst/>
                        </a:rPr>
                        <a:t>0.498876</a:t>
                      </a:r>
                      <a:endParaRPr lang="en-US" altLang="zh-CN" sz="16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0.494881</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a:solidFill>
                            <a:srgbClr val="000000"/>
                          </a:solidFill>
                          <a:effectLst/>
                        </a:rPr>
                        <a:t>0.659091</a:t>
                      </a:r>
                      <a:endParaRPr lang="en-US" altLang="zh-CN" sz="16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a:solidFill>
                            <a:srgbClr val="000000"/>
                          </a:solidFill>
                          <a:effectLst/>
                        </a:rPr>
                        <a:t>0.565302</a:t>
                      </a:r>
                      <a:endParaRPr lang="en-US" altLang="zh-CN" sz="16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0.493394</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4249148346"/>
                  </a:ext>
                </a:extLst>
              </a:tr>
              <a:tr h="281286">
                <a:tc>
                  <a:txBody>
                    <a:bodyPr/>
                    <a:lstStyle/>
                    <a:p>
                      <a:pPr algn="l" fontAlgn="ctr">
                        <a:buNone/>
                      </a:pPr>
                      <a:r>
                        <a:rPr lang="en-US" sz="1600" b="1" u="none" strike="noStrike" dirty="0">
                          <a:solidFill>
                            <a:srgbClr val="000000"/>
                          </a:solidFill>
                          <a:effectLst/>
                        </a:rPr>
                        <a:t>Baseline-RF</a:t>
                      </a:r>
                      <a:endParaRPr lang="en-US" sz="1600" b="1"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a:solidFill>
                            <a:srgbClr val="000000"/>
                          </a:solidFill>
                          <a:effectLst/>
                        </a:rPr>
                        <a:t>0.498876</a:t>
                      </a:r>
                      <a:endParaRPr lang="en-US" altLang="zh-CN" sz="16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0.485437</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a:solidFill>
                            <a:srgbClr val="000000"/>
                          </a:solidFill>
                          <a:effectLst/>
                        </a:rPr>
                        <a:t>0.227273</a:t>
                      </a:r>
                      <a:endParaRPr lang="en-US" altLang="zh-CN" sz="16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0.309598</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0.456323</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837166744"/>
                  </a:ext>
                </a:extLst>
              </a:tr>
            </a:tbl>
          </a:graphicData>
        </a:graphic>
      </p:graphicFrame>
      <p:pic>
        <p:nvPicPr>
          <p:cNvPr id="10" name="图片 9">
            <a:extLst>
              <a:ext uri="{FF2B5EF4-FFF2-40B4-BE49-F238E27FC236}">
                <a16:creationId xmlns:a16="http://schemas.microsoft.com/office/drawing/2014/main" id="{EAEBDC44-8069-E3C4-549D-BD29342D36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3678" y="1608875"/>
            <a:ext cx="6561407" cy="5249125"/>
          </a:xfrm>
          <a:prstGeom prst="rect">
            <a:avLst/>
          </a:prstGeom>
        </p:spPr>
      </p:pic>
      <p:sp>
        <p:nvSpPr>
          <p:cNvPr id="12" name="文本框 11">
            <a:extLst>
              <a:ext uri="{FF2B5EF4-FFF2-40B4-BE49-F238E27FC236}">
                <a16:creationId xmlns:a16="http://schemas.microsoft.com/office/drawing/2014/main" id="{690BFB4F-FAC8-446C-53B5-143A5D261DF1}"/>
              </a:ext>
            </a:extLst>
          </p:cNvPr>
          <p:cNvSpPr txBox="1"/>
          <p:nvPr/>
        </p:nvSpPr>
        <p:spPr>
          <a:xfrm>
            <a:off x="7534192" y="2484939"/>
            <a:ext cx="4476357" cy="3285900"/>
          </a:xfrm>
          <a:prstGeom prst="rect">
            <a:avLst/>
          </a:prstGeom>
          <a:solidFill>
            <a:schemeClr val="bg1"/>
          </a:solidFill>
        </p:spPr>
        <p:txBody>
          <a:bodyPr wrap="square">
            <a:spAutoFit/>
          </a:bodyPr>
          <a:lstStyle/>
          <a:p>
            <a:pPr marL="285750" indent="-285750">
              <a:lnSpc>
                <a:spcPct val="150000"/>
              </a:lnSpc>
              <a:buFont typeface="Arial" panose="020B0604020202020204" pitchFamily="34" charset="0"/>
              <a:buChar char="•"/>
            </a:pPr>
            <a:r>
              <a:rPr lang="en-US" altLang="zh-CN" sz="1400" b="1" dirty="0">
                <a:latin typeface="字魂58号-创中黑" panose="00000500000000000000" pitchFamily="2" charset="-122"/>
                <a:ea typeface="字魂58号-创中黑" panose="00000500000000000000" pitchFamily="2" charset="-122"/>
              </a:rPr>
              <a:t>Random Forest importance plot shows:</a:t>
            </a:r>
          </a:p>
          <a:p>
            <a:pPr marL="742950" lvl="1" indent="-285750">
              <a:lnSpc>
                <a:spcPct val="150000"/>
              </a:lnSpc>
              <a:buFont typeface="Arial" panose="020B0604020202020204" pitchFamily="34" charset="0"/>
              <a:buChar char="•"/>
            </a:pPr>
            <a:r>
              <a:rPr lang="en-US" altLang="zh-CN" sz="1400" dirty="0">
                <a:latin typeface="字魂58号-创中黑" panose="00000500000000000000" pitchFamily="2" charset="-122"/>
                <a:ea typeface="字魂58号-创中黑" panose="00000500000000000000" pitchFamily="2" charset="-122"/>
              </a:rPr>
              <a:t>Short-horizon return and activity-related variables contribute most to baseline predictions; </a:t>
            </a:r>
          </a:p>
          <a:p>
            <a:pPr marL="742950" lvl="1" indent="-285750">
              <a:lnSpc>
                <a:spcPct val="150000"/>
              </a:lnSpc>
              <a:buFont typeface="Arial" panose="020B0604020202020204" pitchFamily="34" charset="0"/>
              <a:buChar char="•"/>
            </a:pPr>
            <a:r>
              <a:rPr lang="en-US" altLang="zh-CN" sz="1400" dirty="0">
                <a:latin typeface="字魂58号-创中黑" panose="00000500000000000000" pitchFamily="2" charset="-122"/>
                <a:ea typeface="字魂58号-创中黑" panose="00000500000000000000" pitchFamily="2" charset="-122"/>
              </a:rPr>
              <a:t>While many other features have relatively limited marginal contribution.</a:t>
            </a:r>
          </a:p>
          <a:p>
            <a:pPr marL="285750" indent="-285750">
              <a:lnSpc>
                <a:spcPct val="150000"/>
              </a:lnSpc>
              <a:buFont typeface="Arial" panose="020B0604020202020204" pitchFamily="34" charset="0"/>
              <a:buChar char="•"/>
            </a:pPr>
            <a:r>
              <a:rPr lang="en-US" altLang="zh-CN" sz="1400" b="1" dirty="0">
                <a:latin typeface="字魂58号-创中黑" panose="00000500000000000000" pitchFamily="2" charset="-122"/>
                <a:ea typeface="字魂58号-创中黑" panose="00000500000000000000" pitchFamily="2" charset="-122"/>
              </a:rPr>
              <a:t>Explanation: </a:t>
            </a:r>
            <a:r>
              <a:rPr lang="en-US" altLang="zh-CN" sz="1400" dirty="0">
                <a:latin typeface="字魂58号-创中黑" panose="00000500000000000000" pitchFamily="2" charset="-122"/>
                <a:ea typeface="字魂58号-创中黑" panose="00000500000000000000" pitchFamily="2" charset="-122"/>
              </a:rPr>
              <a:t>This indicates that the baseline model is driven by a concentrated subset of signals rather than broad, uniform feature usage.</a:t>
            </a:r>
          </a:p>
        </p:txBody>
      </p:sp>
    </p:spTree>
    <p:extLst>
      <p:ext uri="{BB962C8B-B14F-4D97-AF65-F5344CB8AC3E}">
        <p14:creationId xmlns:p14="http://schemas.microsoft.com/office/powerpoint/2010/main" val="4147829806"/>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F3C74-5771-0256-24C3-E1EC779162AC}"/>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8865B4B-AD1D-48FF-DD7C-7FD34BEB5561}"/>
              </a:ext>
            </a:extLst>
          </p:cNvPr>
          <p:cNvGrpSpPr/>
          <p:nvPr/>
        </p:nvGrpSpPr>
        <p:grpSpPr>
          <a:xfrm>
            <a:off x="-1" y="957421"/>
            <a:ext cx="12193200" cy="44820"/>
            <a:chOff x="1773217" y="5185185"/>
            <a:chExt cx="8645561" cy="44820"/>
          </a:xfrm>
        </p:grpSpPr>
        <p:cxnSp>
          <p:nvCxnSpPr>
            <p:cNvPr id="3" name="直接连接符 2">
              <a:extLst>
                <a:ext uri="{FF2B5EF4-FFF2-40B4-BE49-F238E27FC236}">
                  <a16:creationId xmlns:a16="http://schemas.microsoft.com/office/drawing/2014/main" id="{8DE19B4C-A4C0-E615-15AF-FBBD75B1C6C9}"/>
                </a:ext>
              </a:extLst>
            </p:cNvPr>
            <p:cNvCxnSpPr>
              <a:cxnSpLocks/>
            </p:cNvCxnSpPr>
            <p:nvPr userDrawn="1"/>
          </p:nvCxnSpPr>
          <p:spPr>
            <a:xfrm>
              <a:off x="1773218" y="51851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FFD659DC-8A29-993E-AB35-D06330152602}"/>
                </a:ext>
              </a:extLst>
            </p:cNvPr>
            <p:cNvCxnSpPr>
              <a:cxnSpLocks/>
            </p:cNvCxnSpPr>
            <p:nvPr userDrawn="1"/>
          </p:nvCxnSpPr>
          <p:spPr>
            <a:xfrm>
              <a:off x="1773217" y="5230005"/>
              <a:ext cx="864556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81FD009B-769A-26C7-44F8-D32DC5D65B98}"/>
              </a:ext>
            </a:extLst>
          </p:cNvPr>
          <p:cNvSpPr txBox="1"/>
          <p:nvPr/>
        </p:nvSpPr>
        <p:spPr>
          <a:xfrm>
            <a:off x="158533" y="202191"/>
            <a:ext cx="7140514" cy="1754326"/>
          </a:xfrm>
          <a:prstGeom prst="rect">
            <a:avLst/>
          </a:prstGeom>
          <a:noFill/>
        </p:spPr>
        <p:txBody>
          <a:bodyPr wrap="square" rtlCol="0">
            <a:spAutoFit/>
          </a:bodyPr>
          <a:lstStyle/>
          <a:p>
            <a:r>
              <a:rPr lang="en-US" altLang="zh-CN" sz="3600" b="1" dirty="0">
                <a:solidFill>
                  <a:schemeClr val="accent1"/>
                </a:solidFill>
                <a:latin typeface="字魂59号-创粗黑" panose="00000500000000000000" pitchFamily="2" charset="-122"/>
                <a:ea typeface="字魂59号-创粗黑" panose="00000500000000000000" pitchFamily="2" charset="-122"/>
              </a:rPr>
              <a:t>2. BASELINE &amp; GRU</a:t>
            </a:r>
          </a:p>
          <a:p>
            <a:endParaRPr lang="en-US" altLang="zh-CN" sz="3600" b="1" dirty="0">
              <a:solidFill>
                <a:schemeClr val="accent1"/>
              </a:solidFill>
              <a:latin typeface="字魂59号-创粗黑" panose="00000500000000000000" pitchFamily="2" charset="-122"/>
              <a:ea typeface="字魂59号-创粗黑" panose="00000500000000000000" pitchFamily="2" charset="-122"/>
            </a:endParaRPr>
          </a:p>
          <a:p>
            <a:endParaRPr lang="en-US" altLang="zh-CN" sz="3600" b="1" dirty="0">
              <a:solidFill>
                <a:schemeClr val="accent1"/>
              </a:solidFill>
              <a:latin typeface="字魂59号-创粗黑" panose="00000500000000000000" pitchFamily="2" charset="-122"/>
              <a:ea typeface="字魂59号-创粗黑" panose="00000500000000000000" pitchFamily="2" charset="-122"/>
            </a:endParaRPr>
          </a:p>
        </p:txBody>
      </p:sp>
      <p:pic>
        <p:nvPicPr>
          <p:cNvPr id="52" name="图片 51">
            <a:extLst>
              <a:ext uri="{FF2B5EF4-FFF2-40B4-BE49-F238E27FC236}">
                <a16:creationId xmlns:a16="http://schemas.microsoft.com/office/drawing/2014/main" id="{F996FA34-487F-DA30-2244-6E971A2DDA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49" y="5933398"/>
            <a:ext cx="850620" cy="850620"/>
          </a:xfrm>
          <a:prstGeom prst="rect">
            <a:avLst/>
          </a:prstGeom>
        </p:spPr>
      </p:pic>
      <p:grpSp>
        <p:nvGrpSpPr>
          <p:cNvPr id="87" name="组合 86">
            <a:extLst>
              <a:ext uri="{FF2B5EF4-FFF2-40B4-BE49-F238E27FC236}">
                <a16:creationId xmlns:a16="http://schemas.microsoft.com/office/drawing/2014/main" id="{A209B32B-C5F5-F15B-0E62-2D9A3B8AFAC3}"/>
              </a:ext>
            </a:extLst>
          </p:cNvPr>
          <p:cNvGrpSpPr/>
          <p:nvPr/>
        </p:nvGrpSpPr>
        <p:grpSpPr>
          <a:xfrm>
            <a:off x="9065190" y="408158"/>
            <a:ext cx="2817867" cy="275671"/>
            <a:chOff x="7104504" y="2125822"/>
            <a:chExt cx="2817867" cy="275671"/>
          </a:xfrm>
        </p:grpSpPr>
        <p:grpSp>
          <p:nvGrpSpPr>
            <p:cNvPr id="88" name="组合 87">
              <a:extLst>
                <a:ext uri="{FF2B5EF4-FFF2-40B4-BE49-F238E27FC236}">
                  <a16:creationId xmlns:a16="http://schemas.microsoft.com/office/drawing/2014/main" id="{0391263C-F0EE-1962-016F-368DB114C66D}"/>
                </a:ext>
              </a:extLst>
            </p:cNvPr>
            <p:cNvGrpSpPr/>
            <p:nvPr/>
          </p:nvGrpSpPr>
          <p:grpSpPr>
            <a:xfrm>
              <a:off x="7284014" y="2125822"/>
              <a:ext cx="2638357" cy="275671"/>
              <a:chOff x="1744535" y="2710927"/>
              <a:chExt cx="5405715" cy="718073"/>
            </a:xfrm>
          </p:grpSpPr>
          <p:cxnSp>
            <p:nvCxnSpPr>
              <p:cNvPr id="92" name="直接连接符 91">
                <a:extLst>
                  <a:ext uri="{FF2B5EF4-FFF2-40B4-BE49-F238E27FC236}">
                    <a16:creationId xmlns:a16="http://schemas.microsoft.com/office/drawing/2014/main" id="{E695536E-415F-A377-347A-4F47149F6B47}"/>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19668495-76F2-BE7F-5C59-14C98F5F4FB7}"/>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02EC5043-992A-D8DC-3FD2-09E164817789}"/>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897E1E3E-FC04-7A89-4989-E423932CF008}"/>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C50DC121-F12F-F190-808C-C351D6086EC6}"/>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AFBB5E63-7194-D680-DCE9-1B1ED01428DA}"/>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F8F7B9D5-6426-DD54-9A05-BBA110D00577}"/>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2EC76840-B73F-1E85-4748-7CB156EA45BA}"/>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BA73CC85-3FC5-80F1-D6B2-791BC3E906A1}"/>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086C9E94-15A6-0084-0346-444B2D5FC01D}"/>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949C15EC-BAE3-D1A4-27EF-8BA18C8A3B79}"/>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DD7F58CE-5E1F-2B18-0BED-4F639229A7CF}"/>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89" name="直接连接符 88">
              <a:extLst>
                <a:ext uri="{FF2B5EF4-FFF2-40B4-BE49-F238E27FC236}">
                  <a16:creationId xmlns:a16="http://schemas.microsoft.com/office/drawing/2014/main" id="{D5DDAF8F-FD0C-BDBE-7843-6C02593079E5}"/>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EE3A1117-4C21-BC07-8231-DCFD01EF9A60}"/>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7F64DE06-BC1B-4871-7AAE-5E706D4FE26E}"/>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05" name="文本框 104">
            <a:extLst>
              <a:ext uri="{FF2B5EF4-FFF2-40B4-BE49-F238E27FC236}">
                <a16:creationId xmlns:a16="http://schemas.microsoft.com/office/drawing/2014/main" id="{CC898844-D240-DCC5-A034-573257906D70}"/>
              </a:ext>
            </a:extLst>
          </p:cNvPr>
          <p:cNvSpPr txBox="1"/>
          <p:nvPr/>
        </p:nvSpPr>
        <p:spPr>
          <a:xfrm>
            <a:off x="495459" y="1189585"/>
            <a:ext cx="6810827" cy="1015663"/>
          </a:xfrm>
          <a:prstGeom prst="rect">
            <a:avLst/>
          </a:prstGeom>
          <a:noFill/>
        </p:spPr>
        <p:txBody>
          <a:bodyPr wrap="square" rtlCol="0">
            <a:spAutoFit/>
          </a:bodyPr>
          <a:lstStyle/>
          <a:p>
            <a:r>
              <a:rPr lang="en-US" altLang="zh-CN" sz="2000" b="1" dirty="0">
                <a:solidFill>
                  <a:schemeClr val="accent1"/>
                </a:solidFill>
                <a:latin typeface="字魂59号-创粗黑" panose="00000500000000000000" pitchFamily="2" charset="-122"/>
                <a:ea typeface="字魂59号-创粗黑" panose="00000500000000000000" pitchFamily="2" charset="-122"/>
              </a:rPr>
              <a:t>2.2 GRU Modeling and Experimental Results</a:t>
            </a:r>
          </a:p>
          <a:p>
            <a:endParaRPr lang="en-US" altLang="zh-CN" sz="2000" b="1" dirty="0">
              <a:solidFill>
                <a:schemeClr val="accent1"/>
              </a:solidFill>
              <a:latin typeface="字魂59号-创粗黑" panose="00000500000000000000" pitchFamily="2" charset="-122"/>
              <a:ea typeface="字魂59号-创粗黑" panose="00000500000000000000" pitchFamily="2" charset="-122"/>
            </a:endParaRPr>
          </a:p>
          <a:p>
            <a:endParaRPr lang="zh-CN" altLang="en-US" sz="2000" b="1" dirty="0">
              <a:solidFill>
                <a:schemeClr val="accent1"/>
              </a:solidFill>
              <a:latin typeface="字魂59号-创粗黑" panose="00000500000000000000" pitchFamily="2" charset="-122"/>
              <a:ea typeface="字魂59号-创粗黑" panose="00000500000000000000" pitchFamily="2" charset="-122"/>
            </a:endParaRPr>
          </a:p>
        </p:txBody>
      </p:sp>
      <p:sp>
        <p:nvSpPr>
          <p:cNvPr id="9" name="文本框 8">
            <a:extLst>
              <a:ext uri="{FF2B5EF4-FFF2-40B4-BE49-F238E27FC236}">
                <a16:creationId xmlns:a16="http://schemas.microsoft.com/office/drawing/2014/main" id="{8AED7660-E068-CC95-CF3A-1E0C25D57CBD}"/>
              </a:ext>
            </a:extLst>
          </p:cNvPr>
          <p:cNvSpPr txBox="1"/>
          <p:nvPr/>
        </p:nvSpPr>
        <p:spPr>
          <a:xfrm>
            <a:off x="920769" y="1697416"/>
            <a:ext cx="7968531" cy="7875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GRU setup: </a:t>
            </a:r>
            <a:r>
              <a:rPr lang="en-US" altLang="zh-CN" sz="1600" dirty="0">
                <a:latin typeface="字魂58号-创中黑" panose="00000500000000000000" pitchFamily="2" charset="-122"/>
                <a:ea typeface="字魂58号-创中黑" panose="00000500000000000000" pitchFamily="2" charset="-122"/>
              </a:rPr>
              <a:t>temporal split (70/15/15), class-weighted BCE</a:t>
            </a:r>
          </a:p>
          <a:p>
            <a:pPr marL="742950" lvl="1"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Key Hyperparameters: </a:t>
            </a:r>
            <a:r>
              <a:rPr lang="en-US" altLang="zh-CN" sz="1600" dirty="0" err="1">
                <a:latin typeface="字魂58号-创中黑" panose="00000500000000000000" pitchFamily="2" charset="-122"/>
                <a:ea typeface="字魂58号-创中黑" panose="00000500000000000000" pitchFamily="2" charset="-122"/>
              </a:rPr>
              <a:t>seq_len</a:t>
            </a:r>
            <a:r>
              <a:rPr lang="en-US" altLang="zh-CN" sz="1600" dirty="0">
                <a:latin typeface="字魂58号-创中黑" panose="00000500000000000000" pitchFamily="2" charset="-122"/>
                <a:ea typeface="字魂58号-创中黑" panose="00000500000000000000" pitchFamily="2" charset="-122"/>
              </a:rPr>
              <a:t>=10, </a:t>
            </a:r>
            <a:r>
              <a:rPr lang="en-US" altLang="zh-CN" sz="1600" dirty="0" err="1">
                <a:latin typeface="字魂58号-创中黑" panose="00000500000000000000" pitchFamily="2" charset="-122"/>
                <a:ea typeface="字魂58号-创中黑" panose="00000500000000000000" pitchFamily="2" charset="-122"/>
              </a:rPr>
              <a:t>hidden_size</a:t>
            </a:r>
            <a:r>
              <a:rPr lang="en-US" altLang="zh-CN" sz="1600" dirty="0">
                <a:latin typeface="字魂58号-创中黑" panose="00000500000000000000" pitchFamily="2" charset="-122"/>
                <a:ea typeface="字魂58号-创中黑" panose="00000500000000000000" pitchFamily="2" charset="-122"/>
              </a:rPr>
              <a:t>=32, </a:t>
            </a:r>
            <a:r>
              <a:rPr lang="en-US" altLang="zh-CN" sz="1600" dirty="0" err="1">
                <a:latin typeface="字魂58号-创中黑" panose="00000500000000000000" pitchFamily="2" charset="-122"/>
                <a:ea typeface="字魂58号-创中黑" panose="00000500000000000000" pitchFamily="2" charset="-122"/>
              </a:rPr>
              <a:t>lr</a:t>
            </a:r>
            <a:r>
              <a:rPr lang="en-US" altLang="zh-CN" sz="1600" dirty="0">
                <a:latin typeface="字魂58号-创中黑" panose="00000500000000000000" pitchFamily="2" charset="-122"/>
                <a:ea typeface="字魂58号-创中黑" panose="00000500000000000000" pitchFamily="2" charset="-122"/>
              </a:rPr>
              <a:t>=5e-4</a:t>
            </a:r>
          </a:p>
        </p:txBody>
      </p:sp>
      <p:graphicFrame>
        <p:nvGraphicFramePr>
          <p:cNvPr id="8" name="表格 7">
            <a:extLst>
              <a:ext uri="{FF2B5EF4-FFF2-40B4-BE49-F238E27FC236}">
                <a16:creationId xmlns:a16="http://schemas.microsoft.com/office/drawing/2014/main" id="{CB909E0B-B762-C749-399C-9D2F4687F989}"/>
              </a:ext>
            </a:extLst>
          </p:cNvPr>
          <p:cNvGraphicFramePr>
            <a:graphicFrameLocks noGrp="1"/>
          </p:cNvGraphicFramePr>
          <p:nvPr/>
        </p:nvGraphicFramePr>
        <p:xfrm>
          <a:off x="1209524" y="2724823"/>
          <a:ext cx="8522304" cy="1198378"/>
        </p:xfrm>
        <a:graphic>
          <a:graphicData uri="http://schemas.openxmlformats.org/drawingml/2006/table">
            <a:tbl>
              <a:tblPr>
                <a:tableStyleId>{3C2FFA5D-87B4-456A-9821-1D502468CF0F}</a:tableStyleId>
              </a:tblPr>
              <a:tblGrid>
                <a:gridCol w="1740783">
                  <a:extLst>
                    <a:ext uri="{9D8B030D-6E8A-4147-A177-3AD203B41FA5}">
                      <a16:colId xmlns:a16="http://schemas.microsoft.com/office/drawing/2014/main" val="1204198851"/>
                    </a:ext>
                  </a:extLst>
                </a:gridCol>
                <a:gridCol w="1099985">
                  <a:extLst>
                    <a:ext uri="{9D8B030D-6E8A-4147-A177-3AD203B41FA5}">
                      <a16:colId xmlns:a16="http://schemas.microsoft.com/office/drawing/2014/main" val="793928142"/>
                    </a:ext>
                  </a:extLst>
                </a:gridCol>
                <a:gridCol w="1420384">
                  <a:extLst>
                    <a:ext uri="{9D8B030D-6E8A-4147-A177-3AD203B41FA5}">
                      <a16:colId xmlns:a16="http://schemas.microsoft.com/office/drawing/2014/main" val="1942556433"/>
                    </a:ext>
                  </a:extLst>
                </a:gridCol>
                <a:gridCol w="1420384">
                  <a:extLst>
                    <a:ext uri="{9D8B030D-6E8A-4147-A177-3AD203B41FA5}">
                      <a16:colId xmlns:a16="http://schemas.microsoft.com/office/drawing/2014/main" val="3212433543"/>
                    </a:ext>
                  </a:extLst>
                </a:gridCol>
                <a:gridCol w="1420384">
                  <a:extLst>
                    <a:ext uri="{9D8B030D-6E8A-4147-A177-3AD203B41FA5}">
                      <a16:colId xmlns:a16="http://schemas.microsoft.com/office/drawing/2014/main" val="2372778003"/>
                    </a:ext>
                  </a:extLst>
                </a:gridCol>
                <a:gridCol w="1420384">
                  <a:extLst>
                    <a:ext uri="{9D8B030D-6E8A-4147-A177-3AD203B41FA5}">
                      <a16:colId xmlns:a16="http://schemas.microsoft.com/office/drawing/2014/main" val="1375343533"/>
                    </a:ext>
                  </a:extLst>
                </a:gridCol>
              </a:tblGrid>
              <a:tr h="321481">
                <a:tc>
                  <a:txBody>
                    <a:bodyPr/>
                    <a:lstStyle/>
                    <a:p>
                      <a:pPr algn="l" fontAlgn="ctr">
                        <a:buNone/>
                      </a:pPr>
                      <a:r>
                        <a:rPr lang="en-US" sz="1800" b="1" u="none" strike="noStrike" dirty="0">
                          <a:solidFill>
                            <a:schemeClr val="bg1"/>
                          </a:solidFill>
                          <a:effectLst/>
                        </a:rPr>
                        <a:t>Model</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a:solidFill>
                            <a:schemeClr val="bg1"/>
                          </a:solidFill>
                          <a:effectLst/>
                        </a:rPr>
                        <a:t>accuracy</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a:solidFill>
                            <a:schemeClr val="bg1"/>
                          </a:solidFill>
                          <a:effectLst/>
                        </a:rPr>
                        <a:t>precision</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dirty="0">
                          <a:solidFill>
                            <a:schemeClr val="bg1"/>
                          </a:solidFill>
                          <a:effectLst/>
                        </a:rPr>
                        <a:t>recall</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dirty="0">
                          <a:solidFill>
                            <a:schemeClr val="bg1"/>
                          </a:solidFill>
                          <a:effectLst/>
                        </a:rPr>
                        <a:t>f1</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a:solidFill>
                            <a:schemeClr val="bg1"/>
                          </a:solidFill>
                          <a:effectLst/>
                        </a:rPr>
                        <a:t>auc</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2337519133"/>
                  </a:ext>
                </a:extLst>
              </a:tr>
              <a:tr h="314325">
                <a:tc>
                  <a:txBody>
                    <a:bodyPr/>
                    <a:lstStyle/>
                    <a:p>
                      <a:pPr algn="l" fontAlgn="ctr">
                        <a:buNone/>
                      </a:pPr>
                      <a:r>
                        <a:rPr lang="en-US" sz="1600" b="1" u="none" strike="noStrike">
                          <a:solidFill>
                            <a:srgbClr val="000000"/>
                          </a:solidFill>
                          <a:effectLst/>
                        </a:rPr>
                        <a:t>Baseline-LR(L1)</a:t>
                      </a:r>
                      <a:endParaRPr lang="en-US" sz="1600" b="1"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0.499</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0.495</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0.659</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0.565</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0.493</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4249148346"/>
                  </a:ext>
                </a:extLst>
              </a:tr>
              <a:tr h="281286">
                <a:tc>
                  <a:txBody>
                    <a:bodyPr/>
                    <a:lstStyle/>
                    <a:p>
                      <a:pPr algn="l" fontAlgn="ctr">
                        <a:buNone/>
                      </a:pPr>
                      <a:r>
                        <a:rPr lang="en-US" sz="1600" b="1" u="none" strike="noStrike" dirty="0">
                          <a:solidFill>
                            <a:srgbClr val="000000"/>
                          </a:solidFill>
                          <a:effectLst/>
                        </a:rPr>
                        <a:t>Baseline-RF</a:t>
                      </a:r>
                      <a:endParaRPr lang="en-US" sz="1600" b="1"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0.499</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0.485</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0.227</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0.31</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0.456</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595996017"/>
                  </a:ext>
                </a:extLst>
              </a:tr>
              <a:tr h="281286">
                <a:tc>
                  <a:txBody>
                    <a:bodyPr/>
                    <a:lstStyle/>
                    <a:p>
                      <a:pPr algn="l" fontAlgn="ctr">
                        <a:buNone/>
                      </a:pPr>
                      <a:r>
                        <a:rPr lang="en-US" sz="1600" b="1" i="0" u="none" strike="noStrike" dirty="0">
                          <a:solidFill>
                            <a:srgbClr val="000000"/>
                          </a:solidFill>
                          <a:effectLst/>
                          <a:latin typeface="等线" panose="02010600030101010101" pitchFamily="2" charset="-122"/>
                          <a:ea typeface="等线" panose="02010600030101010101" pitchFamily="2" charset="-122"/>
                        </a:rPr>
                        <a:t>GRU</a:t>
                      </a:r>
                    </a:p>
                  </a:txBody>
                  <a:tcPr marL="9525" marR="9525" marT="9525" marB="0" anchor="ctr"/>
                </a:tc>
                <a:tc>
                  <a:txBody>
                    <a:bodyPr/>
                    <a:lstStyle/>
                    <a:p>
                      <a:pPr algn="r" fontAlgn="ctr">
                        <a:buNone/>
                      </a:pPr>
                      <a:r>
                        <a:rPr lang="en-US" altLang="zh-CN" sz="1600" b="0" i="0" u="none" strike="noStrike" dirty="0">
                          <a:solidFill>
                            <a:srgbClr val="000000"/>
                          </a:solidFill>
                          <a:effectLst/>
                          <a:latin typeface="等线" panose="02010600030101010101" pitchFamily="2" charset="-122"/>
                          <a:ea typeface="等线" panose="02010600030101010101" pitchFamily="2" charset="-122"/>
                        </a:rPr>
                        <a:t>0.511</a:t>
                      </a:r>
                    </a:p>
                  </a:txBody>
                  <a:tcPr marL="9525" marR="9525" marT="9525" marB="0" anchor="ctr"/>
                </a:tc>
                <a:tc>
                  <a:txBody>
                    <a:bodyPr/>
                    <a:lstStyle/>
                    <a:p>
                      <a:pPr algn="r" fontAlgn="ctr">
                        <a:buNone/>
                      </a:pPr>
                      <a:r>
                        <a:rPr lang="en-US" altLang="zh-CN" sz="1600" b="0" i="0" u="none" strike="noStrike" dirty="0">
                          <a:solidFill>
                            <a:srgbClr val="000000"/>
                          </a:solidFill>
                          <a:effectLst/>
                          <a:latin typeface="等线" panose="02010600030101010101" pitchFamily="2" charset="-122"/>
                          <a:ea typeface="等线" panose="02010600030101010101" pitchFamily="2" charset="-122"/>
                        </a:rPr>
                        <a:t>0.556</a:t>
                      </a:r>
                    </a:p>
                  </a:txBody>
                  <a:tcPr marL="9525" marR="9525" marT="9525" marB="0" anchor="ctr"/>
                </a:tc>
                <a:tc>
                  <a:txBody>
                    <a:bodyPr/>
                    <a:lstStyle/>
                    <a:p>
                      <a:pPr algn="r" fontAlgn="ctr">
                        <a:buNone/>
                      </a:pPr>
                      <a:r>
                        <a:rPr lang="en-US" altLang="zh-CN" sz="1600" b="0" i="0" u="none" strike="noStrike" dirty="0">
                          <a:solidFill>
                            <a:srgbClr val="000000"/>
                          </a:solidFill>
                          <a:effectLst/>
                          <a:latin typeface="等线" panose="02010600030101010101" pitchFamily="2" charset="-122"/>
                          <a:ea typeface="等线" panose="02010600030101010101" pitchFamily="2" charset="-122"/>
                        </a:rPr>
                        <a:t>0.046</a:t>
                      </a:r>
                    </a:p>
                  </a:txBody>
                  <a:tcPr marL="9525" marR="9525" marT="9525" marB="0" anchor="ctr"/>
                </a:tc>
                <a:tc>
                  <a:txBody>
                    <a:bodyPr/>
                    <a:lstStyle/>
                    <a:p>
                      <a:pPr algn="r" fontAlgn="ctr">
                        <a:buNone/>
                      </a:pPr>
                      <a:r>
                        <a:rPr lang="en-US" altLang="zh-CN" sz="1600" b="0" i="0" u="none" strike="noStrike" dirty="0">
                          <a:solidFill>
                            <a:srgbClr val="000000"/>
                          </a:solidFill>
                          <a:effectLst/>
                          <a:latin typeface="等线" panose="02010600030101010101" pitchFamily="2" charset="-122"/>
                          <a:ea typeface="等线" panose="02010600030101010101" pitchFamily="2" charset="-122"/>
                        </a:rPr>
                        <a:t>0.084</a:t>
                      </a:r>
                    </a:p>
                  </a:txBody>
                  <a:tcPr marL="9525" marR="9525" marT="9525" marB="0" anchor="ctr"/>
                </a:tc>
                <a:tc>
                  <a:txBody>
                    <a:bodyPr/>
                    <a:lstStyle/>
                    <a:p>
                      <a:pPr algn="r" fontAlgn="ctr">
                        <a:buNone/>
                      </a:pPr>
                      <a:r>
                        <a:rPr lang="en-US" altLang="zh-CN" sz="1600" b="0" i="0" u="none" strike="noStrike" dirty="0">
                          <a:solidFill>
                            <a:srgbClr val="000000"/>
                          </a:solidFill>
                          <a:effectLst/>
                          <a:latin typeface="等线" panose="02010600030101010101" pitchFamily="2" charset="-122"/>
                          <a:ea typeface="等线" panose="02010600030101010101" pitchFamily="2" charset="-122"/>
                        </a:rPr>
                        <a:t>0.534</a:t>
                      </a:r>
                    </a:p>
                  </a:txBody>
                  <a:tcPr marL="9525" marR="9525" marT="9525" marB="0" anchor="ctr"/>
                </a:tc>
                <a:extLst>
                  <a:ext uri="{0D108BD9-81ED-4DB2-BD59-A6C34878D82A}">
                    <a16:rowId xmlns:a16="http://schemas.microsoft.com/office/drawing/2014/main" val="3149231084"/>
                  </a:ext>
                </a:extLst>
              </a:tr>
            </a:tbl>
          </a:graphicData>
        </a:graphic>
      </p:graphicFrame>
      <p:sp>
        <p:nvSpPr>
          <p:cNvPr id="6" name="文本框 5">
            <a:extLst>
              <a:ext uri="{FF2B5EF4-FFF2-40B4-BE49-F238E27FC236}">
                <a16:creationId xmlns:a16="http://schemas.microsoft.com/office/drawing/2014/main" id="{FD9751ED-F905-36CB-9E41-D3E774D4DD25}"/>
              </a:ext>
            </a:extLst>
          </p:cNvPr>
          <p:cNvSpPr txBox="1"/>
          <p:nvPr/>
        </p:nvSpPr>
        <p:spPr>
          <a:xfrm>
            <a:off x="1152272" y="4093857"/>
            <a:ext cx="10554894" cy="226485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Classification Signal: </a:t>
            </a:r>
            <a:r>
              <a:rPr lang="en-US" altLang="zh-CN" sz="1600" dirty="0">
                <a:latin typeface="字魂58号-创中黑" panose="00000500000000000000" pitchFamily="2" charset="-122"/>
                <a:ea typeface="字魂58号-创中黑" panose="00000500000000000000" pitchFamily="2" charset="-122"/>
              </a:rPr>
              <a:t>GRU has the highest AUC (0.534), indicating better ranking ability.</a:t>
            </a:r>
          </a:p>
          <a:p>
            <a:pPr marL="285750" indent="-285750">
              <a:lnSpc>
                <a:spcPct val="150000"/>
              </a:lnSpc>
              <a:buFont typeface="Arial" panose="020B0604020202020204" pitchFamily="34" charset="0"/>
              <a:buChar char="•"/>
            </a:pPr>
            <a:endParaRPr lang="en-US" altLang="zh-CN" sz="1600" dirty="0">
              <a:latin typeface="字魂58号-创中黑" panose="00000500000000000000" pitchFamily="2" charset="-122"/>
              <a:ea typeface="字魂58号-创中黑" panose="00000500000000000000" pitchFamily="2" charset="-122"/>
            </a:endParaRPr>
          </a:p>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Precision–Recall Trade-off: </a:t>
            </a:r>
            <a:r>
              <a:rPr lang="en-US" altLang="zh-CN" sz="1600" dirty="0">
                <a:latin typeface="字魂58号-创中黑" panose="00000500000000000000" pitchFamily="2" charset="-122"/>
                <a:ea typeface="字魂58号-创中黑" panose="00000500000000000000" pitchFamily="2" charset="-122"/>
              </a:rPr>
              <a:t>GRU predicts “up” more conservatively: precision is higher, recall is lower.</a:t>
            </a:r>
          </a:p>
          <a:p>
            <a:pPr marL="285750" indent="-285750">
              <a:lnSpc>
                <a:spcPct val="150000"/>
              </a:lnSpc>
              <a:buFont typeface="Arial" panose="020B0604020202020204" pitchFamily="34" charset="0"/>
              <a:buChar char="•"/>
            </a:pPr>
            <a:endParaRPr lang="en-US" altLang="zh-CN" sz="1600" dirty="0">
              <a:latin typeface="字魂58号-创中黑" panose="00000500000000000000" pitchFamily="2" charset="-122"/>
              <a:ea typeface="字魂58号-创中黑" panose="00000500000000000000" pitchFamily="2" charset="-122"/>
            </a:endParaRPr>
          </a:p>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Practical Reading: </a:t>
            </a:r>
            <a:r>
              <a:rPr lang="en-US" altLang="zh-CN" sz="1600" dirty="0">
                <a:latin typeface="字魂58号-创中黑" panose="00000500000000000000" pitchFamily="2" charset="-122"/>
                <a:ea typeface="字魂58号-创中黑" panose="00000500000000000000" pitchFamily="2" charset="-122"/>
              </a:rPr>
              <a:t>Classification improvement is modest; financial impact is validated in unified </a:t>
            </a:r>
            <a:r>
              <a:rPr lang="en-US" altLang="zh-CN" sz="1600" dirty="0" err="1">
                <a:latin typeface="字魂58号-创中黑" panose="00000500000000000000" pitchFamily="2" charset="-122"/>
                <a:ea typeface="字魂58号-创中黑" panose="00000500000000000000" pitchFamily="2" charset="-122"/>
              </a:rPr>
              <a:t>backtesting</a:t>
            </a:r>
            <a:r>
              <a:rPr lang="en-US" altLang="zh-CN" sz="1600" dirty="0">
                <a:latin typeface="字魂58号-创中黑" panose="00000500000000000000" pitchFamily="2" charset="-122"/>
                <a:ea typeface="字魂58号-创中黑" panose="00000500000000000000" pitchFamily="2" charset="-122"/>
              </a:rPr>
              <a:t>.</a:t>
            </a:r>
          </a:p>
        </p:txBody>
      </p:sp>
      <p:pic>
        <p:nvPicPr>
          <p:cNvPr id="7" name="图片 6">
            <a:hlinkClick r:id="rId4"/>
            <a:extLst>
              <a:ext uri="{FF2B5EF4-FFF2-40B4-BE49-F238E27FC236}">
                <a16:creationId xmlns:a16="http://schemas.microsoft.com/office/drawing/2014/main" id="{17DF7A91-440D-D1DD-9DB5-FF3E4A9585E2}"/>
              </a:ext>
            </a:extLst>
          </p:cNvPr>
          <p:cNvPicPr>
            <a:picLocks noChangeAspect="1"/>
          </p:cNvPicPr>
          <p:nvPr/>
        </p:nvPicPr>
        <p:blipFill>
          <a:blip r:embed="rId5">
            <a:extLst>
              <a:ext uri="{28A0092B-C50C-407E-A947-70E740481C1C}">
                <a14:useLocalDpi xmlns:a14="http://schemas.microsoft.com/office/drawing/2010/main" val="0"/>
              </a:ext>
            </a:extLst>
          </a:blip>
          <a:srcRect l="8048"/>
          <a:stretch>
            <a:fillRect/>
          </a:stretch>
        </p:blipFill>
        <p:spPr>
          <a:xfrm>
            <a:off x="6429719" y="1215125"/>
            <a:ext cx="380549" cy="388620"/>
          </a:xfrm>
          <a:prstGeom prst="rect">
            <a:avLst/>
          </a:prstGeom>
        </p:spPr>
      </p:pic>
    </p:spTree>
    <p:extLst>
      <p:ext uri="{BB962C8B-B14F-4D97-AF65-F5344CB8AC3E}">
        <p14:creationId xmlns:p14="http://schemas.microsoft.com/office/powerpoint/2010/main" val="2605427306"/>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06038-DFD3-4DEE-1FB6-103E6BCEFA2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8C9AC9B-484C-0EA1-A8F4-EDF51C8E961E}"/>
              </a:ext>
            </a:extLst>
          </p:cNvPr>
          <p:cNvGrpSpPr/>
          <p:nvPr/>
        </p:nvGrpSpPr>
        <p:grpSpPr>
          <a:xfrm>
            <a:off x="-1" y="957421"/>
            <a:ext cx="12193200" cy="44820"/>
            <a:chOff x="1773217" y="5185185"/>
            <a:chExt cx="8645561" cy="44820"/>
          </a:xfrm>
        </p:grpSpPr>
        <p:cxnSp>
          <p:nvCxnSpPr>
            <p:cNvPr id="3" name="直接连接符 2">
              <a:extLst>
                <a:ext uri="{FF2B5EF4-FFF2-40B4-BE49-F238E27FC236}">
                  <a16:creationId xmlns:a16="http://schemas.microsoft.com/office/drawing/2014/main" id="{EA6711E8-4AEB-5606-02E8-CCEB5DFDFBEE}"/>
                </a:ext>
              </a:extLst>
            </p:cNvPr>
            <p:cNvCxnSpPr>
              <a:cxnSpLocks/>
            </p:cNvCxnSpPr>
            <p:nvPr userDrawn="1"/>
          </p:nvCxnSpPr>
          <p:spPr>
            <a:xfrm>
              <a:off x="1773218" y="51851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BCF90CB1-D3E8-1A44-F973-AE5839572719}"/>
                </a:ext>
              </a:extLst>
            </p:cNvPr>
            <p:cNvCxnSpPr>
              <a:cxnSpLocks/>
            </p:cNvCxnSpPr>
            <p:nvPr userDrawn="1"/>
          </p:nvCxnSpPr>
          <p:spPr>
            <a:xfrm>
              <a:off x="1773217" y="5230005"/>
              <a:ext cx="864556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701558AA-CE8C-3716-0748-1A99F431B3DB}"/>
              </a:ext>
            </a:extLst>
          </p:cNvPr>
          <p:cNvSpPr txBox="1"/>
          <p:nvPr/>
        </p:nvSpPr>
        <p:spPr>
          <a:xfrm>
            <a:off x="158533" y="202191"/>
            <a:ext cx="7140514" cy="1754326"/>
          </a:xfrm>
          <a:prstGeom prst="rect">
            <a:avLst/>
          </a:prstGeom>
          <a:noFill/>
        </p:spPr>
        <p:txBody>
          <a:bodyPr wrap="square" rtlCol="0">
            <a:spAutoFit/>
          </a:bodyPr>
          <a:lstStyle/>
          <a:p>
            <a:r>
              <a:rPr lang="en-US" altLang="zh-CN" sz="3600" b="1" dirty="0">
                <a:solidFill>
                  <a:schemeClr val="accent1"/>
                </a:solidFill>
                <a:latin typeface="字魂59号-创粗黑" panose="00000500000000000000" pitchFamily="2" charset="-122"/>
                <a:ea typeface="字魂59号-创粗黑" panose="00000500000000000000" pitchFamily="2" charset="-122"/>
              </a:rPr>
              <a:t>2. BASELINE &amp; GRU</a:t>
            </a:r>
          </a:p>
          <a:p>
            <a:endParaRPr lang="en-US" altLang="zh-CN" sz="3600" b="1" dirty="0">
              <a:solidFill>
                <a:schemeClr val="accent1"/>
              </a:solidFill>
              <a:latin typeface="字魂59号-创粗黑" panose="00000500000000000000" pitchFamily="2" charset="-122"/>
              <a:ea typeface="字魂59号-创粗黑" panose="00000500000000000000" pitchFamily="2" charset="-122"/>
            </a:endParaRPr>
          </a:p>
          <a:p>
            <a:endParaRPr lang="en-US" altLang="zh-CN" sz="3600" b="1" dirty="0">
              <a:solidFill>
                <a:schemeClr val="accent1"/>
              </a:solidFill>
              <a:latin typeface="字魂59号-创粗黑" panose="00000500000000000000" pitchFamily="2" charset="-122"/>
              <a:ea typeface="字魂59号-创粗黑" panose="00000500000000000000" pitchFamily="2" charset="-122"/>
            </a:endParaRPr>
          </a:p>
        </p:txBody>
      </p:sp>
      <p:pic>
        <p:nvPicPr>
          <p:cNvPr id="52" name="图片 51">
            <a:extLst>
              <a:ext uri="{FF2B5EF4-FFF2-40B4-BE49-F238E27FC236}">
                <a16:creationId xmlns:a16="http://schemas.microsoft.com/office/drawing/2014/main" id="{25D318EA-9859-0832-9D8C-2AC11C2E84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49" y="5933398"/>
            <a:ext cx="850620" cy="850620"/>
          </a:xfrm>
          <a:prstGeom prst="rect">
            <a:avLst/>
          </a:prstGeom>
        </p:spPr>
      </p:pic>
      <p:grpSp>
        <p:nvGrpSpPr>
          <p:cNvPr id="87" name="组合 86">
            <a:extLst>
              <a:ext uri="{FF2B5EF4-FFF2-40B4-BE49-F238E27FC236}">
                <a16:creationId xmlns:a16="http://schemas.microsoft.com/office/drawing/2014/main" id="{72AA9411-19AC-8D76-BB11-E567040745DD}"/>
              </a:ext>
            </a:extLst>
          </p:cNvPr>
          <p:cNvGrpSpPr/>
          <p:nvPr/>
        </p:nvGrpSpPr>
        <p:grpSpPr>
          <a:xfrm>
            <a:off x="9065190" y="408158"/>
            <a:ext cx="2817867" cy="275671"/>
            <a:chOff x="7104504" y="2125822"/>
            <a:chExt cx="2817867" cy="275671"/>
          </a:xfrm>
        </p:grpSpPr>
        <p:grpSp>
          <p:nvGrpSpPr>
            <p:cNvPr id="88" name="组合 87">
              <a:extLst>
                <a:ext uri="{FF2B5EF4-FFF2-40B4-BE49-F238E27FC236}">
                  <a16:creationId xmlns:a16="http://schemas.microsoft.com/office/drawing/2014/main" id="{282228CC-9D1D-F674-C811-AD4833AE0305}"/>
                </a:ext>
              </a:extLst>
            </p:cNvPr>
            <p:cNvGrpSpPr/>
            <p:nvPr/>
          </p:nvGrpSpPr>
          <p:grpSpPr>
            <a:xfrm>
              <a:off x="7284014" y="2125822"/>
              <a:ext cx="2638357" cy="275671"/>
              <a:chOff x="1744535" y="2710927"/>
              <a:chExt cx="5405715" cy="718073"/>
            </a:xfrm>
          </p:grpSpPr>
          <p:cxnSp>
            <p:nvCxnSpPr>
              <p:cNvPr id="92" name="直接连接符 91">
                <a:extLst>
                  <a:ext uri="{FF2B5EF4-FFF2-40B4-BE49-F238E27FC236}">
                    <a16:creationId xmlns:a16="http://schemas.microsoft.com/office/drawing/2014/main" id="{8C5126DC-1914-C41C-4B30-4AC5B8CB3A8E}"/>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73219775-8DB7-3BEE-D9F8-87C9F5749F5D}"/>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BE166EE2-84DF-538E-0217-32D994E27352}"/>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21FBBB59-FD2F-B00A-AB35-CE4DE0DFCF7A}"/>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8684AF67-EA74-EEFA-6DA2-20A721DA39DF}"/>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5B0AE129-337B-B158-1CDC-6475EE28CE44}"/>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DC4FFE73-5EC1-5227-6848-2F84AF089E7E}"/>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6FA1B3C8-3EDB-8756-D93A-AE36A104691F}"/>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A51EF360-3B83-67FD-45A8-F26F003BA49D}"/>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9463F7F6-F3B6-1805-1E96-41AD6B914663}"/>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69685173-EC70-016F-39DB-F77361471CDA}"/>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E6B8EF21-0B1C-8EC4-0012-A98EFD9067A5}"/>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89" name="直接连接符 88">
              <a:extLst>
                <a:ext uri="{FF2B5EF4-FFF2-40B4-BE49-F238E27FC236}">
                  <a16:creationId xmlns:a16="http://schemas.microsoft.com/office/drawing/2014/main" id="{6D02FD32-4982-B0E5-DE43-CCB341369805}"/>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B64ADE10-1E3E-CE75-907E-D606D73D4BD5}"/>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5BE73381-EEF5-FC1E-2CE9-411D290B2F33}"/>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05" name="文本框 104">
            <a:extLst>
              <a:ext uri="{FF2B5EF4-FFF2-40B4-BE49-F238E27FC236}">
                <a16:creationId xmlns:a16="http://schemas.microsoft.com/office/drawing/2014/main" id="{FE237B12-6BDB-680B-AF74-6F24D406F5F5}"/>
              </a:ext>
            </a:extLst>
          </p:cNvPr>
          <p:cNvSpPr txBox="1"/>
          <p:nvPr/>
        </p:nvSpPr>
        <p:spPr>
          <a:xfrm>
            <a:off x="495459" y="1189585"/>
            <a:ext cx="6810827" cy="1015663"/>
          </a:xfrm>
          <a:prstGeom prst="rect">
            <a:avLst/>
          </a:prstGeom>
          <a:noFill/>
        </p:spPr>
        <p:txBody>
          <a:bodyPr wrap="square" rtlCol="0">
            <a:spAutoFit/>
          </a:bodyPr>
          <a:lstStyle/>
          <a:p>
            <a:r>
              <a:rPr lang="en-US" altLang="zh-CN" sz="2000" b="1" dirty="0">
                <a:solidFill>
                  <a:schemeClr val="accent1"/>
                </a:solidFill>
                <a:latin typeface="字魂59号-创粗黑" panose="00000500000000000000" pitchFamily="2" charset="-122"/>
                <a:ea typeface="字魂59号-创粗黑" panose="00000500000000000000" pitchFamily="2" charset="-122"/>
              </a:rPr>
              <a:t>2.2 GRU Modeling and Experimental Results</a:t>
            </a:r>
          </a:p>
          <a:p>
            <a:endParaRPr lang="en-US" altLang="zh-CN" sz="2000" b="1" dirty="0">
              <a:solidFill>
                <a:schemeClr val="accent1"/>
              </a:solidFill>
              <a:latin typeface="字魂59号-创粗黑" panose="00000500000000000000" pitchFamily="2" charset="-122"/>
              <a:ea typeface="字魂59号-创粗黑" panose="00000500000000000000" pitchFamily="2" charset="-122"/>
            </a:endParaRPr>
          </a:p>
          <a:p>
            <a:endParaRPr lang="zh-CN" altLang="en-US" sz="2000" b="1" dirty="0">
              <a:solidFill>
                <a:schemeClr val="accent1"/>
              </a:solidFill>
              <a:latin typeface="字魂59号-创粗黑" panose="00000500000000000000" pitchFamily="2" charset="-122"/>
              <a:ea typeface="字魂59号-创粗黑" panose="00000500000000000000" pitchFamily="2" charset="-122"/>
            </a:endParaRPr>
          </a:p>
        </p:txBody>
      </p:sp>
      <p:sp>
        <p:nvSpPr>
          <p:cNvPr id="9" name="文本框 8">
            <a:extLst>
              <a:ext uri="{FF2B5EF4-FFF2-40B4-BE49-F238E27FC236}">
                <a16:creationId xmlns:a16="http://schemas.microsoft.com/office/drawing/2014/main" id="{F8260E3A-F04E-6914-1218-3E7E006A19BF}"/>
              </a:ext>
            </a:extLst>
          </p:cNvPr>
          <p:cNvSpPr txBox="1"/>
          <p:nvPr/>
        </p:nvSpPr>
        <p:spPr>
          <a:xfrm>
            <a:off x="920769" y="1697416"/>
            <a:ext cx="7968531" cy="7875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GRU setup: </a:t>
            </a:r>
            <a:r>
              <a:rPr lang="en-US" altLang="zh-CN" sz="1600" dirty="0">
                <a:latin typeface="字魂58号-创中黑" panose="00000500000000000000" pitchFamily="2" charset="-122"/>
                <a:ea typeface="字魂58号-创中黑" panose="00000500000000000000" pitchFamily="2" charset="-122"/>
              </a:rPr>
              <a:t>temporal split (70/15/15), class-weighted BCE</a:t>
            </a:r>
          </a:p>
          <a:p>
            <a:pPr marL="742950" lvl="1"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Key Hyperparameters: </a:t>
            </a:r>
            <a:r>
              <a:rPr lang="en-US" altLang="zh-CN" sz="1600" dirty="0" err="1">
                <a:latin typeface="字魂58号-创中黑" panose="00000500000000000000" pitchFamily="2" charset="-122"/>
                <a:ea typeface="字魂58号-创中黑" panose="00000500000000000000" pitchFamily="2" charset="-122"/>
              </a:rPr>
              <a:t>seq_len</a:t>
            </a:r>
            <a:r>
              <a:rPr lang="en-US" altLang="zh-CN" sz="1600" dirty="0">
                <a:latin typeface="字魂58号-创中黑" panose="00000500000000000000" pitchFamily="2" charset="-122"/>
                <a:ea typeface="字魂58号-创中黑" panose="00000500000000000000" pitchFamily="2" charset="-122"/>
              </a:rPr>
              <a:t>=10, </a:t>
            </a:r>
            <a:r>
              <a:rPr lang="en-US" altLang="zh-CN" sz="1600" dirty="0" err="1">
                <a:latin typeface="字魂58号-创中黑" panose="00000500000000000000" pitchFamily="2" charset="-122"/>
                <a:ea typeface="字魂58号-创中黑" panose="00000500000000000000" pitchFamily="2" charset="-122"/>
              </a:rPr>
              <a:t>hidden_size</a:t>
            </a:r>
            <a:r>
              <a:rPr lang="en-US" altLang="zh-CN" sz="1600" dirty="0">
                <a:latin typeface="字魂58号-创中黑" panose="00000500000000000000" pitchFamily="2" charset="-122"/>
                <a:ea typeface="字魂58号-创中黑" panose="00000500000000000000" pitchFamily="2" charset="-122"/>
              </a:rPr>
              <a:t>=32, </a:t>
            </a:r>
            <a:r>
              <a:rPr lang="en-US" altLang="zh-CN" sz="1600" dirty="0" err="1">
                <a:latin typeface="字魂58号-创中黑" panose="00000500000000000000" pitchFamily="2" charset="-122"/>
                <a:ea typeface="字魂58号-创中黑" panose="00000500000000000000" pitchFamily="2" charset="-122"/>
              </a:rPr>
              <a:t>lr</a:t>
            </a:r>
            <a:r>
              <a:rPr lang="en-US" altLang="zh-CN" sz="1600" dirty="0">
                <a:latin typeface="字魂58号-创中黑" panose="00000500000000000000" pitchFamily="2" charset="-122"/>
                <a:ea typeface="字魂58号-创中黑" panose="00000500000000000000" pitchFamily="2" charset="-122"/>
              </a:rPr>
              <a:t>=5e-4</a:t>
            </a:r>
          </a:p>
        </p:txBody>
      </p:sp>
      <p:graphicFrame>
        <p:nvGraphicFramePr>
          <p:cNvPr id="8" name="表格 7">
            <a:extLst>
              <a:ext uri="{FF2B5EF4-FFF2-40B4-BE49-F238E27FC236}">
                <a16:creationId xmlns:a16="http://schemas.microsoft.com/office/drawing/2014/main" id="{00E20940-602D-EAF4-93F0-B4155E214C8E}"/>
              </a:ext>
            </a:extLst>
          </p:cNvPr>
          <p:cNvGraphicFramePr>
            <a:graphicFrameLocks noGrp="1"/>
          </p:cNvGraphicFramePr>
          <p:nvPr>
            <p:extLst>
              <p:ext uri="{D42A27DB-BD31-4B8C-83A1-F6EECF244321}">
                <p14:modId xmlns:p14="http://schemas.microsoft.com/office/powerpoint/2010/main" val="1281561116"/>
              </p:ext>
            </p:extLst>
          </p:nvPr>
        </p:nvGraphicFramePr>
        <p:xfrm>
          <a:off x="1209524" y="2724823"/>
          <a:ext cx="8522304" cy="1198378"/>
        </p:xfrm>
        <a:graphic>
          <a:graphicData uri="http://schemas.openxmlformats.org/drawingml/2006/table">
            <a:tbl>
              <a:tblPr>
                <a:tableStyleId>{3C2FFA5D-87B4-456A-9821-1D502468CF0F}</a:tableStyleId>
              </a:tblPr>
              <a:tblGrid>
                <a:gridCol w="1740783">
                  <a:extLst>
                    <a:ext uri="{9D8B030D-6E8A-4147-A177-3AD203B41FA5}">
                      <a16:colId xmlns:a16="http://schemas.microsoft.com/office/drawing/2014/main" val="1204198851"/>
                    </a:ext>
                  </a:extLst>
                </a:gridCol>
                <a:gridCol w="1099985">
                  <a:extLst>
                    <a:ext uri="{9D8B030D-6E8A-4147-A177-3AD203B41FA5}">
                      <a16:colId xmlns:a16="http://schemas.microsoft.com/office/drawing/2014/main" val="793928142"/>
                    </a:ext>
                  </a:extLst>
                </a:gridCol>
                <a:gridCol w="1420384">
                  <a:extLst>
                    <a:ext uri="{9D8B030D-6E8A-4147-A177-3AD203B41FA5}">
                      <a16:colId xmlns:a16="http://schemas.microsoft.com/office/drawing/2014/main" val="1942556433"/>
                    </a:ext>
                  </a:extLst>
                </a:gridCol>
                <a:gridCol w="1420384">
                  <a:extLst>
                    <a:ext uri="{9D8B030D-6E8A-4147-A177-3AD203B41FA5}">
                      <a16:colId xmlns:a16="http://schemas.microsoft.com/office/drawing/2014/main" val="3212433543"/>
                    </a:ext>
                  </a:extLst>
                </a:gridCol>
                <a:gridCol w="1420384">
                  <a:extLst>
                    <a:ext uri="{9D8B030D-6E8A-4147-A177-3AD203B41FA5}">
                      <a16:colId xmlns:a16="http://schemas.microsoft.com/office/drawing/2014/main" val="2372778003"/>
                    </a:ext>
                  </a:extLst>
                </a:gridCol>
                <a:gridCol w="1420384">
                  <a:extLst>
                    <a:ext uri="{9D8B030D-6E8A-4147-A177-3AD203B41FA5}">
                      <a16:colId xmlns:a16="http://schemas.microsoft.com/office/drawing/2014/main" val="1375343533"/>
                    </a:ext>
                  </a:extLst>
                </a:gridCol>
              </a:tblGrid>
              <a:tr h="321481">
                <a:tc>
                  <a:txBody>
                    <a:bodyPr/>
                    <a:lstStyle/>
                    <a:p>
                      <a:pPr algn="l" fontAlgn="ctr">
                        <a:buNone/>
                      </a:pPr>
                      <a:r>
                        <a:rPr lang="en-US" sz="1800" b="1" u="none" strike="noStrike" dirty="0">
                          <a:solidFill>
                            <a:schemeClr val="bg1"/>
                          </a:solidFill>
                          <a:effectLst/>
                        </a:rPr>
                        <a:t>Model</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a:solidFill>
                            <a:schemeClr val="bg1"/>
                          </a:solidFill>
                          <a:effectLst/>
                        </a:rPr>
                        <a:t>accuracy</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a:solidFill>
                            <a:schemeClr val="bg1"/>
                          </a:solidFill>
                          <a:effectLst/>
                        </a:rPr>
                        <a:t>precision</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dirty="0">
                          <a:solidFill>
                            <a:schemeClr val="bg1"/>
                          </a:solidFill>
                          <a:effectLst/>
                        </a:rPr>
                        <a:t>recall</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dirty="0">
                          <a:solidFill>
                            <a:schemeClr val="bg1"/>
                          </a:solidFill>
                          <a:effectLst/>
                        </a:rPr>
                        <a:t>f1</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a:solidFill>
                            <a:schemeClr val="bg1"/>
                          </a:solidFill>
                          <a:effectLst/>
                        </a:rPr>
                        <a:t>auc</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2337519133"/>
                  </a:ext>
                </a:extLst>
              </a:tr>
              <a:tr h="314325">
                <a:tc>
                  <a:txBody>
                    <a:bodyPr/>
                    <a:lstStyle/>
                    <a:p>
                      <a:pPr algn="l" fontAlgn="ctr">
                        <a:buNone/>
                      </a:pPr>
                      <a:r>
                        <a:rPr lang="en-US" sz="1600" b="1" u="none" strike="noStrike">
                          <a:solidFill>
                            <a:srgbClr val="000000"/>
                          </a:solidFill>
                          <a:effectLst/>
                        </a:rPr>
                        <a:t>Baseline-LR(L1)</a:t>
                      </a:r>
                      <a:endParaRPr lang="en-US" sz="1600" b="1"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0.499</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0.495</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0.659</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0.565</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0.493</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4249148346"/>
                  </a:ext>
                </a:extLst>
              </a:tr>
              <a:tr h="281286">
                <a:tc>
                  <a:txBody>
                    <a:bodyPr/>
                    <a:lstStyle/>
                    <a:p>
                      <a:pPr algn="l" fontAlgn="ctr">
                        <a:buNone/>
                      </a:pPr>
                      <a:r>
                        <a:rPr lang="en-US" sz="1600" b="1" u="none" strike="noStrike" dirty="0">
                          <a:solidFill>
                            <a:srgbClr val="000000"/>
                          </a:solidFill>
                          <a:effectLst/>
                        </a:rPr>
                        <a:t>Baseline-RF</a:t>
                      </a:r>
                      <a:endParaRPr lang="en-US" sz="1600" b="1"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0.499</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0.485</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0.227</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0.31</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0.456</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595996017"/>
                  </a:ext>
                </a:extLst>
              </a:tr>
              <a:tr h="281286">
                <a:tc>
                  <a:txBody>
                    <a:bodyPr/>
                    <a:lstStyle/>
                    <a:p>
                      <a:pPr algn="l" fontAlgn="ctr">
                        <a:buNone/>
                      </a:pPr>
                      <a:r>
                        <a:rPr lang="en-US" sz="1600" b="1" i="0" u="none" strike="noStrike" dirty="0">
                          <a:solidFill>
                            <a:srgbClr val="000000"/>
                          </a:solidFill>
                          <a:effectLst/>
                          <a:latin typeface="等线" panose="02010600030101010101" pitchFamily="2" charset="-122"/>
                          <a:ea typeface="等线" panose="02010600030101010101" pitchFamily="2" charset="-122"/>
                        </a:rPr>
                        <a:t>GRU</a:t>
                      </a:r>
                    </a:p>
                  </a:txBody>
                  <a:tcPr marL="9525" marR="9525" marT="9525" marB="0" anchor="ctr"/>
                </a:tc>
                <a:tc>
                  <a:txBody>
                    <a:bodyPr/>
                    <a:lstStyle/>
                    <a:p>
                      <a:pPr algn="r" fontAlgn="ctr">
                        <a:buNone/>
                      </a:pPr>
                      <a:r>
                        <a:rPr lang="en-US" altLang="zh-CN" sz="1600" b="0" i="0" u="none" strike="noStrike" dirty="0">
                          <a:solidFill>
                            <a:srgbClr val="000000"/>
                          </a:solidFill>
                          <a:effectLst/>
                          <a:latin typeface="等线" panose="02010600030101010101" pitchFamily="2" charset="-122"/>
                          <a:ea typeface="等线" panose="02010600030101010101" pitchFamily="2" charset="-122"/>
                        </a:rPr>
                        <a:t>0.511</a:t>
                      </a:r>
                    </a:p>
                  </a:txBody>
                  <a:tcPr marL="9525" marR="9525" marT="9525" marB="0" anchor="ctr"/>
                </a:tc>
                <a:tc>
                  <a:txBody>
                    <a:bodyPr/>
                    <a:lstStyle/>
                    <a:p>
                      <a:pPr algn="r" fontAlgn="ctr">
                        <a:buNone/>
                      </a:pPr>
                      <a:r>
                        <a:rPr lang="en-US" altLang="zh-CN" sz="1600" b="0" i="0" u="none" strike="noStrike" dirty="0">
                          <a:solidFill>
                            <a:srgbClr val="000000"/>
                          </a:solidFill>
                          <a:effectLst/>
                          <a:latin typeface="等线" panose="02010600030101010101" pitchFamily="2" charset="-122"/>
                          <a:ea typeface="等线" panose="02010600030101010101" pitchFamily="2" charset="-122"/>
                        </a:rPr>
                        <a:t>0.556</a:t>
                      </a:r>
                    </a:p>
                  </a:txBody>
                  <a:tcPr marL="9525" marR="9525" marT="9525" marB="0" anchor="ctr"/>
                </a:tc>
                <a:tc>
                  <a:txBody>
                    <a:bodyPr/>
                    <a:lstStyle/>
                    <a:p>
                      <a:pPr algn="r" fontAlgn="ctr">
                        <a:buNone/>
                      </a:pPr>
                      <a:r>
                        <a:rPr lang="en-US" altLang="zh-CN" sz="1600" b="0" i="0" u="none" strike="noStrike" dirty="0">
                          <a:solidFill>
                            <a:srgbClr val="000000"/>
                          </a:solidFill>
                          <a:effectLst/>
                          <a:latin typeface="等线" panose="02010600030101010101" pitchFamily="2" charset="-122"/>
                          <a:ea typeface="等线" panose="02010600030101010101" pitchFamily="2" charset="-122"/>
                        </a:rPr>
                        <a:t>0.046</a:t>
                      </a:r>
                    </a:p>
                  </a:txBody>
                  <a:tcPr marL="9525" marR="9525" marT="9525" marB="0" anchor="ctr"/>
                </a:tc>
                <a:tc>
                  <a:txBody>
                    <a:bodyPr/>
                    <a:lstStyle/>
                    <a:p>
                      <a:pPr algn="r" fontAlgn="ctr">
                        <a:buNone/>
                      </a:pPr>
                      <a:r>
                        <a:rPr lang="en-US" altLang="zh-CN" sz="1600" b="0" i="0" u="none" strike="noStrike" dirty="0">
                          <a:solidFill>
                            <a:srgbClr val="000000"/>
                          </a:solidFill>
                          <a:effectLst/>
                          <a:latin typeface="等线" panose="02010600030101010101" pitchFamily="2" charset="-122"/>
                          <a:ea typeface="等线" panose="02010600030101010101" pitchFamily="2" charset="-122"/>
                        </a:rPr>
                        <a:t>0.084</a:t>
                      </a:r>
                    </a:p>
                  </a:txBody>
                  <a:tcPr marL="9525" marR="9525" marT="9525" marB="0" anchor="ctr"/>
                </a:tc>
                <a:tc>
                  <a:txBody>
                    <a:bodyPr/>
                    <a:lstStyle/>
                    <a:p>
                      <a:pPr algn="r" fontAlgn="ctr">
                        <a:buNone/>
                      </a:pPr>
                      <a:r>
                        <a:rPr lang="en-US" altLang="zh-CN" sz="1600" b="0" i="0" u="none" strike="noStrike" dirty="0">
                          <a:solidFill>
                            <a:srgbClr val="000000"/>
                          </a:solidFill>
                          <a:effectLst/>
                          <a:latin typeface="等线" panose="02010600030101010101" pitchFamily="2" charset="-122"/>
                          <a:ea typeface="等线" panose="02010600030101010101" pitchFamily="2" charset="-122"/>
                        </a:rPr>
                        <a:t>0.534</a:t>
                      </a:r>
                    </a:p>
                  </a:txBody>
                  <a:tcPr marL="9525" marR="9525" marT="9525" marB="0" anchor="ctr"/>
                </a:tc>
                <a:extLst>
                  <a:ext uri="{0D108BD9-81ED-4DB2-BD59-A6C34878D82A}">
                    <a16:rowId xmlns:a16="http://schemas.microsoft.com/office/drawing/2014/main" val="3149231084"/>
                  </a:ext>
                </a:extLst>
              </a:tr>
            </a:tbl>
          </a:graphicData>
        </a:graphic>
      </p:graphicFrame>
      <p:sp>
        <p:nvSpPr>
          <p:cNvPr id="6" name="文本框 5">
            <a:extLst>
              <a:ext uri="{FF2B5EF4-FFF2-40B4-BE49-F238E27FC236}">
                <a16:creationId xmlns:a16="http://schemas.microsoft.com/office/drawing/2014/main" id="{09B80E0D-C4FB-B423-C29D-D35E2E12C6BF}"/>
              </a:ext>
            </a:extLst>
          </p:cNvPr>
          <p:cNvSpPr txBox="1"/>
          <p:nvPr/>
        </p:nvSpPr>
        <p:spPr>
          <a:xfrm>
            <a:off x="1152272" y="5170304"/>
            <a:ext cx="10554894" cy="152618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Classification Signal: </a:t>
            </a:r>
            <a:r>
              <a:rPr lang="en-US" altLang="zh-CN" sz="1600" dirty="0">
                <a:latin typeface="字魂58号-创中黑" panose="00000500000000000000" pitchFamily="2" charset="-122"/>
                <a:ea typeface="字魂58号-创中黑" panose="00000500000000000000" pitchFamily="2" charset="-122"/>
              </a:rPr>
              <a:t>GRU has the highest AUC (0.534), indicating better ranking ability.</a:t>
            </a:r>
          </a:p>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Precision–Recall Trade-off: </a:t>
            </a:r>
            <a:r>
              <a:rPr lang="en-US" altLang="zh-CN" sz="1600" dirty="0">
                <a:latin typeface="字魂58号-创中黑" panose="00000500000000000000" pitchFamily="2" charset="-122"/>
                <a:ea typeface="字魂58号-创中黑" panose="00000500000000000000" pitchFamily="2" charset="-122"/>
              </a:rPr>
              <a:t>GRU predicts “up” more conservatively: precision is higher, recall is lower.</a:t>
            </a:r>
          </a:p>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Practical Reading: </a:t>
            </a:r>
            <a:r>
              <a:rPr lang="en-US" altLang="zh-CN" sz="1600" dirty="0">
                <a:latin typeface="字魂58号-创中黑" panose="00000500000000000000" pitchFamily="2" charset="-122"/>
                <a:ea typeface="字魂58号-创中黑" panose="00000500000000000000" pitchFamily="2" charset="-122"/>
              </a:rPr>
              <a:t>Classification improvement is modest; financial impact is validated in unified </a:t>
            </a:r>
            <a:r>
              <a:rPr lang="en-US" altLang="zh-CN" sz="1600" dirty="0" err="1">
                <a:latin typeface="字魂58号-创中黑" panose="00000500000000000000" pitchFamily="2" charset="-122"/>
                <a:ea typeface="字魂58号-创中黑" panose="00000500000000000000" pitchFamily="2" charset="-122"/>
              </a:rPr>
              <a:t>backtesting</a:t>
            </a:r>
            <a:r>
              <a:rPr lang="en-US" altLang="zh-CN" sz="1600" dirty="0">
                <a:latin typeface="字魂58号-创中黑" panose="00000500000000000000" pitchFamily="2" charset="-122"/>
                <a:ea typeface="字魂58号-创中黑" panose="00000500000000000000" pitchFamily="2" charset="-122"/>
              </a:rPr>
              <a:t>.</a:t>
            </a:r>
          </a:p>
        </p:txBody>
      </p:sp>
      <p:pic>
        <p:nvPicPr>
          <p:cNvPr id="11" name="图片 10">
            <a:extLst>
              <a:ext uri="{FF2B5EF4-FFF2-40B4-BE49-F238E27FC236}">
                <a16:creationId xmlns:a16="http://schemas.microsoft.com/office/drawing/2014/main" id="{F217B8A0-BBBF-2730-1111-1F5DED90C7F3}"/>
              </a:ext>
            </a:extLst>
          </p:cNvPr>
          <p:cNvPicPr>
            <a:picLocks noChangeAspect="1"/>
          </p:cNvPicPr>
          <p:nvPr/>
        </p:nvPicPr>
        <p:blipFill>
          <a:blip r:embed="rId4">
            <a:extLst>
              <a:ext uri="{28A0092B-C50C-407E-A947-70E740481C1C}">
                <a14:useLocalDpi xmlns:a14="http://schemas.microsoft.com/office/drawing/2010/main" val="0"/>
              </a:ext>
            </a:extLst>
          </a:blip>
          <a:srcRect r="50000"/>
          <a:stretch>
            <a:fillRect/>
          </a:stretch>
        </p:blipFill>
        <p:spPr>
          <a:xfrm>
            <a:off x="6501883" y="1191843"/>
            <a:ext cx="5436786" cy="4023554"/>
          </a:xfrm>
          <a:prstGeom prst="rect">
            <a:avLst/>
          </a:prstGeom>
        </p:spPr>
      </p:pic>
    </p:spTree>
    <p:extLst>
      <p:ext uri="{BB962C8B-B14F-4D97-AF65-F5344CB8AC3E}">
        <p14:creationId xmlns:p14="http://schemas.microsoft.com/office/powerpoint/2010/main" val="2741218992"/>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944F8-8340-939D-A8F2-F8FB38AE0116}"/>
            </a:ext>
          </a:extLst>
        </p:cNvPr>
        <p:cNvGrpSpPr/>
        <p:nvPr/>
      </p:nvGrpSpPr>
      <p:grpSpPr>
        <a:xfrm>
          <a:off x="0" y="0"/>
          <a:ext cx="0" cy="0"/>
          <a:chOff x="0" y="0"/>
          <a:chExt cx="0" cy="0"/>
        </a:xfrm>
      </p:grpSpPr>
      <p:grpSp>
        <p:nvGrpSpPr>
          <p:cNvPr id="118" name="组合 117">
            <a:extLst>
              <a:ext uri="{FF2B5EF4-FFF2-40B4-BE49-F238E27FC236}">
                <a16:creationId xmlns:a16="http://schemas.microsoft.com/office/drawing/2014/main" id="{9DAD608A-5BF8-7739-0B3C-1EE387BAB9EC}"/>
              </a:ext>
            </a:extLst>
          </p:cNvPr>
          <p:cNvGrpSpPr/>
          <p:nvPr/>
        </p:nvGrpSpPr>
        <p:grpSpPr>
          <a:xfrm>
            <a:off x="328612" y="1923644"/>
            <a:ext cx="11534775" cy="2304111"/>
            <a:chOff x="328612" y="1923644"/>
            <a:chExt cx="11534775" cy="2304111"/>
          </a:xfrm>
        </p:grpSpPr>
        <p:grpSp>
          <p:nvGrpSpPr>
            <p:cNvPr id="117" name="组合 116">
              <a:extLst>
                <a:ext uri="{FF2B5EF4-FFF2-40B4-BE49-F238E27FC236}">
                  <a16:creationId xmlns:a16="http://schemas.microsoft.com/office/drawing/2014/main" id="{3B94641A-FBB6-1C2B-117E-F7729C8AE982}"/>
                </a:ext>
              </a:extLst>
            </p:cNvPr>
            <p:cNvGrpSpPr/>
            <p:nvPr/>
          </p:nvGrpSpPr>
          <p:grpSpPr>
            <a:xfrm>
              <a:off x="6404562" y="2125822"/>
              <a:ext cx="5450854" cy="275671"/>
              <a:chOff x="6404562" y="2125822"/>
              <a:chExt cx="5450854" cy="275671"/>
            </a:xfrm>
          </p:grpSpPr>
          <p:grpSp>
            <p:nvGrpSpPr>
              <p:cNvPr id="73" name="组合 72">
                <a:extLst>
                  <a:ext uri="{FF2B5EF4-FFF2-40B4-BE49-F238E27FC236}">
                    <a16:creationId xmlns:a16="http://schemas.microsoft.com/office/drawing/2014/main" id="{45AF157E-5728-A90D-6068-04AAC8B171AF}"/>
                  </a:ext>
                </a:extLst>
              </p:cNvPr>
              <p:cNvGrpSpPr/>
              <p:nvPr/>
            </p:nvGrpSpPr>
            <p:grpSpPr>
              <a:xfrm>
                <a:off x="6404562" y="2125822"/>
                <a:ext cx="5450854" cy="275671"/>
                <a:chOff x="-57370" y="2710927"/>
                <a:chExt cx="11168227" cy="718073"/>
              </a:xfrm>
            </p:grpSpPr>
            <p:cxnSp>
              <p:nvCxnSpPr>
                <p:cNvPr id="74" name="直接连接符 73">
                  <a:extLst>
                    <a:ext uri="{FF2B5EF4-FFF2-40B4-BE49-F238E27FC236}">
                      <a16:creationId xmlns:a16="http://schemas.microsoft.com/office/drawing/2014/main" id="{792986FE-E2F3-68C4-8960-6C689AC081F1}"/>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4D88C2A-12D1-E4B3-4F99-DFDF0FB03D93}"/>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CDDAA09-96D2-17AE-37E4-101439F62034}"/>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8528B12A-7E70-824A-DEAC-A1961FDE527B}"/>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368DB9DD-56A4-067F-8701-FBD4E5EE2474}"/>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1501EE30-BD3A-7C1F-4C10-E59C365FE5DB}"/>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07211F42-4B6A-91BF-4E09-D2F065B43791}"/>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5C7FF972-3EEB-8299-C33C-C543BE173994}"/>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527F8469-AED2-78B5-B72A-D6CC7C51D3C6}"/>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07141E96-298C-6447-0D15-D9964F3E7377}"/>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2C441D68-75C1-498E-D669-45B58BB09688}"/>
                    </a:ext>
                  </a:extLst>
                </p:cNvPr>
                <p:cNvCxnSpPr/>
                <p:nvPr userDrawn="1"/>
              </p:nvCxnSpPr>
              <p:spPr>
                <a:xfrm flipH="1">
                  <a:off x="678986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50B34B5C-34C8-A133-9571-AA3F666EE5F9}"/>
                    </a:ext>
                  </a:extLst>
                </p:cNvPr>
                <p:cNvCxnSpPr/>
                <p:nvPr userDrawn="1"/>
              </p:nvCxnSpPr>
              <p:spPr>
                <a:xfrm flipH="1">
                  <a:off x="715025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EE6AF8C2-A692-961B-42F5-33C85DF75F77}"/>
                    </a:ext>
                  </a:extLst>
                </p:cNvPr>
                <p:cNvCxnSpPr/>
                <p:nvPr userDrawn="1"/>
              </p:nvCxnSpPr>
              <p:spPr>
                <a:xfrm flipH="1">
                  <a:off x="750704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33A26750-40F1-B449-0885-4141BD6D1820}"/>
                    </a:ext>
                  </a:extLst>
                </p:cNvPr>
                <p:cNvCxnSpPr/>
                <p:nvPr userDrawn="1"/>
              </p:nvCxnSpPr>
              <p:spPr>
                <a:xfrm flipH="1">
                  <a:off x="786742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18DF7AEB-746F-3096-B923-4B8C8D8423FC}"/>
                    </a:ext>
                  </a:extLst>
                </p:cNvPr>
                <p:cNvCxnSpPr/>
                <p:nvPr userDrawn="1"/>
              </p:nvCxnSpPr>
              <p:spPr>
                <a:xfrm flipH="1">
                  <a:off x="822780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0C5F082D-55F5-1131-C29D-33CF9B35984E}"/>
                    </a:ext>
                  </a:extLst>
                </p:cNvPr>
                <p:cNvCxnSpPr/>
                <p:nvPr userDrawn="1"/>
              </p:nvCxnSpPr>
              <p:spPr>
                <a:xfrm flipH="1">
                  <a:off x="858819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09F61332-511C-4C66-12CD-A20AB864F79D}"/>
                    </a:ext>
                  </a:extLst>
                </p:cNvPr>
                <p:cNvCxnSpPr/>
                <p:nvPr userDrawn="1"/>
              </p:nvCxnSpPr>
              <p:spPr>
                <a:xfrm flipH="1">
                  <a:off x="894857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5C27D5CA-2F45-FEFE-B09F-2BB1C0D61AF4}"/>
                    </a:ext>
                  </a:extLst>
                </p:cNvPr>
                <p:cNvCxnSpPr/>
                <p:nvPr userDrawn="1"/>
              </p:nvCxnSpPr>
              <p:spPr>
                <a:xfrm flipH="1">
                  <a:off x="930895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33EC77D6-3691-F896-AADA-656EA5DD8C40}"/>
                    </a:ext>
                  </a:extLst>
                </p:cNvPr>
                <p:cNvCxnSpPr/>
                <p:nvPr userDrawn="1"/>
              </p:nvCxnSpPr>
              <p:spPr>
                <a:xfrm flipH="1">
                  <a:off x="966933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329F0470-4AF6-EF0D-CB08-43BC24BE55E9}"/>
                    </a:ext>
                  </a:extLst>
                </p:cNvPr>
                <p:cNvCxnSpPr/>
                <p:nvPr userDrawn="1"/>
              </p:nvCxnSpPr>
              <p:spPr>
                <a:xfrm flipH="1">
                  <a:off x="1002971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7581214D-3A89-6F0A-CF05-F9668D3177D4}"/>
                    </a:ext>
                  </a:extLst>
                </p:cNvPr>
                <p:cNvCxnSpPr/>
                <p:nvPr userDrawn="1"/>
              </p:nvCxnSpPr>
              <p:spPr>
                <a:xfrm flipH="1">
                  <a:off x="1039009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85D228B0-A263-964C-9D4F-520C821046B5}"/>
                    </a:ext>
                  </a:extLst>
                </p:cNvPr>
                <p:cNvCxnSpPr/>
                <p:nvPr userDrawn="1"/>
              </p:nvCxnSpPr>
              <p:spPr>
                <a:xfrm flipH="1">
                  <a:off x="-5737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7BC8779E-C683-9164-60D2-18CAD78DAB05}"/>
                    </a:ext>
                  </a:extLst>
                </p:cNvPr>
                <p:cNvCxnSpPr/>
                <p:nvPr userDrawn="1"/>
              </p:nvCxnSpPr>
              <p:spPr>
                <a:xfrm flipH="1">
                  <a:off x="30301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2E2A3042-52B3-7BC5-39C7-7321B275B2BE}"/>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5A9C600E-4042-ABE3-1A6F-1F18A499F66B}"/>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113" name="直接连接符 112">
                <a:extLst>
                  <a:ext uri="{FF2B5EF4-FFF2-40B4-BE49-F238E27FC236}">
                    <a16:creationId xmlns:a16="http://schemas.microsoft.com/office/drawing/2014/main" id="{40D54C82-55BE-6E73-C610-AD6668AD109A}"/>
                  </a:ext>
                </a:extLst>
              </p:cNvPr>
              <p:cNvCxnSpPr/>
              <p:nvPr/>
            </p:nvCxnSpPr>
            <p:spPr>
              <a:xfrm flipH="1">
                <a:off x="728763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E876D543-827F-BA81-4381-1EF708559E75}"/>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FF297852-5963-0C19-F14B-1132BE43E088}"/>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116" name="组合 115">
              <a:extLst>
                <a:ext uri="{FF2B5EF4-FFF2-40B4-BE49-F238E27FC236}">
                  <a16:creationId xmlns:a16="http://schemas.microsoft.com/office/drawing/2014/main" id="{1B1B1632-1C8B-FBAB-FD7A-511FB69FEC68}"/>
                </a:ext>
              </a:extLst>
            </p:cNvPr>
            <p:cNvGrpSpPr/>
            <p:nvPr/>
          </p:nvGrpSpPr>
          <p:grpSpPr>
            <a:xfrm>
              <a:off x="601928" y="2125822"/>
              <a:ext cx="5978525" cy="275672"/>
              <a:chOff x="601928" y="2125822"/>
              <a:chExt cx="5978525" cy="275672"/>
            </a:xfrm>
          </p:grpSpPr>
          <p:grpSp>
            <p:nvGrpSpPr>
              <p:cNvPr id="37" name="组合 36">
                <a:extLst>
                  <a:ext uri="{FF2B5EF4-FFF2-40B4-BE49-F238E27FC236}">
                    <a16:creationId xmlns:a16="http://schemas.microsoft.com/office/drawing/2014/main" id="{FCC33D00-93DB-ACAD-04DC-083AE484C0DB}"/>
                  </a:ext>
                </a:extLst>
              </p:cNvPr>
              <p:cNvGrpSpPr/>
              <p:nvPr/>
            </p:nvGrpSpPr>
            <p:grpSpPr>
              <a:xfrm>
                <a:off x="601928" y="2125823"/>
                <a:ext cx="5978525" cy="275671"/>
                <a:chOff x="-57370" y="2710927"/>
                <a:chExt cx="12249370" cy="718073"/>
              </a:xfrm>
            </p:grpSpPr>
            <p:cxnSp>
              <p:nvCxnSpPr>
                <p:cNvPr id="38" name="直接连接符 37">
                  <a:extLst>
                    <a:ext uri="{FF2B5EF4-FFF2-40B4-BE49-F238E27FC236}">
                      <a16:creationId xmlns:a16="http://schemas.microsoft.com/office/drawing/2014/main" id="{5AD2EB4D-C1EC-4F6B-5636-5EF6C9CBA6DB}"/>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DF2C1181-BCDF-AE8C-EF3C-B39F0D95412E}"/>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1453E5A9-72AF-2E87-77C2-15A43A7696E5}"/>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6C4D1266-70A0-0C57-8980-C610EB1734D4}"/>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4E56511D-F8D4-624C-45D6-97E036869285}"/>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5D843633-AD31-98B7-8541-F949843D7A53}"/>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A0A6C9D1-83C5-078F-A0EC-E731F96DA8EB}"/>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906FBDD-9E06-1D65-57FD-8C56E027E167}"/>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6A3DEC76-4EE5-BE70-957F-646DCE9F3DFB}"/>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158C3866-20F0-BFD1-4F93-D18E52550DB1}"/>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4B58961C-6324-2BAD-FA85-FAC60F91690E}"/>
                    </a:ext>
                  </a:extLst>
                </p:cNvPr>
                <p:cNvCxnSpPr/>
                <p:nvPr userDrawn="1"/>
              </p:nvCxnSpPr>
              <p:spPr>
                <a:xfrm flipH="1">
                  <a:off x="678986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99EA2D15-92D1-7216-FEE9-9D4592EA1A72}"/>
                    </a:ext>
                  </a:extLst>
                </p:cNvPr>
                <p:cNvCxnSpPr/>
                <p:nvPr userDrawn="1"/>
              </p:nvCxnSpPr>
              <p:spPr>
                <a:xfrm flipH="1">
                  <a:off x="715025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EBBF52F8-C053-D13B-7CF9-8267EACCA0AE}"/>
                    </a:ext>
                  </a:extLst>
                </p:cNvPr>
                <p:cNvCxnSpPr/>
                <p:nvPr userDrawn="1"/>
              </p:nvCxnSpPr>
              <p:spPr>
                <a:xfrm flipH="1">
                  <a:off x="822780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1FF52B64-2C9B-88E5-42AD-C8918D6E888B}"/>
                    </a:ext>
                  </a:extLst>
                </p:cNvPr>
                <p:cNvCxnSpPr/>
                <p:nvPr userDrawn="1"/>
              </p:nvCxnSpPr>
              <p:spPr>
                <a:xfrm flipH="1">
                  <a:off x="930895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9DDBFE05-27B0-38D3-C1A4-449016BD7BB1}"/>
                    </a:ext>
                  </a:extLst>
                </p:cNvPr>
                <p:cNvCxnSpPr/>
                <p:nvPr userDrawn="1"/>
              </p:nvCxnSpPr>
              <p:spPr>
                <a:xfrm flipH="1">
                  <a:off x="966933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50D7CEED-E2C9-B623-90A0-0F328A93517B}"/>
                    </a:ext>
                  </a:extLst>
                </p:cNvPr>
                <p:cNvCxnSpPr/>
                <p:nvPr userDrawn="1"/>
              </p:nvCxnSpPr>
              <p:spPr>
                <a:xfrm flipH="1">
                  <a:off x="1002971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29E344D-2357-D008-9B31-A0CFA6C6EB23}"/>
                    </a:ext>
                  </a:extLst>
                </p:cNvPr>
                <p:cNvCxnSpPr/>
                <p:nvPr userDrawn="1"/>
              </p:nvCxnSpPr>
              <p:spPr>
                <a:xfrm flipH="1">
                  <a:off x="1039009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F69F07BE-7B9A-3DD3-3CF0-A62D49EDF00E}"/>
                    </a:ext>
                  </a:extLst>
                </p:cNvPr>
                <p:cNvCxnSpPr/>
                <p:nvPr userDrawn="1"/>
              </p:nvCxnSpPr>
              <p:spPr>
                <a:xfrm flipH="1">
                  <a:off x="1075047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88E5C669-2FB6-C6E1-B486-9831DE1F6FD2}"/>
                    </a:ext>
                  </a:extLst>
                </p:cNvPr>
                <p:cNvCxnSpPr/>
                <p:nvPr userDrawn="1"/>
              </p:nvCxnSpPr>
              <p:spPr>
                <a:xfrm flipH="1">
                  <a:off x="1111085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7F07E3B2-4AE5-07DE-5260-88D99D12872F}"/>
                    </a:ext>
                  </a:extLst>
                </p:cNvPr>
                <p:cNvCxnSpPr/>
                <p:nvPr userDrawn="1"/>
              </p:nvCxnSpPr>
              <p:spPr>
                <a:xfrm flipH="1">
                  <a:off x="1147123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A1DE1A1-8107-FA5F-E1A8-8E15F12AE82F}"/>
                    </a:ext>
                  </a:extLst>
                </p:cNvPr>
                <p:cNvCxnSpPr/>
                <p:nvPr userDrawn="1"/>
              </p:nvCxnSpPr>
              <p:spPr>
                <a:xfrm flipH="1">
                  <a:off x="-5737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F2D44F24-4896-1214-70DC-5EBC2DB0CFE5}"/>
                    </a:ext>
                  </a:extLst>
                </p:cNvPr>
                <p:cNvCxnSpPr/>
                <p:nvPr userDrawn="1"/>
              </p:nvCxnSpPr>
              <p:spPr>
                <a:xfrm flipH="1">
                  <a:off x="30301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3F44AA97-DC32-319A-5042-38DF83870A9D}"/>
                    </a:ext>
                  </a:extLst>
                </p:cNvPr>
                <p:cNvCxnSpPr/>
                <p:nvPr userDrawn="1"/>
              </p:nvCxnSpPr>
              <p:spPr>
                <a:xfrm flipH="1">
                  <a:off x="66339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27B5B97F-7CC2-00A3-B896-BE69E38A0861}"/>
                    </a:ext>
                  </a:extLst>
                </p:cNvPr>
                <p:cNvCxnSpPr/>
                <p:nvPr userDrawn="1"/>
              </p:nvCxnSpPr>
              <p:spPr>
                <a:xfrm flipH="1">
                  <a:off x="102377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4DCB7627-DB26-3D4A-0B4D-ADFBA268DC61}"/>
                    </a:ext>
                  </a:extLst>
                </p:cNvPr>
                <p:cNvCxnSpPr/>
                <p:nvPr userDrawn="1"/>
              </p:nvCxnSpPr>
              <p:spPr>
                <a:xfrm flipH="1">
                  <a:off x="138415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2C6AE3D-228A-A490-FC05-8284467B818D}"/>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D0C9BC8D-CF21-FF22-A4F4-E61281F18155}"/>
                    </a:ext>
                  </a:extLst>
                </p:cNvPr>
                <p:cNvCxnSpPr/>
                <p:nvPr userDrawn="1"/>
              </p:nvCxnSpPr>
              <p:spPr>
                <a:xfrm flipH="1">
                  <a:off x="210491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B8040732-B111-A9A1-C4D5-360FFAE0D272}"/>
                    </a:ext>
                  </a:extLst>
                </p:cNvPr>
                <p:cNvCxnSpPr/>
                <p:nvPr userDrawn="1"/>
              </p:nvCxnSpPr>
              <p:spPr>
                <a:xfrm flipH="1">
                  <a:off x="246529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E52B50BB-9D29-5DD6-7E89-8EA07009B7B8}"/>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110" name="直接连接符 109">
                <a:extLst>
                  <a:ext uri="{FF2B5EF4-FFF2-40B4-BE49-F238E27FC236}">
                    <a16:creationId xmlns:a16="http://schemas.microsoft.com/office/drawing/2014/main" id="{53060E1A-0D16-5B95-B184-5709C64D58A2}"/>
                  </a:ext>
                </a:extLst>
              </p:cNvPr>
              <p:cNvCxnSpPr/>
              <p:nvPr/>
            </p:nvCxnSpPr>
            <p:spPr>
              <a:xfrm flipH="1">
                <a:off x="4297496"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F89B8DE3-9B2E-AB90-E090-1D9AC954429A}"/>
                  </a:ext>
                </a:extLst>
              </p:cNvPr>
              <p:cNvCxnSpPr/>
              <p:nvPr/>
            </p:nvCxnSpPr>
            <p:spPr>
              <a:xfrm flipH="1">
                <a:off x="4473386"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1F8D0DE1-9EB9-6B15-8E71-C0779688A1F2}"/>
                  </a:ext>
                </a:extLst>
              </p:cNvPr>
              <p:cNvCxnSpPr/>
              <p:nvPr/>
            </p:nvCxnSpPr>
            <p:spPr>
              <a:xfrm flipH="1">
                <a:off x="4649276"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矩形 1">
              <a:extLst>
                <a:ext uri="{FF2B5EF4-FFF2-40B4-BE49-F238E27FC236}">
                  <a16:creationId xmlns:a16="http://schemas.microsoft.com/office/drawing/2014/main" id="{46A0C6A7-0410-4F96-F471-34354B369FFD}"/>
                </a:ext>
              </a:extLst>
            </p:cNvPr>
            <p:cNvSpPr/>
            <p:nvPr/>
          </p:nvSpPr>
          <p:spPr>
            <a:xfrm>
              <a:off x="328612" y="1923644"/>
              <a:ext cx="11534775" cy="2304111"/>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矩形 70">
              <a:extLst>
                <a:ext uri="{FF2B5EF4-FFF2-40B4-BE49-F238E27FC236}">
                  <a16:creationId xmlns:a16="http://schemas.microsoft.com/office/drawing/2014/main" id="{FF146498-3FB8-258C-4A41-B2DF4CCB14EB}"/>
                </a:ext>
              </a:extLst>
            </p:cNvPr>
            <p:cNvSpPr/>
            <p:nvPr/>
          </p:nvSpPr>
          <p:spPr>
            <a:xfrm>
              <a:off x="328612" y="1923644"/>
              <a:ext cx="441235" cy="2304111"/>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a:extLst>
                <a:ext uri="{FF2B5EF4-FFF2-40B4-BE49-F238E27FC236}">
                  <a16:creationId xmlns:a16="http://schemas.microsoft.com/office/drawing/2014/main" id="{805A98D5-C4AD-34DA-85FD-299CB3B16626}"/>
                </a:ext>
              </a:extLst>
            </p:cNvPr>
            <p:cNvSpPr/>
            <p:nvPr/>
          </p:nvSpPr>
          <p:spPr>
            <a:xfrm>
              <a:off x="11422150" y="1923644"/>
              <a:ext cx="441237" cy="2304111"/>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a:extLst>
                <a:ext uri="{FF2B5EF4-FFF2-40B4-BE49-F238E27FC236}">
                  <a16:creationId xmlns:a16="http://schemas.microsoft.com/office/drawing/2014/main" id="{9BABBC43-EE09-4E30-F077-C54F8812C967}"/>
                </a:ext>
              </a:extLst>
            </p:cNvPr>
            <p:cNvSpPr txBox="1"/>
            <p:nvPr/>
          </p:nvSpPr>
          <p:spPr>
            <a:xfrm>
              <a:off x="4937436" y="1971269"/>
              <a:ext cx="2317125" cy="584775"/>
            </a:xfrm>
            <a:prstGeom prst="rect">
              <a:avLst/>
            </a:prstGeom>
            <a:solidFill>
              <a:schemeClr val="bg1"/>
            </a:solidFill>
          </p:spPr>
          <p:txBody>
            <a:bodyPr wrap="square" rtlCol="0">
              <a:spAutoFit/>
            </a:bodyPr>
            <a:lstStyle/>
            <a:p>
              <a:pPr algn="ctr"/>
              <a:r>
                <a:rPr lang="en-US" altLang="zh-CN" sz="3200" dirty="0">
                  <a:solidFill>
                    <a:schemeClr val="tx2"/>
                  </a:solidFill>
                  <a:latin typeface="字魂59号-创粗黑" panose="00000500000000000000" pitchFamily="2" charset="-122"/>
                  <a:ea typeface="字魂59号-创粗黑" panose="00000500000000000000" pitchFamily="2" charset="-122"/>
                </a:rPr>
                <a:t>PART 3</a:t>
              </a:r>
              <a:endParaRPr lang="zh-CN" altLang="en-US" sz="3200" dirty="0">
                <a:solidFill>
                  <a:schemeClr val="tx2"/>
                </a:solidFill>
                <a:latin typeface="字魂59号-创粗黑" panose="00000500000000000000" pitchFamily="2" charset="-122"/>
                <a:ea typeface="字魂59号-创粗黑" panose="00000500000000000000" pitchFamily="2" charset="-122"/>
              </a:endParaRPr>
            </a:p>
          </p:txBody>
        </p:sp>
        <p:sp>
          <p:nvSpPr>
            <p:cNvPr id="109" name="文本框 108">
              <a:extLst>
                <a:ext uri="{FF2B5EF4-FFF2-40B4-BE49-F238E27FC236}">
                  <a16:creationId xmlns:a16="http://schemas.microsoft.com/office/drawing/2014/main" id="{521DA7E5-30FC-F82E-11CC-44844C2EDAF0}"/>
                </a:ext>
              </a:extLst>
            </p:cNvPr>
            <p:cNvSpPr txBox="1"/>
            <p:nvPr/>
          </p:nvSpPr>
          <p:spPr>
            <a:xfrm>
              <a:off x="1335249" y="2852958"/>
              <a:ext cx="10487024" cy="923330"/>
            </a:xfrm>
            <a:prstGeom prst="rect">
              <a:avLst/>
            </a:prstGeom>
            <a:noFill/>
          </p:spPr>
          <p:txBody>
            <a:bodyPr wrap="square" rtlCol="0">
              <a:spAutoFit/>
            </a:bodyPr>
            <a:lstStyle/>
            <a:p>
              <a:r>
                <a:rPr lang="en-US" altLang="zh-CN" sz="5400" b="1" dirty="0">
                  <a:solidFill>
                    <a:schemeClr val="accent1"/>
                  </a:solidFill>
                  <a:latin typeface="字魂59号-创粗黑" panose="00000500000000000000" pitchFamily="2" charset="-122"/>
                  <a:ea typeface="字魂59号-创粗黑" panose="00000500000000000000" pitchFamily="2" charset="-122"/>
                </a:rPr>
                <a:t>SHAP &amp; Financial </a:t>
              </a:r>
              <a:r>
                <a:rPr lang="en-US" altLang="zh-CN" sz="5400" b="1" dirty="0" err="1">
                  <a:solidFill>
                    <a:schemeClr val="accent1"/>
                  </a:solidFill>
                  <a:latin typeface="字魂59号-创粗黑" panose="00000500000000000000" pitchFamily="2" charset="-122"/>
                  <a:ea typeface="字魂59号-创粗黑" panose="00000500000000000000" pitchFamily="2" charset="-122"/>
                </a:rPr>
                <a:t>Backtest</a:t>
              </a:r>
              <a:r>
                <a:rPr lang="en-US" altLang="zh-CN" sz="5400" b="1" dirty="0">
                  <a:solidFill>
                    <a:schemeClr val="accent1"/>
                  </a:solidFill>
                  <a:latin typeface="字魂59号-创粗黑" panose="00000500000000000000" pitchFamily="2" charset="-122"/>
                  <a:ea typeface="字魂59号-创粗黑" panose="00000500000000000000" pitchFamily="2" charset="-122"/>
                </a:rPr>
                <a:t> </a:t>
              </a:r>
            </a:p>
          </p:txBody>
        </p:sp>
      </p:grpSp>
    </p:spTree>
    <p:extLst>
      <p:ext uri="{BB962C8B-B14F-4D97-AF65-F5344CB8AC3E}">
        <p14:creationId xmlns:p14="http://schemas.microsoft.com/office/powerpoint/2010/main" val="2627627128"/>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27E91-E014-AFCB-4A36-DE27ED1F8C1E}"/>
            </a:ext>
          </a:extLst>
        </p:cNvPr>
        <p:cNvGrpSpPr/>
        <p:nvPr/>
      </p:nvGrpSpPr>
      <p:grpSpPr>
        <a:xfrm>
          <a:off x="0" y="0"/>
          <a:ext cx="0" cy="0"/>
          <a:chOff x="0" y="0"/>
          <a:chExt cx="0" cy="0"/>
        </a:xfrm>
      </p:grpSpPr>
      <p:pic>
        <p:nvPicPr>
          <p:cNvPr id="10" name="图片 9">
            <a:extLst>
              <a:ext uri="{FF2B5EF4-FFF2-40B4-BE49-F238E27FC236}">
                <a16:creationId xmlns:a16="http://schemas.microsoft.com/office/drawing/2014/main" id="{6D5FEF50-7CB4-3131-14B2-7A2EA581BE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459" y="1817843"/>
            <a:ext cx="7077470" cy="4187961"/>
          </a:xfrm>
          <a:prstGeom prst="rect">
            <a:avLst/>
          </a:prstGeom>
        </p:spPr>
      </p:pic>
      <p:grpSp>
        <p:nvGrpSpPr>
          <p:cNvPr id="2" name="组合 1">
            <a:extLst>
              <a:ext uri="{FF2B5EF4-FFF2-40B4-BE49-F238E27FC236}">
                <a16:creationId xmlns:a16="http://schemas.microsoft.com/office/drawing/2014/main" id="{2B1DC142-90B7-94FF-5C41-7813E8508CC5}"/>
              </a:ext>
            </a:extLst>
          </p:cNvPr>
          <p:cNvGrpSpPr/>
          <p:nvPr/>
        </p:nvGrpSpPr>
        <p:grpSpPr>
          <a:xfrm>
            <a:off x="-1" y="957421"/>
            <a:ext cx="12193200" cy="44820"/>
            <a:chOff x="1773217" y="5185185"/>
            <a:chExt cx="8645561" cy="44820"/>
          </a:xfrm>
        </p:grpSpPr>
        <p:cxnSp>
          <p:nvCxnSpPr>
            <p:cNvPr id="3" name="直接连接符 2">
              <a:extLst>
                <a:ext uri="{FF2B5EF4-FFF2-40B4-BE49-F238E27FC236}">
                  <a16:creationId xmlns:a16="http://schemas.microsoft.com/office/drawing/2014/main" id="{93833270-767F-0E56-3C41-4E79C663DE22}"/>
                </a:ext>
              </a:extLst>
            </p:cNvPr>
            <p:cNvCxnSpPr>
              <a:cxnSpLocks/>
            </p:cNvCxnSpPr>
            <p:nvPr userDrawn="1"/>
          </p:nvCxnSpPr>
          <p:spPr>
            <a:xfrm>
              <a:off x="1773218" y="51851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9ECC0A02-1D26-7DEE-3AD4-A3C10D845973}"/>
                </a:ext>
              </a:extLst>
            </p:cNvPr>
            <p:cNvCxnSpPr>
              <a:cxnSpLocks/>
            </p:cNvCxnSpPr>
            <p:nvPr userDrawn="1"/>
          </p:nvCxnSpPr>
          <p:spPr>
            <a:xfrm>
              <a:off x="1773217" y="5230005"/>
              <a:ext cx="864556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3A3E9D46-D0B7-BF57-18EA-0C827A78D021}"/>
              </a:ext>
            </a:extLst>
          </p:cNvPr>
          <p:cNvSpPr txBox="1"/>
          <p:nvPr/>
        </p:nvSpPr>
        <p:spPr>
          <a:xfrm>
            <a:off x="158533" y="202191"/>
            <a:ext cx="7140514" cy="1200329"/>
          </a:xfrm>
          <a:prstGeom prst="rect">
            <a:avLst/>
          </a:prstGeom>
          <a:noFill/>
        </p:spPr>
        <p:txBody>
          <a:bodyPr wrap="square" rtlCol="0">
            <a:spAutoFit/>
          </a:bodyPr>
          <a:lstStyle/>
          <a:p>
            <a:r>
              <a:rPr lang="en-US" altLang="zh-CN" sz="3600" b="1" dirty="0">
                <a:solidFill>
                  <a:schemeClr val="accent1"/>
                </a:solidFill>
                <a:latin typeface="字魂59号-创粗黑" panose="00000500000000000000" pitchFamily="2" charset="-122"/>
                <a:ea typeface="字魂59号-创粗黑" panose="00000500000000000000" pitchFamily="2" charset="-122"/>
              </a:rPr>
              <a:t>3. SHAP &amp; Financial </a:t>
            </a:r>
            <a:r>
              <a:rPr lang="en-US" altLang="zh-CN" sz="3600" b="1" dirty="0" err="1">
                <a:solidFill>
                  <a:schemeClr val="accent1"/>
                </a:solidFill>
                <a:latin typeface="字魂59号-创粗黑" panose="00000500000000000000" pitchFamily="2" charset="-122"/>
                <a:ea typeface="字魂59号-创粗黑" panose="00000500000000000000" pitchFamily="2" charset="-122"/>
              </a:rPr>
              <a:t>Backtest</a:t>
            </a:r>
            <a:r>
              <a:rPr lang="en-US" altLang="zh-CN" sz="3600" b="1" dirty="0">
                <a:solidFill>
                  <a:schemeClr val="accent1"/>
                </a:solidFill>
                <a:latin typeface="字魂59号-创粗黑" panose="00000500000000000000" pitchFamily="2" charset="-122"/>
                <a:ea typeface="字魂59号-创粗黑" panose="00000500000000000000" pitchFamily="2" charset="-122"/>
              </a:rPr>
              <a:t> </a:t>
            </a:r>
          </a:p>
          <a:p>
            <a:endParaRPr lang="en-US" altLang="zh-CN" sz="3600" b="1" dirty="0">
              <a:solidFill>
                <a:schemeClr val="accent1"/>
              </a:solidFill>
              <a:latin typeface="字魂59号-创粗黑" panose="00000500000000000000" pitchFamily="2" charset="-122"/>
              <a:ea typeface="字魂59号-创粗黑" panose="00000500000000000000" pitchFamily="2" charset="-122"/>
            </a:endParaRPr>
          </a:p>
        </p:txBody>
      </p:sp>
      <p:pic>
        <p:nvPicPr>
          <p:cNvPr id="52" name="图片 51">
            <a:extLst>
              <a:ext uri="{FF2B5EF4-FFF2-40B4-BE49-F238E27FC236}">
                <a16:creationId xmlns:a16="http://schemas.microsoft.com/office/drawing/2014/main" id="{0C7E3263-FC9C-6F98-AF2A-07776D35AE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149" y="5933398"/>
            <a:ext cx="850620" cy="850620"/>
          </a:xfrm>
          <a:prstGeom prst="rect">
            <a:avLst/>
          </a:prstGeom>
        </p:spPr>
      </p:pic>
      <p:grpSp>
        <p:nvGrpSpPr>
          <p:cNvPr id="87" name="组合 86">
            <a:extLst>
              <a:ext uri="{FF2B5EF4-FFF2-40B4-BE49-F238E27FC236}">
                <a16:creationId xmlns:a16="http://schemas.microsoft.com/office/drawing/2014/main" id="{2F9D4767-A0F6-1735-9A1E-B6394D047297}"/>
              </a:ext>
            </a:extLst>
          </p:cNvPr>
          <p:cNvGrpSpPr/>
          <p:nvPr/>
        </p:nvGrpSpPr>
        <p:grpSpPr>
          <a:xfrm>
            <a:off x="9065190" y="408158"/>
            <a:ext cx="2817867" cy="275671"/>
            <a:chOff x="7104504" y="2125822"/>
            <a:chExt cx="2817867" cy="275671"/>
          </a:xfrm>
        </p:grpSpPr>
        <p:grpSp>
          <p:nvGrpSpPr>
            <p:cNvPr id="88" name="组合 87">
              <a:extLst>
                <a:ext uri="{FF2B5EF4-FFF2-40B4-BE49-F238E27FC236}">
                  <a16:creationId xmlns:a16="http://schemas.microsoft.com/office/drawing/2014/main" id="{2F3E9450-8501-DFFF-EEDF-71146A2D0430}"/>
                </a:ext>
              </a:extLst>
            </p:cNvPr>
            <p:cNvGrpSpPr/>
            <p:nvPr/>
          </p:nvGrpSpPr>
          <p:grpSpPr>
            <a:xfrm>
              <a:off x="7284014" y="2125822"/>
              <a:ext cx="2638357" cy="275671"/>
              <a:chOff x="1744535" y="2710927"/>
              <a:chExt cx="5405715" cy="718073"/>
            </a:xfrm>
          </p:grpSpPr>
          <p:cxnSp>
            <p:nvCxnSpPr>
              <p:cNvPr id="92" name="直接连接符 91">
                <a:extLst>
                  <a:ext uri="{FF2B5EF4-FFF2-40B4-BE49-F238E27FC236}">
                    <a16:creationId xmlns:a16="http://schemas.microsoft.com/office/drawing/2014/main" id="{F3537F03-919F-9F1C-7F33-3CF96F9B5C64}"/>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930719E7-EA35-D373-5ADC-0785451639B9}"/>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91D5D754-010A-89A2-09C6-F6995D73E673}"/>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FD5C85B7-8C86-7FCA-B3F7-664FB3FF74D4}"/>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2D5D63C8-4624-ADAE-066B-40E3DDC5BDF1}"/>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AC7F2553-D075-2A02-B3A7-52057077112F}"/>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C9E9766C-41BA-6C42-FDD9-362BAD7018F4}"/>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4194092B-9C1B-BF76-256C-85DCF32470DD}"/>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CDA3DFDC-C1BC-F21D-D84C-706C9624F09B}"/>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E733ED03-9350-35D8-1E85-8ACC1DAF8474}"/>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3DD1C604-05B7-D0FF-2AA1-04383A460729}"/>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38DE6A2B-28D4-44CB-484C-9F397577768C}"/>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89" name="直接连接符 88">
              <a:extLst>
                <a:ext uri="{FF2B5EF4-FFF2-40B4-BE49-F238E27FC236}">
                  <a16:creationId xmlns:a16="http://schemas.microsoft.com/office/drawing/2014/main" id="{01698A3C-B4EA-BD04-6039-AC763AABBAF6}"/>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CDA0D431-8703-4C72-15ED-81750E9A9912}"/>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CDBC4AAD-4FD3-7F42-5D40-11513D45368A}"/>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05" name="文本框 104">
            <a:extLst>
              <a:ext uri="{FF2B5EF4-FFF2-40B4-BE49-F238E27FC236}">
                <a16:creationId xmlns:a16="http://schemas.microsoft.com/office/drawing/2014/main" id="{704034AD-72C7-237B-9CA0-EC6E05D5C1B1}"/>
              </a:ext>
            </a:extLst>
          </p:cNvPr>
          <p:cNvSpPr txBox="1"/>
          <p:nvPr/>
        </p:nvSpPr>
        <p:spPr>
          <a:xfrm>
            <a:off x="495459" y="1189585"/>
            <a:ext cx="6810827" cy="1015663"/>
          </a:xfrm>
          <a:prstGeom prst="rect">
            <a:avLst/>
          </a:prstGeom>
          <a:noFill/>
        </p:spPr>
        <p:txBody>
          <a:bodyPr wrap="square" rtlCol="0">
            <a:spAutoFit/>
          </a:bodyPr>
          <a:lstStyle/>
          <a:p>
            <a:r>
              <a:rPr lang="en-US" altLang="zh-CN" sz="2000" b="1" dirty="0">
                <a:solidFill>
                  <a:schemeClr val="accent1"/>
                </a:solidFill>
                <a:latin typeface="字魂59号-创粗黑" panose="00000500000000000000" pitchFamily="2" charset="-122"/>
                <a:ea typeface="字魂59号-创粗黑" panose="00000500000000000000" pitchFamily="2" charset="-122"/>
              </a:rPr>
              <a:t>3.1 SHAP Global Interpretation</a:t>
            </a:r>
          </a:p>
          <a:p>
            <a:endParaRPr lang="en-US" altLang="zh-CN" sz="2000" b="1" dirty="0">
              <a:solidFill>
                <a:schemeClr val="accent1"/>
              </a:solidFill>
              <a:latin typeface="字魂59号-创粗黑" panose="00000500000000000000" pitchFamily="2" charset="-122"/>
              <a:ea typeface="字魂59号-创粗黑" panose="00000500000000000000" pitchFamily="2" charset="-122"/>
            </a:endParaRPr>
          </a:p>
          <a:p>
            <a:endParaRPr lang="zh-CN" altLang="en-US" sz="2000" b="1" dirty="0">
              <a:solidFill>
                <a:schemeClr val="accent1"/>
              </a:solidFill>
              <a:latin typeface="字魂59号-创粗黑" panose="00000500000000000000" pitchFamily="2" charset="-122"/>
              <a:ea typeface="字魂59号-创粗黑" panose="00000500000000000000" pitchFamily="2" charset="-122"/>
            </a:endParaRPr>
          </a:p>
        </p:txBody>
      </p:sp>
      <p:sp>
        <p:nvSpPr>
          <p:cNvPr id="11" name="文本框 10">
            <a:extLst>
              <a:ext uri="{FF2B5EF4-FFF2-40B4-BE49-F238E27FC236}">
                <a16:creationId xmlns:a16="http://schemas.microsoft.com/office/drawing/2014/main" id="{66199D70-22A5-C7B3-5D8D-0DA247BB9ED3}"/>
              </a:ext>
            </a:extLst>
          </p:cNvPr>
          <p:cNvSpPr txBox="1"/>
          <p:nvPr/>
        </p:nvSpPr>
        <p:spPr>
          <a:xfrm>
            <a:off x="7708167" y="2891657"/>
            <a:ext cx="3776627" cy="189551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Global SHAP ranking highlights </a:t>
            </a:r>
            <a:r>
              <a:rPr lang="en-US" altLang="zh-CN" sz="1600" b="1" dirty="0" err="1">
                <a:latin typeface="字魂58号-创中黑" panose="00000500000000000000" pitchFamily="2" charset="-122"/>
                <a:ea typeface="字魂58号-创中黑" panose="00000500000000000000" pitchFamily="2" charset="-122"/>
              </a:rPr>
              <a:t>active_addresses_change</a:t>
            </a:r>
            <a:r>
              <a:rPr lang="en-US" altLang="zh-CN" sz="1600" b="1" dirty="0">
                <a:latin typeface="字魂58号-创中黑" panose="00000500000000000000" pitchFamily="2" charset="-122"/>
                <a:ea typeface="字魂58号-创中黑" panose="00000500000000000000" pitchFamily="2" charset="-122"/>
              </a:rPr>
              <a:t> </a:t>
            </a:r>
            <a:r>
              <a:rPr lang="en-US" altLang="zh-CN" sz="1600" dirty="0">
                <a:latin typeface="字魂58号-创中黑" panose="00000500000000000000" pitchFamily="2" charset="-122"/>
                <a:ea typeface="字魂58号-创中黑" panose="00000500000000000000" pitchFamily="2" charset="-122"/>
              </a:rPr>
              <a:t>as the dominant signal</a:t>
            </a:r>
          </a:p>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Volume</a:t>
            </a:r>
            <a:r>
              <a:rPr lang="en-US" altLang="zh-CN" sz="1600" dirty="0">
                <a:latin typeface="字魂58号-创中黑" panose="00000500000000000000" pitchFamily="2" charset="-122"/>
                <a:ea typeface="字魂58号-创中黑" panose="00000500000000000000" pitchFamily="2" charset="-122"/>
              </a:rPr>
              <a:t> and </a:t>
            </a:r>
            <a:r>
              <a:rPr lang="en-US" altLang="zh-CN" sz="1600" b="1" dirty="0">
                <a:latin typeface="字魂58号-创中黑" panose="00000500000000000000" pitchFamily="2" charset="-122"/>
                <a:ea typeface="字魂58号-创中黑" panose="00000500000000000000" pitchFamily="2" charset="-122"/>
              </a:rPr>
              <a:t>short-horizon</a:t>
            </a:r>
            <a:r>
              <a:rPr lang="en-US" altLang="zh-CN" sz="1600" dirty="0">
                <a:latin typeface="字魂58号-创中黑" panose="00000500000000000000" pitchFamily="2" charset="-122"/>
                <a:ea typeface="字魂58号-创中黑" panose="00000500000000000000" pitchFamily="2" charset="-122"/>
              </a:rPr>
              <a:t> return factors are also influential</a:t>
            </a:r>
          </a:p>
        </p:txBody>
      </p:sp>
      <p:pic>
        <p:nvPicPr>
          <p:cNvPr id="7" name="图片 6">
            <a:hlinkClick r:id="rId5"/>
            <a:extLst>
              <a:ext uri="{FF2B5EF4-FFF2-40B4-BE49-F238E27FC236}">
                <a16:creationId xmlns:a16="http://schemas.microsoft.com/office/drawing/2014/main" id="{B05D3E5C-2249-6C77-C3F2-4FD10E77A6B0}"/>
              </a:ext>
            </a:extLst>
          </p:cNvPr>
          <p:cNvPicPr>
            <a:picLocks noChangeAspect="1"/>
          </p:cNvPicPr>
          <p:nvPr/>
        </p:nvPicPr>
        <p:blipFill>
          <a:blip r:embed="rId6">
            <a:extLst>
              <a:ext uri="{28A0092B-C50C-407E-A947-70E740481C1C}">
                <a14:useLocalDpi xmlns:a14="http://schemas.microsoft.com/office/drawing/2010/main" val="0"/>
              </a:ext>
            </a:extLst>
          </a:blip>
          <a:srcRect l="8048"/>
          <a:stretch>
            <a:fillRect/>
          </a:stretch>
        </p:blipFill>
        <p:spPr>
          <a:xfrm>
            <a:off x="4753319" y="1208210"/>
            <a:ext cx="380549" cy="388620"/>
          </a:xfrm>
          <a:prstGeom prst="rect">
            <a:avLst/>
          </a:prstGeom>
        </p:spPr>
      </p:pic>
    </p:spTree>
    <p:extLst>
      <p:ext uri="{BB962C8B-B14F-4D97-AF65-F5344CB8AC3E}">
        <p14:creationId xmlns:p14="http://schemas.microsoft.com/office/powerpoint/2010/main" val="128402520"/>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7635B-BE00-CEFE-8F7B-39DBDEC5A213}"/>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648DB561-5A93-B6CE-A60F-97E188F432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353" y="1712652"/>
            <a:ext cx="6598933" cy="4465329"/>
          </a:xfrm>
          <a:prstGeom prst="rect">
            <a:avLst/>
          </a:prstGeom>
        </p:spPr>
      </p:pic>
      <p:grpSp>
        <p:nvGrpSpPr>
          <p:cNvPr id="2" name="组合 1">
            <a:extLst>
              <a:ext uri="{FF2B5EF4-FFF2-40B4-BE49-F238E27FC236}">
                <a16:creationId xmlns:a16="http://schemas.microsoft.com/office/drawing/2014/main" id="{31D79487-C074-62F2-B6B1-79656C1EF4F0}"/>
              </a:ext>
            </a:extLst>
          </p:cNvPr>
          <p:cNvGrpSpPr/>
          <p:nvPr/>
        </p:nvGrpSpPr>
        <p:grpSpPr>
          <a:xfrm>
            <a:off x="-1" y="957421"/>
            <a:ext cx="12193200" cy="44820"/>
            <a:chOff x="1773217" y="5185185"/>
            <a:chExt cx="8645561" cy="44820"/>
          </a:xfrm>
        </p:grpSpPr>
        <p:cxnSp>
          <p:nvCxnSpPr>
            <p:cNvPr id="3" name="直接连接符 2">
              <a:extLst>
                <a:ext uri="{FF2B5EF4-FFF2-40B4-BE49-F238E27FC236}">
                  <a16:creationId xmlns:a16="http://schemas.microsoft.com/office/drawing/2014/main" id="{9FCDB051-1306-1AB1-EDA2-2C8F048D0324}"/>
                </a:ext>
              </a:extLst>
            </p:cNvPr>
            <p:cNvCxnSpPr>
              <a:cxnSpLocks/>
            </p:cNvCxnSpPr>
            <p:nvPr userDrawn="1"/>
          </p:nvCxnSpPr>
          <p:spPr>
            <a:xfrm>
              <a:off x="1773218" y="51851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62D7AB99-8114-444C-0CA3-AA5D20E335CD}"/>
                </a:ext>
              </a:extLst>
            </p:cNvPr>
            <p:cNvCxnSpPr>
              <a:cxnSpLocks/>
            </p:cNvCxnSpPr>
            <p:nvPr userDrawn="1"/>
          </p:nvCxnSpPr>
          <p:spPr>
            <a:xfrm>
              <a:off x="1773217" y="5230005"/>
              <a:ext cx="864556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E2AB3289-1C36-F532-ED5C-7F90D02FF909}"/>
              </a:ext>
            </a:extLst>
          </p:cNvPr>
          <p:cNvSpPr txBox="1"/>
          <p:nvPr/>
        </p:nvSpPr>
        <p:spPr>
          <a:xfrm>
            <a:off x="158533" y="202191"/>
            <a:ext cx="7140514" cy="1200329"/>
          </a:xfrm>
          <a:prstGeom prst="rect">
            <a:avLst/>
          </a:prstGeom>
          <a:noFill/>
        </p:spPr>
        <p:txBody>
          <a:bodyPr wrap="square" rtlCol="0">
            <a:spAutoFit/>
          </a:bodyPr>
          <a:lstStyle/>
          <a:p>
            <a:r>
              <a:rPr lang="en-US" altLang="zh-CN" sz="3600" b="1" dirty="0">
                <a:solidFill>
                  <a:schemeClr val="accent1"/>
                </a:solidFill>
                <a:latin typeface="字魂59号-创粗黑" panose="00000500000000000000" pitchFamily="2" charset="-122"/>
                <a:ea typeface="字魂59号-创粗黑" panose="00000500000000000000" pitchFamily="2" charset="-122"/>
              </a:rPr>
              <a:t>3. SHAP &amp; Financial </a:t>
            </a:r>
            <a:r>
              <a:rPr lang="en-US" altLang="zh-CN" sz="3600" b="1" dirty="0" err="1">
                <a:solidFill>
                  <a:schemeClr val="accent1"/>
                </a:solidFill>
                <a:latin typeface="字魂59号-创粗黑" panose="00000500000000000000" pitchFamily="2" charset="-122"/>
                <a:ea typeface="字魂59号-创粗黑" panose="00000500000000000000" pitchFamily="2" charset="-122"/>
              </a:rPr>
              <a:t>Backtest</a:t>
            </a:r>
            <a:r>
              <a:rPr lang="en-US" altLang="zh-CN" sz="3600" b="1" dirty="0">
                <a:solidFill>
                  <a:schemeClr val="accent1"/>
                </a:solidFill>
                <a:latin typeface="字魂59号-创粗黑" panose="00000500000000000000" pitchFamily="2" charset="-122"/>
                <a:ea typeface="字魂59号-创粗黑" panose="00000500000000000000" pitchFamily="2" charset="-122"/>
              </a:rPr>
              <a:t> </a:t>
            </a:r>
          </a:p>
          <a:p>
            <a:endParaRPr lang="en-US" altLang="zh-CN" sz="3600" b="1" dirty="0">
              <a:solidFill>
                <a:schemeClr val="accent1"/>
              </a:solidFill>
              <a:latin typeface="字魂59号-创粗黑" panose="00000500000000000000" pitchFamily="2" charset="-122"/>
              <a:ea typeface="字魂59号-创粗黑" panose="00000500000000000000" pitchFamily="2" charset="-122"/>
            </a:endParaRPr>
          </a:p>
        </p:txBody>
      </p:sp>
      <p:pic>
        <p:nvPicPr>
          <p:cNvPr id="52" name="图片 51">
            <a:extLst>
              <a:ext uri="{FF2B5EF4-FFF2-40B4-BE49-F238E27FC236}">
                <a16:creationId xmlns:a16="http://schemas.microsoft.com/office/drawing/2014/main" id="{D38E57E8-DDC8-B004-E055-827D29551C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149" y="5933398"/>
            <a:ext cx="850620" cy="850620"/>
          </a:xfrm>
          <a:prstGeom prst="rect">
            <a:avLst/>
          </a:prstGeom>
        </p:spPr>
      </p:pic>
      <p:grpSp>
        <p:nvGrpSpPr>
          <p:cNvPr id="87" name="组合 86">
            <a:extLst>
              <a:ext uri="{FF2B5EF4-FFF2-40B4-BE49-F238E27FC236}">
                <a16:creationId xmlns:a16="http://schemas.microsoft.com/office/drawing/2014/main" id="{73B3B4D4-811B-8DF9-BB2A-F5267AF4013F}"/>
              </a:ext>
            </a:extLst>
          </p:cNvPr>
          <p:cNvGrpSpPr/>
          <p:nvPr/>
        </p:nvGrpSpPr>
        <p:grpSpPr>
          <a:xfrm>
            <a:off x="9065190" y="408158"/>
            <a:ext cx="2817867" cy="275671"/>
            <a:chOff x="7104504" y="2125822"/>
            <a:chExt cx="2817867" cy="275671"/>
          </a:xfrm>
        </p:grpSpPr>
        <p:grpSp>
          <p:nvGrpSpPr>
            <p:cNvPr id="88" name="组合 87">
              <a:extLst>
                <a:ext uri="{FF2B5EF4-FFF2-40B4-BE49-F238E27FC236}">
                  <a16:creationId xmlns:a16="http://schemas.microsoft.com/office/drawing/2014/main" id="{F00F67EA-D892-5B7D-694C-18CE27B1EEB5}"/>
                </a:ext>
              </a:extLst>
            </p:cNvPr>
            <p:cNvGrpSpPr/>
            <p:nvPr/>
          </p:nvGrpSpPr>
          <p:grpSpPr>
            <a:xfrm>
              <a:off x="7284014" y="2125822"/>
              <a:ext cx="2638357" cy="275671"/>
              <a:chOff x="1744535" y="2710927"/>
              <a:chExt cx="5405715" cy="718073"/>
            </a:xfrm>
          </p:grpSpPr>
          <p:cxnSp>
            <p:nvCxnSpPr>
              <p:cNvPr id="92" name="直接连接符 91">
                <a:extLst>
                  <a:ext uri="{FF2B5EF4-FFF2-40B4-BE49-F238E27FC236}">
                    <a16:creationId xmlns:a16="http://schemas.microsoft.com/office/drawing/2014/main" id="{B476FF1E-640F-3EF5-94FA-6D2965B769AB}"/>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3AB10289-CB1F-BDE8-4274-386C800DC743}"/>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40C58A72-FA3C-B322-0B5A-AB491A6FA64C}"/>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9603D7B8-1FFB-D55A-989C-A542EB6F3C49}"/>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63991B2F-15BE-F9D9-6289-70E40D970A82}"/>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037F236D-3E14-0E8F-A6DD-90D7ED3FC1B0}"/>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CCE02524-903F-9268-C738-C0BA59A30412}"/>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0BD068C-E767-B03C-B052-B73039B312BC}"/>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03CB2C88-1ADA-42FC-7011-C368A774DC18}"/>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C7E2BBDA-9FF6-8A68-9F47-B6F91688DC14}"/>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E0E87EDC-223E-14F6-AFD4-393C03BE7FF6}"/>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5C8C5621-E29E-B1D0-56EA-BB34BD08944B}"/>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89" name="直接连接符 88">
              <a:extLst>
                <a:ext uri="{FF2B5EF4-FFF2-40B4-BE49-F238E27FC236}">
                  <a16:creationId xmlns:a16="http://schemas.microsoft.com/office/drawing/2014/main" id="{C07AB2AF-00AF-12EA-0381-B3B8395259A3}"/>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C6A84369-1F43-E135-DE10-B2BAE5535094}"/>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088F8120-5F3D-1590-BE68-6F4B3F70D65B}"/>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05" name="文本框 104">
            <a:extLst>
              <a:ext uri="{FF2B5EF4-FFF2-40B4-BE49-F238E27FC236}">
                <a16:creationId xmlns:a16="http://schemas.microsoft.com/office/drawing/2014/main" id="{7D385FF9-427D-0478-D34C-C2EC03C78792}"/>
              </a:ext>
            </a:extLst>
          </p:cNvPr>
          <p:cNvSpPr txBox="1"/>
          <p:nvPr/>
        </p:nvSpPr>
        <p:spPr>
          <a:xfrm>
            <a:off x="495459" y="1189585"/>
            <a:ext cx="6810827" cy="1015663"/>
          </a:xfrm>
          <a:prstGeom prst="rect">
            <a:avLst/>
          </a:prstGeom>
          <a:noFill/>
        </p:spPr>
        <p:txBody>
          <a:bodyPr wrap="square" rtlCol="0">
            <a:spAutoFit/>
          </a:bodyPr>
          <a:lstStyle/>
          <a:p>
            <a:r>
              <a:rPr lang="en-US" altLang="zh-CN" sz="2000" b="1" dirty="0">
                <a:solidFill>
                  <a:schemeClr val="accent1"/>
                </a:solidFill>
                <a:latin typeface="字魂59号-创粗黑" panose="00000500000000000000" pitchFamily="2" charset="-122"/>
                <a:ea typeface="字魂59号-创粗黑" panose="00000500000000000000" pitchFamily="2" charset="-122"/>
              </a:rPr>
              <a:t>3.2 SHAP Local Interpretation and Feature Ranking</a:t>
            </a:r>
          </a:p>
          <a:p>
            <a:endParaRPr lang="en-US" altLang="zh-CN" sz="2000" b="1" dirty="0">
              <a:solidFill>
                <a:schemeClr val="accent1"/>
              </a:solidFill>
              <a:latin typeface="字魂59号-创粗黑" panose="00000500000000000000" pitchFamily="2" charset="-122"/>
              <a:ea typeface="字魂59号-创粗黑" panose="00000500000000000000" pitchFamily="2" charset="-122"/>
            </a:endParaRPr>
          </a:p>
          <a:p>
            <a:endParaRPr lang="zh-CN" altLang="en-US" sz="2000" b="1" dirty="0">
              <a:solidFill>
                <a:schemeClr val="accent1"/>
              </a:solidFill>
              <a:latin typeface="字魂59号-创粗黑" panose="00000500000000000000" pitchFamily="2" charset="-122"/>
              <a:ea typeface="字魂59号-创粗黑" panose="00000500000000000000" pitchFamily="2" charset="-122"/>
            </a:endParaRPr>
          </a:p>
        </p:txBody>
      </p:sp>
      <p:sp>
        <p:nvSpPr>
          <p:cNvPr id="11" name="文本框 10">
            <a:extLst>
              <a:ext uri="{FF2B5EF4-FFF2-40B4-BE49-F238E27FC236}">
                <a16:creationId xmlns:a16="http://schemas.microsoft.com/office/drawing/2014/main" id="{912CD683-AC42-DD48-9F29-7DB5AA496344}"/>
              </a:ext>
            </a:extLst>
          </p:cNvPr>
          <p:cNvSpPr txBox="1"/>
          <p:nvPr/>
        </p:nvSpPr>
        <p:spPr>
          <a:xfrm>
            <a:off x="7382895" y="4463189"/>
            <a:ext cx="3796600" cy="189551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Dependence analysis shows directional contribution patterns for</a:t>
            </a:r>
            <a:r>
              <a:rPr lang="en-US" altLang="zh-CN" sz="1600" b="1" dirty="0">
                <a:latin typeface="字魂58号-创中黑" panose="00000500000000000000" pitchFamily="2" charset="-122"/>
                <a:ea typeface="字魂58号-创中黑" panose="00000500000000000000" pitchFamily="2" charset="-122"/>
              </a:rPr>
              <a:t> key on-chain activity</a:t>
            </a:r>
          </a:p>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Local behavior </a:t>
            </a:r>
            <a:r>
              <a:rPr lang="en-US" altLang="zh-CN" sz="1600" dirty="0">
                <a:latin typeface="字魂58号-创中黑" panose="00000500000000000000" pitchFamily="2" charset="-122"/>
                <a:ea typeface="字魂58号-创中黑" panose="00000500000000000000" pitchFamily="2" charset="-122"/>
              </a:rPr>
              <a:t>is consistent with the global importance ranking</a:t>
            </a:r>
          </a:p>
        </p:txBody>
      </p:sp>
      <p:graphicFrame>
        <p:nvGraphicFramePr>
          <p:cNvPr id="8" name="表格 7">
            <a:extLst>
              <a:ext uri="{FF2B5EF4-FFF2-40B4-BE49-F238E27FC236}">
                <a16:creationId xmlns:a16="http://schemas.microsoft.com/office/drawing/2014/main" id="{841B11D0-7052-D361-D9AF-D543B4F43982}"/>
              </a:ext>
            </a:extLst>
          </p:cNvPr>
          <p:cNvGraphicFramePr>
            <a:graphicFrameLocks noGrp="1"/>
          </p:cNvGraphicFramePr>
          <p:nvPr>
            <p:extLst>
              <p:ext uri="{D42A27DB-BD31-4B8C-83A1-F6EECF244321}">
                <p14:modId xmlns:p14="http://schemas.microsoft.com/office/powerpoint/2010/main" val="1010641078"/>
              </p:ext>
            </p:extLst>
          </p:nvPr>
        </p:nvGraphicFramePr>
        <p:xfrm>
          <a:off x="7518180" y="1697416"/>
          <a:ext cx="3309534" cy="2554605"/>
        </p:xfrm>
        <a:graphic>
          <a:graphicData uri="http://schemas.openxmlformats.org/drawingml/2006/table">
            <a:tbl>
              <a:tblPr>
                <a:tableStyleId>{3C2FFA5D-87B4-456A-9821-1D502468CF0F}</a:tableStyleId>
              </a:tblPr>
              <a:tblGrid>
                <a:gridCol w="1654767">
                  <a:extLst>
                    <a:ext uri="{9D8B030D-6E8A-4147-A177-3AD203B41FA5}">
                      <a16:colId xmlns:a16="http://schemas.microsoft.com/office/drawing/2014/main" val="1816732547"/>
                    </a:ext>
                  </a:extLst>
                </a:gridCol>
                <a:gridCol w="1654767">
                  <a:extLst>
                    <a:ext uri="{9D8B030D-6E8A-4147-A177-3AD203B41FA5}">
                      <a16:colId xmlns:a16="http://schemas.microsoft.com/office/drawing/2014/main" val="3569068329"/>
                    </a:ext>
                  </a:extLst>
                </a:gridCol>
              </a:tblGrid>
              <a:tr h="180975">
                <a:tc>
                  <a:txBody>
                    <a:bodyPr/>
                    <a:lstStyle/>
                    <a:p>
                      <a:pPr algn="l" fontAlgn="ctr">
                        <a:buNone/>
                      </a:pPr>
                      <a:r>
                        <a:rPr lang="en-US" sz="1800" b="1" u="none" strike="noStrike">
                          <a:solidFill>
                            <a:schemeClr val="bg1"/>
                          </a:solidFill>
                          <a:effectLst/>
                        </a:rPr>
                        <a:t>feature</a:t>
                      </a:r>
                      <a:endParaRPr lang="en-US" sz="1800" b="1" i="0" u="none" strike="noStrike">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sz="1800" b="1" u="none" strike="noStrike" dirty="0" err="1">
                          <a:solidFill>
                            <a:schemeClr val="bg1"/>
                          </a:solidFill>
                          <a:effectLst/>
                        </a:rPr>
                        <a:t>mean_abs_shap</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903993746"/>
                  </a:ext>
                </a:extLst>
              </a:tr>
              <a:tr h="180975">
                <a:tc>
                  <a:txBody>
                    <a:bodyPr/>
                    <a:lstStyle/>
                    <a:p>
                      <a:pPr algn="l" fontAlgn="ctr">
                        <a:buNone/>
                      </a:pPr>
                      <a:r>
                        <a:rPr lang="en-US" sz="1600" b="1" u="none" strike="noStrike">
                          <a:solidFill>
                            <a:srgbClr val="000000"/>
                          </a:solidFill>
                          <a:effectLst/>
                        </a:rPr>
                        <a:t>active_addresses_change</a:t>
                      </a:r>
                      <a:endParaRPr lang="en-US" sz="1600" b="1"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0.0134</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2850912353"/>
                  </a:ext>
                </a:extLst>
              </a:tr>
              <a:tr h="180975">
                <a:tc>
                  <a:txBody>
                    <a:bodyPr/>
                    <a:lstStyle/>
                    <a:p>
                      <a:pPr algn="l" fontAlgn="ctr">
                        <a:buNone/>
                      </a:pPr>
                      <a:r>
                        <a:rPr lang="en-US" sz="1600" b="1" u="none" strike="noStrike" dirty="0" err="1">
                          <a:solidFill>
                            <a:srgbClr val="000000"/>
                          </a:solidFill>
                          <a:effectLst/>
                        </a:rPr>
                        <a:t>volume_change</a:t>
                      </a:r>
                      <a:endParaRPr lang="en-US" sz="1600" b="1"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0.00465</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1702760612"/>
                  </a:ext>
                </a:extLst>
              </a:tr>
              <a:tr h="180975">
                <a:tc>
                  <a:txBody>
                    <a:bodyPr/>
                    <a:lstStyle/>
                    <a:p>
                      <a:pPr algn="l" fontAlgn="ctr">
                        <a:buNone/>
                      </a:pPr>
                      <a:r>
                        <a:rPr lang="en-US" sz="1600" b="1" u="none" strike="noStrike">
                          <a:solidFill>
                            <a:srgbClr val="000000"/>
                          </a:solidFill>
                          <a:effectLst/>
                        </a:rPr>
                        <a:t>ret_3d</a:t>
                      </a:r>
                      <a:endParaRPr lang="en-US" sz="1600" b="1"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0.00364</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454192256"/>
                  </a:ext>
                </a:extLst>
              </a:tr>
              <a:tr h="180975">
                <a:tc>
                  <a:txBody>
                    <a:bodyPr/>
                    <a:lstStyle/>
                    <a:p>
                      <a:pPr algn="l" fontAlgn="ctr">
                        <a:buNone/>
                      </a:pPr>
                      <a:r>
                        <a:rPr lang="en-US" sz="1600" b="1" u="none" strike="noStrike">
                          <a:solidFill>
                            <a:srgbClr val="000000"/>
                          </a:solidFill>
                          <a:effectLst/>
                        </a:rPr>
                        <a:t>ma_ratio_7_30</a:t>
                      </a:r>
                      <a:endParaRPr lang="en-US" sz="1600" b="1"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0.00185</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2493316721"/>
                  </a:ext>
                </a:extLst>
              </a:tr>
              <a:tr h="180975">
                <a:tc>
                  <a:txBody>
                    <a:bodyPr/>
                    <a:lstStyle/>
                    <a:p>
                      <a:pPr algn="l" fontAlgn="ctr">
                        <a:buNone/>
                      </a:pPr>
                      <a:r>
                        <a:rPr lang="en-US" sz="1600" b="1" u="none" strike="noStrike">
                          <a:solidFill>
                            <a:srgbClr val="000000"/>
                          </a:solidFill>
                          <a:effectLst/>
                        </a:rPr>
                        <a:t>ret_1d</a:t>
                      </a:r>
                      <a:endParaRPr lang="en-US" sz="1600" b="1"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0.00171</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273716059"/>
                  </a:ext>
                </a:extLst>
              </a:tr>
              <a:tr h="180975">
                <a:tc>
                  <a:txBody>
                    <a:bodyPr/>
                    <a:lstStyle/>
                    <a:p>
                      <a:pPr algn="l" fontAlgn="ctr">
                        <a:buNone/>
                      </a:pPr>
                      <a:r>
                        <a:rPr lang="en-US" sz="1600" b="1" u="none" strike="noStrike">
                          <a:solidFill>
                            <a:srgbClr val="000000"/>
                          </a:solidFill>
                          <a:effectLst/>
                        </a:rPr>
                        <a:t>tx_count</a:t>
                      </a:r>
                      <a:endParaRPr lang="en-US" sz="1600" b="1"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0.00151</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845880397"/>
                  </a:ext>
                </a:extLst>
              </a:tr>
              <a:tr h="180975">
                <a:tc>
                  <a:txBody>
                    <a:bodyPr/>
                    <a:lstStyle/>
                    <a:p>
                      <a:pPr algn="l" fontAlgn="ctr">
                        <a:buNone/>
                      </a:pPr>
                      <a:r>
                        <a:rPr lang="en-US" sz="1600" b="1" u="none" strike="noStrike">
                          <a:solidFill>
                            <a:srgbClr val="000000"/>
                          </a:solidFill>
                          <a:effectLst/>
                        </a:rPr>
                        <a:t>fees_per_tx</a:t>
                      </a:r>
                      <a:endParaRPr lang="en-US" sz="1600" b="1"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0.000479</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50061086"/>
                  </a:ext>
                </a:extLst>
              </a:tr>
              <a:tr h="180975">
                <a:tc>
                  <a:txBody>
                    <a:bodyPr/>
                    <a:lstStyle/>
                    <a:p>
                      <a:pPr algn="l" fontAlgn="ctr">
                        <a:buNone/>
                      </a:pPr>
                      <a:r>
                        <a:rPr lang="en-US" sz="1600" b="1" u="none" strike="noStrike" dirty="0">
                          <a:solidFill>
                            <a:srgbClr val="000000"/>
                          </a:solidFill>
                          <a:effectLst/>
                        </a:rPr>
                        <a:t>fees</a:t>
                      </a:r>
                      <a:endParaRPr lang="en-US" sz="1600" b="1"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600" b="0" u="none" strike="noStrike" dirty="0">
                          <a:solidFill>
                            <a:srgbClr val="000000"/>
                          </a:solidFill>
                          <a:effectLst/>
                        </a:rPr>
                        <a:t>0.000457</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113900052"/>
                  </a:ext>
                </a:extLst>
              </a:tr>
            </a:tbl>
          </a:graphicData>
        </a:graphic>
      </p:graphicFrame>
    </p:spTree>
    <p:extLst>
      <p:ext uri="{BB962C8B-B14F-4D97-AF65-F5344CB8AC3E}">
        <p14:creationId xmlns:p14="http://schemas.microsoft.com/office/powerpoint/2010/main" val="2022785734"/>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6FF29-CBB9-A57D-EE37-C5F395AA9585}"/>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BA02C145-F643-2400-343C-8DB4BB08FA8B}"/>
              </a:ext>
            </a:extLst>
          </p:cNvPr>
          <p:cNvGrpSpPr/>
          <p:nvPr/>
        </p:nvGrpSpPr>
        <p:grpSpPr>
          <a:xfrm>
            <a:off x="-1" y="957421"/>
            <a:ext cx="12193200" cy="44820"/>
            <a:chOff x="1773217" y="5185185"/>
            <a:chExt cx="8645561" cy="44820"/>
          </a:xfrm>
        </p:grpSpPr>
        <p:cxnSp>
          <p:nvCxnSpPr>
            <p:cNvPr id="3" name="直接连接符 2">
              <a:extLst>
                <a:ext uri="{FF2B5EF4-FFF2-40B4-BE49-F238E27FC236}">
                  <a16:creationId xmlns:a16="http://schemas.microsoft.com/office/drawing/2014/main" id="{437AB34A-3B6A-F673-70F8-BED86D3470A3}"/>
                </a:ext>
              </a:extLst>
            </p:cNvPr>
            <p:cNvCxnSpPr>
              <a:cxnSpLocks/>
            </p:cNvCxnSpPr>
            <p:nvPr userDrawn="1"/>
          </p:nvCxnSpPr>
          <p:spPr>
            <a:xfrm>
              <a:off x="1773218" y="51851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A2E67AE2-5DD6-B44F-B351-4361343BD761}"/>
                </a:ext>
              </a:extLst>
            </p:cNvPr>
            <p:cNvCxnSpPr>
              <a:cxnSpLocks/>
            </p:cNvCxnSpPr>
            <p:nvPr userDrawn="1"/>
          </p:nvCxnSpPr>
          <p:spPr>
            <a:xfrm>
              <a:off x="1773217" y="5230005"/>
              <a:ext cx="864556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508CAC97-D40A-1398-EE22-0EE3A23D3F96}"/>
              </a:ext>
            </a:extLst>
          </p:cNvPr>
          <p:cNvSpPr txBox="1"/>
          <p:nvPr/>
        </p:nvSpPr>
        <p:spPr>
          <a:xfrm>
            <a:off x="158533" y="202191"/>
            <a:ext cx="7140514" cy="1200329"/>
          </a:xfrm>
          <a:prstGeom prst="rect">
            <a:avLst/>
          </a:prstGeom>
          <a:noFill/>
        </p:spPr>
        <p:txBody>
          <a:bodyPr wrap="square" rtlCol="0">
            <a:spAutoFit/>
          </a:bodyPr>
          <a:lstStyle/>
          <a:p>
            <a:r>
              <a:rPr lang="en-US" altLang="zh-CN" sz="3600" b="1" dirty="0">
                <a:solidFill>
                  <a:schemeClr val="accent1"/>
                </a:solidFill>
                <a:latin typeface="字魂59号-创粗黑" panose="00000500000000000000" pitchFamily="2" charset="-122"/>
                <a:ea typeface="字魂59号-创粗黑" panose="00000500000000000000" pitchFamily="2" charset="-122"/>
              </a:rPr>
              <a:t>3. SHAP &amp; Financial </a:t>
            </a:r>
            <a:r>
              <a:rPr lang="en-US" altLang="zh-CN" sz="3600" b="1" dirty="0" err="1">
                <a:solidFill>
                  <a:schemeClr val="accent1"/>
                </a:solidFill>
                <a:latin typeface="字魂59号-创粗黑" panose="00000500000000000000" pitchFamily="2" charset="-122"/>
                <a:ea typeface="字魂59号-创粗黑" panose="00000500000000000000" pitchFamily="2" charset="-122"/>
              </a:rPr>
              <a:t>Backtest</a:t>
            </a:r>
            <a:r>
              <a:rPr lang="en-US" altLang="zh-CN" sz="3600" b="1" dirty="0">
                <a:solidFill>
                  <a:schemeClr val="accent1"/>
                </a:solidFill>
                <a:latin typeface="字魂59号-创粗黑" panose="00000500000000000000" pitchFamily="2" charset="-122"/>
                <a:ea typeface="字魂59号-创粗黑" panose="00000500000000000000" pitchFamily="2" charset="-122"/>
              </a:rPr>
              <a:t> </a:t>
            </a:r>
          </a:p>
          <a:p>
            <a:endParaRPr lang="en-US" altLang="zh-CN" sz="3600" b="1" dirty="0">
              <a:solidFill>
                <a:schemeClr val="accent1"/>
              </a:solidFill>
              <a:latin typeface="字魂59号-创粗黑" panose="00000500000000000000" pitchFamily="2" charset="-122"/>
              <a:ea typeface="字魂59号-创粗黑" panose="00000500000000000000" pitchFamily="2" charset="-122"/>
            </a:endParaRPr>
          </a:p>
        </p:txBody>
      </p:sp>
      <p:pic>
        <p:nvPicPr>
          <p:cNvPr id="52" name="图片 51">
            <a:extLst>
              <a:ext uri="{FF2B5EF4-FFF2-40B4-BE49-F238E27FC236}">
                <a16:creationId xmlns:a16="http://schemas.microsoft.com/office/drawing/2014/main" id="{A1528F22-6334-3034-4BF5-D3A0D043E5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49" y="5933398"/>
            <a:ext cx="850620" cy="850620"/>
          </a:xfrm>
          <a:prstGeom prst="rect">
            <a:avLst/>
          </a:prstGeom>
        </p:spPr>
      </p:pic>
      <p:grpSp>
        <p:nvGrpSpPr>
          <p:cNvPr id="87" name="组合 86">
            <a:extLst>
              <a:ext uri="{FF2B5EF4-FFF2-40B4-BE49-F238E27FC236}">
                <a16:creationId xmlns:a16="http://schemas.microsoft.com/office/drawing/2014/main" id="{ACC29E9D-B820-C07B-1B7D-235D3C1716CB}"/>
              </a:ext>
            </a:extLst>
          </p:cNvPr>
          <p:cNvGrpSpPr/>
          <p:nvPr/>
        </p:nvGrpSpPr>
        <p:grpSpPr>
          <a:xfrm>
            <a:off x="9065190" y="408158"/>
            <a:ext cx="2817867" cy="275671"/>
            <a:chOff x="7104504" y="2125822"/>
            <a:chExt cx="2817867" cy="275671"/>
          </a:xfrm>
        </p:grpSpPr>
        <p:grpSp>
          <p:nvGrpSpPr>
            <p:cNvPr id="88" name="组合 87">
              <a:extLst>
                <a:ext uri="{FF2B5EF4-FFF2-40B4-BE49-F238E27FC236}">
                  <a16:creationId xmlns:a16="http://schemas.microsoft.com/office/drawing/2014/main" id="{85847A26-4229-F50F-D0EA-90CAEB81AD3A}"/>
                </a:ext>
              </a:extLst>
            </p:cNvPr>
            <p:cNvGrpSpPr/>
            <p:nvPr/>
          </p:nvGrpSpPr>
          <p:grpSpPr>
            <a:xfrm>
              <a:off x="7284014" y="2125822"/>
              <a:ext cx="2638357" cy="275671"/>
              <a:chOff x="1744535" y="2710927"/>
              <a:chExt cx="5405715" cy="718073"/>
            </a:xfrm>
          </p:grpSpPr>
          <p:cxnSp>
            <p:nvCxnSpPr>
              <p:cNvPr id="92" name="直接连接符 91">
                <a:extLst>
                  <a:ext uri="{FF2B5EF4-FFF2-40B4-BE49-F238E27FC236}">
                    <a16:creationId xmlns:a16="http://schemas.microsoft.com/office/drawing/2014/main" id="{67C94161-8744-155F-88FE-580681B1E467}"/>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684BAAA8-0A49-CBC6-4848-8C92FA78362C}"/>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686B4271-DCA1-C01D-4450-B2A1DA3312FB}"/>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F3B7A1CF-F4C4-8B10-E196-DA66FF03B317}"/>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008BB8F0-6451-27C6-37C9-B86F2E592138}"/>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091B74C4-E605-285E-0572-3EB1A921334F}"/>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2D9DD8E4-9780-84A6-5086-ECDB28500575}"/>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FFE8F8AB-35E5-EFB7-9031-1EF69365BAB2}"/>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A5FE5EEC-9CEE-3100-FB49-26E50710D1BE}"/>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E0E6D1B5-BDED-BDFD-6929-FF5860F81918}"/>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3454FCA9-807C-28A6-14FD-5C870D430B64}"/>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23B4BFE0-197F-6030-25ED-7FDEA67C7771}"/>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89" name="直接连接符 88">
              <a:extLst>
                <a:ext uri="{FF2B5EF4-FFF2-40B4-BE49-F238E27FC236}">
                  <a16:creationId xmlns:a16="http://schemas.microsoft.com/office/drawing/2014/main" id="{D3944560-765D-FA30-7A59-7E746EC57A88}"/>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63A0337A-094E-77A9-59E7-246FC1B3F1FB}"/>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95DB62AE-0D83-1F40-01B2-DCC06E945BB0}"/>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05" name="文本框 104">
            <a:extLst>
              <a:ext uri="{FF2B5EF4-FFF2-40B4-BE49-F238E27FC236}">
                <a16:creationId xmlns:a16="http://schemas.microsoft.com/office/drawing/2014/main" id="{2B1DE8C7-2918-5940-77B1-3093EAEF6429}"/>
              </a:ext>
            </a:extLst>
          </p:cNvPr>
          <p:cNvSpPr txBox="1"/>
          <p:nvPr/>
        </p:nvSpPr>
        <p:spPr>
          <a:xfrm>
            <a:off x="495459" y="1189585"/>
            <a:ext cx="6810827" cy="1015663"/>
          </a:xfrm>
          <a:prstGeom prst="rect">
            <a:avLst/>
          </a:prstGeom>
          <a:noFill/>
        </p:spPr>
        <p:txBody>
          <a:bodyPr wrap="square" rtlCol="0">
            <a:spAutoFit/>
          </a:bodyPr>
          <a:lstStyle/>
          <a:p>
            <a:r>
              <a:rPr lang="en-US" altLang="zh-CN" sz="2000" b="1" dirty="0">
                <a:solidFill>
                  <a:schemeClr val="accent1"/>
                </a:solidFill>
                <a:latin typeface="字魂59号-创粗黑" panose="00000500000000000000" pitchFamily="2" charset="-122"/>
                <a:ea typeface="字魂59号-创粗黑" panose="00000500000000000000" pitchFamily="2" charset="-122"/>
              </a:rPr>
              <a:t>3.3 Unified </a:t>
            </a:r>
            <a:r>
              <a:rPr lang="en-US" altLang="zh-CN" sz="2000" b="1" dirty="0" err="1">
                <a:solidFill>
                  <a:schemeClr val="accent1"/>
                </a:solidFill>
                <a:latin typeface="字魂59号-创粗黑" panose="00000500000000000000" pitchFamily="2" charset="-122"/>
                <a:ea typeface="字魂59号-创粗黑" panose="00000500000000000000" pitchFamily="2" charset="-122"/>
              </a:rPr>
              <a:t>Backtesting</a:t>
            </a:r>
            <a:r>
              <a:rPr lang="en-US" altLang="zh-CN" sz="2000" b="1" dirty="0">
                <a:solidFill>
                  <a:schemeClr val="accent1"/>
                </a:solidFill>
                <a:latin typeface="字魂59号-创粗黑" panose="00000500000000000000" pitchFamily="2" charset="-122"/>
                <a:ea typeface="字魂59号-创粗黑" panose="00000500000000000000" pitchFamily="2" charset="-122"/>
              </a:rPr>
              <a:t> Results</a:t>
            </a:r>
          </a:p>
          <a:p>
            <a:endParaRPr lang="en-US" altLang="zh-CN" sz="2000" b="1" dirty="0">
              <a:solidFill>
                <a:schemeClr val="accent1"/>
              </a:solidFill>
              <a:latin typeface="字魂59号-创粗黑" panose="00000500000000000000" pitchFamily="2" charset="-122"/>
              <a:ea typeface="字魂59号-创粗黑" panose="00000500000000000000" pitchFamily="2" charset="-122"/>
            </a:endParaRPr>
          </a:p>
          <a:p>
            <a:endParaRPr lang="zh-CN" altLang="en-US" sz="2000" b="1" dirty="0">
              <a:solidFill>
                <a:schemeClr val="accent1"/>
              </a:solidFill>
              <a:latin typeface="字魂59号-创粗黑" panose="00000500000000000000" pitchFamily="2" charset="-122"/>
              <a:ea typeface="字魂59号-创粗黑" panose="00000500000000000000" pitchFamily="2" charset="-122"/>
            </a:endParaRPr>
          </a:p>
        </p:txBody>
      </p:sp>
      <p:sp>
        <p:nvSpPr>
          <p:cNvPr id="15" name="文本框 14">
            <a:extLst>
              <a:ext uri="{FF2B5EF4-FFF2-40B4-BE49-F238E27FC236}">
                <a16:creationId xmlns:a16="http://schemas.microsoft.com/office/drawing/2014/main" id="{7587B25C-DEA0-98FC-135E-43C4B5B9BB72}"/>
              </a:ext>
            </a:extLst>
          </p:cNvPr>
          <p:cNvSpPr txBox="1"/>
          <p:nvPr/>
        </p:nvSpPr>
        <p:spPr>
          <a:xfrm>
            <a:off x="720603" y="1572134"/>
            <a:ext cx="9227658" cy="189551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Motivation:</a:t>
            </a:r>
          </a:p>
          <a:p>
            <a:pPr marL="742950" lvl="1"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Classification metrics alone do not measure trading consequences.</a:t>
            </a:r>
          </a:p>
          <a:p>
            <a:pPr marL="742950" lvl="1" indent="-285750">
              <a:lnSpc>
                <a:spcPct val="150000"/>
              </a:lnSpc>
              <a:buFont typeface="Arial" panose="020B0604020202020204" pitchFamily="34" charset="0"/>
              <a:buChar char="•"/>
            </a:pPr>
            <a:r>
              <a:rPr lang="en-US" altLang="zh-CN" sz="1600" dirty="0" err="1">
                <a:latin typeface="字魂58号-创中黑" panose="00000500000000000000" pitchFamily="2" charset="-122"/>
                <a:ea typeface="字魂58号-创中黑" panose="00000500000000000000" pitchFamily="2" charset="-122"/>
              </a:rPr>
              <a:t>Backtesting</a:t>
            </a:r>
            <a:r>
              <a:rPr lang="en-US" altLang="zh-CN" sz="1600" dirty="0">
                <a:latin typeface="字魂58号-创中黑" panose="00000500000000000000" pitchFamily="2" charset="-122"/>
                <a:ea typeface="字魂58号-创中黑" panose="00000500000000000000" pitchFamily="2" charset="-122"/>
              </a:rPr>
              <a:t> translates predictions into realized return, risk, and drawdown under execution rules.</a:t>
            </a:r>
          </a:p>
          <a:p>
            <a:pPr marL="742950" lvl="1"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A unified protocol allows fair model comparison beyond accuracy-style metrics.</a:t>
            </a:r>
          </a:p>
        </p:txBody>
      </p:sp>
      <p:sp>
        <p:nvSpPr>
          <p:cNvPr id="6" name="矩形 5">
            <a:extLst>
              <a:ext uri="{FF2B5EF4-FFF2-40B4-BE49-F238E27FC236}">
                <a16:creationId xmlns:a16="http://schemas.microsoft.com/office/drawing/2014/main" id="{B28D8577-E176-993C-76CF-712A1D4D02D4}"/>
              </a:ext>
            </a:extLst>
          </p:cNvPr>
          <p:cNvSpPr/>
          <p:nvPr/>
        </p:nvSpPr>
        <p:spPr>
          <a:xfrm>
            <a:off x="1127026" y="3637267"/>
            <a:ext cx="9937948" cy="2887490"/>
          </a:xfrm>
          <a:prstGeom prst="rect">
            <a:avLst/>
          </a:prstGeom>
          <a:ln w="28575"/>
        </p:spPr>
        <p:style>
          <a:lnRef idx="1">
            <a:schemeClr val="accent6"/>
          </a:lnRef>
          <a:fillRef idx="2">
            <a:schemeClr val="accent6"/>
          </a:fillRef>
          <a:effectRef idx="1">
            <a:schemeClr val="accent6"/>
          </a:effectRef>
          <a:fontRef idx="minor">
            <a:schemeClr val="dk1"/>
          </a:fontRef>
        </p:style>
        <p:txBody>
          <a:bodyPr rtlCol="0" anchor="ctr"/>
          <a:lstStyle/>
          <a:p>
            <a:pPr>
              <a:lnSpc>
                <a:spcPct val="120000"/>
              </a:lnSpc>
            </a:pPr>
            <a:r>
              <a:rPr lang="en-US" altLang="zh-CN" b="1" dirty="0"/>
              <a:t># One protocol for all models: same signal rule, same transaction cost, same metric family.</a:t>
            </a:r>
          </a:p>
          <a:p>
            <a:pPr>
              <a:lnSpc>
                <a:spcPct val="120000"/>
              </a:lnSpc>
            </a:pPr>
            <a:r>
              <a:rPr lang="en-US" altLang="zh-CN" sz="1600" dirty="0">
                <a:solidFill>
                  <a:schemeClr val="bg1">
                    <a:lumMod val="50000"/>
                  </a:schemeClr>
                </a:solidFill>
                <a:latin typeface="Consolas" panose="020B0609020204030204" pitchFamily="49" charset="0"/>
              </a:rPr>
              <a:t>```python</a:t>
            </a:r>
          </a:p>
          <a:p>
            <a:pPr lvl="1">
              <a:lnSpc>
                <a:spcPct val="120000"/>
              </a:lnSpc>
            </a:pPr>
            <a:r>
              <a:rPr lang="en-US" altLang="zh-CN" sz="1600" dirty="0">
                <a:latin typeface="Consolas" panose="020B0609020204030204" pitchFamily="49" charset="0"/>
              </a:rPr>
              <a:t>TRADING_FEE = 0.001</a:t>
            </a:r>
          </a:p>
          <a:p>
            <a:pPr lvl="1">
              <a:lnSpc>
                <a:spcPct val="120000"/>
              </a:lnSpc>
            </a:pPr>
            <a:r>
              <a:rPr lang="en-US" altLang="zh-CN" sz="1600" dirty="0" err="1">
                <a:latin typeface="Consolas" panose="020B0609020204030204" pitchFamily="49" charset="0"/>
              </a:rPr>
              <a:t>bt</a:t>
            </a:r>
            <a:r>
              <a:rPr lang="en-US" altLang="zh-CN" sz="1600" dirty="0">
                <a:latin typeface="Consolas" panose="020B0609020204030204" pitchFamily="49" charset="0"/>
              </a:rPr>
              <a:t>["</a:t>
            </a:r>
            <a:r>
              <a:rPr lang="en-US" altLang="zh-CN" sz="1600" dirty="0" err="1">
                <a:latin typeface="Consolas" panose="020B0609020204030204" pitchFamily="49" charset="0"/>
              </a:rPr>
              <a:t>ret_next</a:t>
            </a:r>
            <a:r>
              <a:rPr lang="en-US" altLang="zh-CN" sz="1600" dirty="0">
                <a:latin typeface="Consolas" panose="020B0609020204030204" pitchFamily="49" charset="0"/>
              </a:rPr>
              <a:t>"] = </a:t>
            </a:r>
            <a:r>
              <a:rPr lang="en-US" altLang="zh-CN" sz="1600" dirty="0" err="1">
                <a:latin typeface="Consolas" panose="020B0609020204030204" pitchFamily="49" charset="0"/>
              </a:rPr>
              <a:t>bt</a:t>
            </a:r>
            <a:r>
              <a:rPr lang="en-US" altLang="zh-CN" sz="1600" dirty="0">
                <a:latin typeface="Consolas" panose="020B0609020204030204" pitchFamily="49" charset="0"/>
              </a:rPr>
              <a:t>["close"].</a:t>
            </a:r>
            <a:r>
              <a:rPr lang="en-US" altLang="zh-CN" sz="1600" dirty="0" err="1">
                <a:latin typeface="Consolas" panose="020B0609020204030204" pitchFamily="49" charset="0"/>
              </a:rPr>
              <a:t>pct_change</a:t>
            </a:r>
            <a:r>
              <a:rPr lang="en-US" altLang="zh-CN" sz="1600" dirty="0">
                <a:latin typeface="Consolas" panose="020B0609020204030204" pitchFamily="49" charset="0"/>
              </a:rPr>
              <a:t>().shift(-1)</a:t>
            </a:r>
          </a:p>
          <a:p>
            <a:pPr lvl="1">
              <a:lnSpc>
                <a:spcPct val="120000"/>
              </a:lnSpc>
            </a:pPr>
            <a:r>
              <a:rPr lang="en-US" altLang="zh-CN" sz="1600" dirty="0" err="1">
                <a:latin typeface="Consolas" panose="020B0609020204030204" pitchFamily="49" charset="0"/>
              </a:rPr>
              <a:t>bt</a:t>
            </a:r>
            <a:r>
              <a:rPr lang="en-US" altLang="zh-CN" sz="1600" dirty="0">
                <a:latin typeface="Consolas" panose="020B0609020204030204" pitchFamily="49" charset="0"/>
              </a:rPr>
              <a:t>["position"] = </a:t>
            </a:r>
            <a:r>
              <a:rPr lang="en-US" altLang="zh-CN" sz="1600" dirty="0" err="1">
                <a:latin typeface="Consolas" panose="020B0609020204030204" pitchFamily="49" charset="0"/>
              </a:rPr>
              <a:t>bt</a:t>
            </a:r>
            <a:r>
              <a:rPr lang="en-US" altLang="zh-CN" sz="1600" dirty="0">
                <a:latin typeface="Consolas" panose="020B0609020204030204" pitchFamily="49" charset="0"/>
              </a:rPr>
              <a:t>["</a:t>
            </a:r>
            <a:r>
              <a:rPr lang="en-US" altLang="zh-CN" sz="1600" dirty="0" err="1">
                <a:latin typeface="Consolas" panose="020B0609020204030204" pitchFamily="49" charset="0"/>
              </a:rPr>
              <a:t>pred_up</a:t>
            </a:r>
            <a:r>
              <a:rPr lang="en-US" altLang="zh-CN" sz="1600" dirty="0">
                <a:latin typeface="Consolas" panose="020B0609020204030204" pitchFamily="49" charset="0"/>
              </a:rPr>
              <a:t>"]</a:t>
            </a:r>
          </a:p>
          <a:p>
            <a:pPr lvl="1">
              <a:lnSpc>
                <a:spcPct val="120000"/>
              </a:lnSpc>
            </a:pPr>
            <a:r>
              <a:rPr lang="en-US" altLang="zh-CN" sz="1600" dirty="0" err="1">
                <a:latin typeface="Consolas" panose="020B0609020204030204" pitchFamily="49" charset="0"/>
              </a:rPr>
              <a:t>bt</a:t>
            </a:r>
            <a:r>
              <a:rPr lang="en-US" altLang="zh-CN" sz="1600" dirty="0">
                <a:latin typeface="Consolas" panose="020B0609020204030204" pitchFamily="49" charset="0"/>
              </a:rPr>
              <a:t>["trade"] = </a:t>
            </a:r>
            <a:r>
              <a:rPr lang="en-US" altLang="zh-CN" sz="1600" dirty="0" err="1">
                <a:latin typeface="Consolas" panose="020B0609020204030204" pitchFamily="49" charset="0"/>
              </a:rPr>
              <a:t>bt</a:t>
            </a:r>
            <a:r>
              <a:rPr lang="en-US" altLang="zh-CN" sz="1600" dirty="0">
                <a:latin typeface="Consolas" panose="020B0609020204030204" pitchFamily="49" charset="0"/>
              </a:rPr>
              <a:t>["position"].diff().abs().</a:t>
            </a:r>
            <a:r>
              <a:rPr lang="en-US" altLang="zh-CN" sz="1600" dirty="0" err="1">
                <a:latin typeface="Consolas" panose="020B0609020204030204" pitchFamily="49" charset="0"/>
              </a:rPr>
              <a:t>fillna</a:t>
            </a:r>
            <a:r>
              <a:rPr lang="en-US" altLang="zh-CN" sz="1600" dirty="0">
                <a:latin typeface="Consolas" panose="020B0609020204030204" pitchFamily="49" charset="0"/>
              </a:rPr>
              <a:t>(</a:t>
            </a:r>
            <a:r>
              <a:rPr lang="en-US" altLang="zh-CN" sz="1600" dirty="0" err="1">
                <a:latin typeface="Consolas" panose="020B0609020204030204" pitchFamily="49" charset="0"/>
              </a:rPr>
              <a:t>bt</a:t>
            </a:r>
            <a:r>
              <a:rPr lang="en-US" altLang="zh-CN" sz="1600" dirty="0">
                <a:latin typeface="Consolas" panose="020B0609020204030204" pitchFamily="49" charset="0"/>
              </a:rPr>
              <a:t>["position"].abs())</a:t>
            </a:r>
          </a:p>
          <a:p>
            <a:pPr lvl="1">
              <a:lnSpc>
                <a:spcPct val="120000"/>
              </a:lnSpc>
            </a:pPr>
            <a:r>
              <a:rPr lang="en-US" altLang="zh-CN" sz="1600" dirty="0" err="1">
                <a:latin typeface="Consolas" panose="020B0609020204030204" pitchFamily="49" charset="0"/>
              </a:rPr>
              <a:t>bt</a:t>
            </a:r>
            <a:r>
              <a:rPr lang="en-US" altLang="zh-CN" sz="1600" dirty="0">
                <a:latin typeface="Consolas" panose="020B0609020204030204" pitchFamily="49" charset="0"/>
              </a:rPr>
              <a:t>["</a:t>
            </a:r>
            <a:r>
              <a:rPr lang="en-US" altLang="zh-CN" sz="1600" dirty="0" err="1">
                <a:latin typeface="Consolas" panose="020B0609020204030204" pitchFamily="49" charset="0"/>
              </a:rPr>
              <a:t>strategy_return</a:t>
            </a:r>
            <a:r>
              <a:rPr lang="en-US" altLang="zh-CN" sz="1600" dirty="0">
                <a:latin typeface="Consolas" panose="020B0609020204030204" pitchFamily="49" charset="0"/>
              </a:rPr>
              <a:t>"] = </a:t>
            </a:r>
            <a:r>
              <a:rPr lang="en-US" altLang="zh-CN" sz="1600" dirty="0" err="1">
                <a:latin typeface="Consolas" panose="020B0609020204030204" pitchFamily="49" charset="0"/>
              </a:rPr>
              <a:t>bt</a:t>
            </a:r>
            <a:r>
              <a:rPr lang="en-US" altLang="zh-CN" sz="1600" dirty="0">
                <a:latin typeface="Consolas" panose="020B0609020204030204" pitchFamily="49" charset="0"/>
              </a:rPr>
              <a:t>["position"] * </a:t>
            </a:r>
            <a:r>
              <a:rPr lang="en-US" altLang="zh-CN" sz="1600" dirty="0" err="1">
                <a:latin typeface="Consolas" panose="020B0609020204030204" pitchFamily="49" charset="0"/>
              </a:rPr>
              <a:t>bt</a:t>
            </a:r>
            <a:r>
              <a:rPr lang="en-US" altLang="zh-CN" sz="1600" dirty="0">
                <a:latin typeface="Consolas" panose="020B0609020204030204" pitchFamily="49" charset="0"/>
              </a:rPr>
              <a:t>["</a:t>
            </a:r>
            <a:r>
              <a:rPr lang="en-US" altLang="zh-CN" sz="1600" dirty="0" err="1">
                <a:latin typeface="Consolas" panose="020B0609020204030204" pitchFamily="49" charset="0"/>
              </a:rPr>
              <a:t>ret_next</a:t>
            </a:r>
            <a:r>
              <a:rPr lang="en-US" altLang="zh-CN" sz="1600" dirty="0">
                <a:latin typeface="Consolas" panose="020B0609020204030204" pitchFamily="49" charset="0"/>
              </a:rPr>
              <a:t>"] - </a:t>
            </a:r>
            <a:r>
              <a:rPr lang="en-US" altLang="zh-CN" sz="1600" dirty="0" err="1">
                <a:latin typeface="Consolas" panose="020B0609020204030204" pitchFamily="49" charset="0"/>
              </a:rPr>
              <a:t>bt</a:t>
            </a:r>
            <a:r>
              <a:rPr lang="en-US" altLang="zh-CN" sz="1600" dirty="0">
                <a:latin typeface="Consolas" panose="020B0609020204030204" pitchFamily="49" charset="0"/>
              </a:rPr>
              <a:t>["trade"] * TRADING_FEE</a:t>
            </a:r>
          </a:p>
          <a:p>
            <a:pPr lvl="1">
              <a:lnSpc>
                <a:spcPct val="120000"/>
              </a:lnSpc>
            </a:pPr>
            <a:r>
              <a:rPr lang="en-US" altLang="zh-CN" sz="1600" dirty="0">
                <a:latin typeface="Consolas" panose="020B0609020204030204" pitchFamily="49" charset="0"/>
              </a:rPr>
              <a:t>metrics = {"</a:t>
            </a:r>
            <a:r>
              <a:rPr lang="en-US" altLang="zh-CN" sz="1600" dirty="0" err="1">
                <a:latin typeface="Consolas" panose="020B0609020204030204" pitchFamily="49" charset="0"/>
              </a:rPr>
              <a:t>total_return</a:t>
            </a:r>
            <a:r>
              <a:rPr lang="en-US" altLang="zh-CN" sz="1600" dirty="0">
                <a:latin typeface="Consolas" panose="020B0609020204030204" pitchFamily="49" charset="0"/>
              </a:rPr>
              <a:t>", "</a:t>
            </a:r>
            <a:r>
              <a:rPr lang="en-US" altLang="zh-CN" sz="1600" dirty="0" err="1">
                <a:latin typeface="Consolas" panose="020B0609020204030204" pitchFamily="49" charset="0"/>
              </a:rPr>
              <a:t>sharpe_ratio</a:t>
            </a:r>
            <a:r>
              <a:rPr lang="en-US" altLang="zh-CN" sz="1600" dirty="0">
                <a:latin typeface="Consolas" panose="020B0609020204030204" pitchFamily="49" charset="0"/>
              </a:rPr>
              <a:t>", "</a:t>
            </a:r>
            <a:r>
              <a:rPr lang="en-US" altLang="zh-CN" sz="1600" dirty="0" err="1">
                <a:latin typeface="Consolas" panose="020B0609020204030204" pitchFamily="49" charset="0"/>
              </a:rPr>
              <a:t>max_drawdown</a:t>
            </a:r>
            <a:r>
              <a:rPr lang="en-US" altLang="zh-CN" sz="1600" dirty="0">
                <a:latin typeface="Consolas" panose="020B0609020204030204" pitchFamily="49" charset="0"/>
              </a:rPr>
              <a:t>", "</a:t>
            </a:r>
            <a:r>
              <a:rPr lang="en-US" altLang="zh-CN" sz="1600" dirty="0" err="1">
                <a:latin typeface="Consolas" panose="020B0609020204030204" pitchFamily="49" charset="0"/>
              </a:rPr>
              <a:t>avg_daily_return</a:t>
            </a:r>
            <a:r>
              <a:rPr lang="en-US" altLang="zh-CN" sz="1600" dirty="0">
                <a:latin typeface="Consolas" panose="020B0609020204030204" pitchFamily="49" charset="0"/>
              </a:rPr>
              <a:t>", "</a:t>
            </a:r>
            <a:r>
              <a:rPr lang="en-US" altLang="zh-CN" sz="1600" dirty="0" err="1">
                <a:latin typeface="Consolas" panose="020B0609020204030204" pitchFamily="49" charset="0"/>
              </a:rPr>
              <a:t>std_daily_return</a:t>
            </a:r>
            <a:r>
              <a:rPr lang="en-US" altLang="zh-CN" sz="1600" dirty="0">
                <a:latin typeface="Consolas" panose="020B0609020204030204" pitchFamily="49" charset="0"/>
              </a:rPr>
              <a:t>", "</a:t>
            </a:r>
            <a:r>
              <a:rPr lang="en-US" altLang="zh-CN" sz="1600" dirty="0" err="1">
                <a:latin typeface="Consolas" panose="020B0609020204030204" pitchFamily="49" charset="0"/>
              </a:rPr>
              <a:t>n_days</a:t>
            </a:r>
            <a:r>
              <a:rPr lang="en-US" altLang="zh-CN" sz="1600" dirty="0">
                <a:latin typeface="Consolas" panose="020B0609020204030204" pitchFamily="49" charset="0"/>
              </a:rPr>
              <a:t>"}</a:t>
            </a:r>
          </a:p>
          <a:p>
            <a:pPr>
              <a:lnSpc>
                <a:spcPct val="120000"/>
              </a:lnSpc>
            </a:pPr>
            <a:r>
              <a:rPr lang="en-US" altLang="zh-CN" sz="1600" dirty="0">
                <a:solidFill>
                  <a:schemeClr val="bg1">
                    <a:lumMod val="50000"/>
                  </a:schemeClr>
                </a:solidFill>
                <a:latin typeface="Consolas" panose="020B0609020204030204" pitchFamily="49" charset="0"/>
              </a:rPr>
              <a:t>```</a:t>
            </a:r>
            <a:endParaRPr lang="en-US" altLang="zh-CN" sz="1600" dirty="0">
              <a:latin typeface="Consolas" panose="020B0609020204030204" pitchFamily="49" charset="0"/>
            </a:endParaRPr>
          </a:p>
        </p:txBody>
      </p:sp>
      <p:pic>
        <p:nvPicPr>
          <p:cNvPr id="7" name="图片 6">
            <a:hlinkClick r:id="rId4"/>
            <a:extLst>
              <a:ext uri="{FF2B5EF4-FFF2-40B4-BE49-F238E27FC236}">
                <a16:creationId xmlns:a16="http://schemas.microsoft.com/office/drawing/2014/main" id="{D85B281F-CF31-7B59-F71F-E6C72750BD21}"/>
              </a:ext>
            </a:extLst>
          </p:cNvPr>
          <p:cNvPicPr>
            <a:picLocks noChangeAspect="1"/>
          </p:cNvPicPr>
          <p:nvPr/>
        </p:nvPicPr>
        <p:blipFill>
          <a:blip r:embed="rId5">
            <a:extLst>
              <a:ext uri="{28A0092B-C50C-407E-A947-70E740481C1C}">
                <a14:useLocalDpi xmlns:a14="http://schemas.microsoft.com/office/drawing/2010/main" val="0"/>
              </a:ext>
            </a:extLst>
          </a:blip>
          <a:srcRect l="8048"/>
          <a:stretch>
            <a:fillRect/>
          </a:stretch>
        </p:blipFill>
        <p:spPr>
          <a:xfrm>
            <a:off x="4753319" y="1208210"/>
            <a:ext cx="380549" cy="388620"/>
          </a:xfrm>
          <a:prstGeom prst="rect">
            <a:avLst/>
          </a:prstGeom>
        </p:spPr>
      </p:pic>
    </p:spTree>
    <p:extLst>
      <p:ext uri="{BB962C8B-B14F-4D97-AF65-F5344CB8AC3E}">
        <p14:creationId xmlns:p14="http://schemas.microsoft.com/office/powerpoint/2010/main" val="3099698620"/>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E5908-77A0-EE5B-BF82-D1788C40734A}"/>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68C3BDF-32A9-3C71-0639-6948DAE11EA6}"/>
              </a:ext>
            </a:extLst>
          </p:cNvPr>
          <p:cNvGrpSpPr/>
          <p:nvPr/>
        </p:nvGrpSpPr>
        <p:grpSpPr>
          <a:xfrm>
            <a:off x="-1" y="957421"/>
            <a:ext cx="12193200" cy="44820"/>
            <a:chOff x="1773217" y="5185185"/>
            <a:chExt cx="8645561" cy="44820"/>
          </a:xfrm>
        </p:grpSpPr>
        <p:cxnSp>
          <p:nvCxnSpPr>
            <p:cNvPr id="3" name="直接连接符 2">
              <a:extLst>
                <a:ext uri="{FF2B5EF4-FFF2-40B4-BE49-F238E27FC236}">
                  <a16:creationId xmlns:a16="http://schemas.microsoft.com/office/drawing/2014/main" id="{DC321279-7964-32B3-2E2A-761977267315}"/>
                </a:ext>
              </a:extLst>
            </p:cNvPr>
            <p:cNvCxnSpPr>
              <a:cxnSpLocks/>
            </p:cNvCxnSpPr>
            <p:nvPr userDrawn="1"/>
          </p:nvCxnSpPr>
          <p:spPr>
            <a:xfrm>
              <a:off x="1773218" y="51851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F696874F-16DF-703D-E722-49BC88CD349B}"/>
                </a:ext>
              </a:extLst>
            </p:cNvPr>
            <p:cNvCxnSpPr>
              <a:cxnSpLocks/>
            </p:cNvCxnSpPr>
            <p:nvPr userDrawn="1"/>
          </p:nvCxnSpPr>
          <p:spPr>
            <a:xfrm>
              <a:off x="1773217" y="5230005"/>
              <a:ext cx="864556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B022FC15-6666-E553-B0DF-D70C267AC07D}"/>
              </a:ext>
            </a:extLst>
          </p:cNvPr>
          <p:cNvSpPr txBox="1"/>
          <p:nvPr/>
        </p:nvSpPr>
        <p:spPr>
          <a:xfrm>
            <a:off x="158533" y="202191"/>
            <a:ext cx="7140514" cy="1200329"/>
          </a:xfrm>
          <a:prstGeom prst="rect">
            <a:avLst/>
          </a:prstGeom>
          <a:noFill/>
        </p:spPr>
        <p:txBody>
          <a:bodyPr wrap="square" rtlCol="0">
            <a:spAutoFit/>
          </a:bodyPr>
          <a:lstStyle/>
          <a:p>
            <a:r>
              <a:rPr lang="en-US" altLang="zh-CN" sz="3600" b="1" dirty="0">
                <a:solidFill>
                  <a:schemeClr val="accent1"/>
                </a:solidFill>
                <a:latin typeface="字魂59号-创粗黑" panose="00000500000000000000" pitchFamily="2" charset="-122"/>
                <a:ea typeface="字魂59号-创粗黑" panose="00000500000000000000" pitchFamily="2" charset="-122"/>
              </a:rPr>
              <a:t>3. SHAP &amp; Financial </a:t>
            </a:r>
            <a:r>
              <a:rPr lang="en-US" altLang="zh-CN" sz="3600" b="1" dirty="0" err="1">
                <a:solidFill>
                  <a:schemeClr val="accent1"/>
                </a:solidFill>
                <a:latin typeface="字魂59号-创粗黑" panose="00000500000000000000" pitchFamily="2" charset="-122"/>
                <a:ea typeface="字魂59号-创粗黑" panose="00000500000000000000" pitchFamily="2" charset="-122"/>
              </a:rPr>
              <a:t>Backtest</a:t>
            </a:r>
            <a:r>
              <a:rPr lang="en-US" altLang="zh-CN" sz="3600" b="1" dirty="0">
                <a:solidFill>
                  <a:schemeClr val="accent1"/>
                </a:solidFill>
                <a:latin typeface="字魂59号-创粗黑" panose="00000500000000000000" pitchFamily="2" charset="-122"/>
                <a:ea typeface="字魂59号-创粗黑" panose="00000500000000000000" pitchFamily="2" charset="-122"/>
              </a:rPr>
              <a:t> </a:t>
            </a:r>
          </a:p>
          <a:p>
            <a:endParaRPr lang="en-US" altLang="zh-CN" sz="3600" b="1" dirty="0">
              <a:solidFill>
                <a:schemeClr val="accent1"/>
              </a:solidFill>
              <a:latin typeface="字魂59号-创粗黑" panose="00000500000000000000" pitchFamily="2" charset="-122"/>
              <a:ea typeface="字魂59号-创粗黑" panose="00000500000000000000" pitchFamily="2" charset="-122"/>
            </a:endParaRPr>
          </a:p>
        </p:txBody>
      </p:sp>
      <p:pic>
        <p:nvPicPr>
          <p:cNvPr id="52" name="图片 51">
            <a:extLst>
              <a:ext uri="{FF2B5EF4-FFF2-40B4-BE49-F238E27FC236}">
                <a16:creationId xmlns:a16="http://schemas.microsoft.com/office/drawing/2014/main" id="{789A481F-7543-4EE9-006E-E2E4B1DDEF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49" y="5933398"/>
            <a:ext cx="850620" cy="850620"/>
          </a:xfrm>
          <a:prstGeom prst="rect">
            <a:avLst/>
          </a:prstGeom>
        </p:spPr>
      </p:pic>
      <p:grpSp>
        <p:nvGrpSpPr>
          <p:cNvPr id="87" name="组合 86">
            <a:extLst>
              <a:ext uri="{FF2B5EF4-FFF2-40B4-BE49-F238E27FC236}">
                <a16:creationId xmlns:a16="http://schemas.microsoft.com/office/drawing/2014/main" id="{216163EE-939E-0C09-C252-97F667E1361F}"/>
              </a:ext>
            </a:extLst>
          </p:cNvPr>
          <p:cNvGrpSpPr/>
          <p:nvPr/>
        </p:nvGrpSpPr>
        <p:grpSpPr>
          <a:xfrm>
            <a:off x="9065190" y="408158"/>
            <a:ext cx="2817867" cy="275671"/>
            <a:chOff x="7104504" y="2125822"/>
            <a:chExt cx="2817867" cy="275671"/>
          </a:xfrm>
        </p:grpSpPr>
        <p:grpSp>
          <p:nvGrpSpPr>
            <p:cNvPr id="88" name="组合 87">
              <a:extLst>
                <a:ext uri="{FF2B5EF4-FFF2-40B4-BE49-F238E27FC236}">
                  <a16:creationId xmlns:a16="http://schemas.microsoft.com/office/drawing/2014/main" id="{9F07E899-BBCA-F0BA-0D23-A7DAF2D16834}"/>
                </a:ext>
              </a:extLst>
            </p:cNvPr>
            <p:cNvGrpSpPr/>
            <p:nvPr/>
          </p:nvGrpSpPr>
          <p:grpSpPr>
            <a:xfrm>
              <a:off x="7284014" y="2125822"/>
              <a:ext cx="2638357" cy="275671"/>
              <a:chOff x="1744535" y="2710927"/>
              <a:chExt cx="5405715" cy="718073"/>
            </a:xfrm>
          </p:grpSpPr>
          <p:cxnSp>
            <p:nvCxnSpPr>
              <p:cNvPr id="92" name="直接连接符 91">
                <a:extLst>
                  <a:ext uri="{FF2B5EF4-FFF2-40B4-BE49-F238E27FC236}">
                    <a16:creationId xmlns:a16="http://schemas.microsoft.com/office/drawing/2014/main" id="{A1B16591-D23E-20CB-A851-159295D98290}"/>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F4AB14F0-D98C-8B87-99AC-69DB30A1B302}"/>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CE2DB1FE-2894-0D8C-0E49-CAB2BE1D1B20}"/>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CBE387FD-9FA5-AD8F-901B-A6DB6AF26A9D}"/>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85F00B26-97D6-A714-4035-F85DDC43C515}"/>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1401721F-8458-7423-966C-1ADC7C415D8E}"/>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D8A10A44-E17E-0CC2-5D6D-F11F185FC50D}"/>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BCAB866F-1AFB-7091-2CC0-512270AAEC08}"/>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B6E68A16-1673-3E5A-2670-A819FCD208B9}"/>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3256117E-D7E9-5A4D-CC7B-6F6F908FB8BF}"/>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CF64C039-B215-870A-38EB-F65CB6C5DF63}"/>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50001464-C572-E9E5-792C-C673B7AC51BA}"/>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89" name="直接连接符 88">
              <a:extLst>
                <a:ext uri="{FF2B5EF4-FFF2-40B4-BE49-F238E27FC236}">
                  <a16:creationId xmlns:a16="http://schemas.microsoft.com/office/drawing/2014/main" id="{02494633-3F71-0521-4899-02236B21E13D}"/>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AB33787C-3A76-85CF-A1FF-9C1964C9183E}"/>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79A5DDF1-6E26-53FF-31E1-92684A9D0673}"/>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05" name="文本框 104">
            <a:extLst>
              <a:ext uri="{FF2B5EF4-FFF2-40B4-BE49-F238E27FC236}">
                <a16:creationId xmlns:a16="http://schemas.microsoft.com/office/drawing/2014/main" id="{FFD80BAC-C3AF-AA6A-A181-3C1FA5C8880C}"/>
              </a:ext>
            </a:extLst>
          </p:cNvPr>
          <p:cNvSpPr txBox="1"/>
          <p:nvPr/>
        </p:nvSpPr>
        <p:spPr>
          <a:xfrm>
            <a:off x="495459" y="1189585"/>
            <a:ext cx="6810827" cy="1015663"/>
          </a:xfrm>
          <a:prstGeom prst="rect">
            <a:avLst/>
          </a:prstGeom>
          <a:noFill/>
        </p:spPr>
        <p:txBody>
          <a:bodyPr wrap="square" rtlCol="0">
            <a:spAutoFit/>
          </a:bodyPr>
          <a:lstStyle/>
          <a:p>
            <a:r>
              <a:rPr lang="en-US" altLang="zh-CN" sz="2000" b="1" dirty="0">
                <a:solidFill>
                  <a:schemeClr val="accent1"/>
                </a:solidFill>
                <a:latin typeface="字魂59号-创粗黑" panose="00000500000000000000" pitchFamily="2" charset="-122"/>
                <a:ea typeface="字魂59号-创粗黑" panose="00000500000000000000" pitchFamily="2" charset="-122"/>
              </a:rPr>
              <a:t>3.3 Unified </a:t>
            </a:r>
            <a:r>
              <a:rPr lang="en-US" altLang="zh-CN" sz="2000" b="1" dirty="0" err="1">
                <a:solidFill>
                  <a:schemeClr val="accent1"/>
                </a:solidFill>
                <a:latin typeface="字魂59号-创粗黑" panose="00000500000000000000" pitchFamily="2" charset="-122"/>
                <a:ea typeface="字魂59号-创粗黑" panose="00000500000000000000" pitchFamily="2" charset="-122"/>
              </a:rPr>
              <a:t>Backtesting</a:t>
            </a:r>
            <a:r>
              <a:rPr lang="en-US" altLang="zh-CN" sz="2000" b="1" dirty="0">
                <a:solidFill>
                  <a:schemeClr val="accent1"/>
                </a:solidFill>
                <a:latin typeface="字魂59号-创粗黑" panose="00000500000000000000" pitchFamily="2" charset="-122"/>
                <a:ea typeface="字魂59号-创粗黑" panose="00000500000000000000" pitchFamily="2" charset="-122"/>
              </a:rPr>
              <a:t> Results</a:t>
            </a:r>
          </a:p>
          <a:p>
            <a:endParaRPr lang="en-US" altLang="zh-CN" sz="2000" b="1" dirty="0">
              <a:solidFill>
                <a:schemeClr val="accent1"/>
              </a:solidFill>
              <a:latin typeface="字魂59号-创粗黑" panose="00000500000000000000" pitchFamily="2" charset="-122"/>
              <a:ea typeface="字魂59号-创粗黑" panose="00000500000000000000" pitchFamily="2" charset="-122"/>
            </a:endParaRPr>
          </a:p>
          <a:p>
            <a:endParaRPr lang="zh-CN" altLang="en-US" sz="2000" b="1" dirty="0">
              <a:solidFill>
                <a:schemeClr val="accent1"/>
              </a:solidFill>
              <a:latin typeface="字魂59号-创粗黑" panose="00000500000000000000" pitchFamily="2" charset="-122"/>
              <a:ea typeface="字魂59号-创粗黑" panose="00000500000000000000" pitchFamily="2" charset="-122"/>
            </a:endParaRPr>
          </a:p>
        </p:txBody>
      </p:sp>
      <p:pic>
        <p:nvPicPr>
          <p:cNvPr id="12" name="图片 11">
            <a:extLst>
              <a:ext uri="{FF2B5EF4-FFF2-40B4-BE49-F238E27FC236}">
                <a16:creationId xmlns:a16="http://schemas.microsoft.com/office/drawing/2014/main" id="{E397934D-EC7E-BB98-A2E1-CE39C60E58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0595" y="1644543"/>
            <a:ext cx="6722617" cy="3324235"/>
          </a:xfrm>
          <a:prstGeom prst="rect">
            <a:avLst/>
          </a:prstGeom>
        </p:spPr>
      </p:pic>
      <p:sp>
        <p:nvSpPr>
          <p:cNvPr id="15" name="文本框 14">
            <a:extLst>
              <a:ext uri="{FF2B5EF4-FFF2-40B4-BE49-F238E27FC236}">
                <a16:creationId xmlns:a16="http://schemas.microsoft.com/office/drawing/2014/main" id="{3E05F377-5D7A-2611-6BA8-A42A49368B6D}"/>
              </a:ext>
            </a:extLst>
          </p:cNvPr>
          <p:cNvSpPr txBox="1"/>
          <p:nvPr/>
        </p:nvSpPr>
        <p:spPr>
          <a:xfrm>
            <a:off x="1259367" y="5089987"/>
            <a:ext cx="7311066" cy="115685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GRU remains above 1.0 for most of the test window.</a:t>
            </a:r>
          </a:p>
          <a:p>
            <a:pPr marL="285750"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Both baseline strategies finish below 1.0.</a:t>
            </a:r>
          </a:p>
          <a:p>
            <a:pPr marL="285750"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Performance divergence becomes clear after mid-window.</a:t>
            </a:r>
          </a:p>
        </p:txBody>
      </p:sp>
      <p:cxnSp>
        <p:nvCxnSpPr>
          <p:cNvPr id="19" name="直接箭头连接符 18">
            <a:extLst>
              <a:ext uri="{FF2B5EF4-FFF2-40B4-BE49-F238E27FC236}">
                <a16:creationId xmlns:a16="http://schemas.microsoft.com/office/drawing/2014/main" id="{5397FA1D-BE6F-891E-0AE7-7FDC226F0F24}"/>
              </a:ext>
            </a:extLst>
          </p:cNvPr>
          <p:cNvCxnSpPr>
            <a:cxnSpLocks/>
          </p:cNvCxnSpPr>
          <p:nvPr/>
        </p:nvCxnSpPr>
        <p:spPr>
          <a:xfrm flipH="1">
            <a:off x="5123230" y="2485783"/>
            <a:ext cx="2736788" cy="171757"/>
          </a:xfrm>
          <a:prstGeom prst="straightConnector1">
            <a:avLst/>
          </a:prstGeom>
          <a:ln>
            <a:solidFill>
              <a:srgbClr val="1C991C"/>
            </a:solidFill>
            <a:tailEnd type="triangle"/>
          </a:ln>
        </p:spPr>
        <p:style>
          <a:lnRef idx="3">
            <a:schemeClr val="accent3"/>
          </a:lnRef>
          <a:fillRef idx="0">
            <a:schemeClr val="accent3"/>
          </a:fillRef>
          <a:effectRef idx="2">
            <a:schemeClr val="accent3"/>
          </a:effectRef>
          <a:fontRef idx="minor">
            <a:schemeClr val="tx1"/>
          </a:fontRef>
        </p:style>
      </p:cxnSp>
      <p:cxnSp>
        <p:nvCxnSpPr>
          <p:cNvPr id="20" name="直接箭头连接符 19">
            <a:extLst>
              <a:ext uri="{FF2B5EF4-FFF2-40B4-BE49-F238E27FC236}">
                <a16:creationId xmlns:a16="http://schemas.microsoft.com/office/drawing/2014/main" id="{7B18D73C-9B06-C95A-120B-9E23E44E8986}"/>
              </a:ext>
            </a:extLst>
          </p:cNvPr>
          <p:cNvCxnSpPr>
            <a:cxnSpLocks/>
          </p:cNvCxnSpPr>
          <p:nvPr/>
        </p:nvCxnSpPr>
        <p:spPr>
          <a:xfrm flipH="1">
            <a:off x="6763217" y="3688789"/>
            <a:ext cx="1096801" cy="44349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3" name="文本框 32">
            <a:extLst>
              <a:ext uri="{FF2B5EF4-FFF2-40B4-BE49-F238E27FC236}">
                <a16:creationId xmlns:a16="http://schemas.microsoft.com/office/drawing/2014/main" id="{B9DEB66F-C277-54B5-2D34-C869E2D353E3}"/>
              </a:ext>
            </a:extLst>
          </p:cNvPr>
          <p:cNvSpPr txBox="1"/>
          <p:nvPr/>
        </p:nvSpPr>
        <p:spPr>
          <a:xfrm>
            <a:off x="7722767" y="2239349"/>
            <a:ext cx="3665058" cy="41819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More stable cumulative path</a:t>
            </a:r>
          </a:p>
        </p:txBody>
      </p:sp>
      <p:sp>
        <p:nvSpPr>
          <p:cNvPr id="34" name="文本框 33">
            <a:extLst>
              <a:ext uri="{FF2B5EF4-FFF2-40B4-BE49-F238E27FC236}">
                <a16:creationId xmlns:a16="http://schemas.microsoft.com/office/drawing/2014/main" id="{856D2E96-E302-E39F-90BB-203DD233E596}"/>
              </a:ext>
            </a:extLst>
          </p:cNvPr>
          <p:cNvSpPr txBox="1"/>
          <p:nvPr/>
        </p:nvSpPr>
        <p:spPr>
          <a:xfrm>
            <a:off x="7708320" y="3453686"/>
            <a:ext cx="3665058" cy="41819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Late-period drawdown pressure</a:t>
            </a:r>
          </a:p>
        </p:txBody>
      </p:sp>
    </p:spTree>
    <p:extLst>
      <p:ext uri="{BB962C8B-B14F-4D97-AF65-F5344CB8AC3E}">
        <p14:creationId xmlns:p14="http://schemas.microsoft.com/office/powerpoint/2010/main" val="1054197053"/>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4D2FE-4F14-C960-B8F4-F1DBA527980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57FC750-641E-E956-0DDF-93075A439398}"/>
              </a:ext>
            </a:extLst>
          </p:cNvPr>
          <p:cNvGrpSpPr/>
          <p:nvPr/>
        </p:nvGrpSpPr>
        <p:grpSpPr>
          <a:xfrm>
            <a:off x="-1" y="957421"/>
            <a:ext cx="12193200" cy="44820"/>
            <a:chOff x="1773217" y="5185185"/>
            <a:chExt cx="8645561" cy="44820"/>
          </a:xfrm>
        </p:grpSpPr>
        <p:cxnSp>
          <p:nvCxnSpPr>
            <p:cNvPr id="3" name="直接连接符 2">
              <a:extLst>
                <a:ext uri="{FF2B5EF4-FFF2-40B4-BE49-F238E27FC236}">
                  <a16:creationId xmlns:a16="http://schemas.microsoft.com/office/drawing/2014/main" id="{FFD558AF-6EA5-1D98-EAC4-17ED8E97056B}"/>
                </a:ext>
              </a:extLst>
            </p:cNvPr>
            <p:cNvCxnSpPr>
              <a:cxnSpLocks/>
            </p:cNvCxnSpPr>
            <p:nvPr userDrawn="1"/>
          </p:nvCxnSpPr>
          <p:spPr>
            <a:xfrm>
              <a:off x="1773218" y="51851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CAD1420A-90DE-AF9B-47A5-31A005BBAAD9}"/>
                </a:ext>
              </a:extLst>
            </p:cNvPr>
            <p:cNvCxnSpPr>
              <a:cxnSpLocks/>
            </p:cNvCxnSpPr>
            <p:nvPr userDrawn="1"/>
          </p:nvCxnSpPr>
          <p:spPr>
            <a:xfrm>
              <a:off x="1773217" y="5230005"/>
              <a:ext cx="864556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072B33A3-AB4A-DA90-8DB3-640ACAADEF1B}"/>
              </a:ext>
            </a:extLst>
          </p:cNvPr>
          <p:cNvSpPr txBox="1"/>
          <p:nvPr/>
        </p:nvSpPr>
        <p:spPr>
          <a:xfrm>
            <a:off x="158533" y="202191"/>
            <a:ext cx="7140514" cy="1200329"/>
          </a:xfrm>
          <a:prstGeom prst="rect">
            <a:avLst/>
          </a:prstGeom>
          <a:noFill/>
        </p:spPr>
        <p:txBody>
          <a:bodyPr wrap="square" rtlCol="0">
            <a:spAutoFit/>
          </a:bodyPr>
          <a:lstStyle/>
          <a:p>
            <a:r>
              <a:rPr lang="en-US" altLang="zh-CN" sz="3600" b="1" dirty="0">
                <a:solidFill>
                  <a:schemeClr val="accent1"/>
                </a:solidFill>
                <a:latin typeface="字魂59号-创粗黑" panose="00000500000000000000" pitchFamily="2" charset="-122"/>
                <a:ea typeface="字魂59号-创粗黑" panose="00000500000000000000" pitchFamily="2" charset="-122"/>
              </a:rPr>
              <a:t>3. SHAP &amp; Financial </a:t>
            </a:r>
            <a:r>
              <a:rPr lang="en-US" altLang="zh-CN" sz="3600" b="1" dirty="0" err="1">
                <a:solidFill>
                  <a:schemeClr val="accent1"/>
                </a:solidFill>
                <a:latin typeface="字魂59号-创粗黑" panose="00000500000000000000" pitchFamily="2" charset="-122"/>
                <a:ea typeface="字魂59号-创粗黑" panose="00000500000000000000" pitchFamily="2" charset="-122"/>
              </a:rPr>
              <a:t>Backtest</a:t>
            </a:r>
            <a:r>
              <a:rPr lang="en-US" altLang="zh-CN" sz="3600" b="1" dirty="0">
                <a:solidFill>
                  <a:schemeClr val="accent1"/>
                </a:solidFill>
                <a:latin typeface="字魂59号-创粗黑" panose="00000500000000000000" pitchFamily="2" charset="-122"/>
                <a:ea typeface="字魂59号-创粗黑" panose="00000500000000000000" pitchFamily="2" charset="-122"/>
              </a:rPr>
              <a:t> </a:t>
            </a:r>
          </a:p>
          <a:p>
            <a:endParaRPr lang="en-US" altLang="zh-CN" sz="3600" b="1" dirty="0">
              <a:solidFill>
                <a:schemeClr val="accent1"/>
              </a:solidFill>
              <a:latin typeface="字魂59号-创粗黑" panose="00000500000000000000" pitchFamily="2" charset="-122"/>
              <a:ea typeface="字魂59号-创粗黑" panose="00000500000000000000" pitchFamily="2" charset="-122"/>
            </a:endParaRPr>
          </a:p>
        </p:txBody>
      </p:sp>
      <p:pic>
        <p:nvPicPr>
          <p:cNvPr id="52" name="图片 51">
            <a:extLst>
              <a:ext uri="{FF2B5EF4-FFF2-40B4-BE49-F238E27FC236}">
                <a16:creationId xmlns:a16="http://schemas.microsoft.com/office/drawing/2014/main" id="{97BEBC0C-04A0-10A4-4B12-5EF24C54C9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49" y="5933398"/>
            <a:ext cx="850620" cy="850620"/>
          </a:xfrm>
          <a:prstGeom prst="rect">
            <a:avLst/>
          </a:prstGeom>
        </p:spPr>
      </p:pic>
      <p:grpSp>
        <p:nvGrpSpPr>
          <p:cNvPr id="87" name="组合 86">
            <a:extLst>
              <a:ext uri="{FF2B5EF4-FFF2-40B4-BE49-F238E27FC236}">
                <a16:creationId xmlns:a16="http://schemas.microsoft.com/office/drawing/2014/main" id="{872BD024-4E26-A6D9-FE0F-4774D6922B8C}"/>
              </a:ext>
            </a:extLst>
          </p:cNvPr>
          <p:cNvGrpSpPr/>
          <p:nvPr/>
        </p:nvGrpSpPr>
        <p:grpSpPr>
          <a:xfrm>
            <a:off x="9065190" y="408158"/>
            <a:ext cx="2817867" cy="275671"/>
            <a:chOff x="7104504" y="2125822"/>
            <a:chExt cx="2817867" cy="275671"/>
          </a:xfrm>
        </p:grpSpPr>
        <p:grpSp>
          <p:nvGrpSpPr>
            <p:cNvPr id="88" name="组合 87">
              <a:extLst>
                <a:ext uri="{FF2B5EF4-FFF2-40B4-BE49-F238E27FC236}">
                  <a16:creationId xmlns:a16="http://schemas.microsoft.com/office/drawing/2014/main" id="{5A941A21-AED5-BCA8-6057-F2BE8F07117B}"/>
                </a:ext>
              </a:extLst>
            </p:cNvPr>
            <p:cNvGrpSpPr/>
            <p:nvPr/>
          </p:nvGrpSpPr>
          <p:grpSpPr>
            <a:xfrm>
              <a:off x="7284014" y="2125822"/>
              <a:ext cx="2638357" cy="275671"/>
              <a:chOff x="1744535" y="2710927"/>
              <a:chExt cx="5405715" cy="718073"/>
            </a:xfrm>
          </p:grpSpPr>
          <p:cxnSp>
            <p:nvCxnSpPr>
              <p:cNvPr id="92" name="直接连接符 91">
                <a:extLst>
                  <a:ext uri="{FF2B5EF4-FFF2-40B4-BE49-F238E27FC236}">
                    <a16:creationId xmlns:a16="http://schemas.microsoft.com/office/drawing/2014/main" id="{F7B20875-6D9A-93BC-739B-21AAFAA22A19}"/>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6375E298-DA30-CBA8-F878-B0998F356FF8}"/>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44DCA760-3C74-F37B-D6D0-D54A0B4DA450}"/>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57AF9A37-F6FF-A003-0B60-A21A0866FCDC}"/>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03C087E2-BBC7-6118-4EBD-8AD0DB61A4DD}"/>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BCE06463-2D98-F3E1-9BC1-CC42EC8A7EB5}"/>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9CC074B3-A375-10C8-5F3D-7E23BFF50CA3}"/>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FFDEF55-0808-AAE2-1235-C56DA9684D0E}"/>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FC7F5841-092F-E152-FA9D-723AAE269DBE}"/>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50D0A752-7FDA-F8A2-CB75-F6DA0EF3569C}"/>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34696D63-9103-59B4-FEBB-D7289908D90B}"/>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48383AAE-FEA1-7F31-DDE5-C9267884E585}"/>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89" name="直接连接符 88">
              <a:extLst>
                <a:ext uri="{FF2B5EF4-FFF2-40B4-BE49-F238E27FC236}">
                  <a16:creationId xmlns:a16="http://schemas.microsoft.com/office/drawing/2014/main" id="{A951BDDF-500F-2CBA-0664-D42E081ECDB1}"/>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FFF153CE-94F4-3E6B-DFE2-4B44B0410D4A}"/>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98628D0C-42F4-7569-2F16-1B36E3EEC126}"/>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05" name="文本框 104">
            <a:extLst>
              <a:ext uri="{FF2B5EF4-FFF2-40B4-BE49-F238E27FC236}">
                <a16:creationId xmlns:a16="http://schemas.microsoft.com/office/drawing/2014/main" id="{5845B4C6-1CA6-EE45-429C-0A39E5FB18F5}"/>
              </a:ext>
            </a:extLst>
          </p:cNvPr>
          <p:cNvSpPr txBox="1"/>
          <p:nvPr/>
        </p:nvSpPr>
        <p:spPr>
          <a:xfrm>
            <a:off x="495459" y="1189585"/>
            <a:ext cx="6810827" cy="1015663"/>
          </a:xfrm>
          <a:prstGeom prst="rect">
            <a:avLst/>
          </a:prstGeom>
          <a:noFill/>
        </p:spPr>
        <p:txBody>
          <a:bodyPr wrap="square" rtlCol="0">
            <a:spAutoFit/>
          </a:bodyPr>
          <a:lstStyle/>
          <a:p>
            <a:r>
              <a:rPr lang="en-US" altLang="zh-CN" sz="2000" b="1" dirty="0">
                <a:solidFill>
                  <a:schemeClr val="accent1"/>
                </a:solidFill>
                <a:latin typeface="字魂59号-创粗黑" panose="00000500000000000000" pitchFamily="2" charset="-122"/>
                <a:ea typeface="字魂59号-创粗黑" panose="00000500000000000000" pitchFamily="2" charset="-122"/>
              </a:rPr>
              <a:t>3.3 Unified </a:t>
            </a:r>
            <a:r>
              <a:rPr lang="en-US" altLang="zh-CN" sz="2000" b="1" dirty="0" err="1">
                <a:solidFill>
                  <a:schemeClr val="accent1"/>
                </a:solidFill>
                <a:latin typeface="字魂59号-创粗黑" panose="00000500000000000000" pitchFamily="2" charset="-122"/>
                <a:ea typeface="字魂59号-创粗黑" panose="00000500000000000000" pitchFamily="2" charset="-122"/>
              </a:rPr>
              <a:t>Backtesting</a:t>
            </a:r>
            <a:r>
              <a:rPr lang="en-US" altLang="zh-CN" sz="2000" b="1" dirty="0">
                <a:solidFill>
                  <a:schemeClr val="accent1"/>
                </a:solidFill>
                <a:latin typeface="字魂59号-创粗黑" panose="00000500000000000000" pitchFamily="2" charset="-122"/>
                <a:ea typeface="字魂59号-创粗黑" panose="00000500000000000000" pitchFamily="2" charset="-122"/>
              </a:rPr>
              <a:t> Results</a:t>
            </a:r>
          </a:p>
          <a:p>
            <a:endParaRPr lang="en-US" altLang="zh-CN" sz="2000" b="1" dirty="0">
              <a:solidFill>
                <a:schemeClr val="accent1"/>
              </a:solidFill>
              <a:latin typeface="字魂59号-创粗黑" panose="00000500000000000000" pitchFamily="2" charset="-122"/>
              <a:ea typeface="字魂59号-创粗黑" panose="00000500000000000000" pitchFamily="2" charset="-122"/>
            </a:endParaRPr>
          </a:p>
          <a:p>
            <a:endParaRPr lang="zh-CN" altLang="en-US" sz="2000" b="1" dirty="0">
              <a:solidFill>
                <a:schemeClr val="accent1"/>
              </a:solidFill>
              <a:latin typeface="字魂59号-创粗黑" panose="00000500000000000000" pitchFamily="2" charset="-122"/>
              <a:ea typeface="字魂59号-创粗黑" panose="00000500000000000000" pitchFamily="2" charset="-122"/>
            </a:endParaRPr>
          </a:p>
        </p:txBody>
      </p:sp>
      <p:pic>
        <p:nvPicPr>
          <p:cNvPr id="13" name="图片 12">
            <a:extLst>
              <a:ext uri="{FF2B5EF4-FFF2-40B4-BE49-F238E27FC236}">
                <a16:creationId xmlns:a16="http://schemas.microsoft.com/office/drawing/2014/main" id="{B9D7B0ED-3005-8059-6E4A-8D6262A5F24D}"/>
              </a:ext>
            </a:extLst>
          </p:cNvPr>
          <p:cNvPicPr>
            <a:picLocks noChangeAspect="1"/>
          </p:cNvPicPr>
          <p:nvPr/>
        </p:nvPicPr>
        <p:blipFill>
          <a:blip r:embed="rId4"/>
          <a:stretch>
            <a:fillRect/>
          </a:stretch>
        </p:blipFill>
        <p:spPr>
          <a:xfrm>
            <a:off x="5407973" y="1990141"/>
            <a:ext cx="6475084" cy="4790982"/>
          </a:xfrm>
          <a:prstGeom prst="rect">
            <a:avLst/>
          </a:prstGeom>
        </p:spPr>
      </p:pic>
      <p:graphicFrame>
        <p:nvGraphicFramePr>
          <p:cNvPr id="7" name="表格 6">
            <a:extLst>
              <a:ext uri="{FF2B5EF4-FFF2-40B4-BE49-F238E27FC236}">
                <a16:creationId xmlns:a16="http://schemas.microsoft.com/office/drawing/2014/main" id="{F996D8A0-891B-6A1A-7576-EE71127B7BA9}"/>
              </a:ext>
            </a:extLst>
          </p:cNvPr>
          <p:cNvGraphicFramePr>
            <a:graphicFrameLocks noGrp="1"/>
          </p:cNvGraphicFramePr>
          <p:nvPr>
            <p:extLst>
              <p:ext uri="{D42A27DB-BD31-4B8C-83A1-F6EECF244321}">
                <p14:modId xmlns:p14="http://schemas.microsoft.com/office/powerpoint/2010/main" val="3060548588"/>
              </p:ext>
            </p:extLst>
          </p:nvPr>
        </p:nvGraphicFramePr>
        <p:xfrm>
          <a:off x="529181" y="2408332"/>
          <a:ext cx="4736580" cy="2651760"/>
        </p:xfrm>
        <a:graphic>
          <a:graphicData uri="http://schemas.openxmlformats.org/drawingml/2006/table">
            <a:tbl>
              <a:tblPr>
                <a:tableStyleId>{3C2FFA5D-87B4-456A-9821-1D502468CF0F}</a:tableStyleId>
              </a:tblPr>
              <a:tblGrid>
                <a:gridCol w="1690692">
                  <a:extLst>
                    <a:ext uri="{9D8B030D-6E8A-4147-A177-3AD203B41FA5}">
                      <a16:colId xmlns:a16="http://schemas.microsoft.com/office/drawing/2014/main" val="1657206045"/>
                    </a:ext>
                  </a:extLst>
                </a:gridCol>
                <a:gridCol w="876300">
                  <a:extLst>
                    <a:ext uri="{9D8B030D-6E8A-4147-A177-3AD203B41FA5}">
                      <a16:colId xmlns:a16="http://schemas.microsoft.com/office/drawing/2014/main" val="3034475353"/>
                    </a:ext>
                  </a:extLst>
                </a:gridCol>
                <a:gridCol w="1209675">
                  <a:extLst>
                    <a:ext uri="{9D8B030D-6E8A-4147-A177-3AD203B41FA5}">
                      <a16:colId xmlns:a16="http://schemas.microsoft.com/office/drawing/2014/main" val="260130056"/>
                    </a:ext>
                  </a:extLst>
                </a:gridCol>
                <a:gridCol w="959913">
                  <a:extLst>
                    <a:ext uri="{9D8B030D-6E8A-4147-A177-3AD203B41FA5}">
                      <a16:colId xmlns:a16="http://schemas.microsoft.com/office/drawing/2014/main" val="1507167654"/>
                    </a:ext>
                  </a:extLst>
                </a:gridCol>
              </a:tblGrid>
              <a:tr h="361950">
                <a:tc>
                  <a:txBody>
                    <a:bodyPr/>
                    <a:lstStyle/>
                    <a:p>
                      <a:pPr algn="l" rtl="0" fontAlgn="ctr">
                        <a:buNone/>
                      </a:pPr>
                      <a:r>
                        <a:rPr lang="en-US" sz="1800" b="1" u="none" strike="noStrike">
                          <a:solidFill>
                            <a:schemeClr val="bg1"/>
                          </a:solidFill>
                          <a:effectLst/>
                        </a:rPr>
                        <a:t>model</a:t>
                      </a:r>
                      <a:endParaRPr lang="en-US" sz="1800" b="1" i="0" u="none" strike="noStrike">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rtl="0" fontAlgn="ctr">
                        <a:buNone/>
                      </a:pPr>
                      <a:r>
                        <a:rPr lang="en-US" sz="1600" b="1" u="none" strike="noStrike" dirty="0">
                          <a:solidFill>
                            <a:srgbClr val="000000"/>
                          </a:solidFill>
                          <a:effectLst/>
                        </a:rPr>
                        <a:t>LR(L1)</a:t>
                      </a:r>
                      <a:endParaRPr lang="en-US" sz="1600" b="1"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rtl="0" fontAlgn="ctr">
                        <a:buNone/>
                      </a:pPr>
                      <a:r>
                        <a:rPr lang="en-US" sz="1600" b="1" u="none" strike="noStrike" dirty="0">
                          <a:solidFill>
                            <a:srgbClr val="000000"/>
                          </a:solidFill>
                          <a:effectLst/>
                        </a:rPr>
                        <a:t>RF</a:t>
                      </a:r>
                      <a:endParaRPr lang="en-US" sz="1600" b="1"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rtl="0" fontAlgn="ctr">
                        <a:buNone/>
                      </a:pPr>
                      <a:r>
                        <a:rPr lang="en-US" sz="1600" b="1" u="none" strike="noStrike" dirty="0">
                          <a:solidFill>
                            <a:srgbClr val="000000"/>
                          </a:solidFill>
                          <a:effectLst/>
                        </a:rPr>
                        <a:t>GRU</a:t>
                      </a:r>
                      <a:endParaRPr lang="en-US" sz="1600" b="1"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585828393"/>
                  </a:ext>
                </a:extLst>
              </a:tr>
              <a:tr h="361950">
                <a:tc>
                  <a:txBody>
                    <a:bodyPr/>
                    <a:lstStyle/>
                    <a:p>
                      <a:pPr algn="l" rtl="0" fontAlgn="ctr">
                        <a:buNone/>
                      </a:pPr>
                      <a:r>
                        <a:rPr lang="en-US" sz="1800" b="1" u="none" strike="noStrike" dirty="0" err="1">
                          <a:solidFill>
                            <a:schemeClr val="bg1"/>
                          </a:solidFill>
                          <a:effectLst/>
                        </a:rPr>
                        <a:t>total_return</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-0.195</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-0.0998</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0.141</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058973423"/>
                  </a:ext>
                </a:extLst>
              </a:tr>
              <a:tr h="361950">
                <a:tc>
                  <a:txBody>
                    <a:bodyPr/>
                    <a:lstStyle/>
                    <a:p>
                      <a:pPr algn="l" rtl="0" fontAlgn="ctr">
                        <a:buNone/>
                      </a:pPr>
                      <a:r>
                        <a:rPr lang="en-US" sz="1800" b="1" u="none" strike="noStrike">
                          <a:solidFill>
                            <a:schemeClr val="bg1"/>
                          </a:solidFill>
                          <a:effectLst/>
                        </a:rPr>
                        <a:t>sharpe_ratio</a:t>
                      </a:r>
                      <a:endParaRPr lang="en-US" sz="1800" b="1" i="0" u="none" strike="noStrike">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-0.213</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-0.151</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0.674</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1443937214"/>
                  </a:ext>
                </a:extLst>
              </a:tr>
              <a:tr h="361950">
                <a:tc>
                  <a:txBody>
                    <a:bodyPr/>
                    <a:lstStyle/>
                    <a:p>
                      <a:pPr algn="l" rtl="0" fontAlgn="ctr">
                        <a:buNone/>
                      </a:pPr>
                      <a:r>
                        <a:rPr lang="en-US" sz="1800" b="1" u="none" strike="noStrike" dirty="0" err="1">
                          <a:solidFill>
                            <a:schemeClr val="bg1"/>
                          </a:solidFill>
                          <a:effectLst/>
                        </a:rPr>
                        <a:t>max_drawdown</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-0.503</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-0.219</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-0.065</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1027081996"/>
                  </a:ext>
                </a:extLst>
              </a:tr>
              <a:tr h="361950">
                <a:tc>
                  <a:txBody>
                    <a:bodyPr/>
                    <a:lstStyle/>
                    <a:p>
                      <a:pPr algn="l" rtl="0" fontAlgn="ctr">
                        <a:buNone/>
                      </a:pPr>
                      <a:r>
                        <a:rPr lang="en-US" sz="1800" b="1" u="none" strike="noStrike">
                          <a:solidFill>
                            <a:schemeClr val="bg1"/>
                          </a:solidFill>
                          <a:effectLst/>
                        </a:rPr>
                        <a:t>avg_daily_return</a:t>
                      </a:r>
                      <a:endParaRPr lang="en-US" sz="1800" b="1" i="0" u="none" strike="noStrike">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-0.00028</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-0.00014</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0.00033</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858230234"/>
                  </a:ext>
                </a:extLst>
              </a:tr>
              <a:tr h="361950">
                <a:tc>
                  <a:txBody>
                    <a:bodyPr/>
                    <a:lstStyle/>
                    <a:p>
                      <a:pPr algn="l" rtl="0" fontAlgn="ctr">
                        <a:buNone/>
                      </a:pPr>
                      <a:r>
                        <a:rPr lang="en-US" sz="1800" b="1" u="none" strike="noStrike">
                          <a:solidFill>
                            <a:schemeClr val="bg1"/>
                          </a:solidFill>
                          <a:effectLst/>
                        </a:rPr>
                        <a:t>std_daily_return</a:t>
                      </a:r>
                      <a:endParaRPr lang="en-US" sz="1800" b="1" i="0" u="none" strike="noStrike">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0.0206</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0.0143</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0.0077</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294823342"/>
                  </a:ext>
                </a:extLst>
              </a:tr>
              <a:tr h="180975">
                <a:tc>
                  <a:txBody>
                    <a:bodyPr/>
                    <a:lstStyle/>
                    <a:p>
                      <a:pPr algn="l" rtl="0" fontAlgn="ctr">
                        <a:buNone/>
                      </a:pPr>
                      <a:r>
                        <a:rPr lang="en-US" sz="1800" b="1" u="none" strike="noStrike" dirty="0" err="1">
                          <a:solidFill>
                            <a:schemeClr val="bg1"/>
                          </a:solidFill>
                          <a:effectLst/>
                        </a:rPr>
                        <a:t>n_days</a:t>
                      </a:r>
                      <a:endParaRPr lang="en-US" sz="1800" b="1" i="0" u="none" strike="noStrike" dirty="0">
                        <a:solidFill>
                          <a:schemeClr val="bg1"/>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444</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444</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rtl="0" fontAlgn="ctr">
                        <a:buNone/>
                      </a:pPr>
                      <a:r>
                        <a:rPr lang="en-US" altLang="zh-CN" sz="1600" b="0" u="none" strike="noStrike" dirty="0">
                          <a:solidFill>
                            <a:srgbClr val="000000"/>
                          </a:solidFill>
                          <a:effectLst/>
                        </a:rPr>
                        <a:t>443</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1320167744"/>
                  </a:ext>
                </a:extLst>
              </a:tr>
            </a:tbl>
          </a:graphicData>
        </a:graphic>
      </p:graphicFrame>
      <p:sp>
        <p:nvSpPr>
          <p:cNvPr id="8" name="文本框 7">
            <a:extLst>
              <a:ext uri="{FF2B5EF4-FFF2-40B4-BE49-F238E27FC236}">
                <a16:creationId xmlns:a16="http://schemas.microsoft.com/office/drawing/2014/main" id="{8A33A570-1B56-6B58-A135-2265DC262C6B}"/>
              </a:ext>
            </a:extLst>
          </p:cNvPr>
          <p:cNvSpPr txBox="1"/>
          <p:nvPr/>
        </p:nvSpPr>
        <p:spPr>
          <a:xfrm>
            <a:off x="723626" y="1589863"/>
            <a:ext cx="8521074" cy="41819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Metric-level confirmation of the curve pattern (return, Sharpe, drawdown).</a:t>
            </a:r>
          </a:p>
        </p:txBody>
      </p:sp>
    </p:spTree>
    <p:extLst>
      <p:ext uri="{BB962C8B-B14F-4D97-AF65-F5344CB8AC3E}">
        <p14:creationId xmlns:p14="http://schemas.microsoft.com/office/powerpoint/2010/main" val="1005490029"/>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3E2AC-7B1F-06AD-014A-B89E62849938}"/>
            </a:ext>
          </a:extLst>
        </p:cNvPr>
        <p:cNvGrpSpPr/>
        <p:nvPr/>
      </p:nvGrpSpPr>
      <p:grpSpPr>
        <a:xfrm>
          <a:off x="0" y="0"/>
          <a:ext cx="0" cy="0"/>
          <a:chOff x="0" y="0"/>
          <a:chExt cx="0" cy="0"/>
        </a:xfrm>
      </p:grpSpPr>
      <p:grpSp>
        <p:nvGrpSpPr>
          <p:cNvPr id="118" name="组合 117">
            <a:extLst>
              <a:ext uri="{FF2B5EF4-FFF2-40B4-BE49-F238E27FC236}">
                <a16:creationId xmlns:a16="http://schemas.microsoft.com/office/drawing/2014/main" id="{285B1D68-4E33-A575-EE94-EC2789C84E61}"/>
              </a:ext>
            </a:extLst>
          </p:cNvPr>
          <p:cNvGrpSpPr/>
          <p:nvPr/>
        </p:nvGrpSpPr>
        <p:grpSpPr>
          <a:xfrm>
            <a:off x="328612" y="1923644"/>
            <a:ext cx="11534775" cy="2304111"/>
            <a:chOff x="328612" y="1923644"/>
            <a:chExt cx="11534775" cy="2304111"/>
          </a:xfrm>
        </p:grpSpPr>
        <p:grpSp>
          <p:nvGrpSpPr>
            <p:cNvPr id="117" name="组合 116">
              <a:extLst>
                <a:ext uri="{FF2B5EF4-FFF2-40B4-BE49-F238E27FC236}">
                  <a16:creationId xmlns:a16="http://schemas.microsoft.com/office/drawing/2014/main" id="{606A6D24-8A7F-6C06-B58B-08A0DEC623CD}"/>
                </a:ext>
              </a:extLst>
            </p:cNvPr>
            <p:cNvGrpSpPr/>
            <p:nvPr/>
          </p:nvGrpSpPr>
          <p:grpSpPr>
            <a:xfrm>
              <a:off x="6404562" y="2125822"/>
              <a:ext cx="5450854" cy="275671"/>
              <a:chOff x="6404562" y="2125822"/>
              <a:chExt cx="5450854" cy="275671"/>
            </a:xfrm>
          </p:grpSpPr>
          <p:grpSp>
            <p:nvGrpSpPr>
              <p:cNvPr id="73" name="组合 72">
                <a:extLst>
                  <a:ext uri="{FF2B5EF4-FFF2-40B4-BE49-F238E27FC236}">
                    <a16:creationId xmlns:a16="http://schemas.microsoft.com/office/drawing/2014/main" id="{95B77767-9E0C-71E3-4FA6-87FA8868413B}"/>
                  </a:ext>
                </a:extLst>
              </p:cNvPr>
              <p:cNvGrpSpPr/>
              <p:nvPr/>
            </p:nvGrpSpPr>
            <p:grpSpPr>
              <a:xfrm>
                <a:off x="6404562" y="2125822"/>
                <a:ext cx="5450854" cy="275671"/>
                <a:chOff x="-57370" y="2710927"/>
                <a:chExt cx="11168227" cy="718073"/>
              </a:xfrm>
            </p:grpSpPr>
            <p:cxnSp>
              <p:nvCxnSpPr>
                <p:cNvPr id="74" name="直接连接符 73">
                  <a:extLst>
                    <a:ext uri="{FF2B5EF4-FFF2-40B4-BE49-F238E27FC236}">
                      <a16:creationId xmlns:a16="http://schemas.microsoft.com/office/drawing/2014/main" id="{82544406-B507-281D-AA2A-6143C2A6F4AA}"/>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D2694514-6BEC-58EE-C008-35DA1A9D4EEC}"/>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71AD0E89-AF6C-19E4-4B52-4FA0795039E8}"/>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67327F47-1703-D61C-F55A-B4E895C002D1}"/>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690B017D-3E92-A4AF-7688-59F26536E579}"/>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EC12BB8C-146F-C1B7-636D-71A8CD29BFD8}"/>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04F67D61-03B4-AD98-6477-70B7CFD4F300}"/>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F976598A-BC00-67F3-2A3F-A10A2F59FC74}"/>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F6EF1C2A-956C-9AFA-FC8D-53B042717A7B}"/>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968D433D-07A6-AE9F-80B7-05EB9AEC2C72}"/>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80E0076C-1DDF-3B8D-2F7F-22863CDA640C}"/>
                    </a:ext>
                  </a:extLst>
                </p:cNvPr>
                <p:cNvCxnSpPr/>
                <p:nvPr userDrawn="1"/>
              </p:nvCxnSpPr>
              <p:spPr>
                <a:xfrm flipH="1">
                  <a:off x="678986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C1B164E4-0A5F-023F-C511-327BF60553FE}"/>
                    </a:ext>
                  </a:extLst>
                </p:cNvPr>
                <p:cNvCxnSpPr/>
                <p:nvPr userDrawn="1"/>
              </p:nvCxnSpPr>
              <p:spPr>
                <a:xfrm flipH="1">
                  <a:off x="715025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823C92B8-785E-9C0D-D521-046A636D6BC1}"/>
                    </a:ext>
                  </a:extLst>
                </p:cNvPr>
                <p:cNvCxnSpPr/>
                <p:nvPr userDrawn="1"/>
              </p:nvCxnSpPr>
              <p:spPr>
                <a:xfrm flipH="1">
                  <a:off x="750704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C82BD2AD-FDFD-3AFA-F9BD-DAF60A27FB4A}"/>
                    </a:ext>
                  </a:extLst>
                </p:cNvPr>
                <p:cNvCxnSpPr/>
                <p:nvPr userDrawn="1"/>
              </p:nvCxnSpPr>
              <p:spPr>
                <a:xfrm flipH="1">
                  <a:off x="786742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F2F7060D-FF2B-A5E2-1E8F-BA1B35821947}"/>
                    </a:ext>
                  </a:extLst>
                </p:cNvPr>
                <p:cNvCxnSpPr/>
                <p:nvPr userDrawn="1"/>
              </p:nvCxnSpPr>
              <p:spPr>
                <a:xfrm flipH="1">
                  <a:off x="822780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3241B464-DED3-A0AF-A0DC-A8FA224C88F3}"/>
                    </a:ext>
                  </a:extLst>
                </p:cNvPr>
                <p:cNvCxnSpPr/>
                <p:nvPr userDrawn="1"/>
              </p:nvCxnSpPr>
              <p:spPr>
                <a:xfrm flipH="1">
                  <a:off x="858819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F2B27658-DC68-D98B-0E1D-CCF85CAD3776}"/>
                    </a:ext>
                  </a:extLst>
                </p:cNvPr>
                <p:cNvCxnSpPr/>
                <p:nvPr userDrawn="1"/>
              </p:nvCxnSpPr>
              <p:spPr>
                <a:xfrm flipH="1">
                  <a:off x="894857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F890C59A-90FB-E719-4D21-11DC12BF8FD9}"/>
                    </a:ext>
                  </a:extLst>
                </p:cNvPr>
                <p:cNvCxnSpPr/>
                <p:nvPr userDrawn="1"/>
              </p:nvCxnSpPr>
              <p:spPr>
                <a:xfrm flipH="1">
                  <a:off x="930895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11936AB9-39A1-C87E-D6D4-EBBC68773641}"/>
                    </a:ext>
                  </a:extLst>
                </p:cNvPr>
                <p:cNvCxnSpPr/>
                <p:nvPr userDrawn="1"/>
              </p:nvCxnSpPr>
              <p:spPr>
                <a:xfrm flipH="1">
                  <a:off x="966933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0D36E5C0-9758-66AF-DA42-A3B5A30188D6}"/>
                    </a:ext>
                  </a:extLst>
                </p:cNvPr>
                <p:cNvCxnSpPr/>
                <p:nvPr userDrawn="1"/>
              </p:nvCxnSpPr>
              <p:spPr>
                <a:xfrm flipH="1">
                  <a:off x="1002971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B60C2F65-8C42-77F9-3733-1A4E677EDBCB}"/>
                    </a:ext>
                  </a:extLst>
                </p:cNvPr>
                <p:cNvCxnSpPr/>
                <p:nvPr userDrawn="1"/>
              </p:nvCxnSpPr>
              <p:spPr>
                <a:xfrm flipH="1">
                  <a:off x="1039009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8A21BBDD-A67C-6EA5-3190-A7F46F45267C}"/>
                    </a:ext>
                  </a:extLst>
                </p:cNvPr>
                <p:cNvCxnSpPr/>
                <p:nvPr userDrawn="1"/>
              </p:nvCxnSpPr>
              <p:spPr>
                <a:xfrm flipH="1">
                  <a:off x="-5737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5E32A410-CBB8-371C-8E86-F13362AE8929}"/>
                    </a:ext>
                  </a:extLst>
                </p:cNvPr>
                <p:cNvCxnSpPr/>
                <p:nvPr userDrawn="1"/>
              </p:nvCxnSpPr>
              <p:spPr>
                <a:xfrm flipH="1">
                  <a:off x="30301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DC2F7114-3087-DEFC-8E49-563488A73A0A}"/>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2E35D298-2428-7BAC-953C-DB5481A17C3C}"/>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113" name="直接连接符 112">
                <a:extLst>
                  <a:ext uri="{FF2B5EF4-FFF2-40B4-BE49-F238E27FC236}">
                    <a16:creationId xmlns:a16="http://schemas.microsoft.com/office/drawing/2014/main" id="{3AB928FA-C021-C7DC-FC8D-5232D7662E7E}"/>
                  </a:ext>
                </a:extLst>
              </p:cNvPr>
              <p:cNvCxnSpPr/>
              <p:nvPr/>
            </p:nvCxnSpPr>
            <p:spPr>
              <a:xfrm flipH="1">
                <a:off x="728763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F2916925-94EE-0BD5-C37A-B90212C59F14}"/>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A0E88D1A-9A42-6656-A5A9-970E2CD4657D}"/>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116" name="组合 115">
              <a:extLst>
                <a:ext uri="{FF2B5EF4-FFF2-40B4-BE49-F238E27FC236}">
                  <a16:creationId xmlns:a16="http://schemas.microsoft.com/office/drawing/2014/main" id="{2612FA98-EDE5-BAFE-6544-1CC9DA3C9F39}"/>
                </a:ext>
              </a:extLst>
            </p:cNvPr>
            <p:cNvGrpSpPr/>
            <p:nvPr/>
          </p:nvGrpSpPr>
          <p:grpSpPr>
            <a:xfrm>
              <a:off x="601928" y="2125822"/>
              <a:ext cx="5978525" cy="275672"/>
              <a:chOff x="601928" y="2125822"/>
              <a:chExt cx="5978525" cy="275672"/>
            </a:xfrm>
          </p:grpSpPr>
          <p:grpSp>
            <p:nvGrpSpPr>
              <p:cNvPr id="37" name="组合 36">
                <a:extLst>
                  <a:ext uri="{FF2B5EF4-FFF2-40B4-BE49-F238E27FC236}">
                    <a16:creationId xmlns:a16="http://schemas.microsoft.com/office/drawing/2014/main" id="{A393FE1F-6322-4B00-0D3C-3940F87B6EF9}"/>
                  </a:ext>
                </a:extLst>
              </p:cNvPr>
              <p:cNvGrpSpPr/>
              <p:nvPr/>
            </p:nvGrpSpPr>
            <p:grpSpPr>
              <a:xfrm>
                <a:off x="601928" y="2125823"/>
                <a:ext cx="5978525" cy="275671"/>
                <a:chOff x="-57370" y="2710927"/>
                <a:chExt cx="12249370" cy="718073"/>
              </a:xfrm>
            </p:grpSpPr>
            <p:cxnSp>
              <p:nvCxnSpPr>
                <p:cNvPr id="38" name="直接连接符 37">
                  <a:extLst>
                    <a:ext uri="{FF2B5EF4-FFF2-40B4-BE49-F238E27FC236}">
                      <a16:creationId xmlns:a16="http://schemas.microsoft.com/office/drawing/2014/main" id="{C21170C7-C010-DB60-6551-795BC41E2C60}"/>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4479C57E-0AC6-443D-5967-B6D57AFD3086}"/>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9B2744B3-EAAB-46D2-95E2-E4CD138E6A3A}"/>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6E9E5F34-2CE2-6550-B48D-50CBC6C33D50}"/>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9AFB726A-AE0B-06D0-9F39-BF453EC489C0}"/>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296DB326-841D-E847-E329-27BDFAADA8BE}"/>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F5190030-1C90-F0EA-4708-0FAF423A2EB3}"/>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A5BEFD9-4E18-95F4-094A-00F2E6C5902F}"/>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B1D0443F-C5B6-4F11-599B-441E5FBBF00E}"/>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F9F703E2-4B27-0751-98D7-DE34924D0D1F}"/>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E851392F-9B94-66DA-2219-34D5DFD5D167}"/>
                    </a:ext>
                  </a:extLst>
                </p:cNvPr>
                <p:cNvCxnSpPr/>
                <p:nvPr userDrawn="1"/>
              </p:nvCxnSpPr>
              <p:spPr>
                <a:xfrm flipH="1">
                  <a:off x="678986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A960E2AC-A83D-126B-F29F-FB7126DA5CDF}"/>
                    </a:ext>
                  </a:extLst>
                </p:cNvPr>
                <p:cNvCxnSpPr/>
                <p:nvPr userDrawn="1"/>
              </p:nvCxnSpPr>
              <p:spPr>
                <a:xfrm flipH="1">
                  <a:off x="715025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C5184646-6522-1B16-D84B-2784496D3784}"/>
                    </a:ext>
                  </a:extLst>
                </p:cNvPr>
                <p:cNvCxnSpPr/>
                <p:nvPr userDrawn="1"/>
              </p:nvCxnSpPr>
              <p:spPr>
                <a:xfrm flipH="1">
                  <a:off x="822780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275B0CD-EB7E-A044-CA06-E0EFE6516A7F}"/>
                    </a:ext>
                  </a:extLst>
                </p:cNvPr>
                <p:cNvCxnSpPr/>
                <p:nvPr userDrawn="1"/>
              </p:nvCxnSpPr>
              <p:spPr>
                <a:xfrm flipH="1">
                  <a:off x="930895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FC9FF379-2965-E9FC-0410-F32F083F83E8}"/>
                    </a:ext>
                  </a:extLst>
                </p:cNvPr>
                <p:cNvCxnSpPr/>
                <p:nvPr userDrawn="1"/>
              </p:nvCxnSpPr>
              <p:spPr>
                <a:xfrm flipH="1">
                  <a:off x="966933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4589C484-8849-C0D0-39A8-28F6CC059090}"/>
                    </a:ext>
                  </a:extLst>
                </p:cNvPr>
                <p:cNvCxnSpPr/>
                <p:nvPr userDrawn="1"/>
              </p:nvCxnSpPr>
              <p:spPr>
                <a:xfrm flipH="1">
                  <a:off x="1002971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E8008C31-F1D8-8739-6A20-527CB638778B}"/>
                    </a:ext>
                  </a:extLst>
                </p:cNvPr>
                <p:cNvCxnSpPr/>
                <p:nvPr userDrawn="1"/>
              </p:nvCxnSpPr>
              <p:spPr>
                <a:xfrm flipH="1">
                  <a:off x="1039009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D2798BCD-C43A-416A-AADD-FBF21250D640}"/>
                    </a:ext>
                  </a:extLst>
                </p:cNvPr>
                <p:cNvCxnSpPr/>
                <p:nvPr userDrawn="1"/>
              </p:nvCxnSpPr>
              <p:spPr>
                <a:xfrm flipH="1">
                  <a:off x="1075047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1FFC4BAB-2981-DCDB-4D5D-9993EAD1B57C}"/>
                    </a:ext>
                  </a:extLst>
                </p:cNvPr>
                <p:cNvCxnSpPr/>
                <p:nvPr userDrawn="1"/>
              </p:nvCxnSpPr>
              <p:spPr>
                <a:xfrm flipH="1">
                  <a:off x="1111085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3553B1DA-C864-ED00-8101-3EA45AE170C6}"/>
                    </a:ext>
                  </a:extLst>
                </p:cNvPr>
                <p:cNvCxnSpPr/>
                <p:nvPr userDrawn="1"/>
              </p:nvCxnSpPr>
              <p:spPr>
                <a:xfrm flipH="1">
                  <a:off x="1147123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851E7599-D169-F8C3-6F36-67204CB1F67B}"/>
                    </a:ext>
                  </a:extLst>
                </p:cNvPr>
                <p:cNvCxnSpPr/>
                <p:nvPr userDrawn="1"/>
              </p:nvCxnSpPr>
              <p:spPr>
                <a:xfrm flipH="1">
                  <a:off x="-5737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AABC835-0B66-C067-7300-7C6F11801AB6}"/>
                    </a:ext>
                  </a:extLst>
                </p:cNvPr>
                <p:cNvCxnSpPr/>
                <p:nvPr userDrawn="1"/>
              </p:nvCxnSpPr>
              <p:spPr>
                <a:xfrm flipH="1">
                  <a:off x="30301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863D6121-BFB1-6A38-7574-96ABDD206AD0}"/>
                    </a:ext>
                  </a:extLst>
                </p:cNvPr>
                <p:cNvCxnSpPr/>
                <p:nvPr userDrawn="1"/>
              </p:nvCxnSpPr>
              <p:spPr>
                <a:xfrm flipH="1">
                  <a:off x="66339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83932E0F-D717-B27E-4CBD-5013F918F82D}"/>
                    </a:ext>
                  </a:extLst>
                </p:cNvPr>
                <p:cNvCxnSpPr/>
                <p:nvPr userDrawn="1"/>
              </p:nvCxnSpPr>
              <p:spPr>
                <a:xfrm flipH="1">
                  <a:off x="102377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3103ED27-219B-820D-C1F1-77FEFD87B02C}"/>
                    </a:ext>
                  </a:extLst>
                </p:cNvPr>
                <p:cNvCxnSpPr/>
                <p:nvPr userDrawn="1"/>
              </p:nvCxnSpPr>
              <p:spPr>
                <a:xfrm flipH="1">
                  <a:off x="138415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8BA1BE41-54FF-950F-C8DF-6546CA9A5271}"/>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BD01456E-4312-C030-37D9-E01BC0448222}"/>
                    </a:ext>
                  </a:extLst>
                </p:cNvPr>
                <p:cNvCxnSpPr/>
                <p:nvPr userDrawn="1"/>
              </p:nvCxnSpPr>
              <p:spPr>
                <a:xfrm flipH="1">
                  <a:off x="210491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54589938-427E-BD75-DD8A-8C61BD0F6AE6}"/>
                    </a:ext>
                  </a:extLst>
                </p:cNvPr>
                <p:cNvCxnSpPr/>
                <p:nvPr userDrawn="1"/>
              </p:nvCxnSpPr>
              <p:spPr>
                <a:xfrm flipH="1">
                  <a:off x="246529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8D148E49-A80E-CF38-2942-201277531D1F}"/>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110" name="直接连接符 109">
                <a:extLst>
                  <a:ext uri="{FF2B5EF4-FFF2-40B4-BE49-F238E27FC236}">
                    <a16:creationId xmlns:a16="http://schemas.microsoft.com/office/drawing/2014/main" id="{E1C9ABD8-8542-2CB8-D975-65BDBFA14B92}"/>
                  </a:ext>
                </a:extLst>
              </p:cNvPr>
              <p:cNvCxnSpPr/>
              <p:nvPr/>
            </p:nvCxnSpPr>
            <p:spPr>
              <a:xfrm flipH="1">
                <a:off x="4297496"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988E5B07-DCEA-E040-AD83-C8B980B23DC3}"/>
                  </a:ext>
                </a:extLst>
              </p:cNvPr>
              <p:cNvCxnSpPr/>
              <p:nvPr/>
            </p:nvCxnSpPr>
            <p:spPr>
              <a:xfrm flipH="1">
                <a:off x="4473386"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B88C75BD-25A9-AAC2-35D0-E3553E3FD603}"/>
                  </a:ext>
                </a:extLst>
              </p:cNvPr>
              <p:cNvCxnSpPr/>
              <p:nvPr/>
            </p:nvCxnSpPr>
            <p:spPr>
              <a:xfrm flipH="1">
                <a:off x="4649276"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矩形 1">
              <a:extLst>
                <a:ext uri="{FF2B5EF4-FFF2-40B4-BE49-F238E27FC236}">
                  <a16:creationId xmlns:a16="http://schemas.microsoft.com/office/drawing/2014/main" id="{A843FC19-C2DE-577B-03DC-54221E0CB256}"/>
                </a:ext>
              </a:extLst>
            </p:cNvPr>
            <p:cNvSpPr/>
            <p:nvPr/>
          </p:nvSpPr>
          <p:spPr>
            <a:xfrm>
              <a:off x="328612" y="1923644"/>
              <a:ext cx="11534775" cy="2304111"/>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矩形 70">
              <a:extLst>
                <a:ext uri="{FF2B5EF4-FFF2-40B4-BE49-F238E27FC236}">
                  <a16:creationId xmlns:a16="http://schemas.microsoft.com/office/drawing/2014/main" id="{D37EEA6D-97EB-1F95-6090-36C92FAB6EB9}"/>
                </a:ext>
              </a:extLst>
            </p:cNvPr>
            <p:cNvSpPr/>
            <p:nvPr/>
          </p:nvSpPr>
          <p:spPr>
            <a:xfrm>
              <a:off x="328612" y="1923644"/>
              <a:ext cx="441235" cy="2304111"/>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a:extLst>
                <a:ext uri="{FF2B5EF4-FFF2-40B4-BE49-F238E27FC236}">
                  <a16:creationId xmlns:a16="http://schemas.microsoft.com/office/drawing/2014/main" id="{479A61DD-3D4E-557B-6038-034DE4D2DAB7}"/>
                </a:ext>
              </a:extLst>
            </p:cNvPr>
            <p:cNvSpPr/>
            <p:nvPr/>
          </p:nvSpPr>
          <p:spPr>
            <a:xfrm>
              <a:off x="11422150" y="1923644"/>
              <a:ext cx="441237" cy="2304111"/>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a:extLst>
                <a:ext uri="{FF2B5EF4-FFF2-40B4-BE49-F238E27FC236}">
                  <a16:creationId xmlns:a16="http://schemas.microsoft.com/office/drawing/2014/main" id="{35E30257-5C2D-3581-59D3-108DD3EF733F}"/>
                </a:ext>
              </a:extLst>
            </p:cNvPr>
            <p:cNvSpPr txBox="1"/>
            <p:nvPr/>
          </p:nvSpPr>
          <p:spPr>
            <a:xfrm>
              <a:off x="4937436" y="1971269"/>
              <a:ext cx="2317125" cy="584775"/>
            </a:xfrm>
            <a:prstGeom prst="rect">
              <a:avLst/>
            </a:prstGeom>
            <a:solidFill>
              <a:schemeClr val="bg1"/>
            </a:solidFill>
          </p:spPr>
          <p:txBody>
            <a:bodyPr wrap="square" rtlCol="0">
              <a:spAutoFit/>
            </a:bodyPr>
            <a:lstStyle/>
            <a:p>
              <a:pPr algn="ctr"/>
              <a:r>
                <a:rPr lang="en-US" altLang="zh-CN" sz="3200" dirty="0">
                  <a:solidFill>
                    <a:schemeClr val="tx2"/>
                  </a:solidFill>
                  <a:latin typeface="字魂59号-创粗黑" panose="00000500000000000000" pitchFamily="2" charset="-122"/>
                  <a:ea typeface="字魂59号-创粗黑" panose="00000500000000000000" pitchFamily="2" charset="-122"/>
                </a:rPr>
                <a:t>PART 4</a:t>
              </a:r>
              <a:endParaRPr lang="zh-CN" altLang="en-US" sz="3200" dirty="0">
                <a:solidFill>
                  <a:schemeClr val="tx2"/>
                </a:solidFill>
                <a:latin typeface="字魂59号-创粗黑" panose="00000500000000000000" pitchFamily="2" charset="-122"/>
                <a:ea typeface="字魂59号-创粗黑" panose="00000500000000000000" pitchFamily="2" charset="-122"/>
              </a:endParaRPr>
            </a:p>
          </p:txBody>
        </p:sp>
        <p:sp>
          <p:nvSpPr>
            <p:cNvPr id="109" name="文本框 108">
              <a:extLst>
                <a:ext uri="{FF2B5EF4-FFF2-40B4-BE49-F238E27FC236}">
                  <a16:creationId xmlns:a16="http://schemas.microsoft.com/office/drawing/2014/main" id="{C3D17FFA-1B2D-6098-5E2F-5F91D535CEE6}"/>
                </a:ext>
              </a:extLst>
            </p:cNvPr>
            <p:cNvSpPr txBox="1"/>
            <p:nvPr/>
          </p:nvSpPr>
          <p:spPr>
            <a:xfrm>
              <a:off x="3686137" y="2758222"/>
              <a:ext cx="4733287" cy="1015663"/>
            </a:xfrm>
            <a:prstGeom prst="rect">
              <a:avLst/>
            </a:prstGeom>
            <a:noFill/>
          </p:spPr>
          <p:txBody>
            <a:bodyPr wrap="square" rtlCol="0">
              <a:spAutoFit/>
            </a:bodyPr>
            <a:lstStyle/>
            <a:p>
              <a:r>
                <a:rPr lang="en-US" altLang="zh-CN" sz="6000" b="1" dirty="0">
                  <a:solidFill>
                    <a:schemeClr val="accent1"/>
                  </a:solidFill>
                  <a:latin typeface="字魂59号-创粗黑" panose="00000500000000000000" pitchFamily="2" charset="-122"/>
                  <a:ea typeface="字魂59号-创粗黑" panose="00000500000000000000" pitchFamily="2" charset="-122"/>
                </a:rPr>
                <a:t>SUMMARY</a:t>
              </a:r>
            </a:p>
          </p:txBody>
        </p:sp>
      </p:grpSp>
    </p:spTree>
    <p:extLst>
      <p:ext uri="{BB962C8B-B14F-4D97-AF65-F5344CB8AC3E}">
        <p14:creationId xmlns:p14="http://schemas.microsoft.com/office/powerpoint/2010/main" val="2943346059"/>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43407-B38D-6192-2943-0BF71FA3CDCC}"/>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738BB468-DFDC-0796-46A4-58F4FD058C30}"/>
              </a:ext>
            </a:extLst>
          </p:cNvPr>
          <p:cNvGrpSpPr/>
          <p:nvPr/>
        </p:nvGrpSpPr>
        <p:grpSpPr>
          <a:xfrm>
            <a:off x="-1" y="957421"/>
            <a:ext cx="12193200" cy="44820"/>
            <a:chOff x="1773217" y="5185185"/>
            <a:chExt cx="8645561" cy="44820"/>
          </a:xfrm>
        </p:grpSpPr>
        <p:cxnSp>
          <p:nvCxnSpPr>
            <p:cNvPr id="3" name="直接连接符 2">
              <a:extLst>
                <a:ext uri="{FF2B5EF4-FFF2-40B4-BE49-F238E27FC236}">
                  <a16:creationId xmlns:a16="http://schemas.microsoft.com/office/drawing/2014/main" id="{78E1345C-B258-6095-6F7A-8CCADD0AD328}"/>
                </a:ext>
              </a:extLst>
            </p:cNvPr>
            <p:cNvCxnSpPr>
              <a:cxnSpLocks/>
            </p:cNvCxnSpPr>
            <p:nvPr userDrawn="1"/>
          </p:nvCxnSpPr>
          <p:spPr>
            <a:xfrm>
              <a:off x="1773218" y="51851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A3ECDA75-2E56-2167-AC65-3D44A7A58484}"/>
                </a:ext>
              </a:extLst>
            </p:cNvPr>
            <p:cNvCxnSpPr>
              <a:cxnSpLocks/>
            </p:cNvCxnSpPr>
            <p:nvPr userDrawn="1"/>
          </p:nvCxnSpPr>
          <p:spPr>
            <a:xfrm>
              <a:off x="1773217" y="5230005"/>
              <a:ext cx="864556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7A945994-99CE-3BF3-D6D5-6177F41AAE3D}"/>
              </a:ext>
            </a:extLst>
          </p:cNvPr>
          <p:cNvSpPr txBox="1"/>
          <p:nvPr/>
        </p:nvSpPr>
        <p:spPr>
          <a:xfrm>
            <a:off x="158533" y="202191"/>
            <a:ext cx="7140514" cy="1200329"/>
          </a:xfrm>
          <a:prstGeom prst="rect">
            <a:avLst/>
          </a:prstGeom>
          <a:noFill/>
        </p:spPr>
        <p:txBody>
          <a:bodyPr wrap="square" rtlCol="0">
            <a:spAutoFit/>
          </a:bodyPr>
          <a:lstStyle/>
          <a:p>
            <a:r>
              <a:rPr lang="en-US" altLang="zh-CN" sz="3600" b="1" dirty="0">
                <a:solidFill>
                  <a:schemeClr val="accent1"/>
                </a:solidFill>
                <a:latin typeface="字魂59号-创粗黑" panose="00000500000000000000" pitchFamily="2" charset="-122"/>
                <a:ea typeface="字魂59号-创粗黑" panose="00000500000000000000" pitchFamily="2" charset="-122"/>
              </a:rPr>
              <a:t>4. SUMMARY</a:t>
            </a:r>
          </a:p>
          <a:p>
            <a:endParaRPr lang="en-US" altLang="zh-CN" sz="3600" b="1" dirty="0">
              <a:solidFill>
                <a:schemeClr val="accent1"/>
              </a:solidFill>
              <a:latin typeface="字魂59号-创粗黑" panose="00000500000000000000" pitchFamily="2" charset="-122"/>
              <a:ea typeface="字魂59号-创粗黑" panose="00000500000000000000" pitchFamily="2" charset="-122"/>
            </a:endParaRPr>
          </a:p>
        </p:txBody>
      </p:sp>
      <p:pic>
        <p:nvPicPr>
          <p:cNvPr id="52" name="图片 51">
            <a:extLst>
              <a:ext uri="{FF2B5EF4-FFF2-40B4-BE49-F238E27FC236}">
                <a16:creationId xmlns:a16="http://schemas.microsoft.com/office/drawing/2014/main" id="{05FBC757-B23C-B00A-CA12-80F87E3184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49" y="5933398"/>
            <a:ext cx="850620" cy="850620"/>
          </a:xfrm>
          <a:prstGeom prst="rect">
            <a:avLst/>
          </a:prstGeom>
        </p:spPr>
      </p:pic>
      <p:sp>
        <p:nvSpPr>
          <p:cNvPr id="105" name="文本框 104">
            <a:extLst>
              <a:ext uri="{FF2B5EF4-FFF2-40B4-BE49-F238E27FC236}">
                <a16:creationId xmlns:a16="http://schemas.microsoft.com/office/drawing/2014/main" id="{ED54781F-1665-FA7A-C7E4-7512117DC1B8}"/>
              </a:ext>
            </a:extLst>
          </p:cNvPr>
          <p:cNvSpPr txBox="1"/>
          <p:nvPr/>
        </p:nvSpPr>
        <p:spPr>
          <a:xfrm>
            <a:off x="495459" y="1189585"/>
            <a:ext cx="6810827" cy="1015663"/>
          </a:xfrm>
          <a:prstGeom prst="rect">
            <a:avLst/>
          </a:prstGeom>
          <a:noFill/>
        </p:spPr>
        <p:txBody>
          <a:bodyPr wrap="square" rtlCol="0">
            <a:spAutoFit/>
          </a:bodyPr>
          <a:lstStyle/>
          <a:p>
            <a:r>
              <a:rPr lang="en-US" altLang="zh-CN" sz="2000" b="1" dirty="0">
                <a:solidFill>
                  <a:schemeClr val="accent1"/>
                </a:solidFill>
                <a:latin typeface="字魂59号-创粗黑" panose="00000500000000000000" pitchFamily="2" charset="-122"/>
                <a:ea typeface="字魂59号-创粗黑" panose="00000500000000000000" pitchFamily="2" charset="-122"/>
              </a:rPr>
              <a:t>4.1 What We Learned</a:t>
            </a:r>
          </a:p>
          <a:p>
            <a:endParaRPr lang="en-US" altLang="zh-CN" sz="2000" b="1" dirty="0">
              <a:solidFill>
                <a:schemeClr val="accent1"/>
              </a:solidFill>
              <a:latin typeface="字魂59号-创粗黑" panose="00000500000000000000" pitchFamily="2" charset="-122"/>
              <a:ea typeface="字魂59号-创粗黑" panose="00000500000000000000" pitchFamily="2" charset="-122"/>
            </a:endParaRPr>
          </a:p>
          <a:p>
            <a:endParaRPr lang="zh-CN" altLang="en-US" sz="2000" b="1" dirty="0">
              <a:solidFill>
                <a:schemeClr val="accent1"/>
              </a:solidFill>
              <a:latin typeface="字魂59号-创粗黑" panose="00000500000000000000" pitchFamily="2" charset="-122"/>
              <a:ea typeface="字魂59号-创粗黑" panose="00000500000000000000" pitchFamily="2" charset="-122"/>
            </a:endParaRPr>
          </a:p>
        </p:txBody>
      </p:sp>
      <p:sp>
        <p:nvSpPr>
          <p:cNvPr id="8" name="文本框 7">
            <a:extLst>
              <a:ext uri="{FF2B5EF4-FFF2-40B4-BE49-F238E27FC236}">
                <a16:creationId xmlns:a16="http://schemas.microsoft.com/office/drawing/2014/main" id="{FE8B5F7A-7F9B-42DB-EEFB-EB5FD0649C07}"/>
              </a:ext>
            </a:extLst>
          </p:cNvPr>
          <p:cNvSpPr txBox="1"/>
          <p:nvPr/>
        </p:nvSpPr>
        <p:spPr>
          <a:xfrm>
            <a:off x="723626" y="1732537"/>
            <a:ext cx="9752307" cy="115685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Predictive signal exists but is </a:t>
            </a:r>
            <a:r>
              <a:rPr lang="en-US" altLang="zh-CN" sz="1600" b="1" dirty="0">
                <a:latin typeface="字魂58号-创中黑" panose="00000500000000000000" pitchFamily="2" charset="-122"/>
                <a:ea typeface="字魂58号-创中黑" panose="00000500000000000000" pitchFamily="2" charset="-122"/>
              </a:rPr>
              <a:t>not strong enough</a:t>
            </a:r>
            <a:r>
              <a:rPr lang="en-US" altLang="zh-CN" sz="1600" dirty="0">
                <a:latin typeface="字魂58号-创中黑" panose="00000500000000000000" pitchFamily="2" charset="-122"/>
                <a:ea typeface="字魂58号-创中黑" panose="00000500000000000000" pitchFamily="2" charset="-122"/>
              </a:rPr>
              <a:t> for aggressive alpha claims</a:t>
            </a:r>
          </a:p>
          <a:p>
            <a:pPr marL="285750"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Interpretability adds evidence on which signals drive model decisions</a:t>
            </a:r>
          </a:p>
          <a:p>
            <a:pPr marL="285750" indent="-285750">
              <a:lnSpc>
                <a:spcPct val="150000"/>
              </a:lnSpc>
              <a:buFont typeface="Arial" panose="020B0604020202020204" pitchFamily="34" charset="0"/>
              <a:buChar char="•"/>
            </a:pPr>
            <a:r>
              <a:rPr lang="en-US" altLang="zh-CN" sz="1600" dirty="0">
                <a:latin typeface="字魂58号-创中黑" panose="00000500000000000000" pitchFamily="2" charset="-122"/>
                <a:ea typeface="字魂58号-创中黑" panose="00000500000000000000" pitchFamily="2" charset="-122"/>
              </a:rPr>
              <a:t>Methodological rigor (leakage control + unified evaluation) is the main contribution</a:t>
            </a:r>
          </a:p>
        </p:txBody>
      </p:sp>
      <p:grpSp>
        <p:nvGrpSpPr>
          <p:cNvPr id="6" name="组合 5">
            <a:extLst>
              <a:ext uri="{FF2B5EF4-FFF2-40B4-BE49-F238E27FC236}">
                <a16:creationId xmlns:a16="http://schemas.microsoft.com/office/drawing/2014/main" id="{CD06E1F6-0B15-846F-7CC1-8028C0C69EED}"/>
              </a:ext>
            </a:extLst>
          </p:cNvPr>
          <p:cNvGrpSpPr/>
          <p:nvPr/>
        </p:nvGrpSpPr>
        <p:grpSpPr>
          <a:xfrm>
            <a:off x="6423214" y="408158"/>
            <a:ext cx="5459843" cy="275671"/>
            <a:chOff x="6423214" y="408158"/>
            <a:chExt cx="5459843" cy="275671"/>
          </a:xfrm>
        </p:grpSpPr>
        <p:grpSp>
          <p:nvGrpSpPr>
            <p:cNvPr id="9" name="组合 8">
              <a:extLst>
                <a:ext uri="{FF2B5EF4-FFF2-40B4-BE49-F238E27FC236}">
                  <a16:creationId xmlns:a16="http://schemas.microsoft.com/office/drawing/2014/main" id="{F6CC7B89-5945-CAFB-91E1-5D42D74DF8D4}"/>
                </a:ext>
              </a:extLst>
            </p:cNvPr>
            <p:cNvGrpSpPr/>
            <p:nvPr/>
          </p:nvGrpSpPr>
          <p:grpSpPr>
            <a:xfrm>
              <a:off x="6423214" y="408158"/>
              <a:ext cx="2817867" cy="275671"/>
              <a:chOff x="7104504" y="2125822"/>
              <a:chExt cx="2817867" cy="275671"/>
            </a:xfrm>
          </p:grpSpPr>
          <p:grpSp>
            <p:nvGrpSpPr>
              <p:cNvPr id="28" name="组合 27">
                <a:extLst>
                  <a:ext uri="{FF2B5EF4-FFF2-40B4-BE49-F238E27FC236}">
                    <a16:creationId xmlns:a16="http://schemas.microsoft.com/office/drawing/2014/main" id="{59D7AA52-716C-93A4-17C3-5A05AD9DCA24}"/>
                  </a:ext>
                </a:extLst>
              </p:cNvPr>
              <p:cNvGrpSpPr/>
              <p:nvPr/>
            </p:nvGrpSpPr>
            <p:grpSpPr>
              <a:xfrm>
                <a:off x="7284014" y="2125822"/>
                <a:ext cx="2638357" cy="275671"/>
                <a:chOff x="1744535" y="2710927"/>
                <a:chExt cx="5405715" cy="718073"/>
              </a:xfrm>
            </p:grpSpPr>
            <p:cxnSp>
              <p:nvCxnSpPr>
                <p:cNvPr id="32" name="直接连接符 31">
                  <a:extLst>
                    <a:ext uri="{FF2B5EF4-FFF2-40B4-BE49-F238E27FC236}">
                      <a16:creationId xmlns:a16="http://schemas.microsoft.com/office/drawing/2014/main" id="{68CFAC41-E296-8D88-CB69-B2E8C0BE55D2}"/>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B1313169-F7F1-0B68-4AE1-2DCA298509A2}"/>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10952D44-2D13-9519-7BDF-16D9537625FB}"/>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FA6D59F5-045E-614D-276F-6DB9CF8B68A9}"/>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DA6091EE-372A-7BDD-D680-7331F80C4FD8}"/>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C327B903-75FB-6CBD-C7A0-C3103BD09890}"/>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D240405A-18BC-CCBC-0D6D-B144034C1553}"/>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0433FF3A-7ED2-9D19-B318-69E9C6740D21}"/>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7E6A68B1-F7E7-1281-3EF2-D4E0F9A462D9}"/>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956F0D-4A6D-0ACF-12AB-3337BE7E1E85}"/>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A07BA573-13DC-C46E-1ECB-BA0748162ED9}"/>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3624288D-8106-A381-2C7A-67413753BC30}"/>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29" name="直接连接符 28">
                <a:extLst>
                  <a:ext uri="{FF2B5EF4-FFF2-40B4-BE49-F238E27FC236}">
                    <a16:creationId xmlns:a16="http://schemas.microsoft.com/office/drawing/2014/main" id="{0417F2F9-4C21-6EA4-6CA0-05B95EDF4CB2}"/>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E5271D52-1417-0A35-ACB2-9102ED2CDE53}"/>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62B43356-280D-C715-1570-2396B5377716}"/>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645C43CC-A11C-93EC-A225-972444EB5D47}"/>
                </a:ext>
              </a:extLst>
            </p:cNvPr>
            <p:cNvGrpSpPr/>
            <p:nvPr/>
          </p:nvGrpSpPr>
          <p:grpSpPr>
            <a:xfrm>
              <a:off x="9065190" y="408158"/>
              <a:ext cx="2817867" cy="275671"/>
              <a:chOff x="7104504" y="2125822"/>
              <a:chExt cx="2817867" cy="275671"/>
            </a:xfrm>
          </p:grpSpPr>
          <p:grpSp>
            <p:nvGrpSpPr>
              <p:cNvPr id="11" name="组合 10">
                <a:extLst>
                  <a:ext uri="{FF2B5EF4-FFF2-40B4-BE49-F238E27FC236}">
                    <a16:creationId xmlns:a16="http://schemas.microsoft.com/office/drawing/2014/main" id="{58B05D32-64F4-CB02-4D93-376962B90313}"/>
                  </a:ext>
                </a:extLst>
              </p:cNvPr>
              <p:cNvGrpSpPr/>
              <p:nvPr/>
            </p:nvGrpSpPr>
            <p:grpSpPr>
              <a:xfrm>
                <a:off x="7284014" y="2125822"/>
                <a:ext cx="2638357" cy="275671"/>
                <a:chOff x="1744535" y="2710927"/>
                <a:chExt cx="5405715" cy="718073"/>
              </a:xfrm>
            </p:grpSpPr>
            <p:cxnSp>
              <p:nvCxnSpPr>
                <p:cNvPr id="16" name="直接连接符 15">
                  <a:extLst>
                    <a:ext uri="{FF2B5EF4-FFF2-40B4-BE49-F238E27FC236}">
                      <a16:creationId xmlns:a16="http://schemas.microsoft.com/office/drawing/2014/main" id="{CBA3E274-B873-A774-FBB8-D2F4D4C1E599}"/>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A2EF80A1-D586-2ED2-10BC-9472E67F7790}"/>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FC1147F3-7E2A-B5F1-09D1-93D1038C606B}"/>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51F06EE-8AAD-E732-3927-DF73A5242D83}"/>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91230284-42CF-29FF-4C9B-536332A3A595}"/>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A42C569F-D899-8852-F337-F827A963E00A}"/>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4E77F375-2FDE-A4FD-9F96-1F501A44E071}"/>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68D34466-956B-0C83-5F9E-7042E2039C64}"/>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84D4D1A0-1B2A-AB5C-1165-8E98CE10E2B3}"/>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CD8F784D-0F02-02E5-65B5-3C1D999AB81E}"/>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CF60C11C-EBED-B9BC-E030-03D48187B7B3}"/>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6F7ABA85-828A-0BB3-5BEB-230E2D39BE92}"/>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12" name="直接连接符 11">
                <a:extLst>
                  <a:ext uri="{FF2B5EF4-FFF2-40B4-BE49-F238E27FC236}">
                    <a16:creationId xmlns:a16="http://schemas.microsoft.com/office/drawing/2014/main" id="{856B01AC-CA65-88D1-1FE2-1AB756392975}"/>
                  </a:ext>
                </a:extLst>
              </p:cNvPr>
              <p:cNvCxnSpPr/>
              <p:nvPr/>
            </p:nvCxnSpPr>
            <p:spPr>
              <a:xfrm flipH="1">
                <a:off x="710450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B47F30FB-DB06-9508-CB7B-3C8E49333ACE}"/>
                  </a:ext>
                </a:extLst>
              </p:cNvPr>
              <p:cNvCxnSpPr/>
              <p:nvPr/>
            </p:nvCxnSpPr>
            <p:spPr>
              <a:xfrm flipH="1">
                <a:off x="746352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A3C848C7-11A2-3CD5-716B-7169C7C418DA}"/>
                  </a:ext>
                </a:extLst>
              </p:cNvPr>
              <p:cNvCxnSpPr/>
              <p:nvPr/>
            </p:nvCxnSpPr>
            <p:spPr>
              <a:xfrm flipH="1">
                <a:off x="7639414" y="2125822"/>
                <a:ext cx="351781" cy="27567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sp>
        <p:nvSpPr>
          <p:cNvPr id="44" name="文本框 43">
            <a:extLst>
              <a:ext uri="{FF2B5EF4-FFF2-40B4-BE49-F238E27FC236}">
                <a16:creationId xmlns:a16="http://schemas.microsoft.com/office/drawing/2014/main" id="{5FEACEB4-5E85-06EF-3F6C-874BB296DE07}"/>
              </a:ext>
            </a:extLst>
          </p:cNvPr>
          <p:cNvSpPr txBox="1"/>
          <p:nvPr/>
        </p:nvSpPr>
        <p:spPr>
          <a:xfrm>
            <a:off x="495459" y="3220003"/>
            <a:ext cx="6810827" cy="1015663"/>
          </a:xfrm>
          <a:prstGeom prst="rect">
            <a:avLst/>
          </a:prstGeom>
          <a:noFill/>
        </p:spPr>
        <p:txBody>
          <a:bodyPr wrap="square" rtlCol="0">
            <a:spAutoFit/>
          </a:bodyPr>
          <a:lstStyle/>
          <a:p>
            <a:r>
              <a:rPr lang="en-US" altLang="zh-CN" sz="2000" b="1" dirty="0">
                <a:solidFill>
                  <a:schemeClr val="accent1"/>
                </a:solidFill>
                <a:latin typeface="字魂59号-创粗黑" panose="00000500000000000000" pitchFamily="2" charset="-122"/>
                <a:ea typeface="字魂59号-创粗黑" panose="00000500000000000000" pitchFamily="2" charset="-122"/>
              </a:rPr>
              <a:t>4.2 Conclusion, Limitation and Next Steps</a:t>
            </a:r>
          </a:p>
          <a:p>
            <a:endParaRPr lang="en-US" altLang="zh-CN" sz="2000" b="1" dirty="0">
              <a:solidFill>
                <a:schemeClr val="accent1"/>
              </a:solidFill>
              <a:latin typeface="字魂59号-创粗黑" panose="00000500000000000000" pitchFamily="2" charset="-122"/>
              <a:ea typeface="字魂59号-创粗黑" panose="00000500000000000000" pitchFamily="2" charset="-122"/>
            </a:endParaRPr>
          </a:p>
          <a:p>
            <a:endParaRPr lang="zh-CN" altLang="en-US" sz="2000" b="1" dirty="0">
              <a:solidFill>
                <a:schemeClr val="accent1"/>
              </a:solidFill>
              <a:latin typeface="字魂59号-创粗黑" panose="00000500000000000000" pitchFamily="2" charset="-122"/>
              <a:ea typeface="字魂59号-创粗黑" panose="00000500000000000000" pitchFamily="2" charset="-122"/>
            </a:endParaRPr>
          </a:p>
        </p:txBody>
      </p:sp>
      <p:sp>
        <p:nvSpPr>
          <p:cNvPr id="45" name="文本框 44">
            <a:extLst>
              <a:ext uri="{FF2B5EF4-FFF2-40B4-BE49-F238E27FC236}">
                <a16:creationId xmlns:a16="http://schemas.microsoft.com/office/drawing/2014/main" id="{D7C5415A-7172-F794-36C1-B146D2961405}"/>
              </a:ext>
            </a:extLst>
          </p:cNvPr>
          <p:cNvSpPr txBox="1"/>
          <p:nvPr/>
        </p:nvSpPr>
        <p:spPr>
          <a:xfrm>
            <a:off x="723625" y="3727834"/>
            <a:ext cx="10455870" cy="152618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Conclusion: </a:t>
            </a:r>
            <a:r>
              <a:rPr lang="en-US" altLang="zh-CN" sz="1600" dirty="0">
                <a:latin typeface="字魂58号-创中黑" panose="00000500000000000000" pitchFamily="2" charset="-122"/>
                <a:ea typeface="字魂58号-创中黑" panose="00000500000000000000" pitchFamily="2" charset="-122"/>
              </a:rPr>
              <a:t>Reproducible pipeline completed; GRU shows better risk-return under unified </a:t>
            </a:r>
            <a:r>
              <a:rPr lang="en-US" altLang="zh-CN" sz="1600" dirty="0" err="1">
                <a:latin typeface="字魂58号-创中黑" panose="00000500000000000000" pitchFamily="2" charset="-122"/>
                <a:ea typeface="字魂58号-创中黑" panose="00000500000000000000" pitchFamily="2" charset="-122"/>
              </a:rPr>
              <a:t>backtesting</a:t>
            </a:r>
            <a:r>
              <a:rPr lang="en-US" altLang="zh-CN" sz="1600" dirty="0">
                <a:latin typeface="字魂58号-创中黑" panose="00000500000000000000" pitchFamily="2" charset="-122"/>
                <a:ea typeface="字魂58号-创中黑" panose="00000500000000000000" pitchFamily="2" charset="-122"/>
              </a:rPr>
              <a:t> in this run;</a:t>
            </a:r>
          </a:p>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Limitation: </a:t>
            </a:r>
            <a:r>
              <a:rPr lang="en-US" altLang="zh-CN" sz="1600" dirty="0">
                <a:latin typeface="字魂58号-创中黑" panose="00000500000000000000" pitchFamily="2" charset="-122"/>
                <a:ea typeface="字魂58号-创中黑" panose="00000500000000000000" pitchFamily="2" charset="-122"/>
              </a:rPr>
              <a:t>Short-horizon BTC direction remains noisy and event-driven</a:t>
            </a:r>
          </a:p>
          <a:p>
            <a:pPr marL="285750" indent="-285750">
              <a:lnSpc>
                <a:spcPct val="150000"/>
              </a:lnSpc>
              <a:buFont typeface="Arial" panose="020B0604020202020204" pitchFamily="34" charset="0"/>
              <a:buChar char="•"/>
            </a:pPr>
            <a:r>
              <a:rPr lang="en-US" altLang="zh-CN" sz="1600" b="1" dirty="0">
                <a:latin typeface="字魂58号-创中黑" panose="00000500000000000000" pitchFamily="2" charset="-122"/>
                <a:ea typeface="字魂58号-创中黑" panose="00000500000000000000" pitchFamily="2" charset="-122"/>
              </a:rPr>
              <a:t>Next Steps:</a:t>
            </a:r>
            <a:r>
              <a:rPr lang="en-US" altLang="zh-CN" sz="1600" dirty="0">
                <a:latin typeface="字魂58号-创中黑" panose="00000500000000000000" pitchFamily="2" charset="-122"/>
                <a:ea typeface="字魂58号-创中黑" panose="00000500000000000000" pitchFamily="2" charset="-122"/>
              </a:rPr>
              <a:t> Align windows perfectly, export per-day predictions, extend to regime-aware risk targets</a:t>
            </a:r>
          </a:p>
        </p:txBody>
      </p:sp>
    </p:spTree>
    <p:extLst>
      <p:ext uri="{BB962C8B-B14F-4D97-AF65-F5344CB8AC3E}">
        <p14:creationId xmlns:p14="http://schemas.microsoft.com/office/powerpoint/2010/main" val="1979247336"/>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剪去左右顶角 4">
            <a:extLst>
              <a:ext uri="{FF2B5EF4-FFF2-40B4-BE49-F238E27FC236}">
                <a16:creationId xmlns:a16="http://schemas.microsoft.com/office/drawing/2014/main" id="{89E72FE0-0639-439D-9DF8-A4EAD8D2E0A8}"/>
              </a:ext>
            </a:extLst>
          </p:cNvPr>
          <p:cNvSpPr/>
          <p:nvPr/>
        </p:nvSpPr>
        <p:spPr>
          <a:xfrm flipV="1">
            <a:off x="3996331" y="0"/>
            <a:ext cx="4199336" cy="2215991"/>
          </a:xfrm>
          <a:prstGeom prst="snip2SameRect">
            <a:avLst>
              <a:gd name="adj1" fmla="val 20749"/>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7" name="组合 6">
            <a:extLst>
              <a:ext uri="{FF2B5EF4-FFF2-40B4-BE49-F238E27FC236}">
                <a16:creationId xmlns:a16="http://schemas.microsoft.com/office/drawing/2014/main" id="{8C09CAF1-36B5-4CF5-825A-22FEF2ECE059}"/>
              </a:ext>
            </a:extLst>
          </p:cNvPr>
          <p:cNvGrpSpPr/>
          <p:nvPr/>
        </p:nvGrpSpPr>
        <p:grpSpPr>
          <a:xfrm>
            <a:off x="-28685" y="2760822"/>
            <a:ext cx="12249370" cy="564821"/>
            <a:chOff x="-57370" y="2710927"/>
            <a:chExt cx="12249370" cy="718073"/>
          </a:xfrm>
        </p:grpSpPr>
        <p:cxnSp>
          <p:nvCxnSpPr>
            <p:cNvPr id="8" name="直接连接符 7">
              <a:extLst>
                <a:ext uri="{FF2B5EF4-FFF2-40B4-BE49-F238E27FC236}">
                  <a16:creationId xmlns:a16="http://schemas.microsoft.com/office/drawing/2014/main" id="{20B1E9F3-69A4-4392-86D4-BFF448975DC1}"/>
                </a:ext>
              </a:extLst>
            </p:cNvPr>
            <p:cNvCxnSpPr/>
            <p:nvPr userDrawn="1"/>
          </p:nvCxnSpPr>
          <p:spPr>
            <a:xfrm flipH="1">
              <a:off x="318605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A4C05AB0-0A76-4436-9B91-85EBC8E2835F}"/>
                </a:ext>
              </a:extLst>
            </p:cNvPr>
            <p:cNvCxnSpPr/>
            <p:nvPr userDrawn="1"/>
          </p:nvCxnSpPr>
          <p:spPr>
            <a:xfrm flipH="1">
              <a:off x="354644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33EECDD6-7B8B-45A4-9FAA-3DD0AC6672A9}"/>
                </a:ext>
              </a:extLst>
            </p:cNvPr>
            <p:cNvCxnSpPr/>
            <p:nvPr userDrawn="1"/>
          </p:nvCxnSpPr>
          <p:spPr>
            <a:xfrm flipH="1">
              <a:off x="390682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F9897338-3463-49B9-A00F-B18F2E927CC4}"/>
                </a:ext>
              </a:extLst>
            </p:cNvPr>
            <p:cNvCxnSpPr/>
            <p:nvPr userDrawn="1"/>
          </p:nvCxnSpPr>
          <p:spPr>
            <a:xfrm flipH="1">
              <a:off x="426720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8A453A41-A048-4BFD-890A-1A3BCE8DB672}"/>
                </a:ext>
              </a:extLst>
            </p:cNvPr>
            <p:cNvCxnSpPr/>
            <p:nvPr userDrawn="1"/>
          </p:nvCxnSpPr>
          <p:spPr>
            <a:xfrm flipH="1">
              <a:off x="462758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0DB5A22A-8CDA-489F-926A-35DACAF98898}"/>
                </a:ext>
              </a:extLst>
            </p:cNvPr>
            <p:cNvCxnSpPr/>
            <p:nvPr userDrawn="1"/>
          </p:nvCxnSpPr>
          <p:spPr>
            <a:xfrm flipH="1">
              <a:off x="498796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42FF0BA-D358-464D-8296-AD2EFDE03FC1}"/>
                </a:ext>
              </a:extLst>
            </p:cNvPr>
            <p:cNvCxnSpPr/>
            <p:nvPr userDrawn="1"/>
          </p:nvCxnSpPr>
          <p:spPr>
            <a:xfrm flipH="1">
              <a:off x="534834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BD859BB1-DC52-42FF-940E-F3CE2A65CFA6}"/>
                </a:ext>
              </a:extLst>
            </p:cNvPr>
            <p:cNvCxnSpPr/>
            <p:nvPr userDrawn="1"/>
          </p:nvCxnSpPr>
          <p:spPr>
            <a:xfrm flipH="1">
              <a:off x="570872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7FCBB0FA-B0D2-430F-B0DA-0988CE611231}"/>
                </a:ext>
              </a:extLst>
            </p:cNvPr>
            <p:cNvCxnSpPr/>
            <p:nvPr userDrawn="1"/>
          </p:nvCxnSpPr>
          <p:spPr>
            <a:xfrm flipH="1">
              <a:off x="606910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9264B8A-3B43-45C7-A080-43E465E9B9BA}"/>
                </a:ext>
              </a:extLst>
            </p:cNvPr>
            <p:cNvCxnSpPr/>
            <p:nvPr userDrawn="1"/>
          </p:nvCxnSpPr>
          <p:spPr>
            <a:xfrm flipH="1">
              <a:off x="642948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3136E157-DF75-4323-B697-0649CC5AB345}"/>
                </a:ext>
              </a:extLst>
            </p:cNvPr>
            <p:cNvCxnSpPr/>
            <p:nvPr userDrawn="1"/>
          </p:nvCxnSpPr>
          <p:spPr>
            <a:xfrm flipH="1">
              <a:off x="678986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B60D3B8-6854-4304-B709-4EAF01647C2E}"/>
                </a:ext>
              </a:extLst>
            </p:cNvPr>
            <p:cNvCxnSpPr/>
            <p:nvPr userDrawn="1"/>
          </p:nvCxnSpPr>
          <p:spPr>
            <a:xfrm flipH="1">
              <a:off x="715025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8013BE28-7E1D-47C9-A690-B40146BCF809}"/>
                </a:ext>
              </a:extLst>
            </p:cNvPr>
            <p:cNvCxnSpPr/>
            <p:nvPr userDrawn="1"/>
          </p:nvCxnSpPr>
          <p:spPr>
            <a:xfrm flipH="1">
              <a:off x="750704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CB7E1D6B-F3AA-4E02-BB57-EFA7BC93D34D}"/>
                </a:ext>
              </a:extLst>
            </p:cNvPr>
            <p:cNvCxnSpPr/>
            <p:nvPr userDrawn="1"/>
          </p:nvCxnSpPr>
          <p:spPr>
            <a:xfrm flipH="1">
              <a:off x="786742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390899AE-C803-4FCA-BE27-E4E49CEF0996}"/>
                </a:ext>
              </a:extLst>
            </p:cNvPr>
            <p:cNvCxnSpPr/>
            <p:nvPr userDrawn="1"/>
          </p:nvCxnSpPr>
          <p:spPr>
            <a:xfrm flipH="1">
              <a:off x="8227809"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0BB639F-92A0-400A-8F85-B96ACB119381}"/>
                </a:ext>
              </a:extLst>
            </p:cNvPr>
            <p:cNvCxnSpPr/>
            <p:nvPr userDrawn="1"/>
          </p:nvCxnSpPr>
          <p:spPr>
            <a:xfrm flipH="1">
              <a:off x="858819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B1C0168B-EF78-4011-B131-154258E1A47C}"/>
                </a:ext>
              </a:extLst>
            </p:cNvPr>
            <p:cNvCxnSpPr/>
            <p:nvPr userDrawn="1"/>
          </p:nvCxnSpPr>
          <p:spPr>
            <a:xfrm flipH="1">
              <a:off x="894857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06411B4C-6084-41CF-A703-9B48F0308867}"/>
                </a:ext>
              </a:extLst>
            </p:cNvPr>
            <p:cNvCxnSpPr/>
            <p:nvPr userDrawn="1"/>
          </p:nvCxnSpPr>
          <p:spPr>
            <a:xfrm flipH="1">
              <a:off x="930895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7491D24-EF93-4B7F-8D5D-B34155675FB0}"/>
                </a:ext>
              </a:extLst>
            </p:cNvPr>
            <p:cNvCxnSpPr/>
            <p:nvPr userDrawn="1"/>
          </p:nvCxnSpPr>
          <p:spPr>
            <a:xfrm flipH="1">
              <a:off x="966933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99A60053-B19B-4A19-9D45-55C5D0B5007F}"/>
                </a:ext>
              </a:extLst>
            </p:cNvPr>
            <p:cNvCxnSpPr/>
            <p:nvPr userDrawn="1"/>
          </p:nvCxnSpPr>
          <p:spPr>
            <a:xfrm flipH="1">
              <a:off x="1002971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2C284452-41C6-4DBA-B66B-B315598877B9}"/>
                </a:ext>
              </a:extLst>
            </p:cNvPr>
            <p:cNvCxnSpPr/>
            <p:nvPr userDrawn="1"/>
          </p:nvCxnSpPr>
          <p:spPr>
            <a:xfrm flipH="1">
              <a:off x="1039009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BCCEDF82-53C6-4513-8883-753A5967D3AF}"/>
                </a:ext>
              </a:extLst>
            </p:cNvPr>
            <p:cNvCxnSpPr/>
            <p:nvPr userDrawn="1"/>
          </p:nvCxnSpPr>
          <p:spPr>
            <a:xfrm flipH="1">
              <a:off x="1075047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47333E7B-353C-4DC4-838B-2AFE042CA50D}"/>
                </a:ext>
              </a:extLst>
            </p:cNvPr>
            <p:cNvCxnSpPr/>
            <p:nvPr userDrawn="1"/>
          </p:nvCxnSpPr>
          <p:spPr>
            <a:xfrm flipH="1">
              <a:off x="1111085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E95A35C4-16A9-4B00-A4D4-ED0542CE24CB}"/>
                </a:ext>
              </a:extLst>
            </p:cNvPr>
            <p:cNvCxnSpPr/>
            <p:nvPr userDrawn="1"/>
          </p:nvCxnSpPr>
          <p:spPr>
            <a:xfrm flipH="1">
              <a:off x="1147123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4DA4EE90-247D-4348-8A96-441FBFFF2655}"/>
                </a:ext>
              </a:extLst>
            </p:cNvPr>
            <p:cNvCxnSpPr/>
            <p:nvPr userDrawn="1"/>
          </p:nvCxnSpPr>
          <p:spPr>
            <a:xfrm flipH="1">
              <a:off x="-57370"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81F0FC34-EC2E-4ABD-97B8-447F9CC6C486}"/>
                </a:ext>
              </a:extLst>
            </p:cNvPr>
            <p:cNvCxnSpPr/>
            <p:nvPr userDrawn="1"/>
          </p:nvCxnSpPr>
          <p:spPr>
            <a:xfrm flipH="1">
              <a:off x="303011"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F1CFF7F8-4753-40F9-9281-F6DD60D043F5}"/>
                </a:ext>
              </a:extLst>
            </p:cNvPr>
            <p:cNvCxnSpPr/>
            <p:nvPr userDrawn="1"/>
          </p:nvCxnSpPr>
          <p:spPr>
            <a:xfrm flipH="1">
              <a:off x="663392"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46EE7E65-717D-4E5F-AF6B-E7420522B755}"/>
                </a:ext>
              </a:extLst>
            </p:cNvPr>
            <p:cNvCxnSpPr/>
            <p:nvPr userDrawn="1"/>
          </p:nvCxnSpPr>
          <p:spPr>
            <a:xfrm flipH="1">
              <a:off x="1023773"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8372D460-F0FA-4027-BC32-286BC64E8FF0}"/>
                </a:ext>
              </a:extLst>
            </p:cNvPr>
            <p:cNvCxnSpPr/>
            <p:nvPr userDrawn="1"/>
          </p:nvCxnSpPr>
          <p:spPr>
            <a:xfrm flipH="1">
              <a:off x="1384154"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4B62365D-6208-4F5B-A49B-4A4AE83B55BF}"/>
                </a:ext>
              </a:extLst>
            </p:cNvPr>
            <p:cNvCxnSpPr/>
            <p:nvPr userDrawn="1"/>
          </p:nvCxnSpPr>
          <p:spPr>
            <a:xfrm flipH="1">
              <a:off x="1744535"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97ABAAEB-2979-4327-BA6F-11A1EAC9B272}"/>
                </a:ext>
              </a:extLst>
            </p:cNvPr>
            <p:cNvCxnSpPr/>
            <p:nvPr userDrawn="1"/>
          </p:nvCxnSpPr>
          <p:spPr>
            <a:xfrm flipH="1">
              <a:off x="2104916"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86BA9760-1C4F-46A7-953A-278D7108E88D}"/>
                </a:ext>
              </a:extLst>
            </p:cNvPr>
            <p:cNvCxnSpPr/>
            <p:nvPr userDrawn="1"/>
          </p:nvCxnSpPr>
          <p:spPr>
            <a:xfrm flipH="1">
              <a:off x="2465297"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565D6966-9894-4461-9780-B5FC340B9201}"/>
                </a:ext>
              </a:extLst>
            </p:cNvPr>
            <p:cNvCxnSpPr/>
            <p:nvPr userDrawn="1"/>
          </p:nvCxnSpPr>
          <p:spPr>
            <a:xfrm flipH="1">
              <a:off x="2825678" y="2710927"/>
              <a:ext cx="720762" cy="718073"/>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41" name="文本框 40">
            <a:extLst>
              <a:ext uri="{FF2B5EF4-FFF2-40B4-BE49-F238E27FC236}">
                <a16:creationId xmlns:a16="http://schemas.microsoft.com/office/drawing/2014/main" id="{A7405C68-EE1E-4577-A617-5012F9CD8CC0}"/>
              </a:ext>
            </a:extLst>
          </p:cNvPr>
          <p:cNvSpPr txBox="1"/>
          <p:nvPr/>
        </p:nvSpPr>
        <p:spPr>
          <a:xfrm>
            <a:off x="1616783" y="3494796"/>
            <a:ext cx="8958427" cy="1323439"/>
          </a:xfrm>
          <a:prstGeom prst="rect">
            <a:avLst/>
          </a:prstGeom>
          <a:noFill/>
        </p:spPr>
        <p:txBody>
          <a:bodyPr wrap="square" rtlCol="0">
            <a:spAutoFit/>
          </a:bodyPr>
          <a:lstStyle/>
          <a:p>
            <a:pPr algn="ctr"/>
            <a:r>
              <a:rPr lang="en-US" altLang="zh-CN" sz="8000" b="1" dirty="0">
                <a:solidFill>
                  <a:schemeClr val="accent1"/>
                </a:solidFill>
                <a:latin typeface="字魂59号-创粗黑" panose="00000500000000000000" pitchFamily="2" charset="-122"/>
                <a:ea typeface="字魂59号-创粗黑" panose="00000500000000000000" pitchFamily="2" charset="-122"/>
              </a:rPr>
              <a:t>THANK YOU</a:t>
            </a:r>
            <a:endParaRPr lang="zh-CN" altLang="en-US" sz="8000" b="1" dirty="0">
              <a:solidFill>
                <a:schemeClr val="accent1"/>
              </a:solidFill>
              <a:latin typeface="字魂59号-创粗黑" panose="00000500000000000000" pitchFamily="2" charset="-122"/>
              <a:ea typeface="字魂59号-创粗黑" panose="00000500000000000000" pitchFamily="2" charset="-122"/>
            </a:endParaRPr>
          </a:p>
        </p:txBody>
      </p:sp>
      <p:grpSp>
        <p:nvGrpSpPr>
          <p:cNvPr id="42" name="组合 41">
            <a:extLst>
              <a:ext uri="{FF2B5EF4-FFF2-40B4-BE49-F238E27FC236}">
                <a16:creationId xmlns:a16="http://schemas.microsoft.com/office/drawing/2014/main" id="{DDD1D984-514C-4A57-A1A6-1C0083952F65}"/>
              </a:ext>
            </a:extLst>
          </p:cNvPr>
          <p:cNvGrpSpPr/>
          <p:nvPr/>
        </p:nvGrpSpPr>
        <p:grpSpPr>
          <a:xfrm>
            <a:off x="1773217" y="5185185"/>
            <a:ext cx="8645561" cy="44820"/>
            <a:chOff x="1773217" y="5185185"/>
            <a:chExt cx="8645561" cy="44820"/>
          </a:xfrm>
        </p:grpSpPr>
        <p:cxnSp>
          <p:nvCxnSpPr>
            <p:cNvPr id="43" name="直接连接符 42">
              <a:extLst>
                <a:ext uri="{FF2B5EF4-FFF2-40B4-BE49-F238E27FC236}">
                  <a16:creationId xmlns:a16="http://schemas.microsoft.com/office/drawing/2014/main" id="{E2F62EF0-A284-4197-BBEF-1E7280449FCB}"/>
                </a:ext>
              </a:extLst>
            </p:cNvPr>
            <p:cNvCxnSpPr>
              <a:cxnSpLocks/>
            </p:cNvCxnSpPr>
            <p:nvPr userDrawn="1"/>
          </p:nvCxnSpPr>
          <p:spPr>
            <a:xfrm>
              <a:off x="1773218" y="5185185"/>
              <a:ext cx="8645560"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2F0D27A1-C958-4C08-8C4A-649B58D2CE05}"/>
                </a:ext>
              </a:extLst>
            </p:cNvPr>
            <p:cNvCxnSpPr>
              <a:cxnSpLocks/>
            </p:cNvCxnSpPr>
            <p:nvPr userDrawn="1"/>
          </p:nvCxnSpPr>
          <p:spPr>
            <a:xfrm>
              <a:off x="1773217" y="5230005"/>
              <a:ext cx="864556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45" name="文本框 44">
            <a:extLst>
              <a:ext uri="{FF2B5EF4-FFF2-40B4-BE49-F238E27FC236}">
                <a16:creationId xmlns:a16="http://schemas.microsoft.com/office/drawing/2014/main" id="{0D98D5A3-433B-4FF6-B25A-982B87E76E9E}"/>
              </a:ext>
            </a:extLst>
          </p:cNvPr>
          <p:cNvSpPr txBox="1"/>
          <p:nvPr/>
        </p:nvSpPr>
        <p:spPr>
          <a:xfrm>
            <a:off x="4656266" y="5000519"/>
            <a:ext cx="2883048" cy="369332"/>
          </a:xfrm>
          <a:prstGeom prst="rect">
            <a:avLst/>
          </a:prstGeom>
          <a:solidFill>
            <a:schemeClr val="bg1"/>
          </a:solidFill>
        </p:spPr>
        <p:txBody>
          <a:bodyPr wrap="square" rtlCol="0">
            <a:spAutoFit/>
          </a:bodyPr>
          <a:lstStyle/>
          <a:p>
            <a:pPr algn="ctr"/>
            <a:r>
              <a:rPr lang="en-US" altLang="zh-CN" dirty="0">
                <a:solidFill>
                  <a:schemeClr val="tx2"/>
                </a:solidFill>
                <a:latin typeface="字魂59号-创粗黑" panose="00000500000000000000" pitchFamily="2" charset="-122"/>
                <a:ea typeface="字魂59号-创粗黑" panose="00000500000000000000" pitchFamily="2" charset="-122"/>
              </a:rPr>
              <a:t>【Designed by Group2】</a:t>
            </a:r>
            <a:endParaRPr lang="zh-CN" altLang="en-US" dirty="0">
              <a:solidFill>
                <a:schemeClr val="tx2"/>
              </a:solidFill>
              <a:latin typeface="字魂59号-创粗黑" panose="00000500000000000000" pitchFamily="2" charset="-122"/>
              <a:ea typeface="字魂59号-创粗黑" panose="00000500000000000000" pitchFamily="2" charset="-122"/>
            </a:endParaRPr>
          </a:p>
        </p:txBody>
      </p:sp>
      <p:pic>
        <p:nvPicPr>
          <p:cNvPr id="47" name="图片 46">
            <a:extLst>
              <a:ext uri="{FF2B5EF4-FFF2-40B4-BE49-F238E27FC236}">
                <a16:creationId xmlns:a16="http://schemas.microsoft.com/office/drawing/2014/main" id="{0F0754D5-3DFB-B32A-8FC8-0ADEFF0A70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3974" y="131752"/>
            <a:ext cx="2357882" cy="2268905"/>
          </a:xfrm>
          <a:prstGeom prst="rect">
            <a:avLst/>
          </a:prstGeom>
        </p:spPr>
      </p:pic>
    </p:spTree>
    <p:extLst>
      <p:ext uri="{BB962C8B-B14F-4D97-AF65-F5344CB8AC3E}">
        <p14:creationId xmlns:p14="http://schemas.microsoft.com/office/powerpoint/2010/main" val="2436146239"/>
      </p:ext>
    </p:extLst>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05"/>
</p:tagLst>
</file>

<file path=ppt/theme/theme1.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4276AA"/>
      </a:accent1>
      <a:accent2>
        <a:srgbClr val="1689A0"/>
      </a:accent2>
      <a:accent3>
        <a:srgbClr val="3FA692"/>
      </a:accent3>
      <a:accent4>
        <a:srgbClr val="5167A4"/>
      </a:accent4>
      <a:accent5>
        <a:srgbClr val="5E5CA2"/>
      </a:accent5>
      <a:accent6>
        <a:srgbClr val="768395"/>
      </a:accent6>
      <a:hlink>
        <a:srgbClr val="4276AA"/>
      </a:hlink>
      <a:folHlink>
        <a:srgbClr val="BFBFBF"/>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5"/>
    </a:dk2>
    <a:lt2>
      <a:srgbClr val="F0F0F0"/>
    </a:lt2>
    <a:accent1>
      <a:srgbClr val="4276AA"/>
    </a:accent1>
    <a:accent2>
      <a:srgbClr val="1689A0"/>
    </a:accent2>
    <a:accent3>
      <a:srgbClr val="3FA692"/>
    </a:accent3>
    <a:accent4>
      <a:srgbClr val="5167A4"/>
    </a:accent4>
    <a:accent5>
      <a:srgbClr val="5E5CA2"/>
    </a:accent5>
    <a:accent6>
      <a:srgbClr val="768395"/>
    </a:accent6>
    <a:hlink>
      <a:srgbClr val="4276AA"/>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626</TotalTime>
  <Words>2362</Words>
  <Application>Microsoft Office PowerPoint</Application>
  <PresentationFormat>宽屏</PresentationFormat>
  <Paragraphs>349</Paragraphs>
  <Slides>21</Slides>
  <Notes>21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21</vt:i4>
      </vt:variant>
    </vt:vector>
  </HeadingPairs>
  <TitlesOfParts>
    <vt:vector size="27" baseType="lpstr">
      <vt:lpstr>等线</vt:lpstr>
      <vt:lpstr>字魂58号-创中黑</vt:lpstr>
      <vt:lpstr>字魂59号-创粗黑</vt:lpstr>
      <vt:lpstr>Arial</vt:lpstr>
      <vt:lpstr>Consolas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05</dc:title>
  <dc:creator>沈 晓姣</dc:creator>
  <cp:lastModifiedBy>Kevin Connor</cp:lastModifiedBy>
  <cp:revision>39</cp:revision>
  <cp:lastPrinted>2026-04-02T12:39:40Z</cp:lastPrinted>
  <dcterms:created xsi:type="dcterms:W3CDTF">2019-07-01T04:03:01Z</dcterms:created>
  <dcterms:modified xsi:type="dcterms:W3CDTF">2026-04-20T02:48:36Z</dcterms:modified>
</cp:coreProperties>
</file>