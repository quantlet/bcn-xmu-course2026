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82" r:id="rId3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2" r:id="rId23"/>
    <p:sldId id="30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5168"/>
    <a:srgbClr val="344556"/>
    <a:srgbClr val="293440"/>
    <a:srgbClr val="1A1D22"/>
    <a:srgbClr val="3B5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39762681485-074b7f938ba0?w=1280&amp;h=720&amp;fit=crop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4810" y="356235"/>
            <a:ext cx="4091305" cy="388620"/>
          </a:xfrm>
          <a:custGeom>
            <a:avLst/>
            <a:gdLst/>
            <a:ahLst/>
            <a:cxnLst/>
            <a:rect l="l" t="t" r="r" b="b"/>
            <a:pathLst>
              <a:path w="3941445" h="388620">
                <a:moveTo>
                  <a:pt x="76201" y="0"/>
                </a:moveTo>
                <a:lnTo>
                  <a:pt x="3865244" y="0"/>
                </a:lnTo>
                <a:cubicBezTo>
                  <a:pt x="3907329" y="0"/>
                  <a:pt x="3941445" y="34116"/>
                  <a:pt x="3941445" y="76201"/>
                </a:cubicBezTo>
                <a:lnTo>
                  <a:pt x="3941445" y="312419"/>
                </a:lnTo>
                <a:cubicBezTo>
                  <a:pt x="3941445" y="354504"/>
                  <a:pt x="3907329" y="388620"/>
                  <a:pt x="38652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464820"/>
            <a:ext cx="4563745" cy="149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BLOCKCHAIN &amp; CRYPTOCURRENCY ANALYSIS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321648" y="38100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Course Project </a:t>
            </a:r>
            <a:endParaRPr lang="en-US" sz="1200" dirty="0">
              <a:solidFill>
                <a:srgbClr val="8D99AE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2026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1000" y="2107883"/>
            <a:ext cx="8562975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DeFi User Credit Scoring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&amp; Risk Detection System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1000" y="405098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6"/>
          <p:cNvSpPr/>
          <p:nvPr/>
        </p:nvSpPr>
        <p:spPr>
          <a:xfrm>
            <a:off x="381000" y="4317683"/>
            <a:ext cx="8334375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A Two-Layer Risk Assessment Framework Using PCA and Isolation Forest</a:t>
            </a:r>
            <a:endParaRPr lang="en-US" sz="18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Coda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02444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2" name="Text 9"/>
          <p:cNvSpPr/>
          <p:nvPr/>
        </p:nvSpPr>
        <p:spPr>
          <a:xfrm>
            <a:off x="952500" y="6038850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On-Chain Analysis</a:t>
            </a:r>
            <a:endParaRPr lang="en-US" sz="105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52500" y="6229350"/>
            <a:ext cx="1276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Behavioral Data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459236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2592586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6" name="Text 13"/>
          <p:cNvSpPr/>
          <p:nvPr/>
        </p:nvSpPr>
        <p:spPr>
          <a:xfrm>
            <a:off x="3030736" y="6038850"/>
            <a:ext cx="1704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Machine Learning</a:t>
            </a:r>
            <a:endParaRPr lang="en-US" sz="105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030736" y="6229350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PCA + Isolation Forest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7074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5104090" y="6153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20" name="Text 17"/>
          <p:cNvSpPr/>
          <p:nvPr/>
        </p:nvSpPr>
        <p:spPr>
          <a:xfrm>
            <a:off x="5542240" y="603885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Management</a:t>
            </a:r>
            <a:endParaRPr lang="en-US" sz="105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42240" y="622935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2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Four-Quadrant Matrix</a:t>
            </a:r>
            <a:endParaRPr lang="en-US" sz="1200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384969" y="5108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071E3"/>
          </a:solidFill>
        </p:spPr>
      </p:sp>
      <p:sp>
        <p:nvSpPr>
          <p:cNvPr id="23" name="Text 9"/>
          <p:cNvSpPr/>
          <p:nvPr/>
        </p:nvSpPr>
        <p:spPr>
          <a:xfrm>
            <a:off x="765810" y="5006975"/>
            <a:ext cx="1031176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Wen Lirong, Yang Rui, Luo Lingjing, Zang Ran, Guan Yuhao</a:t>
            </a:r>
            <a:r>
              <a:rPr lang="en-US" sz="2400" dirty="0"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endParaRPr lang="en-US" sz="24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PRESENTATION OVERVIEW</a:t>
            </a:r>
            <a:endParaRPr lang="en-US" sz="1200" b="1" kern="0" spc="60" dirty="0">
              <a:solidFill>
                <a:srgbClr val="5E8B7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Table of Contents</a:t>
            </a:r>
            <a:endParaRPr lang="en-US" sz="36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84810" y="1642110"/>
            <a:ext cx="5589270" cy="2446020"/>
          </a:xfrm>
          <a:custGeom>
            <a:avLst/>
            <a:gdLst/>
            <a:ahLst/>
            <a:cxnLst/>
            <a:rect l="l" t="t" r="r" b="b"/>
            <a:pathLst>
              <a:path w="5589270" h="2446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2331717"/>
                </a:lnTo>
                <a:cubicBezTo>
                  <a:pt x="5589270" y="2394845"/>
                  <a:pt x="5538095" y="2446020"/>
                  <a:pt x="54749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74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Text 5"/>
          <p:cNvSpPr/>
          <p:nvPr/>
        </p:nvSpPr>
        <p:spPr>
          <a:xfrm>
            <a:off x="753427" y="2007870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9220" y="1874520"/>
            <a:ext cx="447675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Research Background, Objectives &amp; Significance</a:t>
            </a:r>
            <a:endParaRPr lang="en-US" sz="18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79220" y="2598182"/>
            <a:ext cx="4438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Understanding the DeFi credit assessment challenge, project motivation, and the critical need for on-chain risk evaluation systems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398270" y="35125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9"/>
          <p:cNvSpPr/>
          <p:nvPr/>
        </p:nvSpPr>
        <p:spPr>
          <a:xfrm>
            <a:off x="1645920" y="3493770"/>
            <a:ext cx="809625" cy="205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Pages 3-6</a:t>
            </a:r>
            <a:endParaRPr lang="en-US" sz="1050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4110" y="1642110"/>
            <a:ext cx="5589270" cy="2446020"/>
          </a:xfrm>
          <a:custGeom>
            <a:avLst/>
            <a:gdLst/>
            <a:ahLst/>
            <a:cxnLst/>
            <a:rect l="l" t="t" r="r" b="b"/>
            <a:pathLst>
              <a:path w="5589270" h="2446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2331717"/>
                </a:lnTo>
                <a:cubicBezTo>
                  <a:pt x="5589270" y="2394845"/>
                  <a:pt x="5538095" y="2446020"/>
                  <a:pt x="54749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8745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2"/>
          <p:cNvSpPr/>
          <p:nvPr/>
        </p:nvSpPr>
        <p:spPr>
          <a:xfrm>
            <a:off x="6582728" y="2007870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8520" y="1874520"/>
            <a:ext cx="4476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Research Methodology &amp; Approach</a:t>
            </a:r>
            <a:endParaRPr lang="en-US" sz="18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08520" y="2293501"/>
            <a:ext cx="4438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Data collection, feature engineering, PCA-based credit scoring, Isolation Forest anomaly detection, and risk matrix development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27570" y="32079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8" name="Text 16"/>
          <p:cNvSpPr/>
          <p:nvPr/>
        </p:nvSpPr>
        <p:spPr>
          <a:xfrm>
            <a:off x="7475220" y="3188851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Pages 7-13</a:t>
            </a:r>
            <a:endParaRPr lang="en-US" sz="1050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4810" y="4328041"/>
            <a:ext cx="5589270" cy="2141220"/>
          </a:xfrm>
          <a:custGeom>
            <a:avLst/>
            <a:gdLst/>
            <a:ahLst/>
            <a:cxnLst/>
            <a:rect l="l" t="t" r="r" b="b"/>
            <a:pathLst>
              <a:path w="5589270" h="2141220">
                <a:moveTo>
                  <a:pt x="114298" y="0"/>
                </a:moveTo>
                <a:lnTo>
                  <a:pt x="5474972" y="0"/>
                </a:lnTo>
                <a:cubicBezTo>
                  <a:pt x="5538097" y="0"/>
                  <a:pt x="5589270" y="51173"/>
                  <a:pt x="5589270" y="114298"/>
                </a:cubicBezTo>
                <a:lnTo>
                  <a:pt x="5589270" y="2026922"/>
                </a:lnTo>
                <a:cubicBezTo>
                  <a:pt x="5589270" y="2090047"/>
                  <a:pt x="5538097" y="2141220"/>
                  <a:pt x="5474972" y="2141220"/>
                </a:cubicBezTo>
                <a:lnTo>
                  <a:pt x="114298" y="2141220"/>
                </a:lnTo>
                <a:cubicBezTo>
                  <a:pt x="51173" y="2141220"/>
                  <a:pt x="0" y="2090047"/>
                  <a:pt x="0" y="20269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15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" y="45604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1" name="Text 19"/>
          <p:cNvSpPr/>
          <p:nvPr/>
        </p:nvSpPr>
        <p:spPr>
          <a:xfrm>
            <a:off x="753427" y="4693801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9220" y="4560451"/>
            <a:ext cx="4476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Research Findings &amp; Analysis</a:t>
            </a:r>
            <a:endParaRPr lang="en-US" sz="18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79220" y="4979432"/>
            <a:ext cx="4438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Validation results, credit score effectiveness, systemic risk analysis, hidden whale identification, and comprehensive performance metrics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398270" y="58938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5" name="Text 23"/>
          <p:cNvSpPr/>
          <p:nvPr/>
        </p:nvSpPr>
        <p:spPr>
          <a:xfrm>
            <a:off x="1645920" y="5874782"/>
            <a:ext cx="809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Pages 14-16</a:t>
            </a:r>
            <a:endParaRPr lang="en-US" sz="1050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4110" y="4328041"/>
            <a:ext cx="5589270" cy="2141220"/>
          </a:xfrm>
          <a:custGeom>
            <a:avLst/>
            <a:gdLst/>
            <a:ahLst/>
            <a:cxnLst/>
            <a:rect l="l" t="t" r="r" b="b"/>
            <a:pathLst>
              <a:path w="5589270" h="2141220">
                <a:moveTo>
                  <a:pt x="114298" y="0"/>
                </a:moveTo>
                <a:lnTo>
                  <a:pt x="5474972" y="0"/>
                </a:lnTo>
                <a:cubicBezTo>
                  <a:pt x="5538097" y="0"/>
                  <a:pt x="5589270" y="51173"/>
                  <a:pt x="5589270" y="114298"/>
                </a:cubicBezTo>
                <a:lnTo>
                  <a:pt x="5589270" y="2026922"/>
                </a:lnTo>
                <a:cubicBezTo>
                  <a:pt x="5589270" y="2090047"/>
                  <a:pt x="5538097" y="2141220"/>
                  <a:pt x="5474972" y="2141220"/>
                </a:cubicBezTo>
                <a:lnTo>
                  <a:pt x="114298" y="2141220"/>
                </a:lnTo>
                <a:cubicBezTo>
                  <a:pt x="51173" y="2141220"/>
                  <a:pt x="0" y="2090047"/>
                  <a:pt x="0" y="20269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15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5604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6582728" y="4693801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08520" y="4560451"/>
            <a:ext cx="44767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Limitations &amp; Future Directions</a:t>
            </a:r>
            <a:endParaRPr lang="en-US" sz="18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208520" y="4979432"/>
            <a:ext cx="4438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Critical research limitations, future improvement opportunities, practical implementation recommendations, and acknowledgments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227570" y="58938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2" name="Text 30"/>
          <p:cNvSpPr/>
          <p:nvPr/>
        </p:nvSpPr>
        <p:spPr>
          <a:xfrm>
            <a:off x="7475220" y="5874782"/>
            <a:ext cx="809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Pages 17-20</a:t>
            </a:r>
            <a:endParaRPr lang="en-US" sz="1050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images.unsplash.com/photo-1639762681485-074b7f938ba0?w=1280&amp;h=720&amp;fit=crop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pic>
        <p:nvPicPr>
          <p:cNvPr id="2" name="Image 0" descr="https://images.unsplash.com/photo-1642104704074-907c0698b98d?w=1280&amp;h=720&amp;fit=crop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786766"/>
            <a:ext cx="845820" cy="388620"/>
          </a:xfrm>
          <a:custGeom>
            <a:avLst/>
            <a:gdLst/>
            <a:ahLst/>
            <a:cxnLst/>
            <a:rect l="l" t="t" r="r" b="b"/>
            <a:pathLst>
              <a:path w="845820" h="388620">
                <a:moveTo>
                  <a:pt x="76201" y="0"/>
                </a:moveTo>
                <a:lnTo>
                  <a:pt x="769619" y="0"/>
                </a:lnTo>
                <a:cubicBezTo>
                  <a:pt x="811704" y="0"/>
                  <a:pt x="845820" y="34116"/>
                  <a:pt x="845820" y="76201"/>
                </a:cubicBezTo>
                <a:lnTo>
                  <a:pt x="845820" y="312419"/>
                </a:lnTo>
                <a:cubicBezTo>
                  <a:pt x="845820" y="354504"/>
                  <a:pt x="811704" y="388620"/>
                  <a:pt x="76961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1495" y="866775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A6C8C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PART</a:t>
            </a:r>
            <a:r>
              <a:rPr lang="en-US" sz="1200" b="1" kern="0" spc="60" dirty="0">
                <a:solidFill>
                  <a:srgbClr val="4A6C8C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1000" y="1407795"/>
            <a:ext cx="7658100" cy="342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Research Background,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Objectives &amp;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Significance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506539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5332095"/>
            <a:ext cx="7429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Understanding the DeFi credit assessment challenge and project motivation</a:t>
            </a:r>
            <a:endParaRPr lang="en-US" sz="18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Coda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RESEARCH BACKGROUND</a:t>
            </a:r>
            <a:endParaRPr lang="en-US" sz="1200" b="1" kern="0" spc="60" dirty="0">
              <a:solidFill>
                <a:srgbClr val="5E8B7E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The DeFi Credit Assessment Challenge</a:t>
            </a:r>
            <a:endParaRPr lang="en-US" sz="2700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84810" y="1451610"/>
            <a:ext cx="6760845" cy="2369820"/>
          </a:xfrm>
          <a:custGeom>
            <a:avLst/>
            <a:gdLst/>
            <a:ahLst/>
            <a:cxnLst/>
            <a:rect l="l" t="t" r="r" b="b"/>
            <a:pathLst>
              <a:path w="6760845" h="2369820">
                <a:moveTo>
                  <a:pt x="114296" y="0"/>
                </a:moveTo>
                <a:lnTo>
                  <a:pt x="6646549" y="0"/>
                </a:lnTo>
                <a:cubicBezTo>
                  <a:pt x="6709673" y="0"/>
                  <a:pt x="6760845" y="51172"/>
                  <a:pt x="6760845" y="114296"/>
                </a:cubicBezTo>
                <a:lnTo>
                  <a:pt x="6760845" y="2255524"/>
                </a:lnTo>
                <a:cubicBezTo>
                  <a:pt x="6760845" y="2318648"/>
                  <a:pt x="6709673" y="2369820"/>
                  <a:pt x="6646549" y="2369820"/>
                </a:cubicBezTo>
                <a:lnTo>
                  <a:pt x="114296" y="2369820"/>
                </a:lnTo>
                <a:cubicBezTo>
                  <a:pt x="51172" y="2369820"/>
                  <a:pt x="0" y="2318648"/>
                  <a:pt x="0" y="2255524"/>
                </a:cubicBezTo>
                <a:lnTo>
                  <a:pt x="0" y="114296"/>
                </a:lnTo>
                <a:cubicBezTo>
                  <a:pt x="0" y="51215"/>
                  <a:pt x="51215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2932" y="16840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817245" y="1645920"/>
            <a:ext cx="6229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The Fundamental Problem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9120" y="2026920"/>
            <a:ext cx="64484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Decentralized Finance (DeFi) operates without traditional intermediaries like banks, creating a unique challenge: </a:t>
            </a:r>
            <a:r>
              <a:rPr lang="en-US" sz="1200" b="1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how do you assess creditworthiness when there are no identities, no credit histories, and no collateral requirements?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9120" y="2884170"/>
            <a:ext cx="644842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Unlike traditional banking systems that rely on FICO scores, KYC verification, and centralized credit bureaus, DeFi platforms must make lending decisions based solely on on-chain behavioral data.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0050" y="3977641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38100" y="0"/>
                </a:moveTo>
                <a:lnTo>
                  <a:pt x="3171823" y="0"/>
                </a:lnTo>
                <a:cubicBezTo>
                  <a:pt x="3234950" y="0"/>
                  <a:pt x="3286125" y="51175"/>
                  <a:pt x="3286125" y="114302"/>
                </a:cubicBezTo>
                <a:lnTo>
                  <a:pt x="3286125" y="990598"/>
                </a:lnTo>
                <a:cubicBezTo>
                  <a:pt x="3286125" y="1053725"/>
                  <a:pt x="3234950" y="1104900"/>
                  <a:pt x="317182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400050" y="3977641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Shape 10"/>
          <p:cNvSpPr/>
          <p:nvPr/>
        </p:nvSpPr>
        <p:spPr>
          <a:xfrm>
            <a:off x="583406" y="416814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255" y="-9265"/>
                </a:moveTo>
                <a:cubicBezTo>
                  <a:pt x="11757" y="-12762"/>
                  <a:pt x="6102" y="-12762"/>
                  <a:pt x="2642" y="-9265"/>
                </a:cubicBezTo>
                <a:cubicBezTo>
                  <a:pt x="-819" y="-5767"/>
                  <a:pt x="-856" y="-112"/>
                  <a:pt x="2604" y="3386"/>
                </a:cubicBezTo>
                <a:lnTo>
                  <a:pt x="199058" y="199839"/>
                </a:lnTo>
                <a:cubicBezTo>
                  <a:pt x="202555" y="203336"/>
                  <a:pt x="208211" y="203336"/>
                  <a:pt x="211671" y="199839"/>
                </a:cubicBezTo>
                <a:cubicBezTo>
                  <a:pt x="215131" y="196342"/>
                  <a:pt x="215168" y="190686"/>
                  <a:pt x="211671" y="187226"/>
                </a:cubicBezTo>
                <a:lnTo>
                  <a:pt x="115900" y="91418"/>
                </a:lnTo>
                <a:cubicBezTo>
                  <a:pt x="136364" y="87362"/>
                  <a:pt x="151805" y="69279"/>
                  <a:pt x="151805" y="47625"/>
                </a:cubicBezTo>
                <a:cubicBezTo>
                  <a:pt x="151805" y="22957"/>
                  <a:pt x="131825" y="2977"/>
                  <a:pt x="107156" y="2977"/>
                </a:cubicBezTo>
                <a:cubicBezTo>
                  <a:pt x="85502" y="2977"/>
                  <a:pt x="67419" y="18417"/>
                  <a:pt x="63364" y="38881"/>
                </a:cubicBezTo>
                <a:lnTo>
                  <a:pt x="15255" y="-9265"/>
                </a:lnTo>
                <a:close/>
                <a:moveTo>
                  <a:pt x="87660" y="113630"/>
                </a:moveTo>
                <a:cubicBezTo>
                  <a:pt x="55029" y="117797"/>
                  <a:pt x="29766" y="145666"/>
                  <a:pt x="29766" y="179450"/>
                </a:cubicBezTo>
                <a:cubicBezTo>
                  <a:pt x="29766" y="185551"/>
                  <a:pt x="34714" y="190500"/>
                  <a:pt x="40816" y="190500"/>
                </a:cubicBezTo>
                <a:lnTo>
                  <a:pt x="164529" y="190500"/>
                </a:lnTo>
                <a:lnTo>
                  <a:pt x="87660" y="11363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3" name="Text 11"/>
          <p:cNvSpPr/>
          <p:nvPr/>
        </p:nvSpPr>
        <p:spPr>
          <a:xfrm>
            <a:off x="923925" y="4130041"/>
            <a:ext cx="1028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No Identity</a:t>
            </a:r>
            <a:endParaRPr lang="en-US" sz="13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1500" y="4472941"/>
            <a:ext cx="30384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Pseudonymous addresses replace real-world identities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59530" y="3977641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38100" y="0"/>
                </a:moveTo>
                <a:lnTo>
                  <a:pt x="3171823" y="0"/>
                </a:lnTo>
                <a:cubicBezTo>
                  <a:pt x="3234950" y="0"/>
                  <a:pt x="3286125" y="51175"/>
                  <a:pt x="3286125" y="114302"/>
                </a:cubicBezTo>
                <a:lnTo>
                  <a:pt x="3286125" y="990598"/>
                </a:lnTo>
                <a:cubicBezTo>
                  <a:pt x="3286125" y="1053725"/>
                  <a:pt x="3234950" y="1104900"/>
                  <a:pt x="317182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859530" y="3977641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7" name="Shape 15"/>
          <p:cNvSpPr/>
          <p:nvPr/>
        </p:nvSpPr>
        <p:spPr>
          <a:xfrm>
            <a:off x="4042886" y="416814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8" name="Text 16"/>
          <p:cNvSpPr/>
          <p:nvPr/>
        </p:nvSpPr>
        <p:spPr>
          <a:xfrm>
            <a:off x="4383405" y="4130041"/>
            <a:ext cx="1543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No Credit History</a:t>
            </a:r>
            <a:endParaRPr lang="en-US" sz="13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30980" y="4472941"/>
            <a:ext cx="30384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No centralized record of past borrowing behavior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0050" y="5234941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38100" y="0"/>
                </a:moveTo>
                <a:lnTo>
                  <a:pt x="3171823" y="0"/>
                </a:lnTo>
                <a:cubicBezTo>
                  <a:pt x="3234950" y="0"/>
                  <a:pt x="3286125" y="51175"/>
                  <a:pt x="3286125" y="114302"/>
                </a:cubicBezTo>
                <a:lnTo>
                  <a:pt x="3286125" y="990598"/>
                </a:lnTo>
                <a:cubicBezTo>
                  <a:pt x="3286125" y="1053725"/>
                  <a:pt x="3234950" y="1104900"/>
                  <a:pt x="317182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400050" y="5234941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Shape 20"/>
          <p:cNvSpPr/>
          <p:nvPr/>
        </p:nvSpPr>
        <p:spPr>
          <a:xfrm>
            <a:off x="595313" y="54254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3" name="Text 21"/>
          <p:cNvSpPr/>
          <p:nvPr/>
        </p:nvSpPr>
        <p:spPr>
          <a:xfrm>
            <a:off x="923925" y="5387341"/>
            <a:ext cx="1190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No Collateral</a:t>
            </a:r>
            <a:endParaRPr lang="en-US" sz="13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1500" y="5615941"/>
            <a:ext cx="30384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Over-collateralization limits capital efficiency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859530" y="5234941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38100" y="0"/>
                </a:moveTo>
                <a:lnTo>
                  <a:pt x="3171823" y="0"/>
                </a:lnTo>
                <a:cubicBezTo>
                  <a:pt x="3234950" y="0"/>
                  <a:pt x="3286125" y="51175"/>
                  <a:pt x="3286125" y="114302"/>
                </a:cubicBezTo>
                <a:lnTo>
                  <a:pt x="3286125" y="990598"/>
                </a:lnTo>
                <a:cubicBezTo>
                  <a:pt x="3286125" y="1053725"/>
                  <a:pt x="3234950" y="1104900"/>
                  <a:pt x="3171823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859530" y="5234941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Shape 25"/>
          <p:cNvSpPr/>
          <p:nvPr/>
        </p:nvSpPr>
        <p:spPr>
          <a:xfrm>
            <a:off x="4054793" y="54254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4383405" y="5387341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High Volatility</a:t>
            </a:r>
            <a:endParaRPr lang="en-US" sz="13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030980" y="5730241"/>
            <a:ext cx="3038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Crypto asset prices fluctuate dramatically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379970" y="1451610"/>
            <a:ext cx="4427220" cy="2636520"/>
          </a:xfrm>
          <a:custGeom>
            <a:avLst/>
            <a:gdLst/>
            <a:ahLst/>
            <a:cxnLst/>
            <a:rect l="l" t="t" r="r" b="b"/>
            <a:pathLst>
              <a:path w="4427220" h="2636520">
                <a:moveTo>
                  <a:pt x="114293" y="0"/>
                </a:moveTo>
                <a:lnTo>
                  <a:pt x="4312927" y="0"/>
                </a:lnTo>
                <a:cubicBezTo>
                  <a:pt x="4376007" y="0"/>
                  <a:pt x="4427220" y="51213"/>
                  <a:pt x="4427220" y="114293"/>
                </a:cubicBezTo>
                <a:lnTo>
                  <a:pt x="4427220" y="2522227"/>
                </a:lnTo>
                <a:cubicBezTo>
                  <a:pt x="4427220" y="2585307"/>
                  <a:pt x="4376007" y="2636520"/>
                  <a:pt x="4312927" y="2636520"/>
                </a:cubicBezTo>
                <a:lnTo>
                  <a:pt x="114293" y="2636520"/>
                </a:lnTo>
                <a:cubicBezTo>
                  <a:pt x="51213" y="2636520"/>
                  <a:pt x="0" y="2585307"/>
                  <a:pt x="0" y="252222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1905" y="168402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2" name="Text 30"/>
          <p:cNvSpPr/>
          <p:nvPr/>
        </p:nvSpPr>
        <p:spPr>
          <a:xfrm>
            <a:off x="7812405" y="1645920"/>
            <a:ext cx="389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The Solution Approach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74280" y="220789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4" name="Text 32"/>
          <p:cNvSpPr/>
          <p:nvPr/>
        </p:nvSpPr>
        <p:spPr>
          <a:xfrm>
            <a:off x="7681675" y="2236470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1</a:t>
            </a:r>
            <a:endParaRPr lang="en-US" sz="12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93380" y="2160270"/>
            <a:ext cx="3695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On-Chain Data Analysis</a:t>
            </a:r>
            <a:endParaRPr lang="en-US" sz="12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93380" y="2274570"/>
            <a:ext cx="3695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Extract behavioral patterns from transaction history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74280" y="287464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8" name="Text 36"/>
          <p:cNvSpPr/>
          <p:nvPr/>
        </p:nvSpPr>
        <p:spPr>
          <a:xfrm>
            <a:off x="7681675" y="2903220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2</a:t>
            </a:r>
            <a:endParaRPr lang="en-US" sz="12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93380" y="284607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Machine Learning Models</a:t>
            </a:r>
            <a:endParaRPr lang="en-US" sz="12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993380" y="309372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Apply PCA and Isolation Forest algorithms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574280" y="347472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2" name="Text 40"/>
          <p:cNvSpPr/>
          <p:nvPr/>
        </p:nvSpPr>
        <p:spPr>
          <a:xfrm>
            <a:off x="7681675" y="3512820"/>
            <a:ext cx="161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3</a:t>
            </a:r>
            <a:endParaRPr lang="en-US" sz="12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93380" y="3436620"/>
            <a:ext cx="2371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Segmentation</a:t>
            </a:r>
            <a:endParaRPr lang="en-US" sz="12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93380" y="3665220"/>
            <a:ext cx="2371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Create four-quadrant risk matrix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379970" y="4248150"/>
            <a:ext cx="4427220" cy="2091690"/>
          </a:xfrm>
          <a:custGeom>
            <a:avLst/>
            <a:gdLst/>
            <a:ahLst/>
            <a:cxnLst/>
            <a:rect l="l" t="t" r="r" b="b"/>
            <a:pathLst>
              <a:path w="4427220" h="2226945">
                <a:moveTo>
                  <a:pt x="114309" y="0"/>
                </a:moveTo>
                <a:lnTo>
                  <a:pt x="4312911" y="0"/>
                </a:lnTo>
                <a:cubicBezTo>
                  <a:pt x="4376042" y="0"/>
                  <a:pt x="4427220" y="51178"/>
                  <a:pt x="4427220" y="114309"/>
                </a:cubicBezTo>
                <a:lnTo>
                  <a:pt x="4427220" y="2112636"/>
                </a:lnTo>
                <a:cubicBezTo>
                  <a:pt x="4427220" y="2175767"/>
                  <a:pt x="4376042" y="2226945"/>
                  <a:pt x="4312911" y="2226945"/>
                </a:cubicBezTo>
                <a:lnTo>
                  <a:pt x="114309" y="2226945"/>
                </a:lnTo>
                <a:cubicBezTo>
                  <a:pt x="51178" y="2226945"/>
                  <a:pt x="0" y="2175767"/>
                  <a:pt x="0" y="211263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4280" y="4442461"/>
            <a:ext cx="4124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Key Statistics</a:t>
            </a:r>
            <a:endParaRPr lang="en-US" sz="13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574280" y="4823461"/>
            <a:ext cx="1771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DeFi Total Value Locked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149369" y="4823461"/>
            <a:ext cx="542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$50B+</a:t>
            </a:r>
            <a:endParaRPr lang="en-US" sz="1200" b="1" dirty="0">
              <a:solidFill>
                <a:srgbClr val="5E8B7E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574280" y="5090161"/>
            <a:ext cx="4038600" cy="76200"/>
          </a:xfrm>
          <a:custGeom>
            <a:avLst/>
            <a:gdLst/>
            <a:ahLst/>
            <a:cxnLst/>
            <a:rect l="l" t="t" r="r" b="b"/>
            <a:pathLst>
              <a:path w="4038600" h="76200">
                <a:moveTo>
                  <a:pt x="38100" y="0"/>
                </a:moveTo>
                <a:lnTo>
                  <a:pt x="4000500" y="0"/>
                </a:lnTo>
                <a:cubicBezTo>
                  <a:pt x="4021528" y="0"/>
                  <a:pt x="4038600" y="17072"/>
                  <a:pt x="4038600" y="38100"/>
                </a:cubicBezTo>
                <a:lnTo>
                  <a:pt x="4038600" y="38100"/>
                </a:lnTo>
                <a:cubicBezTo>
                  <a:pt x="4038600" y="59128"/>
                  <a:pt x="4021528" y="76200"/>
                  <a:pt x="400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</p:spPr>
      </p:sp>
      <p:sp>
        <p:nvSpPr>
          <p:cNvPr id="50" name="Shape 48"/>
          <p:cNvSpPr/>
          <p:nvPr/>
        </p:nvSpPr>
        <p:spPr>
          <a:xfrm>
            <a:off x="7574280" y="5090161"/>
            <a:ext cx="3429000" cy="76200"/>
          </a:xfrm>
          <a:custGeom>
            <a:avLst/>
            <a:gdLst/>
            <a:ahLst/>
            <a:cxnLst/>
            <a:rect l="l" t="t" r="r" b="b"/>
            <a:pathLst>
              <a:path w="3429000" h="76200">
                <a:moveTo>
                  <a:pt x="38100" y="0"/>
                </a:moveTo>
                <a:lnTo>
                  <a:pt x="3390900" y="0"/>
                </a:lnTo>
                <a:cubicBezTo>
                  <a:pt x="3411928" y="0"/>
                  <a:pt x="3429000" y="17072"/>
                  <a:pt x="3429000" y="38100"/>
                </a:cubicBezTo>
                <a:lnTo>
                  <a:pt x="3429000" y="38100"/>
                </a:lnTo>
                <a:cubicBezTo>
                  <a:pt x="3429000" y="59128"/>
                  <a:pt x="3411928" y="76200"/>
                  <a:pt x="3390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1" name="Text 49"/>
          <p:cNvSpPr/>
          <p:nvPr/>
        </p:nvSpPr>
        <p:spPr>
          <a:xfrm>
            <a:off x="7574280" y="5280661"/>
            <a:ext cx="1562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Average Default Rate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1049952" y="5280661"/>
            <a:ext cx="638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15-25%</a:t>
            </a:r>
            <a:endParaRPr lang="en-US" sz="1200" b="1" dirty="0">
              <a:solidFill>
                <a:srgbClr val="4A6C8C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574280" y="5547361"/>
            <a:ext cx="4038600" cy="76200"/>
          </a:xfrm>
          <a:custGeom>
            <a:avLst/>
            <a:gdLst/>
            <a:ahLst/>
            <a:cxnLst/>
            <a:rect l="l" t="t" r="r" b="b"/>
            <a:pathLst>
              <a:path w="4038600" h="76200">
                <a:moveTo>
                  <a:pt x="38100" y="0"/>
                </a:moveTo>
                <a:lnTo>
                  <a:pt x="4000500" y="0"/>
                </a:lnTo>
                <a:cubicBezTo>
                  <a:pt x="4021528" y="0"/>
                  <a:pt x="4038600" y="17072"/>
                  <a:pt x="4038600" y="38100"/>
                </a:cubicBezTo>
                <a:lnTo>
                  <a:pt x="4038600" y="38100"/>
                </a:lnTo>
                <a:cubicBezTo>
                  <a:pt x="4038600" y="59128"/>
                  <a:pt x="4021528" y="76200"/>
                  <a:pt x="400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</p:spPr>
      </p:sp>
      <p:sp>
        <p:nvSpPr>
          <p:cNvPr id="54" name="Shape 52"/>
          <p:cNvSpPr/>
          <p:nvPr/>
        </p:nvSpPr>
        <p:spPr>
          <a:xfrm>
            <a:off x="7574280" y="5547361"/>
            <a:ext cx="2628900" cy="76200"/>
          </a:xfrm>
          <a:custGeom>
            <a:avLst/>
            <a:gdLst/>
            <a:ahLst/>
            <a:cxnLst/>
            <a:rect l="l" t="t" r="r" b="b"/>
            <a:pathLst>
              <a:path w="2628900" h="76200">
                <a:moveTo>
                  <a:pt x="38100" y="0"/>
                </a:moveTo>
                <a:lnTo>
                  <a:pt x="2590800" y="0"/>
                </a:lnTo>
                <a:cubicBezTo>
                  <a:pt x="2611828" y="0"/>
                  <a:pt x="2628900" y="17072"/>
                  <a:pt x="2628900" y="38100"/>
                </a:cubicBezTo>
                <a:lnTo>
                  <a:pt x="2628900" y="38100"/>
                </a:lnTo>
                <a:cubicBezTo>
                  <a:pt x="2628900" y="59128"/>
                  <a:pt x="2611828" y="76200"/>
                  <a:pt x="25908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55" name="Text 53"/>
          <p:cNvSpPr/>
          <p:nvPr/>
        </p:nvSpPr>
        <p:spPr>
          <a:xfrm>
            <a:off x="7574280" y="5737861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Protocols Without Credit Scoring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1196281" y="5737861"/>
            <a:ext cx="495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90%+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574280" y="6004561"/>
            <a:ext cx="4038600" cy="76200"/>
          </a:xfrm>
          <a:custGeom>
            <a:avLst/>
            <a:gdLst/>
            <a:ahLst/>
            <a:cxnLst/>
            <a:rect l="l" t="t" r="r" b="b"/>
            <a:pathLst>
              <a:path w="4038600" h="76200">
                <a:moveTo>
                  <a:pt x="38100" y="0"/>
                </a:moveTo>
                <a:lnTo>
                  <a:pt x="4000500" y="0"/>
                </a:lnTo>
                <a:cubicBezTo>
                  <a:pt x="4021528" y="0"/>
                  <a:pt x="4038600" y="17072"/>
                  <a:pt x="4038600" y="38100"/>
                </a:cubicBezTo>
                <a:lnTo>
                  <a:pt x="4038600" y="38100"/>
                </a:lnTo>
                <a:cubicBezTo>
                  <a:pt x="4038600" y="59128"/>
                  <a:pt x="4021528" y="76200"/>
                  <a:pt x="4000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2D42"/>
          </a:solidFill>
        </p:spPr>
      </p:sp>
      <p:sp>
        <p:nvSpPr>
          <p:cNvPr id="58" name="Shape 56"/>
          <p:cNvSpPr/>
          <p:nvPr/>
        </p:nvSpPr>
        <p:spPr>
          <a:xfrm>
            <a:off x="7574280" y="6004561"/>
            <a:ext cx="3638550" cy="76200"/>
          </a:xfrm>
          <a:custGeom>
            <a:avLst/>
            <a:gdLst/>
            <a:ahLst/>
            <a:cxnLst/>
            <a:rect l="l" t="t" r="r" b="b"/>
            <a:pathLst>
              <a:path w="3638550" h="76200">
                <a:moveTo>
                  <a:pt x="38100" y="0"/>
                </a:moveTo>
                <a:lnTo>
                  <a:pt x="3600450" y="0"/>
                </a:lnTo>
                <a:cubicBezTo>
                  <a:pt x="3621478" y="0"/>
                  <a:pt x="3638550" y="17072"/>
                  <a:pt x="3638550" y="38100"/>
                </a:cubicBezTo>
                <a:lnTo>
                  <a:pt x="3638550" y="38100"/>
                </a:lnTo>
                <a:cubicBezTo>
                  <a:pt x="3638550" y="59128"/>
                  <a:pt x="3621478" y="76200"/>
                  <a:pt x="3600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D99AE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44159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kern="0" spc="57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RESEARCH OBJECTIVES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9911" y="647841"/>
            <a:ext cx="11634137" cy="3599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Project Objectives &amp; Research Questions</a:t>
            </a:r>
            <a:endParaRPr lang="en-US" sz="2550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9911" y="1115725"/>
            <a:ext cx="863787" cy="35991"/>
          </a:xfrm>
          <a:custGeom>
            <a:avLst/>
            <a:gdLst/>
            <a:ahLst/>
            <a:cxnLst/>
            <a:rect l="l" t="t" r="r" b="b"/>
            <a:pathLst>
              <a:path w="863787" h="35991">
                <a:moveTo>
                  <a:pt x="0" y="0"/>
                </a:moveTo>
                <a:lnTo>
                  <a:pt x="863787" y="0"/>
                </a:lnTo>
                <a:lnTo>
                  <a:pt x="863787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63511" y="1371263"/>
            <a:ext cx="5621817" cy="3426357"/>
          </a:xfrm>
          <a:custGeom>
            <a:avLst/>
            <a:gdLst/>
            <a:ahLst/>
            <a:cxnLst/>
            <a:rect l="l" t="t" r="r" b="b"/>
            <a:pathLst>
              <a:path w="5621817" h="3426357">
                <a:moveTo>
                  <a:pt x="107965" y="0"/>
                </a:moveTo>
                <a:lnTo>
                  <a:pt x="5513852" y="0"/>
                </a:lnTo>
                <a:cubicBezTo>
                  <a:pt x="5573479" y="0"/>
                  <a:pt x="5621817" y="48337"/>
                  <a:pt x="5621817" y="107965"/>
                </a:cubicBezTo>
                <a:lnTo>
                  <a:pt x="5621817" y="3318392"/>
                </a:lnTo>
                <a:cubicBezTo>
                  <a:pt x="5621817" y="3378020"/>
                  <a:pt x="5573479" y="3426357"/>
                  <a:pt x="5513852" y="3426357"/>
                </a:cubicBezTo>
                <a:lnTo>
                  <a:pt x="107965" y="3426357"/>
                </a:lnTo>
                <a:cubicBezTo>
                  <a:pt x="48337" y="3426357"/>
                  <a:pt x="0" y="3378020"/>
                  <a:pt x="0" y="3318392"/>
                </a:cubicBezTo>
                <a:lnTo>
                  <a:pt x="0" y="107965"/>
                </a:lnTo>
                <a:cubicBezTo>
                  <a:pt x="0" y="48337"/>
                  <a:pt x="48337" y="0"/>
                  <a:pt x="10796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0050" y="162668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88954" y="107973"/>
                </a:moveTo>
                <a:cubicBezTo>
                  <a:pt x="188954" y="63279"/>
                  <a:pt x="152668" y="26993"/>
                  <a:pt x="107973" y="26993"/>
                </a:cubicBezTo>
                <a:cubicBezTo>
                  <a:pt x="63279" y="26993"/>
                  <a:pt x="26993" y="63279"/>
                  <a:pt x="26993" y="107973"/>
                </a:cubicBezTo>
                <a:cubicBezTo>
                  <a:pt x="26993" y="152668"/>
                  <a:pt x="63279" y="188954"/>
                  <a:pt x="107973" y="188954"/>
                </a:cubicBezTo>
                <a:cubicBezTo>
                  <a:pt x="152668" y="188954"/>
                  <a:pt x="188954" y="152668"/>
                  <a:pt x="188954" y="107973"/>
                </a:cubicBezTo>
                <a:close/>
                <a:moveTo>
                  <a:pt x="0" y="107973"/>
                </a:moveTo>
                <a:cubicBezTo>
                  <a:pt x="0" y="48381"/>
                  <a:pt x="48381" y="0"/>
                  <a:pt x="107973" y="0"/>
                </a:cubicBezTo>
                <a:cubicBezTo>
                  <a:pt x="167566" y="0"/>
                  <a:pt x="215947" y="48381"/>
                  <a:pt x="215947" y="107973"/>
                </a:cubicBezTo>
                <a:cubicBezTo>
                  <a:pt x="215947" y="167566"/>
                  <a:pt x="167566" y="215947"/>
                  <a:pt x="107973" y="215947"/>
                </a:cubicBezTo>
                <a:cubicBezTo>
                  <a:pt x="48381" y="215947"/>
                  <a:pt x="0" y="167566"/>
                  <a:pt x="0" y="107973"/>
                </a:cubicBezTo>
                <a:close/>
                <a:moveTo>
                  <a:pt x="107973" y="141715"/>
                </a:moveTo>
                <a:cubicBezTo>
                  <a:pt x="126596" y="141715"/>
                  <a:pt x="141715" y="126596"/>
                  <a:pt x="141715" y="107973"/>
                </a:cubicBezTo>
                <a:cubicBezTo>
                  <a:pt x="141715" y="89351"/>
                  <a:pt x="126596" y="74232"/>
                  <a:pt x="107973" y="74232"/>
                </a:cubicBezTo>
                <a:cubicBezTo>
                  <a:pt x="89351" y="74232"/>
                  <a:pt x="74232" y="89351"/>
                  <a:pt x="74232" y="107973"/>
                </a:cubicBezTo>
                <a:cubicBezTo>
                  <a:pt x="74232" y="126596"/>
                  <a:pt x="89351" y="141715"/>
                  <a:pt x="107973" y="141715"/>
                </a:cubicBezTo>
                <a:close/>
                <a:moveTo>
                  <a:pt x="107973" y="47238"/>
                </a:moveTo>
                <a:cubicBezTo>
                  <a:pt x="141494" y="47238"/>
                  <a:pt x="168708" y="74453"/>
                  <a:pt x="168708" y="107973"/>
                </a:cubicBezTo>
                <a:cubicBezTo>
                  <a:pt x="168708" y="141494"/>
                  <a:pt x="141494" y="168708"/>
                  <a:pt x="107973" y="168708"/>
                </a:cubicBezTo>
                <a:cubicBezTo>
                  <a:pt x="74453" y="168708"/>
                  <a:pt x="47238" y="141494"/>
                  <a:pt x="47238" y="107973"/>
                </a:cubicBezTo>
                <a:cubicBezTo>
                  <a:pt x="47238" y="74453"/>
                  <a:pt x="74453" y="47238"/>
                  <a:pt x="107973" y="47238"/>
                </a:cubicBezTo>
                <a:close/>
                <a:moveTo>
                  <a:pt x="94477" y="107973"/>
                </a:moveTo>
                <a:cubicBezTo>
                  <a:pt x="94477" y="100524"/>
                  <a:pt x="100524" y="94477"/>
                  <a:pt x="107973" y="94477"/>
                </a:cubicBezTo>
                <a:cubicBezTo>
                  <a:pt x="115422" y="94477"/>
                  <a:pt x="121470" y="100524"/>
                  <a:pt x="121470" y="107973"/>
                </a:cubicBezTo>
                <a:cubicBezTo>
                  <a:pt x="121470" y="115422"/>
                  <a:pt x="115422" y="121470"/>
                  <a:pt x="107973" y="121470"/>
                </a:cubicBezTo>
                <a:cubicBezTo>
                  <a:pt x="100524" y="121470"/>
                  <a:pt x="94477" y="115422"/>
                  <a:pt x="94477" y="10797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852990" y="1590809"/>
            <a:ext cx="5020765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Primary Objectives</a:t>
            </a:r>
            <a:endParaRPr lang="en-US" sz="17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3057" y="2022591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07973" y="0"/>
                </a:moveTo>
                <a:lnTo>
                  <a:pt x="251938" y="0"/>
                </a:lnTo>
                <a:cubicBezTo>
                  <a:pt x="311570" y="0"/>
                  <a:pt x="359911" y="48341"/>
                  <a:pt x="359911" y="107973"/>
                </a:cubicBezTo>
                <a:lnTo>
                  <a:pt x="359911" y="251938"/>
                </a:lnTo>
                <a:cubicBezTo>
                  <a:pt x="359911" y="311570"/>
                  <a:pt x="311570" y="359911"/>
                  <a:pt x="251938" y="359911"/>
                </a:cubicBezTo>
                <a:lnTo>
                  <a:pt x="107973" y="359911"/>
                </a:lnTo>
                <a:cubicBezTo>
                  <a:pt x="48341" y="359911"/>
                  <a:pt x="0" y="311570"/>
                  <a:pt x="0" y="251938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7"/>
          <p:cNvSpPr/>
          <p:nvPr/>
        </p:nvSpPr>
        <p:spPr>
          <a:xfrm>
            <a:off x="667411" y="2076577"/>
            <a:ext cx="269934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01</a:t>
            </a:r>
            <a:endParaRPr lang="en-US" sz="1275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86933" y="2022591"/>
            <a:ext cx="4759829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Develop Credit Scoring Model</a:t>
            </a:r>
            <a:endParaRPr lang="en-US" sz="12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6933" y="2310520"/>
            <a:ext cx="4750831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Build a data-driven credit scoring system using on-chain behavioral data to assess user creditworthiness in DeFi protocols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3057" y="2922369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07973" y="0"/>
                </a:moveTo>
                <a:lnTo>
                  <a:pt x="251938" y="0"/>
                </a:lnTo>
                <a:cubicBezTo>
                  <a:pt x="311570" y="0"/>
                  <a:pt x="359911" y="48341"/>
                  <a:pt x="359911" y="107973"/>
                </a:cubicBezTo>
                <a:lnTo>
                  <a:pt x="359911" y="251938"/>
                </a:lnTo>
                <a:cubicBezTo>
                  <a:pt x="359911" y="311570"/>
                  <a:pt x="311570" y="359911"/>
                  <a:pt x="251938" y="359911"/>
                </a:cubicBezTo>
                <a:lnTo>
                  <a:pt x="107973" y="359911"/>
                </a:lnTo>
                <a:cubicBezTo>
                  <a:pt x="48341" y="359911"/>
                  <a:pt x="0" y="311570"/>
                  <a:pt x="0" y="251938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3" name="Text 11"/>
          <p:cNvSpPr/>
          <p:nvPr/>
        </p:nvSpPr>
        <p:spPr>
          <a:xfrm>
            <a:off x="667411" y="2976356"/>
            <a:ext cx="269934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02</a:t>
            </a:r>
            <a:endParaRPr lang="en-US" sz="1275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86933" y="2922369"/>
            <a:ext cx="4759829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Implement Anomaly Detection</a:t>
            </a:r>
            <a:endParaRPr lang="en-US" sz="12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6933" y="3210298"/>
            <a:ext cx="4750831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Apply Isolation Forest algorithm to identify abnormal user behaviors, potential risks, and hidden whales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3057" y="3822148"/>
            <a:ext cx="359911" cy="359911"/>
          </a:xfrm>
          <a:custGeom>
            <a:avLst/>
            <a:gdLst/>
            <a:ahLst/>
            <a:cxnLst/>
            <a:rect l="l" t="t" r="r" b="b"/>
            <a:pathLst>
              <a:path w="359911" h="359911">
                <a:moveTo>
                  <a:pt x="107973" y="0"/>
                </a:moveTo>
                <a:lnTo>
                  <a:pt x="251938" y="0"/>
                </a:lnTo>
                <a:cubicBezTo>
                  <a:pt x="311570" y="0"/>
                  <a:pt x="359911" y="48341"/>
                  <a:pt x="359911" y="107973"/>
                </a:cubicBezTo>
                <a:lnTo>
                  <a:pt x="359911" y="251938"/>
                </a:lnTo>
                <a:cubicBezTo>
                  <a:pt x="359911" y="311570"/>
                  <a:pt x="311570" y="359911"/>
                  <a:pt x="251938" y="359911"/>
                </a:cubicBezTo>
                <a:lnTo>
                  <a:pt x="107973" y="359911"/>
                </a:lnTo>
                <a:cubicBezTo>
                  <a:pt x="48341" y="359911"/>
                  <a:pt x="0" y="311570"/>
                  <a:pt x="0" y="251938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667411" y="3876135"/>
            <a:ext cx="269934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03</a:t>
            </a:r>
            <a:endParaRPr lang="en-US" sz="1275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6933" y="3822148"/>
            <a:ext cx="4759829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Create Risk Assessment Framework</a:t>
            </a:r>
            <a:endParaRPr lang="en-US" sz="12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86933" y="4110077"/>
            <a:ext cx="4750831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Establish a two-layer risk assessment system combining credit scores with anomaly detection for comprehensive user evaluation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3220" y="4984750"/>
            <a:ext cx="5621655" cy="1778635"/>
          </a:xfrm>
          <a:custGeom>
            <a:avLst/>
            <a:gdLst/>
            <a:ahLst/>
            <a:cxnLst/>
            <a:rect l="l" t="t" r="r" b="b"/>
            <a:pathLst>
              <a:path w="5621817" h="1266888">
                <a:moveTo>
                  <a:pt x="107977" y="0"/>
                </a:moveTo>
                <a:lnTo>
                  <a:pt x="5513840" y="0"/>
                </a:lnTo>
                <a:cubicBezTo>
                  <a:pt x="5573474" y="0"/>
                  <a:pt x="5621817" y="48343"/>
                  <a:pt x="5621817" y="107977"/>
                </a:cubicBezTo>
                <a:lnTo>
                  <a:pt x="5621817" y="1158911"/>
                </a:lnTo>
                <a:cubicBezTo>
                  <a:pt x="5621817" y="1218545"/>
                  <a:pt x="5573474" y="1266888"/>
                  <a:pt x="5513840" y="1266888"/>
                </a:cubicBezTo>
                <a:lnTo>
                  <a:pt x="107977" y="1266888"/>
                </a:lnTo>
                <a:cubicBezTo>
                  <a:pt x="48343" y="1266888"/>
                  <a:pt x="0" y="1218545"/>
                  <a:pt x="0" y="1158911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7065" y="5204206"/>
            <a:ext cx="224945" cy="179956"/>
          </a:xfrm>
          <a:custGeom>
            <a:avLst/>
            <a:gdLst/>
            <a:ahLst/>
            <a:cxnLst/>
            <a:rect l="l" t="t" r="r" b="b"/>
            <a:pathLst>
              <a:path w="224945" h="179956">
                <a:moveTo>
                  <a:pt x="146179" y="73986"/>
                </a:moveTo>
                <a:cubicBezTo>
                  <a:pt x="150467" y="72826"/>
                  <a:pt x="154966" y="74864"/>
                  <a:pt x="156899" y="78836"/>
                </a:cubicBezTo>
                <a:lnTo>
                  <a:pt x="163436" y="92052"/>
                </a:lnTo>
                <a:cubicBezTo>
                  <a:pt x="167057" y="92544"/>
                  <a:pt x="170606" y="93528"/>
                  <a:pt x="173945" y="94899"/>
                </a:cubicBezTo>
                <a:lnTo>
                  <a:pt x="186247" y="86709"/>
                </a:lnTo>
                <a:cubicBezTo>
                  <a:pt x="189938" y="84249"/>
                  <a:pt x="194823" y="84741"/>
                  <a:pt x="197951" y="87869"/>
                </a:cubicBezTo>
                <a:lnTo>
                  <a:pt x="204700" y="94617"/>
                </a:lnTo>
                <a:cubicBezTo>
                  <a:pt x="207828" y="97745"/>
                  <a:pt x="208320" y="102666"/>
                  <a:pt x="205860" y="106321"/>
                </a:cubicBezTo>
                <a:lnTo>
                  <a:pt x="197670" y="118588"/>
                </a:lnTo>
                <a:cubicBezTo>
                  <a:pt x="198338" y="120240"/>
                  <a:pt x="198935" y="121962"/>
                  <a:pt x="199427" y="123755"/>
                </a:cubicBezTo>
                <a:cubicBezTo>
                  <a:pt x="199920" y="125547"/>
                  <a:pt x="200236" y="127305"/>
                  <a:pt x="200482" y="129097"/>
                </a:cubicBezTo>
                <a:lnTo>
                  <a:pt x="213733" y="135635"/>
                </a:lnTo>
                <a:cubicBezTo>
                  <a:pt x="217704" y="137603"/>
                  <a:pt x="219743" y="142102"/>
                  <a:pt x="218583" y="146355"/>
                </a:cubicBezTo>
                <a:lnTo>
                  <a:pt x="216123" y="155563"/>
                </a:lnTo>
                <a:cubicBezTo>
                  <a:pt x="214963" y="159816"/>
                  <a:pt x="210991" y="162698"/>
                  <a:pt x="206562" y="162417"/>
                </a:cubicBezTo>
                <a:lnTo>
                  <a:pt x="191800" y="161468"/>
                </a:lnTo>
                <a:cubicBezTo>
                  <a:pt x="189586" y="164315"/>
                  <a:pt x="187020" y="166951"/>
                  <a:pt x="184103" y="169201"/>
                </a:cubicBezTo>
                <a:lnTo>
                  <a:pt x="185052" y="183927"/>
                </a:lnTo>
                <a:cubicBezTo>
                  <a:pt x="185333" y="188356"/>
                  <a:pt x="182451" y="192363"/>
                  <a:pt x="178198" y="193488"/>
                </a:cubicBezTo>
                <a:lnTo>
                  <a:pt x="168990" y="195948"/>
                </a:lnTo>
                <a:cubicBezTo>
                  <a:pt x="164702" y="197108"/>
                  <a:pt x="160238" y="195069"/>
                  <a:pt x="158270" y="191098"/>
                </a:cubicBezTo>
                <a:lnTo>
                  <a:pt x="151732" y="177882"/>
                </a:lnTo>
                <a:cubicBezTo>
                  <a:pt x="148112" y="177390"/>
                  <a:pt x="144562" y="176406"/>
                  <a:pt x="141223" y="175035"/>
                </a:cubicBezTo>
                <a:lnTo>
                  <a:pt x="128921" y="183224"/>
                </a:lnTo>
                <a:cubicBezTo>
                  <a:pt x="125231" y="185685"/>
                  <a:pt x="120345" y="185193"/>
                  <a:pt x="117217" y="182065"/>
                </a:cubicBezTo>
                <a:lnTo>
                  <a:pt x="110469" y="175316"/>
                </a:lnTo>
                <a:cubicBezTo>
                  <a:pt x="107341" y="172188"/>
                  <a:pt x="106849" y="167303"/>
                  <a:pt x="109309" y="163612"/>
                </a:cubicBezTo>
                <a:lnTo>
                  <a:pt x="117498" y="151310"/>
                </a:lnTo>
                <a:cubicBezTo>
                  <a:pt x="116831" y="149658"/>
                  <a:pt x="116233" y="147936"/>
                  <a:pt x="115741" y="146144"/>
                </a:cubicBezTo>
                <a:cubicBezTo>
                  <a:pt x="115249" y="144351"/>
                  <a:pt x="114933" y="142559"/>
                  <a:pt x="114687" y="140801"/>
                </a:cubicBezTo>
                <a:lnTo>
                  <a:pt x="101436" y="134264"/>
                </a:lnTo>
                <a:cubicBezTo>
                  <a:pt x="97464" y="132296"/>
                  <a:pt x="95461" y="127797"/>
                  <a:pt x="96586" y="123544"/>
                </a:cubicBezTo>
                <a:lnTo>
                  <a:pt x="99046" y="114335"/>
                </a:lnTo>
                <a:cubicBezTo>
                  <a:pt x="100206" y="110082"/>
                  <a:pt x="104177" y="107200"/>
                  <a:pt x="108606" y="107481"/>
                </a:cubicBezTo>
                <a:lnTo>
                  <a:pt x="123333" y="108430"/>
                </a:lnTo>
                <a:cubicBezTo>
                  <a:pt x="125547" y="105583"/>
                  <a:pt x="128113" y="102947"/>
                  <a:pt x="131030" y="100698"/>
                </a:cubicBezTo>
                <a:lnTo>
                  <a:pt x="130081" y="86006"/>
                </a:lnTo>
                <a:cubicBezTo>
                  <a:pt x="129800" y="81578"/>
                  <a:pt x="132682" y="77571"/>
                  <a:pt x="136935" y="76446"/>
                </a:cubicBezTo>
                <a:lnTo>
                  <a:pt x="146144" y="73986"/>
                </a:lnTo>
                <a:close/>
                <a:moveTo>
                  <a:pt x="157602" y="119502"/>
                </a:moveTo>
                <a:cubicBezTo>
                  <a:pt x="149067" y="119512"/>
                  <a:pt x="142145" y="126449"/>
                  <a:pt x="142154" y="134984"/>
                </a:cubicBezTo>
                <a:cubicBezTo>
                  <a:pt x="142164" y="143520"/>
                  <a:pt x="149102" y="150441"/>
                  <a:pt x="157637" y="150432"/>
                </a:cubicBezTo>
                <a:cubicBezTo>
                  <a:pt x="166172" y="150422"/>
                  <a:pt x="173094" y="143485"/>
                  <a:pt x="173084" y="134949"/>
                </a:cubicBezTo>
                <a:cubicBezTo>
                  <a:pt x="173075" y="126414"/>
                  <a:pt x="166137" y="119492"/>
                  <a:pt x="157602" y="119502"/>
                </a:cubicBezTo>
                <a:close/>
                <a:moveTo>
                  <a:pt x="79047" y="-15992"/>
                </a:moveTo>
                <a:lnTo>
                  <a:pt x="88256" y="-13532"/>
                </a:lnTo>
                <a:cubicBezTo>
                  <a:pt x="92508" y="-12372"/>
                  <a:pt x="95391" y="-8365"/>
                  <a:pt x="95109" y="-3972"/>
                </a:cubicBezTo>
                <a:lnTo>
                  <a:pt x="94160" y="10720"/>
                </a:lnTo>
                <a:cubicBezTo>
                  <a:pt x="97078" y="12969"/>
                  <a:pt x="99643" y="15570"/>
                  <a:pt x="101858" y="18452"/>
                </a:cubicBezTo>
                <a:lnTo>
                  <a:pt x="116620" y="17504"/>
                </a:lnTo>
                <a:cubicBezTo>
                  <a:pt x="121013" y="17222"/>
                  <a:pt x="125020" y="20104"/>
                  <a:pt x="126180" y="24357"/>
                </a:cubicBezTo>
                <a:lnTo>
                  <a:pt x="128640" y="33566"/>
                </a:lnTo>
                <a:cubicBezTo>
                  <a:pt x="129765" y="37819"/>
                  <a:pt x="127762" y="42318"/>
                  <a:pt x="123790" y="44286"/>
                </a:cubicBezTo>
                <a:lnTo>
                  <a:pt x="110539" y="50823"/>
                </a:lnTo>
                <a:cubicBezTo>
                  <a:pt x="110293" y="52616"/>
                  <a:pt x="109942" y="54408"/>
                  <a:pt x="109485" y="56166"/>
                </a:cubicBezTo>
                <a:cubicBezTo>
                  <a:pt x="109028" y="57923"/>
                  <a:pt x="108395" y="59681"/>
                  <a:pt x="107727" y="61333"/>
                </a:cubicBezTo>
                <a:lnTo>
                  <a:pt x="115917" y="73634"/>
                </a:lnTo>
                <a:cubicBezTo>
                  <a:pt x="118377" y="77325"/>
                  <a:pt x="117885" y="82210"/>
                  <a:pt x="114757" y="85338"/>
                </a:cubicBezTo>
                <a:lnTo>
                  <a:pt x="108009" y="92087"/>
                </a:lnTo>
                <a:cubicBezTo>
                  <a:pt x="104880" y="95215"/>
                  <a:pt x="99995" y="95707"/>
                  <a:pt x="96304" y="93247"/>
                </a:cubicBezTo>
                <a:lnTo>
                  <a:pt x="84003" y="85057"/>
                </a:lnTo>
                <a:cubicBezTo>
                  <a:pt x="80664" y="86428"/>
                  <a:pt x="77114" y="87412"/>
                  <a:pt x="73494" y="87904"/>
                </a:cubicBezTo>
                <a:lnTo>
                  <a:pt x="66956" y="101120"/>
                </a:lnTo>
                <a:cubicBezTo>
                  <a:pt x="64988" y="105091"/>
                  <a:pt x="60489" y="107095"/>
                  <a:pt x="56236" y="105970"/>
                </a:cubicBezTo>
                <a:lnTo>
                  <a:pt x="47027" y="103510"/>
                </a:lnTo>
                <a:cubicBezTo>
                  <a:pt x="42739" y="102350"/>
                  <a:pt x="39893" y="98343"/>
                  <a:pt x="40174" y="93950"/>
                </a:cubicBezTo>
                <a:lnTo>
                  <a:pt x="41123" y="79223"/>
                </a:lnTo>
                <a:cubicBezTo>
                  <a:pt x="38205" y="76973"/>
                  <a:pt x="35640" y="74372"/>
                  <a:pt x="33425" y="71490"/>
                </a:cubicBezTo>
                <a:lnTo>
                  <a:pt x="18663" y="72439"/>
                </a:lnTo>
                <a:cubicBezTo>
                  <a:pt x="14270" y="72720"/>
                  <a:pt x="10263" y="69838"/>
                  <a:pt x="9103" y="65585"/>
                </a:cubicBezTo>
                <a:lnTo>
                  <a:pt x="6643" y="56377"/>
                </a:lnTo>
                <a:cubicBezTo>
                  <a:pt x="5518" y="52124"/>
                  <a:pt x="7522" y="47625"/>
                  <a:pt x="11493" y="45657"/>
                </a:cubicBezTo>
                <a:lnTo>
                  <a:pt x="24744" y="39119"/>
                </a:lnTo>
                <a:cubicBezTo>
                  <a:pt x="24990" y="37327"/>
                  <a:pt x="25341" y="35569"/>
                  <a:pt x="25798" y="33777"/>
                </a:cubicBezTo>
                <a:cubicBezTo>
                  <a:pt x="26290" y="31984"/>
                  <a:pt x="26853" y="30262"/>
                  <a:pt x="27556" y="28610"/>
                </a:cubicBezTo>
                <a:lnTo>
                  <a:pt x="19366" y="16344"/>
                </a:lnTo>
                <a:cubicBezTo>
                  <a:pt x="16906" y="12653"/>
                  <a:pt x="17398" y="7768"/>
                  <a:pt x="20526" y="4639"/>
                </a:cubicBezTo>
                <a:lnTo>
                  <a:pt x="27275" y="-2109"/>
                </a:lnTo>
                <a:cubicBezTo>
                  <a:pt x="30403" y="-5237"/>
                  <a:pt x="35288" y="-5729"/>
                  <a:pt x="38979" y="-3269"/>
                </a:cubicBezTo>
                <a:lnTo>
                  <a:pt x="51280" y="4921"/>
                </a:lnTo>
                <a:cubicBezTo>
                  <a:pt x="54619" y="3550"/>
                  <a:pt x="58169" y="2566"/>
                  <a:pt x="61789" y="2074"/>
                </a:cubicBezTo>
                <a:lnTo>
                  <a:pt x="68327" y="-11142"/>
                </a:lnTo>
                <a:cubicBezTo>
                  <a:pt x="70295" y="-15113"/>
                  <a:pt x="74759" y="-17117"/>
                  <a:pt x="79047" y="-15992"/>
                </a:cubicBezTo>
                <a:close/>
                <a:moveTo>
                  <a:pt x="67624" y="29524"/>
                </a:moveTo>
                <a:cubicBezTo>
                  <a:pt x="59089" y="29524"/>
                  <a:pt x="52159" y="36454"/>
                  <a:pt x="52159" y="44989"/>
                </a:cubicBezTo>
                <a:cubicBezTo>
                  <a:pt x="52159" y="53524"/>
                  <a:pt x="59089" y="60454"/>
                  <a:pt x="67624" y="60454"/>
                </a:cubicBezTo>
                <a:cubicBezTo>
                  <a:pt x="76159" y="60454"/>
                  <a:pt x="83089" y="53524"/>
                  <a:pt x="83089" y="44989"/>
                </a:cubicBezTo>
                <a:cubicBezTo>
                  <a:pt x="83089" y="36454"/>
                  <a:pt x="76159" y="29524"/>
                  <a:pt x="67624" y="2952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20"/>
          <p:cNvSpPr/>
          <p:nvPr/>
        </p:nvSpPr>
        <p:spPr>
          <a:xfrm>
            <a:off x="772010" y="5168215"/>
            <a:ext cx="5119740" cy="25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Technical Goals</a:t>
            </a:r>
            <a:endParaRPr lang="en-US" sz="141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5061" y="5678418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4" name="Text 22"/>
          <p:cNvSpPr/>
          <p:nvPr/>
        </p:nvSpPr>
        <p:spPr>
          <a:xfrm>
            <a:off x="835025" y="5614035"/>
            <a:ext cx="2409825" cy="363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Feature Engineering Pipeline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426139" y="5678418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6" name="Text 24"/>
          <p:cNvSpPr/>
          <p:nvPr/>
        </p:nvSpPr>
        <p:spPr>
          <a:xfrm>
            <a:off x="3696335" y="5642610"/>
            <a:ext cx="2132330" cy="270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Dimensionality Reduction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65061" y="6240463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835025" y="6204585"/>
            <a:ext cx="1953895" cy="264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Unsupervised Learning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26139" y="6240463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8"/>
          <p:cNvSpPr/>
          <p:nvPr/>
        </p:nvSpPr>
        <p:spPr>
          <a:xfrm>
            <a:off x="3696335" y="6204585"/>
            <a:ext cx="2221230" cy="2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Matrix Visualization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05855" y="1370965"/>
            <a:ext cx="5621655" cy="5395595"/>
          </a:xfrm>
          <a:custGeom>
            <a:avLst/>
            <a:gdLst/>
            <a:ahLst/>
            <a:cxnLst/>
            <a:rect l="l" t="t" r="r" b="b"/>
            <a:pathLst>
              <a:path w="5621817" h="5477852">
                <a:moveTo>
                  <a:pt x="107968" y="0"/>
                </a:moveTo>
                <a:lnTo>
                  <a:pt x="5513848" y="0"/>
                </a:lnTo>
                <a:cubicBezTo>
                  <a:pt x="5573478" y="0"/>
                  <a:pt x="5621817" y="48339"/>
                  <a:pt x="5621817" y="107968"/>
                </a:cubicBezTo>
                <a:lnTo>
                  <a:pt x="5621817" y="5369884"/>
                </a:lnTo>
                <a:cubicBezTo>
                  <a:pt x="5621817" y="5429513"/>
                  <a:pt x="5573478" y="5477852"/>
                  <a:pt x="5513848" y="5477852"/>
                </a:cubicBezTo>
                <a:lnTo>
                  <a:pt x="107968" y="5477852"/>
                </a:lnTo>
                <a:cubicBezTo>
                  <a:pt x="48339" y="5477852"/>
                  <a:pt x="0" y="5429513"/>
                  <a:pt x="0" y="5369884"/>
                </a:cubicBezTo>
                <a:lnTo>
                  <a:pt x="0" y="107968"/>
                </a:lnTo>
                <a:cubicBezTo>
                  <a:pt x="0" y="48379"/>
                  <a:pt x="48379" y="0"/>
                  <a:pt x="10796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52537" y="1626688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107973" y="74232"/>
                </a:moveTo>
                <a:cubicBezTo>
                  <a:pt x="100508" y="74232"/>
                  <a:pt x="94477" y="80263"/>
                  <a:pt x="94477" y="87728"/>
                </a:cubicBezTo>
                <a:cubicBezTo>
                  <a:pt x="94477" y="93338"/>
                  <a:pt x="89964" y="97851"/>
                  <a:pt x="84354" y="97851"/>
                </a:cubicBezTo>
                <a:cubicBezTo>
                  <a:pt x="78745" y="97851"/>
                  <a:pt x="74232" y="93338"/>
                  <a:pt x="74232" y="87728"/>
                </a:cubicBezTo>
                <a:cubicBezTo>
                  <a:pt x="74232" y="69086"/>
                  <a:pt x="89331" y="53987"/>
                  <a:pt x="107973" y="53987"/>
                </a:cubicBezTo>
                <a:cubicBezTo>
                  <a:pt x="126616" y="53987"/>
                  <a:pt x="141715" y="69086"/>
                  <a:pt x="141715" y="87728"/>
                </a:cubicBezTo>
                <a:cubicBezTo>
                  <a:pt x="141715" y="107636"/>
                  <a:pt x="126531" y="116071"/>
                  <a:pt x="118096" y="119150"/>
                </a:cubicBezTo>
                <a:lnTo>
                  <a:pt x="118096" y="120753"/>
                </a:lnTo>
                <a:cubicBezTo>
                  <a:pt x="118096" y="126363"/>
                  <a:pt x="113583" y="130876"/>
                  <a:pt x="107973" y="130876"/>
                </a:cubicBezTo>
                <a:cubicBezTo>
                  <a:pt x="102364" y="130876"/>
                  <a:pt x="97851" y="126363"/>
                  <a:pt x="97851" y="120753"/>
                </a:cubicBezTo>
                <a:lnTo>
                  <a:pt x="97851" y="117337"/>
                </a:lnTo>
                <a:cubicBezTo>
                  <a:pt x="97851" y="108690"/>
                  <a:pt x="104093" y="102490"/>
                  <a:pt x="110546" y="100382"/>
                </a:cubicBezTo>
                <a:cubicBezTo>
                  <a:pt x="113246" y="99496"/>
                  <a:pt x="116114" y="98062"/>
                  <a:pt x="118222" y="96037"/>
                </a:cubicBezTo>
                <a:cubicBezTo>
                  <a:pt x="120036" y="94266"/>
                  <a:pt x="121470" y="91820"/>
                  <a:pt x="121470" y="87771"/>
                </a:cubicBezTo>
                <a:cubicBezTo>
                  <a:pt x="121470" y="80305"/>
                  <a:pt x="115439" y="74274"/>
                  <a:pt x="107973" y="74274"/>
                </a:cubicBezTo>
                <a:close/>
                <a:moveTo>
                  <a:pt x="94477" y="155212"/>
                </a:moveTo>
                <a:cubicBezTo>
                  <a:pt x="94477" y="147763"/>
                  <a:pt x="100524" y="141715"/>
                  <a:pt x="107973" y="141715"/>
                </a:cubicBezTo>
                <a:cubicBezTo>
                  <a:pt x="115422" y="141715"/>
                  <a:pt x="121470" y="147763"/>
                  <a:pt x="121470" y="155212"/>
                </a:cubicBezTo>
                <a:cubicBezTo>
                  <a:pt x="121470" y="162661"/>
                  <a:pt x="115422" y="168708"/>
                  <a:pt x="107973" y="168708"/>
                </a:cubicBezTo>
                <a:cubicBezTo>
                  <a:pt x="100524" y="168708"/>
                  <a:pt x="94477" y="162661"/>
                  <a:pt x="94477" y="15521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Text 31"/>
          <p:cNvSpPr/>
          <p:nvPr/>
        </p:nvSpPr>
        <p:spPr>
          <a:xfrm>
            <a:off x="6695477" y="1590809"/>
            <a:ext cx="5020765" cy="2879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Research Questions</a:t>
            </a:r>
            <a:endParaRPr lang="en-US" sz="17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43539" y="2022591"/>
            <a:ext cx="5164729" cy="1043743"/>
          </a:xfrm>
          <a:custGeom>
            <a:avLst/>
            <a:gdLst/>
            <a:ahLst/>
            <a:cxnLst/>
            <a:rect l="l" t="t" r="r" b="b"/>
            <a:pathLst>
              <a:path w="5164729" h="1043743">
                <a:moveTo>
                  <a:pt x="35991" y="0"/>
                </a:moveTo>
                <a:lnTo>
                  <a:pt x="5092742" y="0"/>
                </a:lnTo>
                <a:cubicBezTo>
                  <a:pt x="5132499" y="0"/>
                  <a:pt x="5164729" y="32230"/>
                  <a:pt x="5164729" y="71987"/>
                </a:cubicBezTo>
                <a:lnTo>
                  <a:pt x="5164729" y="971756"/>
                </a:lnTo>
                <a:cubicBezTo>
                  <a:pt x="5164729" y="1011514"/>
                  <a:pt x="5132499" y="1043743"/>
                  <a:pt x="5092742" y="1043743"/>
                </a:cubicBez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443539" y="2022591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6" name="Text 34"/>
          <p:cNvSpPr/>
          <p:nvPr/>
        </p:nvSpPr>
        <p:spPr>
          <a:xfrm>
            <a:off x="6605500" y="2166555"/>
            <a:ext cx="4930787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RQ1: Feature Effectiveness</a:t>
            </a:r>
            <a:endParaRPr lang="en-US" sz="113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605500" y="2454484"/>
            <a:ext cx="4930787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Can on-chain behavioral features (deposits, borrowing patterns, volatility) effectively predict creditworthiness?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43539" y="3210298"/>
            <a:ext cx="5164729" cy="1043743"/>
          </a:xfrm>
          <a:custGeom>
            <a:avLst/>
            <a:gdLst/>
            <a:ahLst/>
            <a:cxnLst/>
            <a:rect l="l" t="t" r="r" b="b"/>
            <a:pathLst>
              <a:path w="5164729" h="1043743">
                <a:moveTo>
                  <a:pt x="35991" y="0"/>
                </a:moveTo>
                <a:lnTo>
                  <a:pt x="5092742" y="0"/>
                </a:lnTo>
                <a:cubicBezTo>
                  <a:pt x="5132499" y="0"/>
                  <a:pt x="5164729" y="32230"/>
                  <a:pt x="5164729" y="71987"/>
                </a:cubicBezTo>
                <a:lnTo>
                  <a:pt x="5164729" y="971756"/>
                </a:lnTo>
                <a:cubicBezTo>
                  <a:pt x="5164729" y="1011514"/>
                  <a:pt x="5132499" y="1043743"/>
                  <a:pt x="5092742" y="1043743"/>
                </a:cubicBez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6443539" y="3210298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0" name="Text 38"/>
          <p:cNvSpPr/>
          <p:nvPr/>
        </p:nvSpPr>
        <p:spPr>
          <a:xfrm>
            <a:off x="6605500" y="3354263"/>
            <a:ext cx="4930787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RQ2: Model Performance</a:t>
            </a:r>
            <a:endParaRPr lang="en-US" sz="113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605500" y="3642192"/>
            <a:ext cx="4930787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How accurately can PCA-based credit scores distinguish between high-risk and low-risk users?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443539" y="4398006"/>
            <a:ext cx="5164729" cy="1043743"/>
          </a:xfrm>
          <a:custGeom>
            <a:avLst/>
            <a:gdLst/>
            <a:ahLst/>
            <a:cxnLst/>
            <a:rect l="l" t="t" r="r" b="b"/>
            <a:pathLst>
              <a:path w="5164729" h="1043743">
                <a:moveTo>
                  <a:pt x="35991" y="0"/>
                </a:moveTo>
                <a:lnTo>
                  <a:pt x="5092742" y="0"/>
                </a:lnTo>
                <a:cubicBezTo>
                  <a:pt x="5132499" y="0"/>
                  <a:pt x="5164729" y="32230"/>
                  <a:pt x="5164729" y="71987"/>
                </a:cubicBezTo>
                <a:lnTo>
                  <a:pt x="5164729" y="971756"/>
                </a:lnTo>
                <a:cubicBezTo>
                  <a:pt x="5164729" y="1011514"/>
                  <a:pt x="5132499" y="1043743"/>
                  <a:pt x="5092742" y="1043743"/>
                </a:cubicBez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43539" y="4398006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6605500" y="4541971"/>
            <a:ext cx="4930787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RQ3: Anomaly Detection</a:t>
            </a:r>
            <a:endParaRPr lang="en-US" sz="113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605500" y="4829900"/>
            <a:ext cx="4930787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What types of abnormal behaviors can Isolation Forest identify, and how do they correlate with actual defaults?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43539" y="5585714"/>
            <a:ext cx="5164729" cy="1043743"/>
          </a:xfrm>
          <a:custGeom>
            <a:avLst/>
            <a:gdLst/>
            <a:ahLst/>
            <a:cxnLst/>
            <a:rect l="l" t="t" r="r" b="b"/>
            <a:pathLst>
              <a:path w="5164729" h="1043743">
                <a:moveTo>
                  <a:pt x="35991" y="0"/>
                </a:moveTo>
                <a:lnTo>
                  <a:pt x="5092742" y="0"/>
                </a:lnTo>
                <a:cubicBezTo>
                  <a:pt x="5132499" y="0"/>
                  <a:pt x="5164729" y="32230"/>
                  <a:pt x="5164729" y="71987"/>
                </a:cubicBezTo>
                <a:lnTo>
                  <a:pt x="5164729" y="971756"/>
                </a:lnTo>
                <a:cubicBezTo>
                  <a:pt x="5164729" y="1011514"/>
                  <a:pt x="5132499" y="1043743"/>
                  <a:pt x="5092742" y="1043743"/>
                </a:cubicBez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443539" y="5585714"/>
            <a:ext cx="35991" cy="1043743"/>
          </a:xfrm>
          <a:custGeom>
            <a:avLst/>
            <a:gdLst/>
            <a:ahLst/>
            <a:cxnLst/>
            <a:rect l="l" t="t" r="r" b="b"/>
            <a:pathLst>
              <a:path w="35991" h="1043743">
                <a:moveTo>
                  <a:pt x="35991" y="0"/>
                </a:moveTo>
                <a:lnTo>
                  <a:pt x="35991" y="0"/>
                </a:lnTo>
                <a:lnTo>
                  <a:pt x="35991" y="1043743"/>
                </a:lnTo>
                <a:lnTo>
                  <a:pt x="35991" y="1043743"/>
                </a:lnTo>
                <a:cubicBezTo>
                  <a:pt x="16114" y="1043743"/>
                  <a:pt x="0" y="1027629"/>
                  <a:pt x="0" y="1007752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8" name="Text 46"/>
          <p:cNvSpPr/>
          <p:nvPr/>
        </p:nvSpPr>
        <p:spPr>
          <a:xfrm>
            <a:off x="6605500" y="5729679"/>
            <a:ext cx="4930787" cy="2159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RQ4: Systemic Risk</a:t>
            </a:r>
            <a:endParaRPr lang="en-US" sz="113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05500" y="6017608"/>
            <a:ext cx="4930787" cy="46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How does the combination of credit scoring and anomaly detection improve overall risk assessment?</a:t>
            </a:r>
            <a:endParaRPr lang="en-US" sz="113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RESEARCH SIGNIFICANCE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Significance of the Research</a:t>
            </a:r>
            <a:endParaRPr lang="en-US" altLang="zh-CN" sz="2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20675" y="1209675"/>
            <a:ext cx="7642225" cy="3403600"/>
          </a:xfrm>
          <a:custGeom>
            <a:avLst/>
            <a:gdLst/>
            <a:ahLst/>
            <a:cxnLst/>
            <a:rect l="l" t="t" r="r" b="b"/>
            <a:pathLst>
              <a:path w="7642225" h="3403600">
                <a:moveTo>
                  <a:pt x="95267" y="0"/>
                </a:moveTo>
                <a:lnTo>
                  <a:pt x="7546958" y="0"/>
                </a:lnTo>
                <a:cubicBezTo>
                  <a:pt x="7599573" y="0"/>
                  <a:pt x="7642225" y="42652"/>
                  <a:pt x="7642225" y="95267"/>
                </a:cubicBezTo>
                <a:lnTo>
                  <a:pt x="7642225" y="3308333"/>
                </a:lnTo>
                <a:cubicBezTo>
                  <a:pt x="7642225" y="3360948"/>
                  <a:pt x="7599573" y="3403600"/>
                  <a:pt x="7546958" y="3403600"/>
                </a:cubicBezTo>
                <a:lnTo>
                  <a:pt x="95267" y="3403600"/>
                </a:lnTo>
                <a:cubicBezTo>
                  <a:pt x="42652" y="3403600"/>
                  <a:pt x="0" y="3360948"/>
                  <a:pt x="0" y="3308333"/>
                </a:cubicBezTo>
                <a:lnTo>
                  <a:pt x="0" y="95267"/>
                </a:lnTo>
                <a:cubicBezTo>
                  <a:pt x="0" y="42652"/>
                  <a:pt x="42652" y="0"/>
                  <a:pt x="9526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8163" y="14350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414" y="17859"/>
                </a:moveTo>
                <a:lnTo>
                  <a:pt x="116086" y="17859"/>
                </a:lnTo>
                <a:cubicBezTo>
                  <a:pt x="117723" y="17859"/>
                  <a:pt x="119063" y="19199"/>
                  <a:pt x="119063" y="20836"/>
                </a:cubicBezTo>
                <a:lnTo>
                  <a:pt x="119063" y="35719"/>
                </a:lnTo>
                <a:lnTo>
                  <a:pt x="71438" y="35719"/>
                </a:lnTo>
                <a:lnTo>
                  <a:pt x="71438" y="20836"/>
                </a:lnTo>
                <a:cubicBezTo>
                  <a:pt x="71438" y="19199"/>
                  <a:pt x="72777" y="17859"/>
                  <a:pt x="74414" y="17859"/>
                </a:cubicBezTo>
                <a:close/>
                <a:moveTo>
                  <a:pt x="53578" y="20836"/>
                </a:moveTo>
                <a:lnTo>
                  <a:pt x="53578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95250"/>
                </a:lnTo>
                <a:lnTo>
                  <a:pt x="190500" y="95250"/>
                </a:ln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6922" y="35719"/>
                </a:lnTo>
                <a:lnTo>
                  <a:pt x="136922" y="20836"/>
                </a:lnTo>
                <a:cubicBezTo>
                  <a:pt x="136922" y="9339"/>
                  <a:pt x="127583" y="0"/>
                  <a:pt x="116086" y="0"/>
                </a:cubicBezTo>
                <a:lnTo>
                  <a:pt x="74414" y="0"/>
                </a:lnTo>
                <a:cubicBezTo>
                  <a:pt x="62917" y="0"/>
                  <a:pt x="53578" y="9339"/>
                  <a:pt x="53578" y="20836"/>
                </a:cubicBezTo>
                <a:close/>
                <a:moveTo>
                  <a:pt x="190500" y="113109"/>
                </a:moveTo>
                <a:lnTo>
                  <a:pt x="119063" y="113109"/>
                </a:lnTo>
                <a:lnTo>
                  <a:pt x="119063" y="119063"/>
                </a:lnTo>
                <a:cubicBezTo>
                  <a:pt x="119063" y="125648"/>
                  <a:pt x="113742" y="130969"/>
                  <a:pt x="107156" y="130969"/>
                </a:cubicBezTo>
                <a:lnTo>
                  <a:pt x="83344" y="130969"/>
                </a:lnTo>
                <a:cubicBezTo>
                  <a:pt x="76758" y="130969"/>
                  <a:pt x="71438" y="125648"/>
                  <a:pt x="71438" y="119063"/>
                </a:cubicBezTo>
                <a:lnTo>
                  <a:pt x="71438" y="113109"/>
                </a:lnTo>
                <a:lnTo>
                  <a:pt x="0" y="113109"/>
                </a:ln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113109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752475" y="1403350"/>
            <a:ext cx="7112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Practical Significance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4350" y="1784252"/>
            <a:ext cx="3563938" cy="1254125"/>
          </a:xfrm>
          <a:custGeom>
            <a:avLst/>
            <a:gdLst/>
            <a:ahLst/>
            <a:cxnLst/>
            <a:rect l="l" t="t" r="r" b="b"/>
            <a:pathLst>
              <a:path w="3563938" h="1254125">
                <a:moveTo>
                  <a:pt x="63496" y="0"/>
                </a:moveTo>
                <a:lnTo>
                  <a:pt x="3500441" y="0"/>
                </a:lnTo>
                <a:cubicBezTo>
                  <a:pt x="3535509" y="0"/>
                  <a:pt x="3563938" y="28428"/>
                  <a:pt x="3563938" y="63496"/>
                </a:cubicBezTo>
                <a:lnTo>
                  <a:pt x="3563938" y="1190629"/>
                </a:lnTo>
                <a:cubicBezTo>
                  <a:pt x="3563938" y="1225697"/>
                  <a:pt x="3535509" y="1254125"/>
                  <a:pt x="3500441" y="1254125"/>
                </a:cubicBezTo>
                <a:lnTo>
                  <a:pt x="63496" y="1254125"/>
                </a:lnTo>
                <a:cubicBezTo>
                  <a:pt x="28428" y="1254125"/>
                  <a:pt x="0" y="1225697"/>
                  <a:pt x="0" y="11906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41350" y="19112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28663" y="20065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-3969"/>
                </a:moveTo>
                <a:cubicBezTo>
                  <a:pt x="68138" y="-3969"/>
                  <a:pt x="65484" y="-1315"/>
                  <a:pt x="65484" y="1984"/>
                </a:cubicBezTo>
                <a:lnTo>
                  <a:pt x="65484" y="4961"/>
                </a:lnTo>
                <a:lnTo>
                  <a:pt x="65038" y="4961"/>
                </a:lnTo>
                <a:cubicBezTo>
                  <a:pt x="55959" y="4961"/>
                  <a:pt x="48617" y="12328"/>
                  <a:pt x="48617" y="21382"/>
                </a:cubicBezTo>
                <a:cubicBezTo>
                  <a:pt x="48617" y="29666"/>
                  <a:pt x="54794" y="36661"/>
                  <a:pt x="63004" y="37678"/>
                </a:cubicBezTo>
                <a:lnTo>
                  <a:pt x="78135" y="39563"/>
                </a:lnTo>
                <a:cubicBezTo>
                  <a:pt x="79400" y="39712"/>
                  <a:pt x="80367" y="40804"/>
                  <a:pt x="80367" y="42094"/>
                </a:cubicBezTo>
                <a:cubicBezTo>
                  <a:pt x="80367" y="43507"/>
                  <a:pt x="79226" y="44624"/>
                  <a:pt x="77837" y="44624"/>
                </a:cubicBezTo>
                <a:lnTo>
                  <a:pt x="59531" y="44648"/>
                </a:lnTo>
                <a:cubicBezTo>
                  <a:pt x="55687" y="44648"/>
                  <a:pt x="52586" y="47749"/>
                  <a:pt x="52586" y="51594"/>
                </a:cubicBezTo>
                <a:cubicBezTo>
                  <a:pt x="52586" y="55438"/>
                  <a:pt x="55687" y="58539"/>
                  <a:pt x="59531" y="58539"/>
                </a:cubicBezTo>
                <a:lnTo>
                  <a:pt x="65484" y="58539"/>
                </a:lnTo>
                <a:lnTo>
                  <a:pt x="65484" y="61516"/>
                </a:lnTo>
                <a:cubicBezTo>
                  <a:pt x="65484" y="64815"/>
                  <a:pt x="68138" y="67469"/>
                  <a:pt x="71438" y="67469"/>
                </a:cubicBezTo>
                <a:cubicBezTo>
                  <a:pt x="74737" y="67469"/>
                  <a:pt x="77391" y="64815"/>
                  <a:pt x="77391" y="61516"/>
                </a:cubicBezTo>
                <a:lnTo>
                  <a:pt x="77391" y="58539"/>
                </a:lnTo>
                <a:lnTo>
                  <a:pt x="77837" y="58539"/>
                </a:lnTo>
                <a:cubicBezTo>
                  <a:pt x="86916" y="58539"/>
                  <a:pt x="94258" y="51172"/>
                  <a:pt x="94258" y="42118"/>
                </a:cubicBezTo>
                <a:cubicBezTo>
                  <a:pt x="94258" y="33834"/>
                  <a:pt x="88081" y="26839"/>
                  <a:pt x="79871" y="25822"/>
                </a:cubicBezTo>
                <a:lnTo>
                  <a:pt x="64740" y="23937"/>
                </a:lnTo>
                <a:cubicBezTo>
                  <a:pt x="63475" y="23788"/>
                  <a:pt x="62508" y="22696"/>
                  <a:pt x="62508" y="21406"/>
                </a:cubicBezTo>
                <a:cubicBezTo>
                  <a:pt x="62508" y="19993"/>
                  <a:pt x="63649" y="18876"/>
                  <a:pt x="65038" y="18876"/>
                </a:cubicBezTo>
                <a:lnTo>
                  <a:pt x="81359" y="18852"/>
                </a:lnTo>
                <a:cubicBezTo>
                  <a:pt x="85204" y="18852"/>
                  <a:pt x="88305" y="15751"/>
                  <a:pt x="88305" y="11906"/>
                </a:cubicBezTo>
                <a:cubicBezTo>
                  <a:pt x="88305" y="8062"/>
                  <a:pt x="85204" y="4961"/>
                  <a:pt x="81359" y="4961"/>
                </a:cubicBezTo>
                <a:lnTo>
                  <a:pt x="77391" y="4961"/>
                </a:lnTo>
                <a:lnTo>
                  <a:pt x="77391" y="1984"/>
                </a:lnTo>
                <a:cubicBezTo>
                  <a:pt x="77391" y="-1315"/>
                  <a:pt x="74737" y="-3969"/>
                  <a:pt x="71438" y="-3969"/>
                </a:cubicBezTo>
                <a:close/>
                <a:moveTo>
                  <a:pt x="27112" y="84708"/>
                </a:moveTo>
                <a:lnTo>
                  <a:pt x="16545" y="95250"/>
                </a:lnTo>
                <a:lnTo>
                  <a:pt x="7938" y="95250"/>
                </a:lnTo>
                <a:cubicBezTo>
                  <a:pt x="3547" y="95250"/>
                  <a:pt x="0" y="98797"/>
                  <a:pt x="0" y="103188"/>
                </a:cubicBezTo>
                <a:lnTo>
                  <a:pt x="0" y="119063"/>
                </a:lnTo>
                <a:cubicBezTo>
                  <a:pt x="0" y="123453"/>
                  <a:pt x="3547" y="127000"/>
                  <a:pt x="7938" y="127000"/>
                </a:cubicBezTo>
                <a:lnTo>
                  <a:pt x="87437" y="127000"/>
                </a:lnTo>
                <a:cubicBezTo>
                  <a:pt x="94630" y="127000"/>
                  <a:pt x="101650" y="124693"/>
                  <a:pt x="107454" y="120427"/>
                </a:cubicBezTo>
                <a:lnTo>
                  <a:pt x="138857" y="97284"/>
                </a:lnTo>
                <a:cubicBezTo>
                  <a:pt x="143272" y="94035"/>
                  <a:pt x="144214" y="87833"/>
                  <a:pt x="140965" y="83418"/>
                </a:cubicBezTo>
                <a:cubicBezTo>
                  <a:pt x="137716" y="79003"/>
                  <a:pt x="131514" y="78060"/>
                  <a:pt x="127099" y="81310"/>
                </a:cubicBezTo>
                <a:lnTo>
                  <a:pt x="97383" y="103188"/>
                </a:lnTo>
                <a:lnTo>
                  <a:pt x="69453" y="103188"/>
                </a:lnTo>
                <a:cubicBezTo>
                  <a:pt x="66154" y="103188"/>
                  <a:pt x="63500" y="100533"/>
                  <a:pt x="63500" y="97234"/>
                </a:cubicBezTo>
                <a:cubicBezTo>
                  <a:pt x="63500" y="93935"/>
                  <a:pt x="66154" y="91281"/>
                  <a:pt x="69453" y="91281"/>
                </a:cubicBezTo>
                <a:lnTo>
                  <a:pt x="87313" y="91281"/>
                </a:lnTo>
                <a:cubicBezTo>
                  <a:pt x="91703" y="91281"/>
                  <a:pt x="95250" y="87734"/>
                  <a:pt x="95250" y="83344"/>
                </a:cubicBezTo>
                <a:cubicBezTo>
                  <a:pt x="95250" y="78953"/>
                  <a:pt x="91703" y="75406"/>
                  <a:pt x="87313" y="75406"/>
                </a:cubicBezTo>
                <a:lnTo>
                  <a:pt x="49560" y="75406"/>
                </a:lnTo>
                <a:cubicBezTo>
                  <a:pt x="41151" y="75406"/>
                  <a:pt x="33065" y="78755"/>
                  <a:pt x="27112" y="8470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9"/>
          <p:cNvSpPr/>
          <p:nvPr/>
        </p:nvSpPr>
        <p:spPr>
          <a:xfrm>
            <a:off x="1054100" y="1958877"/>
            <a:ext cx="2032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Informed Lending Decisions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1350" y="2292252"/>
            <a:ext cx="3373438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DeFi platforms can use credit scores to evaluate borrower risk, set appropriate interest rates, and determine collateral requirements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06875" y="1784252"/>
            <a:ext cx="3563938" cy="1254125"/>
          </a:xfrm>
          <a:custGeom>
            <a:avLst/>
            <a:gdLst/>
            <a:ahLst/>
            <a:cxnLst/>
            <a:rect l="l" t="t" r="r" b="b"/>
            <a:pathLst>
              <a:path w="3563938" h="1254125">
                <a:moveTo>
                  <a:pt x="63496" y="0"/>
                </a:moveTo>
                <a:lnTo>
                  <a:pt x="3500441" y="0"/>
                </a:lnTo>
                <a:cubicBezTo>
                  <a:pt x="3535509" y="0"/>
                  <a:pt x="3563938" y="28428"/>
                  <a:pt x="3563938" y="63496"/>
                </a:cubicBezTo>
                <a:lnTo>
                  <a:pt x="3563938" y="1190629"/>
                </a:lnTo>
                <a:cubicBezTo>
                  <a:pt x="3563938" y="1225697"/>
                  <a:pt x="3535509" y="1254125"/>
                  <a:pt x="3500441" y="1254125"/>
                </a:cubicBezTo>
                <a:lnTo>
                  <a:pt x="63496" y="1254125"/>
                </a:lnTo>
                <a:cubicBezTo>
                  <a:pt x="28428" y="1254125"/>
                  <a:pt x="0" y="1225697"/>
                  <a:pt x="0" y="11906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4333875" y="19112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429125" y="20065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6" name="Text 14"/>
          <p:cNvSpPr/>
          <p:nvPr/>
        </p:nvSpPr>
        <p:spPr>
          <a:xfrm>
            <a:off x="4746625" y="1958877"/>
            <a:ext cx="1301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Prevent Bad Debt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33875" y="2197002"/>
            <a:ext cx="3373438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Early identification of high-risk users enables platforms to implement preventive measures and reduce default rates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4350" y="3165377"/>
            <a:ext cx="3563938" cy="1254125"/>
          </a:xfrm>
          <a:custGeom>
            <a:avLst/>
            <a:gdLst/>
            <a:ahLst/>
            <a:cxnLst/>
            <a:rect l="l" t="t" r="r" b="b"/>
            <a:pathLst>
              <a:path w="3563938" h="1254125">
                <a:moveTo>
                  <a:pt x="63496" y="0"/>
                </a:moveTo>
                <a:lnTo>
                  <a:pt x="3500441" y="0"/>
                </a:lnTo>
                <a:cubicBezTo>
                  <a:pt x="3535509" y="0"/>
                  <a:pt x="3563938" y="28428"/>
                  <a:pt x="3563938" y="63496"/>
                </a:cubicBezTo>
                <a:lnTo>
                  <a:pt x="3563938" y="1190629"/>
                </a:lnTo>
                <a:cubicBezTo>
                  <a:pt x="3563938" y="1225697"/>
                  <a:pt x="3535509" y="1254125"/>
                  <a:pt x="3500441" y="1254125"/>
                </a:cubicBezTo>
                <a:lnTo>
                  <a:pt x="63496" y="1254125"/>
                </a:lnTo>
                <a:cubicBezTo>
                  <a:pt x="28428" y="1254125"/>
                  <a:pt x="0" y="1225697"/>
                  <a:pt x="0" y="11906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41350" y="32923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28663" y="3387627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73720" y="127000"/>
                </a:lnTo>
                <a:cubicBezTo>
                  <a:pt x="64740" y="116433"/>
                  <a:pt x="59531" y="102815"/>
                  <a:pt x="59531" y="88404"/>
                </a:cubicBezTo>
                <a:lnTo>
                  <a:pt x="59531" y="80690"/>
                </a:lnTo>
                <a:cubicBezTo>
                  <a:pt x="59531" y="78879"/>
                  <a:pt x="59779" y="77093"/>
                  <a:pt x="60251" y="75406"/>
                </a:cubicBezTo>
                <a:lnTo>
                  <a:pt x="48196" y="75406"/>
                </a:lnTo>
                <a:close/>
                <a:moveTo>
                  <a:pt x="110455" y="121171"/>
                </a:moveTo>
                <a:lnTo>
                  <a:pt x="107156" y="122734"/>
                </a:lnTo>
                <a:lnTo>
                  <a:pt x="107156" y="76076"/>
                </a:lnTo>
                <a:lnTo>
                  <a:pt x="130969" y="84013"/>
                </a:lnTo>
                <a:lnTo>
                  <a:pt x="130969" y="88875"/>
                </a:lnTo>
                <a:cubicBezTo>
                  <a:pt x="130969" y="102716"/>
                  <a:pt x="122982" y="115292"/>
                  <a:pt x="110455" y="121196"/>
                </a:cubicBezTo>
                <a:close/>
                <a:moveTo>
                  <a:pt x="104651" y="64368"/>
                </a:moveTo>
                <a:lnTo>
                  <a:pt x="76870" y="73620"/>
                </a:lnTo>
                <a:cubicBezTo>
                  <a:pt x="73620" y="74712"/>
                  <a:pt x="71438" y="77738"/>
                  <a:pt x="71438" y="81161"/>
                </a:cubicBezTo>
                <a:lnTo>
                  <a:pt x="71438" y="88875"/>
                </a:lnTo>
                <a:cubicBezTo>
                  <a:pt x="71438" y="107330"/>
                  <a:pt x="82104" y="124123"/>
                  <a:pt x="98772" y="131961"/>
                </a:cubicBezTo>
                <a:lnTo>
                  <a:pt x="103361" y="134119"/>
                </a:lnTo>
                <a:cubicBezTo>
                  <a:pt x="104552" y="134665"/>
                  <a:pt x="105842" y="134962"/>
                  <a:pt x="107131" y="134962"/>
                </a:cubicBezTo>
                <a:cubicBezTo>
                  <a:pt x="108421" y="134962"/>
                  <a:pt x="109736" y="134665"/>
                  <a:pt x="110902" y="134119"/>
                </a:cubicBezTo>
                <a:lnTo>
                  <a:pt x="115491" y="131961"/>
                </a:lnTo>
                <a:cubicBezTo>
                  <a:pt x="132209" y="124098"/>
                  <a:pt x="142875" y="107305"/>
                  <a:pt x="142875" y="88850"/>
                </a:cubicBezTo>
                <a:lnTo>
                  <a:pt x="142875" y="81136"/>
                </a:lnTo>
                <a:cubicBezTo>
                  <a:pt x="142875" y="77713"/>
                  <a:pt x="140692" y="74687"/>
                  <a:pt x="137443" y="73596"/>
                </a:cubicBezTo>
                <a:lnTo>
                  <a:pt x="109662" y="64343"/>
                </a:lnTo>
                <a:cubicBezTo>
                  <a:pt x="108024" y="63798"/>
                  <a:pt x="106263" y="63798"/>
                  <a:pt x="104651" y="6434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1" name="Text 19"/>
          <p:cNvSpPr/>
          <p:nvPr/>
        </p:nvSpPr>
        <p:spPr>
          <a:xfrm>
            <a:off x="1054100" y="3340002"/>
            <a:ext cx="146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Identify Risky Users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1350" y="3673377"/>
            <a:ext cx="3373438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Anomaly detection reveals hidden whales and gamblers who may pose systemic risks to the protocol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06875" y="3165377"/>
            <a:ext cx="3563938" cy="1254125"/>
          </a:xfrm>
          <a:custGeom>
            <a:avLst/>
            <a:gdLst/>
            <a:ahLst/>
            <a:cxnLst/>
            <a:rect l="l" t="t" r="r" b="b"/>
            <a:pathLst>
              <a:path w="3563938" h="1254125">
                <a:moveTo>
                  <a:pt x="63496" y="0"/>
                </a:moveTo>
                <a:lnTo>
                  <a:pt x="3500441" y="0"/>
                </a:lnTo>
                <a:cubicBezTo>
                  <a:pt x="3535509" y="0"/>
                  <a:pt x="3563938" y="28428"/>
                  <a:pt x="3563938" y="63496"/>
                </a:cubicBezTo>
                <a:lnTo>
                  <a:pt x="3563938" y="1190629"/>
                </a:lnTo>
                <a:cubicBezTo>
                  <a:pt x="3563938" y="1225697"/>
                  <a:pt x="3535509" y="1254125"/>
                  <a:pt x="3500441" y="1254125"/>
                </a:cubicBezTo>
                <a:lnTo>
                  <a:pt x="63496" y="1254125"/>
                </a:lnTo>
                <a:cubicBezTo>
                  <a:pt x="28428" y="1254125"/>
                  <a:pt x="0" y="1225697"/>
                  <a:pt x="0" y="11906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4333875" y="3292377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4429125" y="338762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6" name="Text 24"/>
          <p:cNvSpPr/>
          <p:nvPr/>
        </p:nvSpPr>
        <p:spPr>
          <a:xfrm>
            <a:off x="4746625" y="3340002"/>
            <a:ext cx="1293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Capital Efficiency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333875" y="3673377"/>
            <a:ext cx="3373438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Reliable credit assessment can reduce over-collateralization requirements, improving capital efficiency for borrowers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675" y="4778275"/>
            <a:ext cx="7642225" cy="1943100"/>
          </a:xfrm>
          <a:custGeom>
            <a:avLst/>
            <a:gdLst/>
            <a:ahLst/>
            <a:cxnLst/>
            <a:rect l="l" t="t" r="r" b="b"/>
            <a:pathLst>
              <a:path w="7642225" h="1943100">
                <a:moveTo>
                  <a:pt x="95251" y="0"/>
                </a:moveTo>
                <a:lnTo>
                  <a:pt x="7546974" y="0"/>
                </a:lnTo>
                <a:cubicBezTo>
                  <a:pt x="7599580" y="0"/>
                  <a:pt x="7642225" y="42645"/>
                  <a:pt x="7642225" y="95251"/>
                </a:cubicBezTo>
                <a:lnTo>
                  <a:pt x="7642225" y="1847849"/>
                </a:lnTo>
                <a:cubicBezTo>
                  <a:pt x="7642225" y="1900455"/>
                  <a:pt x="7599580" y="1943100"/>
                  <a:pt x="7546974" y="1943100"/>
                </a:cubicBezTo>
                <a:lnTo>
                  <a:pt x="95251" y="1943100"/>
                </a:lnTo>
                <a:cubicBezTo>
                  <a:pt x="42645" y="1943100"/>
                  <a:pt x="0" y="1900455"/>
                  <a:pt x="0" y="1847849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2522" y="49719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30" name="Text 28"/>
          <p:cNvSpPr/>
          <p:nvPr/>
        </p:nvSpPr>
        <p:spPr>
          <a:xfrm>
            <a:off x="681037" y="4940202"/>
            <a:ext cx="7199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Theoretical Contributions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438275" y="525770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1577181" y="53847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1"/>
          <p:cNvSpPr/>
          <p:nvPr/>
        </p:nvSpPr>
        <p:spPr>
          <a:xfrm>
            <a:off x="450850" y="5765702"/>
            <a:ext cx="2420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Methodology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0850" y="5987952"/>
            <a:ext cx="2420938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Novel approach combining PCA with anomaly detection for DeFi risk assessment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921125" y="525770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4060031" y="53847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37" name="Text 35"/>
          <p:cNvSpPr/>
          <p:nvPr/>
        </p:nvSpPr>
        <p:spPr>
          <a:xfrm>
            <a:off x="2933700" y="5765702"/>
            <a:ext cx="2420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Feature Engineering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933700" y="5987952"/>
            <a:ext cx="2420938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Framework for extracting meaningful credit indicators from blockchain data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03975" y="525770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519069" y="538470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41" name="Text 39"/>
          <p:cNvSpPr/>
          <p:nvPr/>
        </p:nvSpPr>
        <p:spPr>
          <a:xfrm>
            <a:off x="5416550" y="5765702"/>
            <a:ext cx="2420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Framework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16550" y="5987952"/>
            <a:ext cx="2420938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Four-quadrant risk matrix for comprehensive user segmentation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31175" y="1209675"/>
            <a:ext cx="3736975" cy="3404235"/>
          </a:xfrm>
          <a:custGeom>
            <a:avLst/>
            <a:gdLst/>
            <a:ahLst/>
            <a:cxnLst/>
            <a:rect l="l" t="t" r="r" b="b"/>
            <a:pathLst>
              <a:path w="3736975" h="4006850">
                <a:moveTo>
                  <a:pt x="95255" y="0"/>
                </a:moveTo>
                <a:lnTo>
                  <a:pt x="3641720" y="0"/>
                </a:lnTo>
                <a:cubicBezTo>
                  <a:pt x="3694328" y="0"/>
                  <a:pt x="3736975" y="42647"/>
                  <a:pt x="3736975" y="95255"/>
                </a:cubicBezTo>
                <a:lnTo>
                  <a:pt x="3736975" y="3911595"/>
                </a:lnTo>
                <a:cubicBezTo>
                  <a:pt x="3736975" y="3964203"/>
                  <a:pt x="3694328" y="4006850"/>
                  <a:pt x="3641720" y="4006850"/>
                </a:cubicBezTo>
                <a:lnTo>
                  <a:pt x="95255" y="4006850"/>
                </a:lnTo>
                <a:cubicBezTo>
                  <a:pt x="42647" y="4006850"/>
                  <a:pt x="0" y="3964203"/>
                  <a:pt x="0" y="3911595"/>
                </a:cubicBezTo>
                <a:lnTo>
                  <a:pt x="0" y="95255"/>
                </a:lnTo>
                <a:cubicBezTo>
                  <a:pt x="0" y="42683"/>
                  <a:pt x="42683" y="0"/>
                  <a:pt x="95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12944" y="14033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9110" y="86816"/>
                </a:moveTo>
                <a:lnTo>
                  <a:pt x="49919" y="86816"/>
                </a:lnTo>
                <a:cubicBezTo>
                  <a:pt x="50819" y="106815"/>
                  <a:pt x="55252" y="125233"/>
                  <a:pt x="61547" y="138720"/>
                </a:cubicBezTo>
                <a:cubicBezTo>
                  <a:pt x="65081" y="146317"/>
                  <a:pt x="68895" y="151681"/>
                  <a:pt x="72430" y="154967"/>
                </a:cubicBezTo>
                <a:cubicBezTo>
                  <a:pt x="75902" y="158223"/>
                  <a:pt x="78290" y="158750"/>
                  <a:pt x="79530" y="158750"/>
                </a:cubicBezTo>
                <a:cubicBezTo>
                  <a:pt x="80770" y="158750"/>
                  <a:pt x="83158" y="158223"/>
                  <a:pt x="86630" y="154967"/>
                </a:cubicBezTo>
                <a:cubicBezTo>
                  <a:pt x="90165" y="151681"/>
                  <a:pt x="93979" y="146286"/>
                  <a:pt x="97513" y="138720"/>
                </a:cubicBezTo>
                <a:cubicBezTo>
                  <a:pt x="103808" y="125233"/>
                  <a:pt x="108241" y="106815"/>
                  <a:pt x="109141" y="86816"/>
                </a:cubicBezTo>
                <a:close/>
                <a:moveTo>
                  <a:pt x="49888" y="71934"/>
                </a:moveTo>
                <a:lnTo>
                  <a:pt x="109079" y="71934"/>
                </a:lnTo>
                <a:cubicBezTo>
                  <a:pt x="108210" y="51935"/>
                  <a:pt x="103777" y="33517"/>
                  <a:pt x="97482" y="20030"/>
                </a:cubicBezTo>
                <a:cubicBezTo>
                  <a:pt x="93948" y="12464"/>
                  <a:pt x="90134" y="7069"/>
                  <a:pt x="86599" y="3783"/>
                </a:cubicBezTo>
                <a:cubicBezTo>
                  <a:pt x="83127" y="527"/>
                  <a:pt x="80739" y="0"/>
                  <a:pt x="79499" y="0"/>
                </a:cubicBezTo>
                <a:cubicBezTo>
                  <a:pt x="78259" y="0"/>
                  <a:pt x="75871" y="527"/>
                  <a:pt x="72399" y="3783"/>
                </a:cubicBezTo>
                <a:cubicBezTo>
                  <a:pt x="68864" y="7069"/>
                  <a:pt x="65050" y="12464"/>
                  <a:pt x="61516" y="20030"/>
                </a:cubicBezTo>
                <a:cubicBezTo>
                  <a:pt x="55221" y="33517"/>
                  <a:pt x="50788" y="51935"/>
                  <a:pt x="49888" y="71934"/>
                </a:cubicBezTo>
                <a:close/>
                <a:moveTo>
                  <a:pt x="35006" y="71934"/>
                </a:moveTo>
                <a:cubicBezTo>
                  <a:pt x="36091" y="45393"/>
                  <a:pt x="42943" y="20743"/>
                  <a:pt x="52958" y="4558"/>
                </a:cubicBezTo>
                <a:cubicBezTo>
                  <a:pt x="24402" y="14666"/>
                  <a:pt x="3380" y="40680"/>
                  <a:pt x="465" y="71934"/>
                </a:cubicBezTo>
                <a:lnTo>
                  <a:pt x="35006" y="71934"/>
                </a:lnTo>
                <a:close/>
                <a:moveTo>
                  <a:pt x="465" y="86816"/>
                </a:moveTo>
                <a:cubicBezTo>
                  <a:pt x="3380" y="118070"/>
                  <a:pt x="24402" y="144084"/>
                  <a:pt x="52958" y="154192"/>
                </a:cubicBezTo>
                <a:cubicBezTo>
                  <a:pt x="42943" y="138007"/>
                  <a:pt x="36091" y="113357"/>
                  <a:pt x="35006" y="86816"/>
                </a:cubicBezTo>
                <a:lnTo>
                  <a:pt x="465" y="86816"/>
                </a:lnTo>
                <a:close/>
                <a:moveTo>
                  <a:pt x="123992" y="86816"/>
                </a:moveTo>
                <a:cubicBezTo>
                  <a:pt x="122907" y="113357"/>
                  <a:pt x="116055" y="138007"/>
                  <a:pt x="106040" y="154192"/>
                </a:cubicBezTo>
                <a:cubicBezTo>
                  <a:pt x="134596" y="144053"/>
                  <a:pt x="155618" y="118070"/>
                  <a:pt x="158533" y="86816"/>
                </a:cubicBezTo>
                <a:lnTo>
                  <a:pt x="123992" y="86816"/>
                </a:lnTo>
                <a:close/>
                <a:moveTo>
                  <a:pt x="158533" y="71934"/>
                </a:moveTo>
                <a:cubicBezTo>
                  <a:pt x="155618" y="40680"/>
                  <a:pt x="134596" y="14666"/>
                  <a:pt x="106040" y="4558"/>
                </a:cubicBezTo>
                <a:cubicBezTo>
                  <a:pt x="116055" y="20743"/>
                  <a:pt x="122907" y="45393"/>
                  <a:pt x="123992" y="71934"/>
                </a:cubicBezTo>
                <a:lnTo>
                  <a:pt x="158533" y="7193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5" name="Text 43"/>
          <p:cNvSpPr/>
          <p:nvPr/>
        </p:nvSpPr>
        <p:spPr>
          <a:xfrm>
            <a:off x="8491538" y="1371600"/>
            <a:ext cx="3294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Industry Impact</a:t>
            </a:r>
            <a:endParaRPr lang="en-US" sz="14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93100" y="1720850"/>
            <a:ext cx="1460500" cy="212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DeFi Protocols</a:t>
            </a:r>
            <a:endParaRPr lang="en-US" sz="14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1409660" y="1720850"/>
            <a:ext cx="365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100+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93100" y="1974852"/>
            <a:ext cx="347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Potential users of credit scoring system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293100" y="2393952"/>
            <a:ext cx="3413125" cy="6350"/>
          </a:xfrm>
          <a:custGeom>
            <a:avLst/>
            <a:gdLst/>
            <a:ahLst/>
            <a:cxnLst/>
            <a:rect l="l" t="t" r="r" b="b"/>
            <a:pathLst>
              <a:path w="3413125" h="6350">
                <a:moveTo>
                  <a:pt x="0" y="0"/>
                </a:moveTo>
                <a:lnTo>
                  <a:pt x="3413125" y="0"/>
                </a:lnTo>
                <a:lnTo>
                  <a:pt x="3413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8293100" y="2665095"/>
            <a:ext cx="1461770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Reduction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240294" y="2665096"/>
            <a:ext cx="53181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30-50%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293100" y="2919096"/>
            <a:ext cx="347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Estimated decrease in default rates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293100" y="3387726"/>
            <a:ext cx="3413125" cy="6350"/>
          </a:xfrm>
          <a:custGeom>
            <a:avLst/>
            <a:gdLst/>
            <a:ahLst/>
            <a:cxnLst/>
            <a:rect l="l" t="t" r="r" b="b"/>
            <a:pathLst>
              <a:path w="3413125" h="6350">
                <a:moveTo>
                  <a:pt x="0" y="0"/>
                </a:moveTo>
                <a:lnTo>
                  <a:pt x="3413125" y="0"/>
                </a:lnTo>
                <a:lnTo>
                  <a:pt x="341312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8284845" y="3609975"/>
            <a:ext cx="169037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Capital Efficiency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441113" y="3609974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2-3x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293100" y="3867149"/>
            <a:ext cx="347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Potential improvement in collateral ratios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131175" y="4778375"/>
            <a:ext cx="3736975" cy="1943100"/>
          </a:xfrm>
          <a:custGeom>
            <a:avLst/>
            <a:gdLst/>
            <a:ahLst/>
            <a:cxnLst/>
            <a:rect l="l" t="t" r="r" b="b"/>
            <a:pathLst>
              <a:path w="3736975" h="1339850">
                <a:moveTo>
                  <a:pt x="95250" y="0"/>
                </a:moveTo>
                <a:lnTo>
                  <a:pt x="3641725" y="0"/>
                </a:lnTo>
                <a:cubicBezTo>
                  <a:pt x="3694330" y="0"/>
                  <a:pt x="3736975" y="42645"/>
                  <a:pt x="3736975" y="95250"/>
                </a:cubicBezTo>
                <a:lnTo>
                  <a:pt x="3736975" y="1244600"/>
                </a:lnTo>
                <a:cubicBezTo>
                  <a:pt x="3736975" y="1297205"/>
                  <a:pt x="3694330" y="1339850"/>
                  <a:pt x="3641725" y="1339850"/>
                </a:cubicBezTo>
                <a:lnTo>
                  <a:pt x="95250" y="1339850"/>
                </a:lnTo>
                <a:cubicBezTo>
                  <a:pt x="42645" y="1339850"/>
                  <a:pt x="0" y="1297205"/>
                  <a:pt x="0" y="12446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84845" y="5035452"/>
            <a:ext cx="3484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Similar Systems</a:t>
            </a:r>
            <a:endParaRPr lang="en-US" sz="14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308975" y="554345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7444" y="5011"/>
                </a:moveTo>
                <a:cubicBezTo>
                  <a:pt x="65013" y="3621"/>
                  <a:pt x="62012" y="3621"/>
                  <a:pt x="59556" y="5011"/>
                </a:cubicBezTo>
                <a:lnTo>
                  <a:pt x="3994" y="36761"/>
                </a:lnTo>
                <a:cubicBezTo>
                  <a:pt x="868" y="38546"/>
                  <a:pt x="-670" y="42218"/>
                  <a:pt x="248" y="45690"/>
                </a:cubicBezTo>
                <a:cubicBezTo>
                  <a:pt x="1166" y="49163"/>
                  <a:pt x="4341" y="51594"/>
                  <a:pt x="7938" y="51594"/>
                </a:cubicBezTo>
                <a:lnTo>
                  <a:pt x="15875" y="51594"/>
                </a:lnTo>
                <a:lnTo>
                  <a:pt x="15875" y="103188"/>
                </a:lnTo>
                <a:lnTo>
                  <a:pt x="15875" y="103188"/>
                </a:lnTo>
                <a:lnTo>
                  <a:pt x="3175" y="112713"/>
                </a:lnTo>
                <a:cubicBezTo>
                  <a:pt x="1166" y="114201"/>
                  <a:pt x="0" y="116557"/>
                  <a:pt x="0" y="119063"/>
                </a:cubicBezTo>
                <a:cubicBezTo>
                  <a:pt x="0" y="123453"/>
                  <a:pt x="3547" y="127000"/>
                  <a:pt x="7938" y="127000"/>
                </a:cubicBezTo>
                <a:lnTo>
                  <a:pt x="119063" y="127000"/>
                </a:lnTo>
                <a:cubicBezTo>
                  <a:pt x="123453" y="127000"/>
                  <a:pt x="127000" y="123453"/>
                  <a:pt x="127000" y="119063"/>
                </a:cubicBezTo>
                <a:cubicBezTo>
                  <a:pt x="127000" y="116557"/>
                  <a:pt x="125834" y="114201"/>
                  <a:pt x="123825" y="112713"/>
                </a:cubicBezTo>
                <a:lnTo>
                  <a:pt x="111125" y="103188"/>
                </a:lnTo>
                <a:lnTo>
                  <a:pt x="111125" y="51594"/>
                </a:lnTo>
                <a:lnTo>
                  <a:pt x="119063" y="51594"/>
                </a:lnTo>
                <a:cubicBezTo>
                  <a:pt x="122659" y="51594"/>
                  <a:pt x="125809" y="49163"/>
                  <a:pt x="126727" y="45690"/>
                </a:cubicBezTo>
                <a:cubicBezTo>
                  <a:pt x="127645" y="42218"/>
                  <a:pt x="126107" y="38546"/>
                  <a:pt x="122982" y="36761"/>
                </a:cubicBezTo>
                <a:lnTo>
                  <a:pt x="67419" y="5011"/>
                </a:lnTo>
                <a:close/>
                <a:moveTo>
                  <a:pt x="99219" y="51594"/>
                </a:moveTo>
                <a:lnTo>
                  <a:pt x="99219" y="103188"/>
                </a:lnTo>
                <a:lnTo>
                  <a:pt x="83344" y="103188"/>
                </a:lnTo>
                <a:lnTo>
                  <a:pt x="83344" y="51594"/>
                </a:lnTo>
                <a:lnTo>
                  <a:pt x="99219" y="51594"/>
                </a:lnTo>
                <a:close/>
                <a:moveTo>
                  <a:pt x="71438" y="51594"/>
                </a:moveTo>
                <a:lnTo>
                  <a:pt x="71438" y="103188"/>
                </a:lnTo>
                <a:lnTo>
                  <a:pt x="55563" y="103188"/>
                </a:lnTo>
                <a:lnTo>
                  <a:pt x="55563" y="51594"/>
                </a:lnTo>
                <a:lnTo>
                  <a:pt x="71438" y="51594"/>
                </a:lnTo>
                <a:close/>
                <a:moveTo>
                  <a:pt x="43656" y="51594"/>
                </a:moveTo>
                <a:lnTo>
                  <a:pt x="43656" y="103188"/>
                </a:lnTo>
                <a:lnTo>
                  <a:pt x="27781" y="103188"/>
                </a:lnTo>
                <a:lnTo>
                  <a:pt x="27781" y="51594"/>
                </a:lnTo>
                <a:lnTo>
                  <a:pt x="43656" y="51594"/>
                </a:lnTo>
                <a:close/>
                <a:moveTo>
                  <a:pt x="63500" y="23812"/>
                </a:moveTo>
                <a:cubicBezTo>
                  <a:pt x="67881" y="23812"/>
                  <a:pt x="71438" y="27369"/>
                  <a:pt x="71438" y="31750"/>
                </a:cubicBezTo>
                <a:cubicBezTo>
                  <a:pt x="71438" y="36131"/>
                  <a:pt x="67881" y="39688"/>
                  <a:pt x="63500" y="39688"/>
                </a:cubicBezTo>
                <a:cubicBezTo>
                  <a:pt x="59119" y="39688"/>
                  <a:pt x="55563" y="36131"/>
                  <a:pt x="55563" y="31750"/>
                </a:cubicBezTo>
                <a:cubicBezTo>
                  <a:pt x="55563" y="27369"/>
                  <a:pt x="59119" y="23812"/>
                  <a:pt x="63500" y="2381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0" name="Text 58"/>
          <p:cNvSpPr/>
          <p:nvPr/>
        </p:nvSpPr>
        <p:spPr>
          <a:xfrm>
            <a:off x="8547100" y="5511800"/>
            <a:ext cx="2032635" cy="184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Traditional: FICO Score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324850" y="5956202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2" name="Text 60"/>
          <p:cNvSpPr/>
          <p:nvPr/>
        </p:nvSpPr>
        <p:spPr>
          <a:xfrm>
            <a:off x="8547100" y="5924550"/>
            <a:ext cx="1881505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China: Sesame Credit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301038" y="6400702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64" name="Text 62"/>
          <p:cNvSpPr/>
          <p:nvPr/>
        </p:nvSpPr>
        <p:spPr>
          <a:xfrm>
            <a:off x="8547100" y="6369050"/>
            <a:ext cx="266001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This Project: On-Chain Credit</a:t>
            </a:r>
            <a:endParaRPr lang="en-US" sz="1200" b="1" dirty="0">
              <a:solidFill>
                <a:srgbClr val="E0E0E0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images.unsplash.com/photo-1639762681485-074b7f938ba0?w=1280&amp;h=720&amp;fit=crop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1215392"/>
            <a:ext cx="902970" cy="388620"/>
          </a:xfrm>
          <a:custGeom>
            <a:avLst/>
            <a:gdLst/>
            <a:ahLst/>
            <a:cxnLst/>
            <a:rect l="l" t="t" r="r" b="b"/>
            <a:pathLst>
              <a:path w="902970" h="388620">
                <a:moveTo>
                  <a:pt x="76201" y="0"/>
                </a:moveTo>
                <a:lnTo>
                  <a:pt x="826769" y="0"/>
                </a:lnTo>
                <a:cubicBezTo>
                  <a:pt x="868854" y="0"/>
                  <a:pt x="902970" y="34116"/>
                  <a:pt x="902970" y="76201"/>
                </a:cubicBezTo>
                <a:lnTo>
                  <a:pt x="902970" y="312419"/>
                </a:lnTo>
                <a:cubicBezTo>
                  <a:pt x="902970" y="354504"/>
                  <a:pt x="868854" y="388620"/>
                  <a:pt x="8267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29540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PART II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1000" y="1836423"/>
            <a:ext cx="7658100" cy="2571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Research Methodology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&amp; Approach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463677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4903473"/>
            <a:ext cx="7429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Data collection, feature engineering, model development, and implementation</a:t>
            </a:r>
            <a:endParaRPr lang="en-US" sz="18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Coda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METHODOLOGY</a:t>
            </a:r>
            <a:endParaRPr lang="en-US" sz="1000" b="1" kern="0" spc="50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Data Collection &amp; Feature Engineering</a:t>
            </a:r>
            <a:endParaRPr lang="en-US" sz="2250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20675" y="1177925"/>
            <a:ext cx="5689600" cy="3165475"/>
          </a:xfrm>
          <a:custGeom>
            <a:avLst/>
            <a:gdLst/>
            <a:ahLst/>
            <a:cxnLst/>
            <a:rect l="l" t="t" r="r" b="b"/>
            <a:pathLst>
              <a:path w="5689600" h="3165475">
                <a:moveTo>
                  <a:pt x="95249" y="0"/>
                </a:moveTo>
                <a:lnTo>
                  <a:pt x="5594351" y="0"/>
                </a:lnTo>
                <a:cubicBezTo>
                  <a:pt x="5646956" y="0"/>
                  <a:pt x="5689600" y="42644"/>
                  <a:pt x="5689600" y="95249"/>
                </a:cubicBezTo>
                <a:lnTo>
                  <a:pt x="5689600" y="3070226"/>
                </a:lnTo>
                <a:cubicBezTo>
                  <a:pt x="5689600" y="3122831"/>
                  <a:pt x="5646956" y="3165475"/>
                  <a:pt x="5594351" y="3165475"/>
                </a:cubicBezTo>
                <a:lnTo>
                  <a:pt x="95249" y="3165475"/>
                </a:lnTo>
                <a:cubicBezTo>
                  <a:pt x="42644" y="3165475"/>
                  <a:pt x="0" y="3122831"/>
                  <a:pt x="0" y="3070226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366" y="137160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681037" y="1339852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Data Collection Process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2600" y="1689102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We collected comprehensive on-chain behavioral data from DeFi users, focusing on lending protocol interactions over a 12-month period. The dataset includes transaction histories, borrowing patterns, and asset movements.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8475" y="2435227"/>
            <a:ext cx="2619375" cy="825500"/>
          </a:xfrm>
          <a:custGeom>
            <a:avLst/>
            <a:gdLst/>
            <a:ahLst/>
            <a:cxnLst/>
            <a:rect l="l" t="t" r="r" b="b"/>
            <a:pathLst>
              <a:path w="2619375" h="825500">
                <a:moveTo>
                  <a:pt x="31750" y="0"/>
                </a:moveTo>
                <a:lnTo>
                  <a:pt x="2555878" y="0"/>
                </a:lnTo>
                <a:cubicBezTo>
                  <a:pt x="2590946" y="0"/>
                  <a:pt x="2619375" y="28429"/>
                  <a:pt x="2619375" y="63497"/>
                </a:cubicBezTo>
                <a:lnTo>
                  <a:pt x="2619375" y="762003"/>
                </a:lnTo>
                <a:cubicBezTo>
                  <a:pt x="2619375" y="797071"/>
                  <a:pt x="2590946" y="825500"/>
                  <a:pt x="2555878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498475" y="2435227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Shape 9"/>
          <p:cNvSpPr/>
          <p:nvPr/>
        </p:nvSpPr>
        <p:spPr>
          <a:xfrm>
            <a:off x="625475" y="256222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23812"/>
                </a:moveTo>
                <a:lnTo>
                  <a:pt x="31750" y="19844"/>
                </a:lnTo>
                <a:cubicBezTo>
                  <a:pt x="31750" y="8880"/>
                  <a:pt x="53082" y="0"/>
                  <a:pt x="79375" y="0"/>
                </a:cubicBezTo>
                <a:cubicBezTo>
                  <a:pt x="105668" y="0"/>
                  <a:pt x="127000" y="8880"/>
                  <a:pt x="127000" y="19844"/>
                </a:cubicBezTo>
                <a:lnTo>
                  <a:pt x="127000" y="23812"/>
                </a:lnTo>
                <a:cubicBezTo>
                  <a:pt x="127000" y="31403"/>
                  <a:pt x="116756" y="38001"/>
                  <a:pt x="101699" y="41349"/>
                </a:cubicBezTo>
                <a:cubicBezTo>
                  <a:pt x="101104" y="40655"/>
                  <a:pt x="100484" y="39985"/>
                  <a:pt x="99864" y="39365"/>
                </a:cubicBezTo>
                <a:cubicBezTo>
                  <a:pt x="96019" y="35570"/>
                  <a:pt x="91058" y="32693"/>
                  <a:pt x="85874" y="30559"/>
                </a:cubicBezTo>
                <a:cubicBezTo>
                  <a:pt x="75481" y="26219"/>
                  <a:pt x="61937" y="23837"/>
                  <a:pt x="47625" y="23837"/>
                </a:cubicBezTo>
                <a:cubicBezTo>
                  <a:pt x="42193" y="23837"/>
                  <a:pt x="36885" y="24185"/>
                  <a:pt x="31800" y="24854"/>
                </a:cubicBezTo>
                <a:cubicBezTo>
                  <a:pt x="31750" y="24532"/>
                  <a:pt x="31750" y="24185"/>
                  <a:pt x="31750" y="23837"/>
                </a:cubicBezTo>
                <a:close/>
                <a:moveTo>
                  <a:pt x="107156" y="87561"/>
                </a:moveTo>
                <a:lnTo>
                  <a:pt x="107156" y="76101"/>
                </a:lnTo>
                <a:cubicBezTo>
                  <a:pt x="110902" y="75133"/>
                  <a:pt x="114424" y="73992"/>
                  <a:pt x="117624" y="72653"/>
                </a:cubicBezTo>
                <a:cubicBezTo>
                  <a:pt x="120898" y="71289"/>
                  <a:pt x="124098" y="69627"/>
                  <a:pt x="127000" y="67618"/>
                </a:cubicBezTo>
                <a:lnTo>
                  <a:pt x="127000" y="71438"/>
                </a:lnTo>
                <a:cubicBezTo>
                  <a:pt x="127000" y="78085"/>
                  <a:pt x="119187" y="83964"/>
                  <a:pt x="107156" y="87561"/>
                </a:cubicBezTo>
                <a:close/>
                <a:moveTo>
                  <a:pt x="107156" y="63748"/>
                </a:moveTo>
                <a:lnTo>
                  <a:pt x="107156" y="55563"/>
                </a:lnTo>
                <a:cubicBezTo>
                  <a:pt x="107156" y="54446"/>
                  <a:pt x="107057" y="53380"/>
                  <a:pt x="106908" y="52338"/>
                </a:cubicBezTo>
                <a:cubicBezTo>
                  <a:pt x="110753" y="51371"/>
                  <a:pt x="114350" y="50205"/>
                  <a:pt x="117624" y="48816"/>
                </a:cubicBezTo>
                <a:cubicBezTo>
                  <a:pt x="120898" y="47427"/>
                  <a:pt x="124098" y="45789"/>
                  <a:pt x="127000" y="43780"/>
                </a:cubicBezTo>
                <a:lnTo>
                  <a:pt x="127000" y="47600"/>
                </a:lnTo>
                <a:cubicBezTo>
                  <a:pt x="127000" y="54248"/>
                  <a:pt x="119187" y="60127"/>
                  <a:pt x="107156" y="63723"/>
                </a:cubicBezTo>
                <a:close/>
                <a:moveTo>
                  <a:pt x="0" y="59531"/>
                </a:moveTo>
                <a:lnTo>
                  <a:pt x="0" y="55563"/>
                </a:lnTo>
                <a:cubicBezTo>
                  <a:pt x="0" y="44599"/>
                  <a:pt x="21332" y="35719"/>
                  <a:pt x="47625" y="35719"/>
                </a:cubicBezTo>
                <a:cubicBezTo>
                  <a:pt x="73918" y="35719"/>
                  <a:pt x="95250" y="44599"/>
                  <a:pt x="95250" y="55563"/>
                </a:cubicBezTo>
                <a:lnTo>
                  <a:pt x="95250" y="59531"/>
                </a:lnTo>
                <a:cubicBezTo>
                  <a:pt x="95250" y="70495"/>
                  <a:pt x="73918" y="79375"/>
                  <a:pt x="47625" y="79375"/>
                </a:cubicBezTo>
                <a:cubicBezTo>
                  <a:pt x="21332" y="79375"/>
                  <a:pt x="0" y="70495"/>
                  <a:pt x="0" y="59531"/>
                </a:cubicBezTo>
                <a:close/>
                <a:moveTo>
                  <a:pt x="95250" y="83344"/>
                </a:moveTo>
                <a:cubicBezTo>
                  <a:pt x="95250" y="94307"/>
                  <a:pt x="73918" y="103188"/>
                  <a:pt x="47625" y="103188"/>
                </a:cubicBezTo>
                <a:cubicBezTo>
                  <a:pt x="21332" y="103188"/>
                  <a:pt x="0" y="94307"/>
                  <a:pt x="0" y="83344"/>
                </a:cubicBezTo>
                <a:lnTo>
                  <a:pt x="0" y="79524"/>
                </a:lnTo>
                <a:cubicBezTo>
                  <a:pt x="2877" y="81533"/>
                  <a:pt x="6077" y="83170"/>
                  <a:pt x="9376" y="84559"/>
                </a:cubicBezTo>
                <a:cubicBezTo>
                  <a:pt x="19769" y="88900"/>
                  <a:pt x="33313" y="91281"/>
                  <a:pt x="47625" y="91281"/>
                </a:cubicBezTo>
                <a:cubicBezTo>
                  <a:pt x="61937" y="91281"/>
                  <a:pt x="75481" y="88875"/>
                  <a:pt x="85874" y="84559"/>
                </a:cubicBezTo>
                <a:cubicBezTo>
                  <a:pt x="89148" y="83195"/>
                  <a:pt x="92348" y="81533"/>
                  <a:pt x="95250" y="79524"/>
                </a:cubicBezTo>
                <a:lnTo>
                  <a:pt x="95250" y="83344"/>
                </a:lnTo>
                <a:close/>
                <a:moveTo>
                  <a:pt x="95250" y="103336"/>
                </a:moveTo>
                <a:lnTo>
                  <a:pt x="95250" y="107156"/>
                </a:lnTo>
                <a:cubicBezTo>
                  <a:pt x="95250" y="118120"/>
                  <a:pt x="73918" y="127000"/>
                  <a:pt x="47625" y="127000"/>
                </a:cubicBezTo>
                <a:cubicBezTo>
                  <a:pt x="21332" y="127000"/>
                  <a:pt x="0" y="118120"/>
                  <a:pt x="0" y="107156"/>
                </a:cubicBezTo>
                <a:lnTo>
                  <a:pt x="0" y="103336"/>
                </a:lnTo>
                <a:cubicBezTo>
                  <a:pt x="2877" y="105346"/>
                  <a:pt x="6077" y="106983"/>
                  <a:pt x="9376" y="108372"/>
                </a:cubicBezTo>
                <a:cubicBezTo>
                  <a:pt x="19769" y="112713"/>
                  <a:pt x="33313" y="115094"/>
                  <a:pt x="47625" y="115094"/>
                </a:cubicBezTo>
                <a:cubicBezTo>
                  <a:pt x="61937" y="115094"/>
                  <a:pt x="75481" y="112688"/>
                  <a:pt x="85874" y="108372"/>
                </a:cubicBezTo>
                <a:cubicBezTo>
                  <a:pt x="89148" y="107007"/>
                  <a:pt x="92348" y="105346"/>
                  <a:pt x="95250" y="10333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Text 10"/>
          <p:cNvSpPr/>
          <p:nvPr/>
        </p:nvSpPr>
        <p:spPr>
          <a:xfrm>
            <a:off x="831850" y="2530477"/>
            <a:ext cx="1135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Deposit Amounts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2784477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Total value locked, deposit frequency, average deposit size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30563" y="2435227"/>
            <a:ext cx="2619375" cy="825500"/>
          </a:xfrm>
          <a:custGeom>
            <a:avLst/>
            <a:gdLst/>
            <a:ahLst/>
            <a:cxnLst/>
            <a:rect l="l" t="t" r="r" b="b"/>
            <a:pathLst>
              <a:path w="2619375" h="825500">
                <a:moveTo>
                  <a:pt x="31750" y="0"/>
                </a:moveTo>
                <a:lnTo>
                  <a:pt x="2555878" y="0"/>
                </a:lnTo>
                <a:cubicBezTo>
                  <a:pt x="2590946" y="0"/>
                  <a:pt x="2619375" y="28429"/>
                  <a:pt x="2619375" y="63497"/>
                </a:cubicBezTo>
                <a:lnTo>
                  <a:pt x="2619375" y="762003"/>
                </a:lnTo>
                <a:cubicBezTo>
                  <a:pt x="2619375" y="797071"/>
                  <a:pt x="2590946" y="825500"/>
                  <a:pt x="2555878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230563" y="2435227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Shape 14"/>
          <p:cNvSpPr/>
          <p:nvPr/>
        </p:nvSpPr>
        <p:spPr>
          <a:xfrm>
            <a:off x="3349625" y="2562227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-3969"/>
                </a:moveTo>
                <a:cubicBezTo>
                  <a:pt x="68138" y="-3969"/>
                  <a:pt x="65484" y="-1315"/>
                  <a:pt x="65484" y="1984"/>
                </a:cubicBezTo>
                <a:lnTo>
                  <a:pt x="65484" y="4961"/>
                </a:lnTo>
                <a:lnTo>
                  <a:pt x="65038" y="4961"/>
                </a:lnTo>
                <a:cubicBezTo>
                  <a:pt x="55959" y="4961"/>
                  <a:pt x="48617" y="12328"/>
                  <a:pt x="48617" y="21382"/>
                </a:cubicBezTo>
                <a:cubicBezTo>
                  <a:pt x="48617" y="29666"/>
                  <a:pt x="54794" y="36661"/>
                  <a:pt x="63004" y="37678"/>
                </a:cubicBezTo>
                <a:lnTo>
                  <a:pt x="78135" y="39563"/>
                </a:lnTo>
                <a:cubicBezTo>
                  <a:pt x="79400" y="39712"/>
                  <a:pt x="80367" y="40804"/>
                  <a:pt x="80367" y="42094"/>
                </a:cubicBezTo>
                <a:cubicBezTo>
                  <a:pt x="80367" y="43507"/>
                  <a:pt x="79226" y="44624"/>
                  <a:pt x="77837" y="44624"/>
                </a:cubicBezTo>
                <a:lnTo>
                  <a:pt x="59531" y="44648"/>
                </a:lnTo>
                <a:cubicBezTo>
                  <a:pt x="55687" y="44648"/>
                  <a:pt x="52586" y="47749"/>
                  <a:pt x="52586" y="51594"/>
                </a:cubicBezTo>
                <a:cubicBezTo>
                  <a:pt x="52586" y="55438"/>
                  <a:pt x="55687" y="58539"/>
                  <a:pt x="59531" y="58539"/>
                </a:cubicBezTo>
                <a:lnTo>
                  <a:pt x="65484" y="58539"/>
                </a:lnTo>
                <a:lnTo>
                  <a:pt x="65484" y="61516"/>
                </a:lnTo>
                <a:cubicBezTo>
                  <a:pt x="65484" y="64815"/>
                  <a:pt x="68138" y="67469"/>
                  <a:pt x="71438" y="67469"/>
                </a:cubicBezTo>
                <a:cubicBezTo>
                  <a:pt x="74737" y="67469"/>
                  <a:pt x="77391" y="64815"/>
                  <a:pt x="77391" y="61516"/>
                </a:cubicBezTo>
                <a:lnTo>
                  <a:pt x="77391" y="58539"/>
                </a:lnTo>
                <a:lnTo>
                  <a:pt x="77837" y="58539"/>
                </a:lnTo>
                <a:cubicBezTo>
                  <a:pt x="86916" y="58539"/>
                  <a:pt x="94258" y="51172"/>
                  <a:pt x="94258" y="42118"/>
                </a:cubicBezTo>
                <a:cubicBezTo>
                  <a:pt x="94258" y="33834"/>
                  <a:pt x="88081" y="26839"/>
                  <a:pt x="79871" y="25822"/>
                </a:cubicBezTo>
                <a:lnTo>
                  <a:pt x="64740" y="23937"/>
                </a:lnTo>
                <a:cubicBezTo>
                  <a:pt x="63475" y="23788"/>
                  <a:pt x="62508" y="22696"/>
                  <a:pt x="62508" y="21406"/>
                </a:cubicBezTo>
                <a:cubicBezTo>
                  <a:pt x="62508" y="19993"/>
                  <a:pt x="63649" y="18876"/>
                  <a:pt x="65038" y="18876"/>
                </a:cubicBezTo>
                <a:lnTo>
                  <a:pt x="81359" y="18852"/>
                </a:lnTo>
                <a:cubicBezTo>
                  <a:pt x="85204" y="18852"/>
                  <a:pt x="88305" y="15751"/>
                  <a:pt x="88305" y="11906"/>
                </a:cubicBezTo>
                <a:cubicBezTo>
                  <a:pt x="88305" y="8062"/>
                  <a:pt x="85204" y="4961"/>
                  <a:pt x="81359" y="4961"/>
                </a:cubicBezTo>
                <a:lnTo>
                  <a:pt x="77391" y="4961"/>
                </a:lnTo>
                <a:lnTo>
                  <a:pt x="77391" y="1984"/>
                </a:lnTo>
                <a:cubicBezTo>
                  <a:pt x="77391" y="-1315"/>
                  <a:pt x="74737" y="-3969"/>
                  <a:pt x="71438" y="-3969"/>
                </a:cubicBezTo>
                <a:close/>
                <a:moveTo>
                  <a:pt x="27112" y="84708"/>
                </a:moveTo>
                <a:lnTo>
                  <a:pt x="16545" y="95250"/>
                </a:lnTo>
                <a:lnTo>
                  <a:pt x="7938" y="95250"/>
                </a:lnTo>
                <a:cubicBezTo>
                  <a:pt x="3547" y="95250"/>
                  <a:pt x="0" y="98797"/>
                  <a:pt x="0" y="103188"/>
                </a:cubicBezTo>
                <a:lnTo>
                  <a:pt x="0" y="119063"/>
                </a:lnTo>
                <a:cubicBezTo>
                  <a:pt x="0" y="123453"/>
                  <a:pt x="3547" y="127000"/>
                  <a:pt x="7938" y="127000"/>
                </a:cubicBezTo>
                <a:lnTo>
                  <a:pt x="87437" y="127000"/>
                </a:lnTo>
                <a:cubicBezTo>
                  <a:pt x="94630" y="127000"/>
                  <a:pt x="101650" y="124693"/>
                  <a:pt x="107454" y="120427"/>
                </a:cubicBezTo>
                <a:lnTo>
                  <a:pt x="138857" y="97284"/>
                </a:lnTo>
                <a:cubicBezTo>
                  <a:pt x="143272" y="94035"/>
                  <a:pt x="144214" y="87833"/>
                  <a:pt x="140965" y="83418"/>
                </a:cubicBezTo>
                <a:cubicBezTo>
                  <a:pt x="137716" y="79003"/>
                  <a:pt x="131514" y="78060"/>
                  <a:pt x="127099" y="81310"/>
                </a:cubicBezTo>
                <a:lnTo>
                  <a:pt x="97383" y="103188"/>
                </a:lnTo>
                <a:lnTo>
                  <a:pt x="69453" y="103188"/>
                </a:lnTo>
                <a:cubicBezTo>
                  <a:pt x="66154" y="103188"/>
                  <a:pt x="63500" y="100533"/>
                  <a:pt x="63500" y="97234"/>
                </a:cubicBezTo>
                <a:cubicBezTo>
                  <a:pt x="63500" y="93935"/>
                  <a:pt x="66154" y="91281"/>
                  <a:pt x="69453" y="91281"/>
                </a:cubicBezTo>
                <a:lnTo>
                  <a:pt x="87313" y="91281"/>
                </a:lnTo>
                <a:cubicBezTo>
                  <a:pt x="91703" y="91281"/>
                  <a:pt x="95250" y="87734"/>
                  <a:pt x="95250" y="83344"/>
                </a:cubicBezTo>
                <a:cubicBezTo>
                  <a:pt x="95250" y="78953"/>
                  <a:pt x="91703" y="75406"/>
                  <a:pt x="87313" y="75406"/>
                </a:cubicBezTo>
                <a:lnTo>
                  <a:pt x="49560" y="75406"/>
                </a:lnTo>
                <a:cubicBezTo>
                  <a:pt x="41151" y="75406"/>
                  <a:pt x="33065" y="78755"/>
                  <a:pt x="27112" y="84708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7" name="Text 15"/>
          <p:cNvSpPr/>
          <p:nvPr/>
        </p:nvSpPr>
        <p:spPr>
          <a:xfrm>
            <a:off x="3563938" y="2530477"/>
            <a:ext cx="1317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Borrowing Behavior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1688" y="2784477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Loan amounts, borrowing frequency, repayment patterns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8475" y="3355977"/>
            <a:ext cx="2619375" cy="825500"/>
          </a:xfrm>
          <a:custGeom>
            <a:avLst/>
            <a:gdLst/>
            <a:ahLst/>
            <a:cxnLst/>
            <a:rect l="l" t="t" r="r" b="b"/>
            <a:pathLst>
              <a:path w="2619375" h="825500">
                <a:moveTo>
                  <a:pt x="31750" y="0"/>
                </a:moveTo>
                <a:lnTo>
                  <a:pt x="2555878" y="0"/>
                </a:lnTo>
                <a:cubicBezTo>
                  <a:pt x="2590946" y="0"/>
                  <a:pt x="2619375" y="28429"/>
                  <a:pt x="2619375" y="63497"/>
                </a:cubicBezTo>
                <a:lnTo>
                  <a:pt x="2619375" y="762003"/>
                </a:lnTo>
                <a:cubicBezTo>
                  <a:pt x="2619375" y="797071"/>
                  <a:pt x="2590946" y="825500"/>
                  <a:pt x="2555878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498475" y="3355977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Shape 19"/>
          <p:cNvSpPr/>
          <p:nvPr/>
        </p:nvSpPr>
        <p:spPr>
          <a:xfrm>
            <a:off x="625475" y="34829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Text 20"/>
          <p:cNvSpPr/>
          <p:nvPr/>
        </p:nvSpPr>
        <p:spPr>
          <a:xfrm>
            <a:off x="831850" y="3451227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Asset Volatility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9600" y="3705227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Portfolio volatility, asset concentration, price fluctuations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30563" y="3355977"/>
            <a:ext cx="2619375" cy="825500"/>
          </a:xfrm>
          <a:custGeom>
            <a:avLst/>
            <a:gdLst/>
            <a:ahLst/>
            <a:cxnLst/>
            <a:rect l="l" t="t" r="r" b="b"/>
            <a:pathLst>
              <a:path w="2619375" h="825500">
                <a:moveTo>
                  <a:pt x="31750" y="0"/>
                </a:moveTo>
                <a:lnTo>
                  <a:pt x="2555878" y="0"/>
                </a:lnTo>
                <a:cubicBezTo>
                  <a:pt x="2590946" y="0"/>
                  <a:pt x="2619375" y="28429"/>
                  <a:pt x="2619375" y="63497"/>
                </a:cubicBezTo>
                <a:lnTo>
                  <a:pt x="2619375" y="762003"/>
                </a:lnTo>
                <a:cubicBezTo>
                  <a:pt x="2619375" y="797071"/>
                  <a:pt x="2590946" y="825500"/>
                  <a:pt x="2555878" y="825500"/>
                </a:cubicBez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3230563" y="3355977"/>
            <a:ext cx="31750" cy="825500"/>
          </a:xfrm>
          <a:custGeom>
            <a:avLst/>
            <a:gdLst/>
            <a:ahLst/>
            <a:cxnLst/>
            <a:rect l="l" t="t" r="r" b="b"/>
            <a:pathLst>
              <a:path w="31750" h="825500">
                <a:moveTo>
                  <a:pt x="31750" y="0"/>
                </a:moveTo>
                <a:lnTo>
                  <a:pt x="31750" y="0"/>
                </a:lnTo>
                <a:lnTo>
                  <a:pt x="31750" y="825500"/>
                </a:lnTo>
                <a:lnTo>
                  <a:pt x="31750" y="825500"/>
                </a:lnTo>
                <a:cubicBezTo>
                  <a:pt x="14227" y="825500"/>
                  <a:pt x="0" y="811273"/>
                  <a:pt x="0" y="793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6" name="Shape 24"/>
          <p:cNvSpPr/>
          <p:nvPr/>
        </p:nvSpPr>
        <p:spPr>
          <a:xfrm>
            <a:off x="3357563" y="3482977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6346" y="56679"/>
                </a:moveTo>
                <a:cubicBezTo>
                  <a:pt x="19645" y="33610"/>
                  <a:pt x="39514" y="15875"/>
                  <a:pt x="63500" y="15875"/>
                </a:cubicBezTo>
                <a:cubicBezTo>
                  <a:pt x="76646" y="15875"/>
                  <a:pt x="88553" y="21208"/>
                  <a:pt x="97185" y="29815"/>
                </a:cubicBezTo>
                <a:cubicBezTo>
                  <a:pt x="97234" y="29865"/>
                  <a:pt x="97284" y="29914"/>
                  <a:pt x="97334" y="29964"/>
                </a:cubicBezTo>
                <a:lnTo>
                  <a:pt x="99219" y="31750"/>
                </a:lnTo>
                <a:lnTo>
                  <a:pt x="87337" y="31750"/>
                </a:lnTo>
                <a:cubicBezTo>
                  <a:pt x="82947" y="31750"/>
                  <a:pt x="79400" y="35297"/>
                  <a:pt x="79400" y="39688"/>
                </a:cubicBezTo>
                <a:cubicBezTo>
                  <a:pt x="79400" y="44078"/>
                  <a:pt x="82947" y="47625"/>
                  <a:pt x="87337" y="47625"/>
                </a:cubicBezTo>
                <a:lnTo>
                  <a:pt x="119087" y="47625"/>
                </a:lnTo>
                <a:cubicBezTo>
                  <a:pt x="123478" y="47625"/>
                  <a:pt x="127025" y="44078"/>
                  <a:pt x="127025" y="39688"/>
                </a:cubicBezTo>
                <a:lnTo>
                  <a:pt x="127025" y="7938"/>
                </a:lnTo>
                <a:cubicBezTo>
                  <a:pt x="127025" y="3547"/>
                  <a:pt x="123478" y="0"/>
                  <a:pt x="119087" y="0"/>
                </a:cubicBezTo>
                <a:cubicBezTo>
                  <a:pt x="114697" y="0"/>
                  <a:pt x="111150" y="3547"/>
                  <a:pt x="111150" y="7938"/>
                </a:cubicBezTo>
                <a:lnTo>
                  <a:pt x="111150" y="21183"/>
                </a:lnTo>
                <a:lnTo>
                  <a:pt x="108347" y="18529"/>
                </a:lnTo>
                <a:cubicBezTo>
                  <a:pt x="96862" y="7094"/>
                  <a:pt x="80987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lose/>
                <a:moveTo>
                  <a:pt x="126355" y="72554"/>
                </a:moveTo>
                <a:cubicBezTo>
                  <a:pt x="126975" y="68213"/>
                  <a:pt x="123949" y="64195"/>
                  <a:pt x="119633" y="63574"/>
                </a:cubicBezTo>
                <a:cubicBezTo>
                  <a:pt x="115317" y="62954"/>
                  <a:pt x="111274" y="65980"/>
                  <a:pt x="110654" y="70296"/>
                </a:cubicBezTo>
                <a:cubicBezTo>
                  <a:pt x="107355" y="93365"/>
                  <a:pt x="87486" y="111100"/>
                  <a:pt x="63500" y="111100"/>
                </a:cubicBezTo>
                <a:cubicBezTo>
                  <a:pt x="50354" y="111100"/>
                  <a:pt x="38447" y="105767"/>
                  <a:pt x="29815" y="97160"/>
                </a:cubicBezTo>
                <a:cubicBezTo>
                  <a:pt x="29766" y="97110"/>
                  <a:pt x="29716" y="97061"/>
                  <a:pt x="29666" y="97011"/>
                </a:cubicBezTo>
                <a:lnTo>
                  <a:pt x="27781" y="95225"/>
                </a:lnTo>
                <a:lnTo>
                  <a:pt x="39663" y="95225"/>
                </a:lnTo>
                <a:cubicBezTo>
                  <a:pt x="44053" y="95225"/>
                  <a:pt x="47600" y="91678"/>
                  <a:pt x="47600" y="87288"/>
                </a:cubicBezTo>
                <a:cubicBezTo>
                  <a:pt x="47600" y="82897"/>
                  <a:pt x="44053" y="79350"/>
                  <a:pt x="39663" y="79350"/>
                </a:cubicBezTo>
                <a:lnTo>
                  <a:pt x="7938" y="79375"/>
                </a:lnTo>
                <a:cubicBezTo>
                  <a:pt x="5829" y="79375"/>
                  <a:pt x="3795" y="80218"/>
                  <a:pt x="2307" y="81731"/>
                </a:cubicBezTo>
                <a:cubicBezTo>
                  <a:pt x="819" y="83245"/>
                  <a:pt x="-25" y="85254"/>
                  <a:pt x="0" y="87387"/>
                </a:cubicBezTo>
                <a:lnTo>
                  <a:pt x="248" y="118889"/>
                </a:lnTo>
                <a:cubicBezTo>
                  <a:pt x="273" y="123279"/>
                  <a:pt x="3870" y="126802"/>
                  <a:pt x="8260" y="126752"/>
                </a:cubicBezTo>
                <a:cubicBezTo>
                  <a:pt x="12650" y="126702"/>
                  <a:pt x="16173" y="123130"/>
                  <a:pt x="16123" y="118740"/>
                </a:cubicBezTo>
                <a:lnTo>
                  <a:pt x="16024" y="105966"/>
                </a:lnTo>
                <a:lnTo>
                  <a:pt x="18678" y="108471"/>
                </a:lnTo>
                <a:cubicBezTo>
                  <a:pt x="30163" y="119906"/>
                  <a:pt x="46013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5"/>
          <p:cNvSpPr/>
          <p:nvPr/>
        </p:nvSpPr>
        <p:spPr>
          <a:xfrm>
            <a:off x="3563938" y="3451227"/>
            <a:ext cx="107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Account Activity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41688" y="3705227"/>
            <a:ext cx="2476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Transaction frequency, protocol interactions, wallet age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20675" y="4476750"/>
            <a:ext cx="5689600" cy="1275080"/>
          </a:xfrm>
          <a:custGeom>
            <a:avLst/>
            <a:gdLst/>
            <a:ahLst/>
            <a:cxnLst/>
            <a:rect l="l" t="t" r="r" b="b"/>
            <a:pathLst>
              <a:path w="5689600" h="1054100">
                <a:moveTo>
                  <a:pt x="95248" y="0"/>
                </a:moveTo>
                <a:lnTo>
                  <a:pt x="5594352" y="0"/>
                </a:lnTo>
                <a:cubicBezTo>
                  <a:pt x="5646956" y="0"/>
                  <a:pt x="5689600" y="42644"/>
                  <a:pt x="5689600" y="95248"/>
                </a:cubicBezTo>
                <a:lnTo>
                  <a:pt x="5689600" y="958852"/>
                </a:lnTo>
                <a:cubicBezTo>
                  <a:pt x="5689600" y="1011456"/>
                  <a:pt x="5646956" y="1054100"/>
                  <a:pt x="5594352" y="1054100"/>
                </a:cubicBezTo>
                <a:lnTo>
                  <a:pt x="95248" y="1054100"/>
                </a:lnTo>
                <a:cubicBezTo>
                  <a:pt x="42644" y="1054100"/>
                  <a:pt x="0" y="1011456"/>
                  <a:pt x="0" y="958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850" y="4606924"/>
            <a:ext cx="5500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Dataset Statistics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752475" y="4985385"/>
            <a:ext cx="1404620" cy="476250"/>
            <a:chOff x="2793" y="7755"/>
            <a:chExt cx="2212" cy="750"/>
          </a:xfrm>
        </p:grpSpPr>
        <p:sp>
          <p:nvSpPr>
            <p:cNvPr id="33" name="Text 31"/>
            <p:cNvSpPr/>
            <p:nvPr/>
          </p:nvSpPr>
          <p:spPr>
            <a:xfrm>
              <a:off x="2793" y="7755"/>
              <a:ext cx="2213" cy="45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875" b="1" dirty="0">
                  <a:solidFill>
                    <a:srgbClr val="4A6C8C"/>
                  </a:solidFill>
                  <a:latin typeface="Times New Roman" panose="02020603050405020304" charset="0"/>
                  <a:ea typeface="宋体" panose="02010600030101010101" pitchFamily="2" charset="-122"/>
                  <a:cs typeface="Noto Sans SC" panose="020B0200000000000000" pitchFamily="34" charset="-120"/>
                </a:rPr>
                <a:t>2.94M+</a:t>
              </a:r>
              <a:endParaRPr lang="en-US" sz="1875" b="1" dirty="0">
                <a:solidFill>
                  <a:srgbClr val="4A6C8C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2836" y="8205"/>
              <a:ext cx="2125" cy="3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lang="en-US" sz="1000" dirty="0">
                  <a:solidFill>
                    <a:srgbClr val="8D99AE"/>
                  </a:solidFill>
                  <a:latin typeface="Times New Roman" panose="02020603050405020304" charset="0"/>
                  <a:ea typeface="宋体" panose="02010600030101010101" pitchFamily="2" charset="-122"/>
                  <a:cs typeface="Quattrocento Sans" pitchFamily="34" charset="-120"/>
                </a:rPr>
                <a:t>Transactions</a:t>
              </a:r>
              <a:endPara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endParaRPr>
            </a:p>
          </p:txBody>
        </p:sp>
      </p:grpSp>
      <p:sp>
        <p:nvSpPr>
          <p:cNvPr id="35" name="Text 33"/>
          <p:cNvSpPr/>
          <p:nvPr/>
        </p:nvSpPr>
        <p:spPr>
          <a:xfrm>
            <a:off x="2572226" y="4985384"/>
            <a:ext cx="1404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15+</a:t>
            </a:r>
            <a:endParaRPr lang="en-US" sz="1875" b="1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600008" y="5271134"/>
            <a:ext cx="134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Features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413250" y="4985384"/>
            <a:ext cx="1404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12</a:t>
            </a:r>
            <a:endParaRPr lang="en-US" sz="1875" b="1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441032" y="5271134"/>
            <a:ext cx="1349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Months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178550" y="1177925"/>
            <a:ext cx="5689600" cy="4594225"/>
          </a:xfrm>
          <a:custGeom>
            <a:avLst/>
            <a:gdLst/>
            <a:ahLst/>
            <a:cxnLst/>
            <a:rect l="l" t="t" r="r" b="b"/>
            <a:pathLst>
              <a:path w="5689600" h="4594225">
                <a:moveTo>
                  <a:pt x="95238" y="0"/>
                </a:moveTo>
                <a:lnTo>
                  <a:pt x="5594362" y="0"/>
                </a:lnTo>
                <a:cubicBezTo>
                  <a:pt x="5646960" y="0"/>
                  <a:pt x="5689600" y="42640"/>
                  <a:pt x="5689600" y="95238"/>
                </a:cubicBezTo>
                <a:lnTo>
                  <a:pt x="5689600" y="4498987"/>
                </a:lnTo>
                <a:cubicBezTo>
                  <a:pt x="5689600" y="4551585"/>
                  <a:pt x="5646960" y="4594225"/>
                  <a:pt x="5594362" y="4594225"/>
                </a:cubicBezTo>
                <a:lnTo>
                  <a:pt x="95238" y="4594225"/>
                </a:lnTo>
                <a:cubicBezTo>
                  <a:pt x="42640" y="4594225"/>
                  <a:pt x="0" y="4551585"/>
                  <a:pt x="0" y="4498987"/>
                </a:cubicBezTo>
                <a:lnTo>
                  <a:pt x="0" y="95238"/>
                </a:lnTo>
                <a:cubicBezTo>
                  <a:pt x="0" y="42640"/>
                  <a:pt x="42640" y="0"/>
                  <a:pt x="9523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0475" y="1371602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1" name="Text 39"/>
          <p:cNvSpPr/>
          <p:nvPr/>
        </p:nvSpPr>
        <p:spPr>
          <a:xfrm>
            <a:off x="6538912" y="1339852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Feature Engineering Pipeline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40475" y="1689102"/>
            <a:ext cx="5365750" cy="1381125"/>
          </a:xfrm>
          <a:custGeom>
            <a:avLst/>
            <a:gdLst/>
            <a:ahLst/>
            <a:cxnLst/>
            <a:rect l="l" t="t" r="r" b="b"/>
            <a:pathLst>
              <a:path w="5365750" h="1381125">
                <a:moveTo>
                  <a:pt x="63504" y="0"/>
                </a:moveTo>
                <a:lnTo>
                  <a:pt x="5302246" y="0"/>
                </a:lnTo>
                <a:cubicBezTo>
                  <a:pt x="5337318" y="0"/>
                  <a:pt x="5365750" y="28432"/>
                  <a:pt x="5365750" y="63504"/>
                </a:cubicBezTo>
                <a:lnTo>
                  <a:pt x="5365750" y="1317621"/>
                </a:lnTo>
                <a:cubicBezTo>
                  <a:pt x="5365750" y="1352693"/>
                  <a:pt x="5337318" y="1381125"/>
                  <a:pt x="5302246" y="1381125"/>
                </a:cubicBezTo>
                <a:lnTo>
                  <a:pt x="63504" y="1381125"/>
                </a:lnTo>
                <a:cubicBezTo>
                  <a:pt x="28432" y="1381125"/>
                  <a:pt x="0" y="1352693"/>
                  <a:pt x="0" y="1317621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67475" y="181610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4" name="Text 42"/>
          <p:cNvSpPr/>
          <p:nvPr/>
        </p:nvSpPr>
        <p:spPr>
          <a:xfrm>
            <a:off x="6556970" y="1847852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1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16725" y="1816102"/>
            <a:ext cx="4826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Log Transformation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816725" y="2038352"/>
            <a:ext cx="482600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Applied to deposit amounts and borrowing volumes to reduce extreme values and normalize skewed distributions, making the data more suitable for PCA analysis.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16725" y="2720977"/>
            <a:ext cx="1031875" cy="222250"/>
          </a:xfrm>
          <a:custGeom>
            <a:avLst/>
            <a:gdLst/>
            <a:ahLst/>
            <a:cxnLst/>
            <a:rect l="l" t="t" r="r" b="b"/>
            <a:pathLst>
              <a:path w="1031875" h="222250">
                <a:moveTo>
                  <a:pt x="31751" y="0"/>
                </a:moveTo>
                <a:lnTo>
                  <a:pt x="1000124" y="0"/>
                </a:lnTo>
                <a:cubicBezTo>
                  <a:pt x="1017660" y="0"/>
                  <a:pt x="1031875" y="14215"/>
                  <a:pt x="1031875" y="31751"/>
                </a:cubicBezTo>
                <a:lnTo>
                  <a:pt x="1031875" y="190499"/>
                </a:lnTo>
                <a:cubicBezTo>
                  <a:pt x="1031875" y="208035"/>
                  <a:pt x="1017660" y="222250"/>
                  <a:pt x="1000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48" name="Text 46"/>
          <p:cNvSpPr/>
          <p:nvPr/>
        </p:nvSpPr>
        <p:spPr>
          <a:xfrm>
            <a:off x="6816725" y="2720977"/>
            <a:ext cx="1087438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Formula: log(x+1)</a:t>
            </a:r>
            <a:endParaRPr lang="en-US" sz="875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40475" y="3165477"/>
            <a:ext cx="5365750" cy="1174750"/>
          </a:xfrm>
          <a:custGeom>
            <a:avLst/>
            <a:gdLst/>
            <a:ahLst/>
            <a:cxnLst/>
            <a:rect l="l" t="t" r="r" b="b"/>
            <a:pathLst>
              <a:path w="5365750" h="1174750">
                <a:moveTo>
                  <a:pt x="63495" y="0"/>
                </a:moveTo>
                <a:lnTo>
                  <a:pt x="5302255" y="0"/>
                </a:lnTo>
                <a:cubicBezTo>
                  <a:pt x="5337322" y="0"/>
                  <a:pt x="5365750" y="28428"/>
                  <a:pt x="5365750" y="63495"/>
                </a:cubicBezTo>
                <a:lnTo>
                  <a:pt x="5365750" y="1111255"/>
                </a:lnTo>
                <a:cubicBezTo>
                  <a:pt x="5365750" y="1146322"/>
                  <a:pt x="5337322" y="1174750"/>
                  <a:pt x="5302255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467475" y="329247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1" name="Text 49"/>
          <p:cNvSpPr/>
          <p:nvPr/>
        </p:nvSpPr>
        <p:spPr>
          <a:xfrm>
            <a:off x="6556970" y="3324227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2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16725" y="3292477"/>
            <a:ext cx="4826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Winsorization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816725" y="3514727"/>
            <a:ext cx="4826000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Capped outliers at 1st and 99th percentiles to prevent extreme values from dominating the analysis while preserving the overall distribution shape.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816725" y="3990977"/>
            <a:ext cx="968375" cy="222250"/>
          </a:xfrm>
          <a:custGeom>
            <a:avLst/>
            <a:gdLst/>
            <a:ahLst/>
            <a:cxnLst/>
            <a:rect l="l" t="t" r="r" b="b"/>
            <a:pathLst>
              <a:path w="968375" h="222250">
                <a:moveTo>
                  <a:pt x="31751" y="0"/>
                </a:moveTo>
                <a:lnTo>
                  <a:pt x="936624" y="0"/>
                </a:lnTo>
                <a:cubicBezTo>
                  <a:pt x="954160" y="0"/>
                  <a:pt x="968375" y="14215"/>
                  <a:pt x="968375" y="31751"/>
                </a:cubicBezTo>
                <a:lnTo>
                  <a:pt x="968375" y="190499"/>
                </a:lnTo>
                <a:cubicBezTo>
                  <a:pt x="968375" y="208035"/>
                  <a:pt x="954160" y="222250"/>
                  <a:pt x="9366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6816725" y="3990977"/>
            <a:ext cx="1023938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Range: [P1, P99]</a:t>
            </a:r>
            <a:endParaRPr lang="en-US" sz="875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340475" y="4435477"/>
            <a:ext cx="5365750" cy="1174750"/>
          </a:xfrm>
          <a:custGeom>
            <a:avLst/>
            <a:gdLst/>
            <a:ahLst/>
            <a:cxnLst/>
            <a:rect l="l" t="t" r="r" b="b"/>
            <a:pathLst>
              <a:path w="5365750" h="1174750">
                <a:moveTo>
                  <a:pt x="63495" y="0"/>
                </a:moveTo>
                <a:lnTo>
                  <a:pt x="5302255" y="0"/>
                </a:lnTo>
                <a:cubicBezTo>
                  <a:pt x="5337322" y="0"/>
                  <a:pt x="5365750" y="28428"/>
                  <a:pt x="5365750" y="63495"/>
                </a:cubicBezTo>
                <a:lnTo>
                  <a:pt x="5365750" y="1111255"/>
                </a:lnTo>
                <a:cubicBezTo>
                  <a:pt x="5365750" y="1146322"/>
                  <a:pt x="5337322" y="1174750"/>
                  <a:pt x="5302255" y="1174750"/>
                </a:cubicBezTo>
                <a:lnTo>
                  <a:pt x="63495" y="1174750"/>
                </a:lnTo>
                <a:cubicBezTo>
                  <a:pt x="28428" y="1174750"/>
                  <a:pt x="0" y="1146322"/>
                  <a:pt x="0" y="1111255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6467475" y="456247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8" name="Text 56"/>
          <p:cNvSpPr/>
          <p:nvPr/>
        </p:nvSpPr>
        <p:spPr>
          <a:xfrm>
            <a:off x="6556970" y="4594227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3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816725" y="4562477"/>
            <a:ext cx="4826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Feature Scaling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816725" y="4784727"/>
            <a:ext cx="4826000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Standardized all features to zero mean and unit variance using Z-score normalization, ensuring equal contribution from all variables in the PCA model.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816725" y="5260975"/>
            <a:ext cx="967740" cy="222250"/>
          </a:xfrm>
          <a:custGeom>
            <a:avLst/>
            <a:gdLst/>
            <a:ahLst/>
            <a:cxnLst/>
            <a:rect l="l" t="t" r="r" b="b"/>
            <a:pathLst>
              <a:path w="658813" h="222250">
                <a:moveTo>
                  <a:pt x="31751" y="0"/>
                </a:moveTo>
                <a:lnTo>
                  <a:pt x="627062" y="0"/>
                </a:lnTo>
                <a:cubicBezTo>
                  <a:pt x="644597" y="0"/>
                  <a:pt x="658813" y="14215"/>
                  <a:pt x="658813" y="31751"/>
                </a:cubicBezTo>
                <a:lnTo>
                  <a:pt x="658813" y="190499"/>
                </a:lnTo>
                <a:cubicBezTo>
                  <a:pt x="658813" y="208035"/>
                  <a:pt x="644597" y="222250"/>
                  <a:pt x="627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</p:spPr>
      </p:sp>
      <p:sp>
        <p:nvSpPr>
          <p:cNvPr id="62" name="Text 60"/>
          <p:cNvSpPr/>
          <p:nvPr/>
        </p:nvSpPr>
        <p:spPr>
          <a:xfrm>
            <a:off x="6872605" y="5260975"/>
            <a:ext cx="968375" cy="222250"/>
          </a:xfrm>
          <a:prstGeom prst="rect">
            <a:avLst/>
          </a:prstGeom>
          <a:noFill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Z = (x-μ)/σ</a:t>
            </a:r>
            <a:endParaRPr lang="en-US" sz="875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7727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kern="0" spc="54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CREDIT SCORING MODEL</a:t>
            </a:r>
            <a:endParaRPr lang="en-US" sz="1075" b="1" kern="0" spc="54" dirty="0">
              <a:solidFill>
                <a:srgbClr val="5E8B7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1513" y="614723"/>
            <a:ext cx="11662655" cy="3415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Principal Component Analysis (PCA)</a:t>
            </a:r>
            <a:endParaRPr lang="en-US" sz="242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41513" y="1058689"/>
            <a:ext cx="819630" cy="34151"/>
          </a:xfrm>
          <a:custGeom>
            <a:avLst/>
            <a:gdLst/>
            <a:ahLst/>
            <a:cxnLst/>
            <a:rect l="l" t="t" r="r" b="b"/>
            <a:pathLst>
              <a:path w="819630" h="34151">
                <a:moveTo>
                  <a:pt x="0" y="0"/>
                </a:moveTo>
                <a:lnTo>
                  <a:pt x="819630" y="0"/>
                </a:lnTo>
                <a:lnTo>
                  <a:pt x="819630" y="34151"/>
                </a:lnTo>
                <a:lnTo>
                  <a:pt x="0" y="34151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44928" y="1267012"/>
            <a:ext cx="6828545" cy="2175435"/>
          </a:xfrm>
          <a:custGeom>
            <a:avLst/>
            <a:gdLst/>
            <a:ahLst/>
            <a:cxnLst/>
            <a:rect l="l" t="t" r="r" b="b"/>
            <a:pathLst>
              <a:path w="6828545" h="2175435">
                <a:moveTo>
                  <a:pt x="102463" y="0"/>
                </a:moveTo>
                <a:lnTo>
                  <a:pt x="6726082" y="0"/>
                </a:lnTo>
                <a:cubicBezTo>
                  <a:pt x="6782670" y="0"/>
                  <a:pt x="6828545" y="45874"/>
                  <a:pt x="6828545" y="102463"/>
                </a:cubicBezTo>
                <a:lnTo>
                  <a:pt x="6828545" y="2072972"/>
                </a:lnTo>
                <a:cubicBezTo>
                  <a:pt x="6828545" y="2129561"/>
                  <a:pt x="6782670" y="2175435"/>
                  <a:pt x="6726082" y="2175435"/>
                </a:cubicBezTo>
                <a:lnTo>
                  <a:pt x="102463" y="2175435"/>
                </a:lnTo>
                <a:cubicBezTo>
                  <a:pt x="45874" y="2175435"/>
                  <a:pt x="0" y="2129561"/>
                  <a:pt x="0" y="2072972"/>
                </a:cubicBezTo>
                <a:lnTo>
                  <a:pt x="0" y="102463"/>
                </a:lnTo>
                <a:cubicBezTo>
                  <a:pt x="0" y="45912"/>
                  <a:pt x="45912" y="0"/>
                  <a:pt x="10246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0444" y="1475337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40021" y="18676"/>
                </a:moveTo>
                <a:cubicBezTo>
                  <a:pt x="40021" y="8371"/>
                  <a:pt x="48392" y="0"/>
                  <a:pt x="58697" y="0"/>
                </a:cubicBezTo>
                <a:lnTo>
                  <a:pt x="66702" y="0"/>
                </a:lnTo>
                <a:cubicBezTo>
                  <a:pt x="72605" y="0"/>
                  <a:pt x="77374" y="4769"/>
                  <a:pt x="77374" y="10672"/>
                </a:cubicBezTo>
                <a:lnTo>
                  <a:pt x="77374" y="160084"/>
                </a:lnTo>
                <a:cubicBezTo>
                  <a:pt x="77374" y="165987"/>
                  <a:pt x="72605" y="170756"/>
                  <a:pt x="66702" y="170756"/>
                </a:cubicBezTo>
                <a:lnTo>
                  <a:pt x="56029" y="170756"/>
                </a:lnTo>
                <a:cubicBezTo>
                  <a:pt x="46091" y="170756"/>
                  <a:pt x="37720" y="163953"/>
                  <a:pt x="35352" y="154748"/>
                </a:cubicBezTo>
                <a:cubicBezTo>
                  <a:pt x="35118" y="154748"/>
                  <a:pt x="34918" y="154748"/>
                  <a:pt x="34685" y="154748"/>
                </a:cubicBezTo>
                <a:cubicBezTo>
                  <a:pt x="19944" y="154748"/>
                  <a:pt x="8004" y="142808"/>
                  <a:pt x="8004" y="128067"/>
                </a:cubicBezTo>
                <a:cubicBezTo>
                  <a:pt x="8004" y="122064"/>
                  <a:pt x="10005" y="116528"/>
                  <a:pt x="13340" y="112059"/>
                </a:cubicBezTo>
                <a:cubicBezTo>
                  <a:pt x="6870" y="107190"/>
                  <a:pt x="2668" y="99452"/>
                  <a:pt x="2668" y="90714"/>
                </a:cubicBezTo>
                <a:cubicBezTo>
                  <a:pt x="2668" y="80409"/>
                  <a:pt x="8538" y="71437"/>
                  <a:pt x="17076" y="67002"/>
                </a:cubicBezTo>
                <a:cubicBezTo>
                  <a:pt x="14708" y="63000"/>
                  <a:pt x="13340" y="58331"/>
                  <a:pt x="13340" y="53361"/>
                </a:cubicBezTo>
                <a:cubicBezTo>
                  <a:pt x="13340" y="38620"/>
                  <a:pt x="25280" y="26681"/>
                  <a:pt x="40021" y="26681"/>
                </a:cubicBezTo>
                <a:lnTo>
                  <a:pt x="40021" y="18676"/>
                </a:lnTo>
                <a:close/>
                <a:moveTo>
                  <a:pt x="130735" y="18676"/>
                </a:moveTo>
                <a:lnTo>
                  <a:pt x="130735" y="26681"/>
                </a:lnTo>
                <a:cubicBezTo>
                  <a:pt x="145476" y="26681"/>
                  <a:pt x="157416" y="38620"/>
                  <a:pt x="157416" y="53361"/>
                </a:cubicBezTo>
                <a:cubicBezTo>
                  <a:pt x="157416" y="58364"/>
                  <a:pt x="156049" y="63033"/>
                  <a:pt x="153681" y="67002"/>
                </a:cubicBezTo>
                <a:cubicBezTo>
                  <a:pt x="162252" y="71438"/>
                  <a:pt x="168088" y="80376"/>
                  <a:pt x="168088" y="90714"/>
                </a:cubicBezTo>
                <a:cubicBezTo>
                  <a:pt x="168088" y="99452"/>
                  <a:pt x="163886" y="107190"/>
                  <a:pt x="157416" y="112059"/>
                </a:cubicBezTo>
                <a:cubicBezTo>
                  <a:pt x="160751" y="116528"/>
                  <a:pt x="162752" y="122064"/>
                  <a:pt x="162752" y="128067"/>
                </a:cubicBezTo>
                <a:cubicBezTo>
                  <a:pt x="162752" y="142808"/>
                  <a:pt x="150813" y="154748"/>
                  <a:pt x="136071" y="154748"/>
                </a:cubicBezTo>
                <a:cubicBezTo>
                  <a:pt x="135838" y="154748"/>
                  <a:pt x="135638" y="154748"/>
                  <a:pt x="135404" y="154748"/>
                </a:cubicBezTo>
                <a:cubicBezTo>
                  <a:pt x="133037" y="163953"/>
                  <a:pt x="124665" y="170756"/>
                  <a:pt x="114727" y="170756"/>
                </a:cubicBezTo>
                <a:lnTo>
                  <a:pt x="104055" y="170756"/>
                </a:lnTo>
                <a:cubicBezTo>
                  <a:pt x="98152" y="170756"/>
                  <a:pt x="93382" y="165987"/>
                  <a:pt x="93382" y="160084"/>
                </a:cubicBezTo>
                <a:lnTo>
                  <a:pt x="93382" y="10672"/>
                </a:lnTo>
                <a:cubicBezTo>
                  <a:pt x="93382" y="4769"/>
                  <a:pt x="98152" y="0"/>
                  <a:pt x="104055" y="0"/>
                </a:cubicBezTo>
                <a:lnTo>
                  <a:pt x="112059" y="0"/>
                </a:lnTo>
                <a:cubicBezTo>
                  <a:pt x="122364" y="0"/>
                  <a:pt x="130735" y="8371"/>
                  <a:pt x="130735" y="1867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732545" y="1441186"/>
            <a:ext cx="6352134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PCA Methodology</a:t>
            </a:r>
            <a:endParaRPr lang="en-US" sz="134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9099" y="1782698"/>
            <a:ext cx="6548504" cy="665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Principal Component Analysis (PCA) is a dimensionality reduction technique that transforms multiple correlated features into a set of uncorrelated principal components. We used PCA to compress complex on-chain behavioral data into a single, interpretable credit score.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9099" y="2585253"/>
            <a:ext cx="3184605" cy="683025"/>
          </a:xfrm>
          <a:custGeom>
            <a:avLst/>
            <a:gdLst/>
            <a:ahLst/>
            <a:cxnLst/>
            <a:rect l="l" t="t" r="r" b="b"/>
            <a:pathLst>
              <a:path w="3184605" h="683025">
                <a:moveTo>
                  <a:pt x="68303" y="0"/>
                </a:moveTo>
                <a:lnTo>
                  <a:pt x="3116303" y="0"/>
                </a:lnTo>
                <a:cubicBezTo>
                  <a:pt x="3154025" y="0"/>
                  <a:pt x="3184605" y="30580"/>
                  <a:pt x="3184605" y="68303"/>
                </a:cubicBezTo>
                <a:lnTo>
                  <a:pt x="3184605" y="614723"/>
                </a:lnTo>
                <a:cubicBezTo>
                  <a:pt x="3184605" y="652445"/>
                  <a:pt x="3154025" y="683025"/>
                  <a:pt x="3116303" y="683025"/>
                </a:cubicBezTo>
                <a:lnTo>
                  <a:pt x="68303" y="683025"/>
                </a:lnTo>
                <a:cubicBezTo>
                  <a:pt x="30580" y="683025"/>
                  <a:pt x="0" y="652445"/>
                  <a:pt x="0" y="614723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38629" y="2721858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121664" y="59765"/>
                </a:moveTo>
                <a:lnTo>
                  <a:pt x="83244" y="59765"/>
                </a:lnTo>
                <a:cubicBezTo>
                  <a:pt x="79695" y="59765"/>
                  <a:pt x="76840" y="56910"/>
                  <a:pt x="76840" y="53361"/>
                </a:cubicBezTo>
                <a:lnTo>
                  <a:pt x="76840" y="14941"/>
                </a:lnTo>
                <a:cubicBezTo>
                  <a:pt x="76840" y="12353"/>
                  <a:pt x="78388" y="10005"/>
                  <a:pt x="80789" y="9018"/>
                </a:cubicBezTo>
                <a:cubicBezTo>
                  <a:pt x="83190" y="8031"/>
                  <a:pt x="85938" y="8591"/>
                  <a:pt x="87779" y="10405"/>
                </a:cubicBezTo>
                <a:lnTo>
                  <a:pt x="98452" y="21078"/>
                </a:lnTo>
                <a:lnTo>
                  <a:pt x="118035" y="1494"/>
                </a:lnTo>
                <a:cubicBezTo>
                  <a:pt x="118996" y="534"/>
                  <a:pt x="120303" y="0"/>
                  <a:pt x="121664" y="0"/>
                </a:cubicBezTo>
                <a:cubicBezTo>
                  <a:pt x="123025" y="0"/>
                  <a:pt x="124332" y="534"/>
                  <a:pt x="125319" y="1521"/>
                </a:cubicBezTo>
                <a:lnTo>
                  <a:pt x="135111" y="11313"/>
                </a:lnTo>
                <a:cubicBezTo>
                  <a:pt x="136071" y="12273"/>
                  <a:pt x="136605" y="13580"/>
                  <a:pt x="136605" y="14941"/>
                </a:cubicBezTo>
                <a:cubicBezTo>
                  <a:pt x="136605" y="16302"/>
                  <a:pt x="136071" y="17609"/>
                  <a:pt x="135084" y="18596"/>
                </a:cubicBezTo>
                <a:lnTo>
                  <a:pt x="115527" y="38153"/>
                </a:lnTo>
                <a:lnTo>
                  <a:pt x="126200" y="48826"/>
                </a:lnTo>
                <a:cubicBezTo>
                  <a:pt x="128041" y="50667"/>
                  <a:pt x="128574" y="53415"/>
                  <a:pt x="127587" y="55816"/>
                </a:cubicBezTo>
                <a:cubicBezTo>
                  <a:pt x="126600" y="58217"/>
                  <a:pt x="124252" y="59765"/>
                  <a:pt x="121664" y="59765"/>
                </a:cubicBezTo>
                <a:close/>
                <a:moveTo>
                  <a:pt x="121664" y="76840"/>
                </a:moveTo>
                <a:cubicBezTo>
                  <a:pt x="124252" y="76840"/>
                  <a:pt x="126600" y="78388"/>
                  <a:pt x="127587" y="80789"/>
                </a:cubicBezTo>
                <a:cubicBezTo>
                  <a:pt x="128574" y="83190"/>
                  <a:pt x="128041" y="85938"/>
                  <a:pt x="126200" y="87779"/>
                </a:cubicBezTo>
                <a:lnTo>
                  <a:pt x="115527" y="98452"/>
                </a:lnTo>
                <a:lnTo>
                  <a:pt x="135111" y="118035"/>
                </a:lnTo>
                <a:cubicBezTo>
                  <a:pt x="136071" y="118996"/>
                  <a:pt x="136632" y="120303"/>
                  <a:pt x="136632" y="121691"/>
                </a:cubicBezTo>
                <a:cubicBezTo>
                  <a:pt x="136632" y="123078"/>
                  <a:pt x="136098" y="124359"/>
                  <a:pt x="135111" y="125346"/>
                </a:cubicBezTo>
                <a:lnTo>
                  <a:pt x="125319" y="135138"/>
                </a:lnTo>
                <a:cubicBezTo>
                  <a:pt x="124332" y="136071"/>
                  <a:pt x="123025" y="136605"/>
                  <a:pt x="121664" y="136605"/>
                </a:cubicBezTo>
                <a:cubicBezTo>
                  <a:pt x="120303" y="136605"/>
                  <a:pt x="118996" y="136071"/>
                  <a:pt x="118009" y="135084"/>
                </a:cubicBezTo>
                <a:lnTo>
                  <a:pt x="98452" y="115527"/>
                </a:lnTo>
                <a:lnTo>
                  <a:pt x="87779" y="126200"/>
                </a:lnTo>
                <a:cubicBezTo>
                  <a:pt x="85938" y="128041"/>
                  <a:pt x="83190" y="128574"/>
                  <a:pt x="80789" y="127587"/>
                </a:cubicBezTo>
                <a:cubicBezTo>
                  <a:pt x="78388" y="126600"/>
                  <a:pt x="76840" y="124252"/>
                  <a:pt x="76840" y="121664"/>
                </a:cubicBezTo>
                <a:lnTo>
                  <a:pt x="76840" y="83244"/>
                </a:lnTo>
                <a:cubicBezTo>
                  <a:pt x="76840" y="79695"/>
                  <a:pt x="79695" y="76840"/>
                  <a:pt x="83244" y="76840"/>
                </a:cubicBezTo>
                <a:lnTo>
                  <a:pt x="121664" y="76840"/>
                </a:lnTo>
                <a:close/>
                <a:moveTo>
                  <a:pt x="53361" y="76840"/>
                </a:moveTo>
                <a:cubicBezTo>
                  <a:pt x="56910" y="76840"/>
                  <a:pt x="59765" y="79695"/>
                  <a:pt x="59765" y="83244"/>
                </a:cubicBezTo>
                <a:lnTo>
                  <a:pt x="59765" y="121664"/>
                </a:lnTo>
                <a:cubicBezTo>
                  <a:pt x="59765" y="124252"/>
                  <a:pt x="58217" y="126600"/>
                  <a:pt x="55816" y="127587"/>
                </a:cubicBezTo>
                <a:cubicBezTo>
                  <a:pt x="53415" y="128574"/>
                  <a:pt x="50667" y="128041"/>
                  <a:pt x="48826" y="126200"/>
                </a:cubicBezTo>
                <a:lnTo>
                  <a:pt x="38153" y="115527"/>
                </a:lnTo>
                <a:lnTo>
                  <a:pt x="18570" y="135111"/>
                </a:lnTo>
                <a:cubicBezTo>
                  <a:pt x="17609" y="136071"/>
                  <a:pt x="16302" y="136605"/>
                  <a:pt x="14941" y="136605"/>
                </a:cubicBezTo>
                <a:cubicBezTo>
                  <a:pt x="13580" y="136605"/>
                  <a:pt x="12273" y="136071"/>
                  <a:pt x="11286" y="135084"/>
                </a:cubicBezTo>
                <a:lnTo>
                  <a:pt x="1521" y="125319"/>
                </a:lnTo>
                <a:cubicBezTo>
                  <a:pt x="534" y="124332"/>
                  <a:pt x="0" y="123025"/>
                  <a:pt x="0" y="121664"/>
                </a:cubicBezTo>
                <a:cubicBezTo>
                  <a:pt x="0" y="120303"/>
                  <a:pt x="534" y="118996"/>
                  <a:pt x="1521" y="118009"/>
                </a:cubicBezTo>
                <a:lnTo>
                  <a:pt x="21078" y="98452"/>
                </a:lnTo>
                <a:lnTo>
                  <a:pt x="10405" y="87779"/>
                </a:lnTo>
                <a:cubicBezTo>
                  <a:pt x="8564" y="85938"/>
                  <a:pt x="8031" y="83190"/>
                  <a:pt x="9018" y="80789"/>
                </a:cubicBezTo>
                <a:cubicBezTo>
                  <a:pt x="10005" y="78388"/>
                  <a:pt x="12353" y="76840"/>
                  <a:pt x="14941" y="76840"/>
                </a:cubicBezTo>
                <a:lnTo>
                  <a:pt x="53361" y="76840"/>
                </a:lnTo>
                <a:close/>
                <a:moveTo>
                  <a:pt x="14941" y="59765"/>
                </a:moveTo>
                <a:cubicBezTo>
                  <a:pt x="12353" y="59765"/>
                  <a:pt x="10005" y="58217"/>
                  <a:pt x="9018" y="55816"/>
                </a:cubicBezTo>
                <a:cubicBezTo>
                  <a:pt x="8031" y="53415"/>
                  <a:pt x="8591" y="50667"/>
                  <a:pt x="10405" y="48826"/>
                </a:cubicBezTo>
                <a:lnTo>
                  <a:pt x="21078" y="38153"/>
                </a:lnTo>
                <a:lnTo>
                  <a:pt x="1521" y="18596"/>
                </a:lnTo>
                <a:cubicBezTo>
                  <a:pt x="534" y="17609"/>
                  <a:pt x="0" y="16302"/>
                  <a:pt x="0" y="14941"/>
                </a:cubicBezTo>
                <a:cubicBezTo>
                  <a:pt x="0" y="13580"/>
                  <a:pt x="534" y="12273"/>
                  <a:pt x="1521" y="11286"/>
                </a:cubicBezTo>
                <a:lnTo>
                  <a:pt x="11286" y="1521"/>
                </a:lnTo>
                <a:cubicBezTo>
                  <a:pt x="12273" y="534"/>
                  <a:pt x="13580" y="0"/>
                  <a:pt x="14941" y="0"/>
                </a:cubicBezTo>
                <a:cubicBezTo>
                  <a:pt x="16302" y="0"/>
                  <a:pt x="17609" y="534"/>
                  <a:pt x="18596" y="1521"/>
                </a:cubicBezTo>
                <a:lnTo>
                  <a:pt x="38153" y="21078"/>
                </a:lnTo>
                <a:lnTo>
                  <a:pt x="48826" y="10405"/>
                </a:lnTo>
                <a:cubicBezTo>
                  <a:pt x="50667" y="8564"/>
                  <a:pt x="53415" y="8031"/>
                  <a:pt x="55816" y="9018"/>
                </a:cubicBezTo>
                <a:cubicBezTo>
                  <a:pt x="58217" y="10005"/>
                  <a:pt x="59765" y="12353"/>
                  <a:pt x="59765" y="14941"/>
                </a:cubicBezTo>
                <a:lnTo>
                  <a:pt x="59765" y="53361"/>
                </a:lnTo>
                <a:cubicBezTo>
                  <a:pt x="59765" y="56910"/>
                  <a:pt x="56910" y="59765"/>
                  <a:pt x="53361" y="59765"/>
                </a:cubicBezTo>
                <a:lnTo>
                  <a:pt x="14941" y="5976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9"/>
          <p:cNvSpPr/>
          <p:nvPr/>
        </p:nvSpPr>
        <p:spPr>
          <a:xfrm>
            <a:off x="860612" y="2687707"/>
            <a:ext cx="181001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Dimensionality Reduction</a:t>
            </a:r>
            <a:endParaRPr lang="en-US" sz="10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553" y="2960917"/>
            <a:ext cx="3048000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Compress 15+ features into 1 credit score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10107" y="2585253"/>
            <a:ext cx="3184605" cy="683025"/>
          </a:xfrm>
          <a:custGeom>
            <a:avLst/>
            <a:gdLst/>
            <a:ahLst/>
            <a:cxnLst/>
            <a:rect l="l" t="t" r="r" b="b"/>
            <a:pathLst>
              <a:path w="3184605" h="683025">
                <a:moveTo>
                  <a:pt x="68303" y="0"/>
                </a:moveTo>
                <a:lnTo>
                  <a:pt x="3116303" y="0"/>
                </a:lnTo>
                <a:cubicBezTo>
                  <a:pt x="3154025" y="0"/>
                  <a:pt x="3184605" y="30580"/>
                  <a:pt x="3184605" y="68303"/>
                </a:cubicBezTo>
                <a:lnTo>
                  <a:pt x="3184605" y="614723"/>
                </a:lnTo>
                <a:cubicBezTo>
                  <a:pt x="3184605" y="652445"/>
                  <a:pt x="3154025" y="683025"/>
                  <a:pt x="3116303" y="683025"/>
                </a:cubicBezTo>
                <a:lnTo>
                  <a:pt x="68303" y="683025"/>
                </a:lnTo>
                <a:cubicBezTo>
                  <a:pt x="30580" y="683025"/>
                  <a:pt x="0" y="652445"/>
                  <a:pt x="0" y="614723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921098" y="2721858"/>
            <a:ext cx="153681" cy="136605"/>
          </a:xfrm>
          <a:custGeom>
            <a:avLst/>
            <a:gdLst/>
            <a:ahLst/>
            <a:cxnLst/>
            <a:rect l="l" t="t" r="r" b="b"/>
            <a:pathLst>
              <a:path w="153681" h="136605">
                <a:moveTo>
                  <a:pt x="136712" y="64034"/>
                </a:moveTo>
                <a:lnTo>
                  <a:pt x="89754" y="64034"/>
                </a:lnTo>
                <a:cubicBezTo>
                  <a:pt x="85031" y="64034"/>
                  <a:pt x="81216" y="60218"/>
                  <a:pt x="81216" y="55496"/>
                </a:cubicBezTo>
                <a:lnTo>
                  <a:pt x="81216" y="8538"/>
                </a:lnTo>
                <a:cubicBezTo>
                  <a:pt x="81216" y="3815"/>
                  <a:pt x="85058" y="-53"/>
                  <a:pt x="89727" y="560"/>
                </a:cubicBezTo>
                <a:cubicBezTo>
                  <a:pt x="118275" y="4349"/>
                  <a:pt x="140901" y="26974"/>
                  <a:pt x="144689" y="55522"/>
                </a:cubicBezTo>
                <a:cubicBezTo>
                  <a:pt x="145303" y="60192"/>
                  <a:pt x="141434" y="64034"/>
                  <a:pt x="136712" y="64034"/>
                </a:cubicBezTo>
                <a:close/>
                <a:moveTo>
                  <a:pt x="59391" y="9925"/>
                </a:moveTo>
                <a:cubicBezTo>
                  <a:pt x="64220" y="8911"/>
                  <a:pt x="68409" y="12860"/>
                  <a:pt x="68409" y="17796"/>
                </a:cubicBezTo>
                <a:lnTo>
                  <a:pt x="68409" y="70437"/>
                </a:lnTo>
                <a:cubicBezTo>
                  <a:pt x="68409" y="71931"/>
                  <a:pt x="68943" y="73372"/>
                  <a:pt x="69877" y="74519"/>
                </a:cubicBezTo>
                <a:lnTo>
                  <a:pt x="105122" y="117048"/>
                </a:lnTo>
                <a:cubicBezTo>
                  <a:pt x="108243" y="120810"/>
                  <a:pt x="107576" y="126493"/>
                  <a:pt x="103281" y="128814"/>
                </a:cubicBezTo>
                <a:cubicBezTo>
                  <a:pt x="94183" y="133777"/>
                  <a:pt x="83751" y="136605"/>
                  <a:pt x="72678" y="136605"/>
                </a:cubicBezTo>
                <a:cubicBezTo>
                  <a:pt x="37326" y="136605"/>
                  <a:pt x="8645" y="107923"/>
                  <a:pt x="8645" y="72571"/>
                </a:cubicBezTo>
                <a:cubicBezTo>
                  <a:pt x="8645" y="41755"/>
                  <a:pt x="30389" y="16035"/>
                  <a:pt x="59391" y="9925"/>
                </a:cubicBezTo>
                <a:close/>
                <a:moveTo>
                  <a:pt x="127480" y="76840"/>
                </a:moveTo>
                <a:lnTo>
                  <a:pt x="144556" y="76840"/>
                </a:lnTo>
                <a:cubicBezTo>
                  <a:pt x="149492" y="76840"/>
                  <a:pt x="153441" y="81029"/>
                  <a:pt x="152427" y="85858"/>
                </a:cubicBezTo>
                <a:cubicBezTo>
                  <a:pt x="149705" y="98772"/>
                  <a:pt x="143088" y="110245"/>
                  <a:pt x="133857" y="118996"/>
                </a:cubicBezTo>
                <a:cubicBezTo>
                  <a:pt x="130575" y="122117"/>
                  <a:pt x="125426" y="121450"/>
                  <a:pt x="122544" y="117955"/>
                </a:cubicBezTo>
                <a:lnTo>
                  <a:pt x="100026" y="90821"/>
                </a:lnTo>
                <a:cubicBezTo>
                  <a:pt x="95410" y="85245"/>
                  <a:pt x="99386" y="76840"/>
                  <a:pt x="106589" y="76840"/>
                </a:cubicBezTo>
                <a:lnTo>
                  <a:pt x="127454" y="7684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5" name="Text 13"/>
          <p:cNvSpPr/>
          <p:nvPr/>
        </p:nvSpPr>
        <p:spPr>
          <a:xfrm>
            <a:off x="4151619" y="2687707"/>
            <a:ext cx="1596571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Variance Maximization</a:t>
            </a:r>
            <a:endParaRPr lang="en-US" sz="10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12561" y="2960917"/>
            <a:ext cx="3048000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First PC captures maximum variance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4928" y="3585883"/>
            <a:ext cx="6828545" cy="2926763"/>
          </a:xfrm>
          <a:custGeom>
            <a:avLst/>
            <a:gdLst/>
            <a:ahLst/>
            <a:cxnLst/>
            <a:rect l="l" t="t" r="r" b="b"/>
            <a:pathLst>
              <a:path w="6828545" h="2926763">
                <a:moveTo>
                  <a:pt x="102466" y="0"/>
                </a:moveTo>
                <a:lnTo>
                  <a:pt x="6726079" y="0"/>
                </a:lnTo>
                <a:cubicBezTo>
                  <a:pt x="6782669" y="0"/>
                  <a:pt x="6828545" y="45876"/>
                  <a:pt x="6828545" y="102466"/>
                </a:cubicBezTo>
                <a:lnTo>
                  <a:pt x="6828545" y="2824297"/>
                </a:lnTo>
                <a:cubicBezTo>
                  <a:pt x="6828545" y="2880887"/>
                  <a:pt x="6782669" y="2926763"/>
                  <a:pt x="6726079" y="2926763"/>
                </a:cubicBezTo>
                <a:lnTo>
                  <a:pt x="102466" y="2926763"/>
                </a:lnTo>
                <a:cubicBezTo>
                  <a:pt x="45876" y="2926763"/>
                  <a:pt x="0" y="2880887"/>
                  <a:pt x="0" y="2824297"/>
                </a:cubicBezTo>
                <a:lnTo>
                  <a:pt x="0" y="102466"/>
                </a:lnTo>
                <a:cubicBezTo>
                  <a:pt x="0" y="45913"/>
                  <a:pt x="45913" y="0"/>
                  <a:pt x="102466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099" y="3760053"/>
            <a:ext cx="6557042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Mathematical Foundation</a:t>
            </a:r>
            <a:endParaRPr lang="en-US" sz="12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9099" y="4101566"/>
            <a:ext cx="6480202" cy="648874"/>
          </a:xfrm>
          <a:custGeom>
            <a:avLst/>
            <a:gdLst/>
            <a:ahLst/>
            <a:cxnLst/>
            <a:rect l="l" t="t" r="r" b="b"/>
            <a:pathLst>
              <a:path w="6480202" h="648874">
                <a:moveTo>
                  <a:pt x="68300" y="0"/>
                </a:moveTo>
                <a:lnTo>
                  <a:pt x="6411901" y="0"/>
                </a:lnTo>
                <a:cubicBezTo>
                  <a:pt x="6449623" y="0"/>
                  <a:pt x="6480202" y="30579"/>
                  <a:pt x="6480202" y="68300"/>
                </a:cubicBezTo>
                <a:lnTo>
                  <a:pt x="6480202" y="580573"/>
                </a:lnTo>
                <a:cubicBezTo>
                  <a:pt x="6480202" y="618295"/>
                  <a:pt x="6449623" y="648874"/>
                  <a:pt x="6411901" y="648874"/>
                </a:cubicBezTo>
                <a:lnTo>
                  <a:pt x="68300" y="648874"/>
                </a:lnTo>
                <a:cubicBezTo>
                  <a:pt x="30579" y="648874"/>
                  <a:pt x="0" y="618295"/>
                  <a:pt x="0" y="580573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621553" y="4204019"/>
            <a:ext cx="634359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Step 1: Covariance Matrix</a:t>
            </a:r>
            <a:endParaRPr lang="en-US" sz="10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553" y="4443078"/>
            <a:ext cx="634359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Σ = (1/n) × X</a:t>
            </a:r>
            <a:r>
              <a:rPr lang="en-US" sz="80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T</a:t>
            </a: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X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9099" y="4852893"/>
            <a:ext cx="6480202" cy="648874"/>
          </a:xfrm>
          <a:custGeom>
            <a:avLst/>
            <a:gdLst/>
            <a:ahLst/>
            <a:cxnLst/>
            <a:rect l="l" t="t" r="r" b="b"/>
            <a:pathLst>
              <a:path w="6480202" h="648874">
                <a:moveTo>
                  <a:pt x="68300" y="0"/>
                </a:moveTo>
                <a:lnTo>
                  <a:pt x="6411901" y="0"/>
                </a:lnTo>
                <a:cubicBezTo>
                  <a:pt x="6449623" y="0"/>
                  <a:pt x="6480202" y="30579"/>
                  <a:pt x="6480202" y="68300"/>
                </a:cubicBezTo>
                <a:lnTo>
                  <a:pt x="6480202" y="580573"/>
                </a:lnTo>
                <a:cubicBezTo>
                  <a:pt x="6480202" y="618295"/>
                  <a:pt x="6449623" y="648874"/>
                  <a:pt x="6411901" y="648874"/>
                </a:cubicBezTo>
                <a:lnTo>
                  <a:pt x="68300" y="648874"/>
                </a:lnTo>
                <a:cubicBezTo>
                  <a:pt x="30579" y="648874"/>
                  <a:pt x="0" y="618295"/>
                  <a:pt x="0" y="580573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21553" y="4955347"/>
            <a:ext cx="634359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Step 2: Eigenvalue Decomposition</a:t>
            </a:r>
            <a:endParaRPr lang="en-US" sz="10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553" y="5194406"/>
            <a:ext cx="634359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Σv = λv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19099" y="5604221"/>
            <a:ext cx="6480202" cy="648874"/>
          </a:xfrm>
          <a:custGeom>
            <a:avLst/>
            <a:gdLst/>
            <a:ahLst/>
            <a:cxnLst/>
            <a:rect l="l" t="t" r="r" b="b"/>
            <a:pathLst>
              <a:path w="6480202" h="648874">
                <a:moveTo>
                  <a:pt x="68300" y="0"/>
                </a:moveTo>
                <a:lnTo>
                  <a:pt x="6411901" y="0"/>
                </a:lnTo>
                <a:cubicBezTo>
                  <a:pt x="6449623" y="0"/>
                  <a:pt x="6480202" y="30579"/>
                  <a:pt x="6480202" y="68300"/>
                </a:cubicBezTo>
                <a:lnTo>
                  <a:pt x="6480202" y="580573"/>
                </a:lnTo>
                <a:cubicBezTo>
                  <a:pt x="6480202" y="618295"/>
                  <a:pt x="6449623" y="648874"/>
                  <a:pt x="6411901" y="648874"/>
                </a:cubicBezTo>
                <a:lnTo>
                  <a:pt x="68300" y="648874"/>
                </a:lnTo>
                <a:cubicBezTo>
                  <a:pt x="30579" y="648874"/>
                  <a:pt x="0" y="618295"/>
                  <a:pt x="0" y="580573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21553" y="5706675"/>
            <a:ext cx="634359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Step 3: Credit Score Calculation</a:t>
            </a:r>
            <a:endParaRPr lang="en-US" sz="107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553" y="5945734"/>
            <a:ext cx="6343597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Score = PC1 × w₁ 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350419" y="1267012"/>
            <a:ext cx="4489183" cy="3456108"/>
          </a:xfrm>
          <a:custGeom>
            <a:avLst/>
            <a:gdLst/>
            <a:ahLst/>
            <a:cxnLst/>
            <a:rect l="l" t="t" r="r" b="b"/>
            <a:pathLst>
              <a:path w="4489183" h="3456108">
                <a:moveTo>
                  <a:pt x="102439" y="0"/>
                </a:moveTo>
                <a:lnTo>
                  <a:pt x="4386744" y="0"/>
                </a:lnTo>
                <a:cubicBezTo>
                  <a:pt x="4443320" y="0"/>
                  <a:pt x="4489183" y="45864"/>
                  <a:pt x="4489183" y="102439"/>
                </a:cubicBezTo>
                <a:lnTo>
                  <a:pt x="4489183" y="3353669"/>
                </a:lnTo>
                <a:cubicBezTo>
                  <a:pt x="4489183" y="3410244"/>
                  <a:pt x="4443320" y="3456108"/>
                  <a:pt x="4386744" y="3456108"/>
                </a:cubicBezTo>
                <a:lnTo>
                  <a:pt x="102439" y="3456108"/>
                </a:lnTo>
                <a:cubicBezTo>
                  <a:pt x="45864" y="3456108"/>
                  <a:pt x="0" y="3410244"/>
                  <a:pt x="0" y="3353669"/>
                </a:cubicBezTo>
                <a:lnTo>
                  <a:pt x="0" y="102439"/>
                </a:lnTo>
                <a:cubicBezTo>
                  <a:pt x="0" y="45901"/>
                  <a:pt x="45901" y="0"/>
                  <a:pt x="102439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4590" y="1441186"/>
            <a:ext cx="4226218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Score Distribution</a:t>
            </a:r>
            <a:endParaRPr lang="en-US" sz="134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0439" y="1816850"/>
            <a:ext cx="4209143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Credit Score Range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22136" y="2118138"/>
            <a:ext cx="4345748" cy="409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25" b="1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300-850</a:t>
            </a:r>
            <a:endParaRPr lang="en-US" sz="3225" b="1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90439" y="2499875"/>
            <a:ext cx="4209143" cy="2049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Similar to FICO Score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24590" y="2844803"/>
            <a:ext cx="4140840" cy="6830"/>
          </a:xfrm>
          <a:custGeom>
            <a:avLst/>
            <a:gdLst/>
            <a:ahLst/>
            <a:cxnLst/>
            <a:rect l="l" t="t" r="r" b="b"/>
            <a:pathLst>
              <a:path w="4140840" h="6830">
                <a:moveTo>
                  <a:pt x="0" y="0"/>
                </a:moveTo>
                <a:lnTo>
                  <a:pt x="4140840" y="0"/>
                </a:lnTo>
                <a:lnTo>
                  <a:pt x="4140840" y="6830"/>
                </a:lnTo>
                <a:lnTo>
                  <a:pt x="0" y="683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7524750" y="3018790"/>
            <a:ext cx="139128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Mean Score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306309" y="2984821"/>
            <a:ext cx="461042" cy="273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600</a:t>
            </a:r>
            <a:endParaRPr lang="en-US" sz="161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508875" y="3646921"/>
            <a:ext cx="1564005" cy="212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Median Score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306309" y="3585801"/>
            <a:ext cx="461042" cy="273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610</a:t>
            </a:r>
            <a:endParaRPr lang="en-US" sz="161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24750" y="4135755"/>
            <a:ext cx="2068830" cy="328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High-Quality Threshold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185391" y="4135986"/>
            <a:ext cx="589109" cy="273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5" b="1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650+</a:t>
            </a:r>
            <a:endParaRPr lang="en-US" sz="1615" b="1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350419" y="4864846"/>
            <a:ext cx="4489183" cy="1646091"/>
          </a:xfrm>
          <a:custGeom>
            <a:avLst/>
            <a:gdLst/>
            <a:ahLst/>
            <a:cxnLst/>
            <a:rect l="l" t="t" r="r" b="b"/>
            <a:pathLst>
              <a:path w="4489183" h="1646091">
                <a:moveTo>
                  <a:pt x="102453" y="0"/>
                </a:moveTo>
                <a:lnTo>
                  <a:pt x="4386731" y="0"/>
                </a:lnTo>
                <a:cubicBezTo>
                  <a:pt x="4443314" y="0"/>
                  <a:pt x="4489183" y="45870"/>
                  <a:pt x="4489183" y="102453"/>
                </a:cubicBezTo>
                <a:lnTo>
                  <a:pt x="4489183" y="1543638"/>
                </a:lnTo>
                <a:cubicBezTo>
                  <a:pt x="4489183" y="1600221"/>
                  <a:pt x="4443314" y="1646091"/>
                  <a:pt x="4386731" y="1646091"/>
                </a:cubicBezTo>
                <a:lnTo>
                  <a:pt x="102453" y="1646091"/>
                </a:lnTo>
                <a:cubicBezTo>
                  <a:pt x="45870" y="1646091"/>
                  <a:pt x="0" y="1600221"/>
                  <a:pt x="0" y="1543638"/>
                </a:cubicBezTo>
                <a:lnTo>
                  <a:pt x="0" y="102453"/>
                </a:lnTo>
                <a:cubicBezTo>
                  <a:pt x="0" y="45908"/>
                  <a:pt x="45908" y="0"/>
                  <a:pt x="10245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0439" y="4909619"/>
            <a:ext cx="4285983" cy="2390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Score Interpretation</a:t>
            </a:r>
            <a:endParaRPr lang="en-US" sz="12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490439" y="5226158"/>
            <a:ext cx="102454" cy="102454"/>
          </a:xfrm>
          <a:custGeom>
            <a:avLst/>
            <a:gdLst/>
            <a:ahLst/>
            <a:cxnLst/>
            <a:rect l="l" t="t" r="r" b="b"/>
            <a:pathLst>
              <a:path w="102454" h="102454">
                <a:moveTo>
                  <a:pt x="51227" y="0"/>
                </a:moveTo>
                <a:lnTo>
                  <a:pt x="51227" y="0"/>
                </a:lnTo>
                <a:cubicBezTo>
                  <a:pt x="79500" y="0"/>
                  <a:pt x="102454" y="22954"/>
                  <a:pt x="102454" y="51227"/>
                </a:cubicBezTo>
                <a:lnTo>
                  <a:pt x="102454" y="51227"/>
                </a:lnTo>
                <a:cubicBezTo>
                  <a:pt x="102454" y="79500"/>
                  <a:pt x="79500" y="102454"/>
                  <a:pt x="51227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43" name="Text 41"/>
          <p:cNvSpPr/>
          <p:nvPr/>
        </p:nvSpPr>
        <p:spPr>
          <a:xfrm>
            <a:off x="7695565" y="5174615"/>
            <a:ext cx="1810385" cy="205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750-850:   Excellent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490439" y="5499368"/>
            <a:ext cx="102454" cy="102454"/>
          </a:xfrm>
          <a:custGeom>
            <a:avLst/>
            <a:gdLst/>
            <a:ahLst/>
            <a:cxnLst/>
            <a:rect l="l" t="t" r="r" b="b"/>
            <a:pathLst>
              <a:path w="102454" h="102454">
                <a:moveTo>
                  <a:pt x="51227" y="0"/>
                </a:moveTo>
                <a:lnTo>
                  <a:pt x="51227" y="0"/>
                </a:lnTo>
                <a:cubicBezTo>
                  <a:pt x="79500" y="0"/>
                  <a:pt x="102454" y="22954"/>
                  <a:pt x="102454" y="51227"/>
                </a:cubicBezTo>
                <a:lnTo>
                  <a:pt x="102454" y="51227"/>
                </a:lnTo>
                <a:cubicBezTo>
                  <a:pt x="102454" y="79500"/>
                  <a:pt x="79500" y="102454"/>
                  <a:pt x="51227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5" name="Text 43"/>
          <p:cNvSpPr/>
          <p:nvPr/>
        </p:nvSpPr>
        <p:spPr>
          <a:xfrm>
            <a:off x="7695565" y="5448300"/>
            <a:ext cx="1638935" cy="205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650-749:   Good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490439" y="5772579"/>
            <a:ext cx="102454" cy="102454"/>
          </a:xfrm>
          <a:custGeom>
            <a:avLst/>
            <a:gdLst/>
            <a:ahLst/>
            <a:cxnLst/>
            <a:rect l="l" t="t" r="r" b="b"/>
            <a:pathLst>
              <a:path w="102454" h="102454">
                <a:moveTo>
                  <a:pt x="51227" y="0"/>
                </a:moveTo>
                <a:lnTo>
                  <a:pt x="51227" y="0"/>
                </a:lnTo>
                <a:cubicBezTo>
                  <a:pt x="79500" y="0"/>
                  <a:pt x="102454" y="22954"/>
                  <a:pt x="102454" y="51227"/>
                </a:cubicBezTo>
                <a:lnTo>
                  <a:pt x="102454" y="51227"/>
                </a:lnTo>
                <a:cubicBezTo>
                  <a:pt x="102454" y="79500"/>
                  <a:pt x="79500" y="102454"/>
                  <a:pt x="51227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7" name="Text 45"/>
          <p:cNvSpPr/>
          <p:nvPr/>
        </p:nvSpPr>
        <p:spPr>
          <a:xfrm>
            <a:off x="7695565" y="5721350"/>
            <a:ext cx="1564640" cy="205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550-649:   Fair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490439" y="6045789"/>
            <a:ext cx="102454" cy="102454"/>
          </a:xfrm>
          <a:custGeom>
            <a:avLst/>
            <a:gdLst/>
            <a:ahLst/>
            <a:cxnLst/>
            <a:rect l="l" t="t" r="r" b="b"/>
            <a:pathLst>
              <a:path w="102454" h="102454">
                <a:moveTo>
                  <a:pt x="51227" y="0"/>
                </a:moveTo>
                <a:lnTo>
                  <a:pt x="51227" y="0"/>
                </a:lnTo>
                <a:cubicBezTo>
                  <a:pt x="79500" y="0"/>
                  <a:pt x="102454" y="22954"/>
                  <a:pt x="102454" y="51227"/>
                </a:cubicBezTo>
                <a:lnTo>
                  <a:pt x="102454" y="51227"/>
                </a:lnTo>
                <a:cubicBezTo>
                  <a:pt x="102454" y="79500"/>
                  <a:pt x="79500" y="102454"/>
                  <a:pt x="51227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49" name="Text 47"/>
          <p:cNvSpPr/>
          <p:nvPr/>
        </p:nvSpPr>
        <p:spPr>
          <a:xfrm>
            <a:off x="7695565" y="5994400"/>
            <a:ext cx="1563370" cy="205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300-549:   Poor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7493614" y="6287089"/>
            <a:ext cx="102454" cy="102454"/>
          </a:xfrm>
          <a:custGeom>
            <a:avLst/>
            <a:gdLst/>
            <a:ahLst/>
            <a:cxnLst/>
            <a:rect l="l" t="t" r="r" b="b"/>
            <a:pathLst>
              <a:path w="102454" h="102454">
                <a:moveTo>
                  <a:pt x="51227" y="0"/>
                </a:moveTo>
                <a:lnTo>
                  <a:pt x="51227" y="0"/>
                </a:lnTo>
                <a:cubicBezTo>
                  <a:pt x="79500" y="0"/>
                  <a:pt x="102454" y="22954"/>
                  <a:pt x="102454" y="51227"/>
                </a:cubicBezTo>
                <a:lnTo>
                  <a:pt x="102454" y="51227"/>
                </a:lnTo>
                <a:cubicBezTo>
                  <a:pt x="102454" y="79500"/>
                  <a:pt x="79500" y="102454"/>
                  <a:pt x="51227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chemeClr val="tx1"/>
          </a:solidFill>
        </p:spPr>
      </p:sp>
      <p:sp>
        <p:nvSpPr>
          <p:cNvPr id="51" name="Text 47"/>
          <p:cNvSpPr/>
          <p:nvPr/>
        </p:nvSpPr>
        <p:spPr>
          <a:xfrm>
            <a:off x="7698740" y="6235700"/>
            <a:ext cx="1563370" cy="205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0 - 300:   Bad</a:t>
            </a:r>
            <a:endParaRPr lang="en-US" sz="107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30988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MODEL VALIDATION</a:t>
            </a:r>
            <a:endParaRPr lang="en-US" sz="1155" b="1" kern="0" spc="58" dirty="0">
              <a:solidFill>
                <a:srgbClr val="5E8B7E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7229" y="661012"/>
            <a:ext cx="11622795" cy="36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Credit Score Distribution &amp; Validation</a:t>
            </a:r>
            <a:endParaRPr lang="en-US" altLang="zh-CN" sz="2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7229" y="1138410"/>
            <a:ext cx="881349" cy="36723"/>
          </a:xfrm>
          <a:custGeom>
            <a:avLst/>
            <a:gdLst/>
            <a:ahLst/>
            <a:cxnLst/>
            <a:rect l="l" t="t" r="r" b="b"/>
            <a:pathLst>
              <a:path w="881349" h="36723">
                <a:moveTo>
                  <a:pt x="0" y="0"/>
                </a:moveTo>
                <a:lnTo>
                  <a:pt x="881349" y="0"/>
                </a:lnTo>
                <a:lnTo>
                  <a:pt x="881349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70840" y="1362710"/>
            <a:ext cx="6911340" cy="5344795"/>
          </a:xfrm>
          <a:custGeom>
            <a:avLst/>
            <a:gdLst/>
            <a:ahLst/>
            <a:cxnLst/>
            <a:rect l="l" t="t" r="r" b="b"/>
            <a:pathLst>
              <a:path w="6911248" h="5497417">
                <a:moveTo>
                  <a:pt x="110168" y="0"/>
                </a:moveTo>
                <a:lnTo>
                  <a:pt x="6801080" y="0"/>
                </a:lnTo>
                <a:cubicBezTo>
                  <a:pt x="6861924" y="0"/>
                  <a:pt x="6911248" y="49324"/>
                  <a:pt x="6911248" y="110168"/>
                </a:cubicBezTo>
                <a:lnTo>
                  <a:pt x="6911248" y="5387249"/>
                </a:lnTo>
                <a:cubicBezTo>
                  <a:pt x="6911248" y="5448093"/>
                  <a:pt x="6861924" y="5497417"/>
                  <a:pt x="6801080" y="5497417"/>
                </a:cubicBezTo>
                <a:lnTo>
                  <a:pt x="110168" y="5497417"/>
                </a:lnTo>
                <a:cubicBezTo>
                  <a:pt x="49324" y="5497417"/>
                  <a:pt x="0" y="5448093"/>
                  <a:pt x="0" y="5387249"/>
                </a:cubicBezTo>
                <a:lnTo>
                  <a:pt x="0" y="110168"/>
                </a:lnTo>
                <a:cubicBezTo>
                  <a:pt x="0" y="49365"/>
                  <a:pt x="49365" y="0"/>
                  <a:pt x="110168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284" y="1549709"/>
            <a:ext cx="662848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Credit Score Distribution Histogram</a:t>
            </a:r>
            <a:endParaRPr lang="en-US" sz="144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71617" y="1362419"/>
            <a:ext cx="4349827" cy="3899971"/>
          </a:xfrm>
          <a:custGeom>
            <a:avLst/>
            <a:gdLst/>
            <a:ahLst/>
            <a:cxnLst/>
            <a:rect l="l" t="t" r="r" b="b"/>
            <a:pathLst>
              <a:path w="4349827" h="3899971">
                <a:moveTo>
                  <a:pt x="110174" y="0"/>
                </a:moveTo>
                <a:lnTo>
                  <a:pt x="4239652" y="0"/>
                </a:lnTo>
                <a:cubicBezTo>
                  <a:pt x="4300500" y="0"/>
                  <a:pt x="4349827" y="49327"/>
                  <a:pt x="4349827" y="110174"/>
                </a:cubicBezTo>
                <a:lnTo>
                  <a:pt x="4349827" y="3789797"/>
                </a:lnTo>
                <a:cubicBezTo>
                  <a:pt x="4349827" y="3850644"/>
                  <a:pt x="4300500" y="3899971"/>
                  <a:pt x="4239652" y="3899971"/>
                </a:cubicBezTo>
                <a:lnTo>
                  <a:pt x="110174" y="3899971"/>
                </a:lnTo>
                <a:cubicBezTo>
                  <a:pt x="49327" y="3899971"/>
                  <a:pt x="0" y="3850644"/>
                  <a:pt x="0" y="3789797"/>
                </a:cubicBezTo>
                <a:lnTo>
                  <a:pt x="0" y="110174"/>
                </a:lnTo>
                <a:cubicBezTo>
                  <a:pt x="0" y="49367"/>
                  <a:pt x="49367" y="0"/>
                  <a:pt x="110174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58903" y="1425884"/>
            <a:ext cx="4067060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Score Tier Analysis</a:t>
            </a:r>
            <a:endParaRPr lang="en-US" sz="144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77265" y="2572786"/>
            <a:ext cx="3956892" cy="590400"/>
          </a:xfrm>
          <a:custGeom>
            <a:avLst/>
            <a:gdLst/>
            <a:ahLst/>
            <a:cxnLst/>
            <a:rect l="l" t="t" r="r" b="b"/>
            <a:pathLst>
              <a:path w="3956892" h="697735">
                <a:moveTo>
                  <a:pt x="36723" y="0"/>
                </a:moveTo>
                <a:lnTo>
                  <a:pt x="3883448" y="0"/>
                </a:lnTo>
                <a:cubicBezTo>
                  <a:pt x="3924010" y="0"/>
                  <a:pt x="3956892" y="32882"/>
                  <a:pt x="3956892" y="73444"/>
                </a:cubicBezTo>
                <a:lnTo>
                  <a:pt x="3956892" y="624291"/>
                </a:lnTo>
                <a:cubicBezTo>
                  <a:pt x="3956892" y="664853"/>
                  <a:pt x="3924010" y="697735"/>
                  <a:pt x="3883448" y="697735"/>
                </a:cubicBez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7677265" y="2572786"/>
            <a:ext cx="36723" cy="590400"/>
          </a:xfrm>
          <a:custGeom>
            <a:avLst/>
            <a:gdLst/>
            <a:ahLst/>
            <a:cxnLst/>
            <a:rect l="l" t="t" r="r" b="b"/>
            <a:pathLst>
              <a:path w="36723" h="697735">
                <a:moveTo>
                  <a:pt x="36723" y="0"/>
                </a:moveTo>
                <a:lnTo>
                  <a:pt x="36723" y="0"/>
                </a:lnTo>
                <a:lnTo>
                  <a:pt x="36723" y="697735"/>
                </a:ln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12" name="Text 9"/>
          <p:cNvSpPr/>
          <p:nvPr/>
        </p:nvSpPr>
        <p:spPr>
          <a:xfrm>
            <a:off x="7805795" y="2597229"/>
            <a:ext cx="908892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Tier 2: Poor</a:t>
            </a:r>
            <a:endParaRPr lang="en-US" sz="115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949275" y="2682954"/>
            <a:ext cx="651831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351-550</a:t>
            </a:r>
            <a:endParaRPr lang="en-US" sz="1155" b="1" dirty="0">
              <a:solidFill>
                <a:srgbClr val="FF6467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805795" y="2863814"/>
            <a:ext cx="3791639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 default risk, requires collateral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77265" y="3237814"/>
            <a:ext cx="3956892" cy="590400"/>
          </a:xfrm>
          <a:custGeom>
            <a:avLst/>
            <a:gdLst/>
            <a:ahLst/>
            <a:cxnLst/>
            <a:rect l="l" t="t" r="r" b="b"/>
            <a:pathLst>
              <a:path w="3956892" h="697735">
                <a:moveTo>
                  <a:pt x="36723" y="0"/>
                </a:moveTo>
                <a:lnTo>
                  <a:pt x="3883448" y="0"/>
                </a:lnTo>
                <a:cubicBezTo>
                  <a:pt x="3924010" y="0"/>
                  <a:pt x="3956892" y="32882"/>
                  <a:pt x="3956892" y="73444"/>
                </a:cubicBezTo>
                <a:lnTo>
                  <a:pt x="3956892" y="624291"/>
                </a:lnTo>
                <a:cubicBezTo>
                  <a:pt x="3956892" y="664853"/>
                  <a:pt x="3924010" y="697735"/>
                  <a:pt x="3883448" y="697735"/>
                </a:cubicBez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677265" y="3237814"/>
            <a:ext cx="36723" cy="590400"/>
          </a:xfrm>
          <a:custGeom>
            <a:avLst/>
            <a:gdLst/>
            <a:ahLst/>
            <a:cxnLst/>
            <a:rect l="l" t="t" r="r" b="b"/>
            <a:pathLst>
              <a:path w="36723" h="697735">
                <a:moveTo>
                  <a:pt x="36723" y="0"/>
                </a:moveTo>
                <a:lnTo>
                  <a:pt x="36723" y="0"/>
                </a:lnTo>
                <a:lnTo>
                  <a:pt x="36723" y="697735"/>
                </a:ln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7" name="Text 14"/>
          <p:cNvSpPr/>
          <p:nvPr/>
        </p:nvSpPr>
        <p:spPr>
          <a:xfrm>
            <a:off x="7805795" y="3252733"/>
            <a:ext cx="844627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Tier 3: Fair</a:t>
            </a:r>
            <a:endParaRPr lang="en-US" sz="115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949275" y="3347983"/>
            <a:ext cx="651831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551-650</a:t>
            </a:r>
            <a:endParaRPr lang="en-US" sz="1155" b="1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805795" y="3509793"/>
            <a:ext cx="3791639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Moderate risk, limited credit access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677265" y="3874268"/>
            <a:ext cx="3956892" cy="590400"/>
          </a:xfrm>
          <a:custGeom>
            <a:avLst/>
            <a:gdLst/>
            <a:ahLst/>
            <a:cxnLst/>
            <a:rect l="l" t="t" r="r" b="b"/>
            <a:pathLst>
              <a:path w="3956892" h="697735">
                <a:moveTo>
                  <a:pt x="36723" y="0"/>
                </a:moveTo>
                <a:lnTo>
                  <a:pt x="3883448" y="0"/>
                </a:lnTo>
                <a:cubicBezTo>
                  <a:pt x="3924010" y="0"/>
                  <a:pt x="3956892" y="32882"/>
                  <a:pt x="3956892" y="73444"/>
                </a:cubicBezTo>
                <a:lnTo>
                  <a:pt x="3956892" y="624291"/>
                </a:lnTo>
                <a:cubicBezTo>
                  <a:pt x="3956892" y="664853"/>
                  <a:pt x="3924010" y="697735"/>
                  <a:pt x="3883448" y="697735"/>
                </a:cubicBez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7677265" y="3874268"/>
            <a:ext cx="36723" cy="590400"/>
          </a:xfrm>
          <a:custGeom>
            <a:avLst/>
            <a:gdLst/>
            <a:ahLst/>
            <a:cxnLst/>
            <a:rect l="l" t="t" r="r" b="b"/>
            <a:pathLst>
              <a:path w="36723" h="697735">
                <a:moveTo>
                  <a:pt x="36723" y="0"/>
                </a:moveTo>
                <a:lnTo>
                  <a:pt x="36723" y="0"/>
                </a:lnTo>
                <a:lnTo>
                  <a:pt x="36723" y="697735"/>
                </a:ln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19"/>
          <p:cNvSpPr/>
          <p:nvPr/>
        </p:nvSpPr>
        <p:spPr>
          <a:xfrm>
            <a:off x="7805795" y="3870136"/>
            <a:ext cx="945614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Tier 4: Good</a:t>
            </a:r>
            <a:endParaRPr lang="en-US" sz="115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949275" y="3984436"/>
            <a:ext cx="651831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4A6C8C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651-750</a:t>
            </a:r>
            <a:endParaRPr lang="en-US" sz="1155" b="1" dirty="0">
              <a:solidFill>
                <a:srgbClr val="4A6C8C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805795" y="4136722"/>
            <a:ext cx="3791639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Reliable borrowers, standard rates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677265" y="4510721"/>
            <a:ext cx="3956892" cy="590400"/>
          </a:xfrm>
          <a:custGeom>
            <a:avLst/>
            <a:gdLst/>
            <a:ahLst/>
            <a:cxnLst/>
            <a:rect l="l" t="t" r="r" b="b"/>
            <a:pathLst>
              <a:path w="3956892" h="697735">
                <a:moveTo>
                  <a:pt x="36723" y="0"/>
                </a:moveTo>
                <a:lnTo>
                  <a:pt x="3883448" y="0"/>
                </a:lnTo>
                <a:cubicBezTo>
                  <a:pt x="3924010" y="0"/>
                  <a:pt x="3956892" y="32882"/>
                  <a:pt x="3956892" y="73444"/>
                </a:cubicBezTo>
                <a:lnTo>
                  <a:pt x="3956892" y="624291"/>
                </a:lnTo>
                <a:cubicBezTo>
                  <a:pt x="3956892" y="664853"/>
                  <a:pt x="3924010" y="697735"/>
                  <a:pt x="3883448" y="697735"/>
                </a:cubicBez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7677265" y="4510721"/>
            <a:ext cx="36723" cy="590400"/>
          </a:xfrm>
          <a:custGeom>
            <a:avLst/>
            <a:gdLst/>
            <a:ahLst/>
            <a:cxnLst/>
            <a:rect l="l" t="t" r="r" b="b"/>
            <a:pathLst>
              <a:path w="36723" h="697735">
                <a:moveTo>
                  <a:pt x="36723" y="0"/>
                </a:moveTo>
                <a:lnTo>
                  <a:pt x="36723" y="0"/>
                </a:lnTo>
                <a:lnTo>
                  <a:pt x="36723" y="697735"/>
                </a:ln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Text 24"/>
          <p:cNvSpPr/>
          <p:nvPr/>
        </p:nvSpPr>
        <p:spPr>
          <a:xfrm>
            <a:off x="7805795" y="4516115"/>
            <a:ext cx="1230217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Tier 5: Excellent</a:t>
            </a:r>
            <a:endParaRPr lang="en-US" sz="115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949275" y="4620890"/>
            <a:ext cx="651831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751-850</a:t>
            </a:r>
            <a:endParaRPr lang="en-US" sz="1155" b="1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805795" y="4782700"/>
            <a:ext cx="3791639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Low risk, preferential rates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471410" y="5416550"/>
            <a:ext cx="4349750" cy="1294765"/>
          </a:xfrm>
          <a:custGeom>
            <a:avLst/>
            <a:gdLst/>
            <a:ahLst/>
            <a:cxnLst/>
            <a:rect l="l" t="t" r="r" b="b"/>
            <a:pathLst>
              <a:path w="4349827" h="1439537">
                <a:moveTo>
                  <a:pt x="110168" y="0"/>
                </a:moveTo>
                <a:lnTo>
                  <a:pt x="4239659" y="0"/>
                </a:lnTo>
                <a:cubicBezTo>
                  <a:pt x="4300503" y="0"/>
                  <a:pt x="4349827" y="49324"/>
                  <a:pt x="4349827" y="110168"/>
                </a:cubicBezTo>
                <a:lnTo>
                  <a:pt x="4349827" y="1329370"/>
                </a:lnTo>
                <a:cubicBezTo>
                  <a:pt x="4349827" y="1390214"/>
                  <a:pt x="4300503" y="1439537"/>
                  <a:pt x="4239659" y="1439537"/>
                </a:cubicBezTo>
                <a:lnTo>
                  <a:pt x="110168" y="1439537"/>
                </a:lnTo>
                <a:cubicBezTo>
                  <a:pt x="49324" y="1439537"/>
                  <a:pt x="0" y="1390214"/>
                  <a:pt x="0" y="1329370"/>
                </a:cubicBezTo>
                <a:lnTo>
                  <a:pt x="0" y="110168"/>
                </a:lnTo>
                <a:cubicBezTo>
                  <a:pt x="0" y="49324"/>
                  <a:pt x="49324" y="0"/>
                  <a:pt x="11016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22180" y="5516389"/>
            <a:ext cx="4131325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Key Insights</a:t>
            </a:r>
            <a:endParaRPr lang="en-US" sz="13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640542" y="5889968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73446" y="146892"/>
                </a:moveTo>
                <a:cubicBezTo>
                  <a:pt x="113982" y="146892"/>
                  <a:pt x="146892" y="113982"/>
                  <a:pt x="146892" y="73446"/>
                </a:cubicBezTo>
                <a:cubicBezTo>
                  <a:pt x="146892" y="32910"/>
                  <a:pt x="113982" y="0"/>
                  <a:pt x="73446" y="0"/>
                </a:cubicBezTo>
                <a:cubicBezTo>
                  <a:pt x="32910" y="0"/>
                  <a:pt x="0" y="32910"/>
                  <a:pt x="0" y="73446"/>
                </a:cubicBezTo>
                <a:cubicBezTo>
                  <a:pt x="0" y="113982"/>
                  <a:pt x="32910" y="146892"/>
                  <a:pt x="73446" y="146892"/>
                </a:cubicBezTo>
                <a:close/>
                <a:moveTo>
                  <a:pt x="97660" y="61023"/>
                </a:moveTo>
                <a:lnTo>
                  <a:pt x="74708" y="97746"/>
                </a:lnTo>
                <a:cubicBezTo>
                  <a:pt x="73503" y="99668"/>
                  <a:pt x="71437" y="100873"/>
                  <a:pt x="69171" y="100988"/>
                </a:cubicBezTo>
                <a:cubicBezTo>
                  <a:pt x="66905" y="101103"/>
                  <a:pt x="64724" y="100070"/>
                  <a:pt x="63376" y="98234"/>
                </a:cubicBezTo>
                <a:lnTo>
                  <a:pt x="49605" y="79872"/>
                </a:lnTo>
                <a:cubicBezTo>
                  <a:pt x="47309" y="76831"/>
                  <a:pt x="47941" y="72528"/>
                  <a:pt x="50982" y="70233"/>
                </a:cubicBezTo>
                <a:cubicBezTo>
                  <a:pt x="54023" y="67937"/>
                  <a:pt x="58326" y="68569"/>
                  <a:pt x="60621" y="71610"/>
                </a:cubicBezTo>
                <a:lnTo>
                  <a:pt x="68368" y="81938"/>
                </a:lnTo>
                <a:lnTo>
                  <a:pt x="85983" y="53736"/>
                </a:lnTo>
                <a:cubicBezTo>
                  <a:pt x="87991" y="50523"/>
                  <a:pt x="92238" y="49519"/>
                  <a:pt x="95480" y="51555"/>
                </a:cubicBezTo>
                <a:cubicBezTo>
                  <a:pt x="98721" y="53592"/>
                  <a:pt x="99697" y="57810"/>
                  <a:pt x="97660" y="6105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3" name="Text 30"/>
          <p:cNvSpPr/>
          <p:nvPr/>
        </p:nvSpPr>
        <p:spPr>
          <a:xfrm>
            <a:off x="7879241" y="5853245"/>
            <a:ext cx="2552241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Normal distribution validates model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7640542" y="6183752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73446" y="146892"/>
                </a:moveTo>
                <a:cubicBezTo>
                  <a:pt x="113982" y="146892"/>
                  <a:pt x="146892" y="113982"/>
                  <a:pt x="146892" y="73446"/>
                </a:cubicBezTo>
                <a:cubicBezTo>
                  <a:pt x="146892" y="32910"/>
                  <a:pt x="113982" y="0"/>
                  <a:pt x="73446" y="0"/>
                </a:cubicBezTo>
                <a:cubicBezTo>
                  <a:pt x="32910" y="0"/>
                  <a:pt x="0" y="32910"/>
                  <a:pt x="0" y="73446"/>
                </a:cubicBezTo>
                <a:cubicBezTo>
                  <a:pt x="0" y="113982"/>
                  <a:pt x="32910" y="146892"/>
                  <a:pt x="73446" y="146892"/>
                </a:cubicBezTo>
                <a:close/>
                <a:moveTo>
                  <a:pt x="97660" y="61023"/>
                </a:moveTo>
                <a:lnTo>
                  <a:pt x="74708" y="97746"/>
                </a:lnTo>
                <a:cubicBezTo>
                  <a:pt x="73503" y="99668"/>
                  <a:pt x="71437" y="100873"/>
                  <a:pt x="69171" y="100988"/>
                </a:cubicBezTo>
                <a:cubicBezTo>
                  <a:pt x="66905" y="101103"/>
                  <a:pt x="64724" y="100070"/>
                  <a:pt x="63376" y="98234"/>
                </a:cubicBezTo>
                <a:lnTo>
                  <a:pt x="49605" y="79872"/>
                </a:lnTo>
                <a:cubicBezTo>
                  <a:pt x="47309" y="76831"/>
                  <a:pt x="47941" y="72528"/>
                  <a:pt x="50982" y="70233"/>
                </a:cubicBezTo>
                <a:cubicBezTo>
                  <a:pt x="54023" y="67937"/>
                  <a:pt x="58326" y="68569"/>
                  <a:pt x="60621" y="71610"/>
                </a:cubicBezTo>
                <a:lnTo>
                  <a:pt x="68368" y="81938"/>
                </a:lnTo>
                <a:lnTo>
                  <a:pt x="85983" y="53736"/>
                </a:lnTo>
                <a:cubicBezTo>
                  <a:pt x="87991" y="50523"/>
                  <a:pt x="92238" y="49519"/>
                  <a:pt x="95480" y="51555"/>
                </a:cubicBezTo>
                <a:cubicBezTo>
                  <a:pt x="98721" y="53592"/>
                  <a:pt x="99697" y="57810"/>
                  <a:pt x="97660" y="6105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5" name="Text 32"/>
          <p:cNvSpPr/>
          <p:nvPr/>
        </p:nvSpPr>
        <p:spPr>
          <a:xfrm>
            <a:off x="7879241" y="6147029"/>
            <a:ext cx="2818482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35% users score above 650 (good credit)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640542" y="6477535"/>
            <a:ext cx="146892" cy="146892"/>
          </a:xfrm>
          <a:custGeom>
            <a:avLst/>
            <a:gdLst/>
            <a:ahLst/>
            <a:cxnLst/>
            <a:rect l="l" t="t" r="r" b="b"/>
            <a:pathLst>
              <a:path w="146892" h="146892">
                <a:moveTo>
                  <a:pt x="73446" y="146892"/>
                </a:moveTo>
                <a:cubicBezTo>
                  <a:pt x="113982" y="146892"/>
                  <a:pt x="146892" y="113982"/>
                  <a:pt x="146892" y="73446"/>
                </a:cubicBezTo>
                <a:cubicBezTo>
                  <a:pt x="146892" y="32910"/>
                  <a:pt x="113982" y="0"/>
                  <a:pt x="73446" y="0"/>
                </a:cubicBezTo>
                <a:cubicBezTo>
                  <a:pt x="32910" y="0"/>
                  <a:pt x="0" y="32910"/>
                  <a:pt x="0" y="73446"/>
                </a:cubicBezTo>
                <a:cubicBezTo>
                  <a:pt x="0" y="113982"/>
                  <a:pt x="32910" y="146892"/>
                  <a:pt x="73446" y="146892"/>
                </a:cubicBezTo>
                <a:close/>
                <a:moveTo>
                  <a:pt x="97660" y="61023"/>
                </a:moveTo>
                <a:lnTo>
                  <a:pt x="74708" y="97746"/>
                </a:lnTo>
                <a:cubicBezTo>
                  <a:pt x="73503" y="99668"/>
                  <a:pt x="71437" y="100873"/>
                  <a:pt x="69171" y="100988"/>
                </a:cubicBezTo>
                <a:cubicBezTo>
                  <a:pt x="66905" y="101103"/>
                  <a:pt x="64724" y="100070"/>
                  <a:pt x="63376" y="98234"/>
                </a:cubicBezTo>
                <a:lnTo>
                  <a:pt x="49605" y="79872"/>
                </a:lnTo>
                <a:cubicBezTo>
                  <a:pt x="47309" y="76831"/>
                  <a:pt x="47941" y="72528"/>
                  <a:pt x="50982" y="70233"/>
                </a:cubicBezTo>
                <a:cubicBezTo>
                  <a:pt x="54023" y="67937"/>
                  <a:pt x="58326" y="68569"/>
                  <a:pt x="60621" y="71610"/>
                </a:cubicBezTo>
                <a:lnTo>
                  <a:pt x="68368" y="81938"/>
                </a:lnTo>
                <a:lnTo>
                  <a:pt x="85983" y="53736"/>
                </a:lnTo>
                <a:cubicBezTo>
                  <a:pt x="87991" y="50523"/>
                  <a:pt x="92238" y="49519"/>
                  <a:pt x="95480" y="51555"/>
                </a:cubicBezTo>
                <a:cubicBezTo>
                  <a:pt x="98721" y="53592"/>
                  <a:pt x="99697" y="57810"/>
                  <a:pt x="97660" y="61052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7" name="Text 34"/>
          <p:cNvSpPr/>
          <p:nvPr/>
        </p:nvSpPr>
        <p:spPr>
          <a:xfrm>
            <a:off x="7879241" y="6440812"/>
            <a:ext cx="2451253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Clear separation between risk tiers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7680440" y="1928261"/>
            <a:ext cx="3956892" cy="590400"/>
          </a:xfrm>
          <a:custGeom>
            <a:avLst/>
            <a:gdLst/>
            <a:ahLst/>
            <a:cxnLst/>
            <a:rect l="l" t="t" r="r" b="b"/>
            <a:pathLst>
              <a:path w="3956892" h="697735">
                <a:moveTo>
                  <a:pt x="36723" y="0"/>
                </a:moveTo>
                <a:lnTo>
                  <a:pt x="3883448" y="0"/>
                </a:lnTo>
                <a:cubicBezTo>
                  <a:pt x="3924010" y="0"/>
                  <a:pt x="3956892" y="32882"/>
                  <a:pt x="3956892" y="73444"/>
                </a:cubicBezTo>
                <a:lnTo>
                  <a:pt x="3956892" y="624291"/>
                </a:lnTo>
                <a:cubicBezTo>
                  <a:pt x="3956892" y="664853"/>
                  <a:pt x="3924010" y="697735"/>
                  <a:pt x="3883448" y="697735"/>
                </a:cubicBez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Shape 8"/>
          <p:cNvSpPr/>
          <p:nvPr/>
        </p:nvSpPr>
        <p:spPr>
          <a:xfrm>
            <a:off x="7680440" y="1928261"/>
            <a:ext cx="36723" cy="590400"/>
          </a:xfrm>
          <a:custGeom>
            <a:avLst/>
            <a:gdLst/>
            <a:ahLst/>
            <a:cxnLst/>
            <a:rect l="l" t="t" r="r" b="b"/>
            <a:pathLst>
              <a:path w="36723" h="697735">
                <a:moveTo>
                  <a:pt x="36723" y="0"/>
                </a:moveTo>
                <a:lnTo>
                  <a:pt x="36723" y="0"/>
                </a:lnTo>
                <a:lnTo>
                  <a:pt x="36723" y="697735"/>
                </a:lnTo>
                <a:lnTo>
                  <a:pt x="36723" y="697735"/>
                </a:lnTo>
                <a:cubicBezTo>
                  <a:pt x="16441" y="697735"/>
                  <a:pt x="0" y="681294"/>
                  <a:pt x="0" y="661012"/>
                </a:cubicBezTo>
                <a:lnTo>
                  <a:pt x="0" y="36723"/>
                </a:lnTo>
                <a:cubicBezTo>
                  <a:pt x="0" y="16455"/>
                  <a:pt x="16455" y="0"/>
                  <a:pt x="36723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40" name="Text 9"/>
          <p:cNvSpPr/>
          <p:nvPr/>
        </p:nvSpPr>
        <p:spPr>
          <a:xfrm>
            <a:off x="7808970" y="1952704"/>
            <a:ext cx="908892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Tier 1: Bad</a:t>
            </a:r>
            <a:endParaRPr lang="en-US" sz="115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10952450" y="2038429"/>
            <a:ext cx="651831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6467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300-450</a:t>
            </a:r>
            <a:endParaRPr lang="en-US" sz="1155" b="1" dirty="0">
              <a:solidFill>
                <a:srgbClr val="FF6467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7808970" y="2219289"/>
            <a:ext cx="3791639" cy="2203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 default risk, requires collateral</a:t>
            </a:r>
            <a:endParaRPr lang="en-US" sz="1155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rcRect t="8512"/>
          <a:stretch>
            <a:fillRect/>
          </a:stretch>
        </p:blipFill>
        <p:spPr>
          <a:xfrm>
            <a:off x="808355" y="2070735"/>
            <a:ext cx="6036310" cy="4340860"/>
          </a:xfrm>
          <a:prstGeom prst="round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80702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kern="0" spc="53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ANOMALY DETECTION</a:t>
            </a:r>
            <a:endParaRPr lang="en-US" sz="1070" b="1" kern="0" spc="53" dirty="0">
              <a:solidFill>
                <a:srgbClr val="5E8B7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39610" y="611298"/>
            <a:ext cx="11665604" cy="33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Isolation Forest Algorithm</a:t>
            </a:r>
            <a:endParaRPr lang="en-US" sz="240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39610" y="1052791"/>
            <a:ext cx="815064" cy="33961"/>
          </a:xfrm>
          <a:custGeom>
            <a:avLst/>
            <a:gdLst/>
            <a:ahLst/>
            <a:cxnLst/>
            <a:rect l="l" t="t" r="r" b="b"/>
            <a:pathLst>
              <a:path w="815064" h="33961">
                <a:moveTo>
                  <a:pt x="0" y="0"/>
                </a:moveTo>
                <a:lnTo>
                  <a:pt x="815064" y="0"/>
                </a:lnTo>
                <a:lnTo>
                  <a:pt x="815064" y="33961"/>
                </a:lnTo>
                <a:lnTo>
                  <a:pt x="0" y="33961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43006" y="1259953"/>
            <a:ext cx="5669789" cy="2163316"/>
          </a:xfrm>
          <a:custGeom>
            <a:avLst/>
            <a:gdLst/>
            <a:ahLst/>
            <a:cxnLst/>
            <a:rect l="l" t="t" r="r" b="b"/>
            <a:pathLst>
              <a:path w="5669789" h="2163316">
                <a:moveTo>
                  <a:pt x="101892" y="0"/>
                </a:moveTo>
                <a:lnTo>
                  <a:pt x="5567897" y="0"/>
                </a:lnTo>
                <a:cubicBezTo>
                  <a:pt x="5624171" y="0"/>
                  <a:pt x="5669789" y="45619"/>
                  <a:pt x="5669789" y="101892"/>
                </a:cubicBezTo>
                <a:lnTo>
                  <a:pt x="5669789" y="2061424"/>
                </a:lnTo>
                <a:cubicBezTo>
                  <a:pt x="5669789" y="2117697"/>
                  <a:pt x="5624171" y="2163316"/>
                  <a:pt x="5567897" y="2163316"/>
                </a:cubicBezTo>
                <a:lnTo>
                  <a:pt x="101892" y="2163316"/>
                </a:lnTo>
                <a:cubicBezTo>
                  <a:pt x="45619" y="2163316"/>
                  <a:pt x="0" y="2117697"/>
                  <a:pt x="0" y="2061424"/>
                </a:cubicBezTo>
                <a:lnTo>
                  <a:pt x="0" y="101892"/>
                </a:lnTo>
                <a:cubicBezTo>
                  <a:pt x="0" y="45619"/>
                  <a:pt x="45619" y="0"/>
                  <a:pt x="101892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046" y="1467114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74290" y="-10613"/>
                </a:moveTo>
                <a:cubicBezTo>
                  <a:pt x="76611" y="-10613"/>
                  <a:pt x="78833" y="-9585"/>
                  <a:pt x="80359" y="-7794"/>
                </a:cubicBezTo>
                <a:lnTo>
                  <a:pt x="125463" y="45270"/>
                </a:lnTo>
                <a:cubicBezTo>
                  <a:pt x="127486" y="47625"/>
                  <a:pt x="127918" y="50942"/>
                  <a:pt x="126624" y="53761"/>
                </a:cubicBezTo>
                <a:cubicBezTo>
                  <a:pt x="125331" y="56580"/>
                  <a:pt x="122512" y="58370"/>
                  <a:pt x="119394" y="58370"/>
                </a:cubicBezTo>
                <a:lnTo>
                  <a:pt x="111136" y="58370"/>
                </a:lnTo>
                <a:lnTo>
                  <a:pt x="136076" y="87722"/>
                </a:lnTo>
                <a:cubicBezTo>
                  <a:pt x="138099" y="90076"/>
                  <a:pt x="138530" y="93393"/>
                  <a:pt x="137237" y="96212"/>
                </a:cubicBezTo>
                <a:cubicBezTo>
                  <a:pt x="135944" y="99031"/>
                  <a:pt x="133124" y="100822"/>
                  <a:pt x="130007" y="100822"/>
                </a:cubicBezTo>
                <a:lnTo>
                  <a:pt x="117238" y="100822"/>
                </a:lnTo>
                <a:lnTo>
                  <a:pt x="146689" y="135479"/>
                </a:lnTo>
                <a:cubicBezTo>
                  <a:pt x="148712" y="137834"/>
                  <a:pt x="149143" y="141150"/>
                  <a:pt x="147850" y="143969"/>
                </a:cubicBezTo>
                <a:cubicBezTo>
                  <a:pt x="146556" y="146788"/>
                  <a:pt x="143737" y="148579"/>
                  <a:pt x="140620" y="148579"/>
                </a:cubicBezTo>
                <a:lnTo>
                  <a:pt x="84903" y="148579"/>
                </a:lnTo>
                <a:lnTo>
                  <a:pt x="84903" y="169805"/>
                </a:lnTo>
                <a:cubicBezTo>
                  <a:pt x="84903" y="175675"/>
                  <a:pt x="80160" y="180418"/>
                  <a:pt x="74290" y="180418"/>
                </a:cubicBezTo>
                <a:cubicBezTo>
                  <a:pt x="68419" y="180418"/>
                  <a:pt x="63677" y="175675"/>
                  <a:pt x="63677" y="169805"/>
                </a:cubicBezTo>
                <a:lnTo>
                  <a:pt x="63677" y="148579"/>
                </a:lnTo>
                <a:lnTo>
                  <a:pt x="7960" y="148579"/>
                </a:lnTo>
                <a:cubicBezTo>
                  <a:pt x="4842" y="148579"/>
                  <a:pt x="2023" y="146788"/>
                  <a:pt x="730" y="143969"/>
                </a:cubicBezTo>
                <a:cubicBezTo>
                  <a:pt x="-564" y="141150"/>
                  <a:pt x="-133" y="137834"/>
                  <a:pt x="1890" y="135479"/>
                </a:cubicBezTo>
                <a:lnTo>
                  <a:pt x="31341" y="100822"/>
                </a:lnTo>
                <a:lnTo>
                  <a:pt x="18572" y="100822"/>
                </a:lnTo>
                <a:cubicBezTo>
                  <a:pt x="15455" y="100822"/>
                  <a:pt x="12636" y="99031"/>
                  <a:pt x="11342" y="96212"/>
                </a:cubicBezTo>
                <a:cubicBezTo>
                  <a:pt x="10049" y="93393"/>
                  <a:pt x="10480" y="90076"/>
                  <a:pt x="12503" y="87722"/>
                </a:cubicBezTo>
                <a:lnTo>
                  <a:pt x="37443" y="58370"/>
                </a:lnTo>
                <a:lnTo>
                  <a:pt x="29185" y="58370"/>
                </a:lnTo>
                <a:cubicBezTo>
                  <a:pt x="26068" y="58370"/>
                  <a:pt x="23249" y="56580"/>
                  <a:pt x="21955" y="53761"/>
                </a:cubicBezTo>
                <a:cubicBezTo>
                  <a:pt x="20662" y="50942"/>
                  <a:pt x="21093" y="47625"/>
                  <a:pt x="23116" y="45270"/>
                </a:cubicBezTo>
                <a:lnTo>
                  <a:pt x="68220" y="-7794"/>
                </a:lnTo>
                <a:cubicBezTo>
                  <a:pt x="69746" y="-9585"/>
                  <a:pt x="71968" y="-10613"/>
                  <a:pt x="74290" y="-1061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728464" y="1433153"/>
            <a:ext cx="5196033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Algorithm Overview</a:t>
            </a:r>
            <a:endParaRPr lang="en-US" sz="133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6207" y="1772763"/>
            <a:ext cx="5391309" cy="66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Isolation Forest is an unsupervised learning algorithm that isolates anomalies by randomly selecting features and split values. Anomalies are easier to isolate (shorter path length) than normal data points.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6207" y="2570846"/>
            <a:ext cx="2606507" cy="679220"/>
          </a:xfrm>
          <a:custGeom>
            <a:avLst/>
            <a:gdLst/>
            <a:ahLst/>
            <a:cxnLst/>
            <a:rect l="l" t="t" r="r" b="b"/>
            <a:pathLst>
              <a:path w="2606507" h="679220">
                <a:moveTo>
                  <a:pt x="67922" y="0"/>
                </a:moveTo>
                <a:lnTo>
                  <a:pt x="2538585" y="0"/>
                </a:lnTo>
                <a:cubicBezTo>
                  <a:pt x="2576097" y="0"/>
                  <a:pt x="2606507" y="30410"/>
                  <a:pt x="2606507" y="67922"/>
                </a:cubicBezTo>
                <a:lnTo>
                  <a:pt x="2606507" y="611298"/>
                </a:lnTo>
                <a:cubicBezTo>
                  <a:pt x="2606507" y="648810"/>
                  <a:pt x="2576097" y="679220"/>
                  <a:pt x="2538585" y="679220"/>
                </a:cubicBezTo>
                <a:lnTo>
                  <a:pt x="67922" y="679220"/>
                </a:lnTo>
                <a:cubicBezTo>
                  <a:pt x="30410" y="679220"/>
                  <a:pt x="0" y="648810"/>
                  <a:pt x="0" y="611298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43561" y="2706690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89891" y="-2627"/>
                </a:moveTo>
                <a:cubicBezTo>
                  <a:pt x="93048" y="-345"/>
                  <a:pt x="94215" y="3794"/>
                  <a:pt x="92783" y="7402"/>
                </a:cubicBezTo>
                <a:lnTo>
                  <a:pt x="71981" y="59432"/>
                </a:lnTo>
                <a:lnTo>
                  <a:pt x="110373" y="59432"/>
                </a:lnTo>
                <a:cubicBezTo>
                  <a:pt x="113955" y="59432"/>
                  <a:pt x="117139" y="61660"/>
                  <a:pt x="118359" y="65030"/>
                </a:cubicBezTo>
                <a:cubicBezTo>
                  <a:pt x="119580" y="68400"/>
                  <a:pt x="118545" y="72167"/>
                  <a:pt x="115812" y="74449"/>
                </a:cubicBezTo>
                <a:lnTo>
                  <a:pt x="39400" y="138126"/>
                </a:lnTo>
                <a:cubicBezTo>
                  <a:pt x="36402" y="140620"/>
                  <a:pt x="32130" y="140752"/>
                  <a:pt x="28973" y="138471"/>
                </a:cubicBezTo>
                <a:cubicBezTo>
                  <a:pt x="25816" y="136189"/>
                  <a:pt x="24648" y="132050"/>
                  <a:pt x="26081" y="128442"/>
                </a:cubicBezTo>
                <a:lnTo>
                  <a:pt x="46882" y="76412"/>
                </a:lnTo>
                <a:lnTo>
                  <a:pt x="8490" y="76412"/>
                </a:lnTo>
                <a:cubicBezTo>
                  <a:pt x="4908" y="76412"/>
                  <a:pt x="1725" y="74184"/>
                  <a:pt x="504" y="70814"/>
                </a:cubicBezTo>
                <a:cubicBezTo>
                  <a:pt x="-716" y="67444"/>
                  <a:pt x="318" y="63677"/>
                  <a:pt x="3051" y="61395"/>
                </a:cubicBezTo>
                <a:lnTo>
                  <a:pt x="79463" y="-2282"/>
                </a:lnTo>
                <a:cubicBezTo>
                  <a:pt x="82462" y="-4776"/>
                  <a:pt x="86733" y="-4908"/>
                  <a:pt x="89891" y="-2627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1" name="Text 9"/>
          <p:cNvSpPr/>
          <p:nvPr/>
        </p:nvSpPr>
        <p:spPr>
          <a:xfrm>
            <a:off x="855817" y="2672729"/>
            <a:ext cx="1035811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Fast Detection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18090" y="2944417"/>
            <a:ext cx="247066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Linear time complexity O(n)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27144" y="2570846"/>
            <a:ext cx="2606507" cy="679220"/>
          </a:xfrm>
          <a:custGeom>
            <a:avLst/>
            <a:gdLst/>
            <a:ahLst/>
            <a:cxnLst/>
            <a:rect l="l" t="t" r="r" b="b"/>
            <a:pathLst>
              <a:path w="2606507" h="679220">
                <a:moveTo>
                  <a:pt x="67922" y="0"/>
                </a:moveTo>
                <a:lnTo>
                  <a:pt x="2538585" y="0"/>
                </a:lnTo>
                <a:cubicBezTo>
                  <a:pt x="2576097" y="0"/>
                  <a:pt x="2606507" y="30410"/>
                  <a:pt x="2606507" y="67922"/>
                </a:cubicBezTo>
                <a:lnTo>
                  <a:pt x="2606507" y="611298"/>
                </a:lnTo>
                <a:cubicBezTo>
                  <a:pt x="2606507" y="648810"/>
                  <a:pt x="2576097" y="679220"/>
                  <a:pt x="2538585" y="679220"/>
                </a:cubicBezTo>
                <a:lnTo>
                  <a:pt x="67922" y="679220"/>
                </a:lnTo>
                <a:cubicBezTo>
                  <a:pt x="30410" y="679220"/>
                  <a:pt x="0" y="648810"/>
                  <a:pt x="0" y="611298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346008" y="2706690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16981" y="16981"/>
                </a:moveTo>
                <a:cubicBezTo>
                  <a:pt x="7615" y="16981"/>
                  <a:pt x="0" y="24595"/>
                  <a:pt x="0" y="33961"/>
                </a:cubicBezTo>
                <a:lnTo>
                  <a:pt x="0" y="35924"/>
                </a:lnTo>
                <a:cubicBezTo>
                  <a:pt x="0" y="37729"/>
                  <a:pt x="1167" y="39267"/>
                  <a:pt x="2680" y="40249"/>
                </a:cubicBezTo>
                <a:cubicBezTo>
                  <a:pt x="6182" y="42531"/>
                  <a:pt x="8490" y="46458"/>
                  <a:pt x="8490" y="50942"/>
                </a:cubicBezTo>
                <a:cubicBezTo>
                  <a:pt x="8490" y="55425"/>
                  <a:pt x="6182" y="59352"/>
                  <a:pt x="2680" y="61634"/>
                </a:cubicBezTo>
                <a:cubicBezTo>
                  <a:pt x="1167" y="62616"/>
                  <a:pt x="0" y="64154"/>
                  <a:pt x="0" y="65959"/>
                </a:cubicBezTo>
                <a:lnTo>
                  <a:pt x="0" y="80657"/>
                </a:lnTo>
                <a:lnTo>
                  <a:pt x="135844" y="80657"/>
                </a:lnTo>
                <a:lnTo>
                  <a:pt x="135844" y="65959"/>
                </a:lnTo>
                <a:cubicBezTo>
                  <a:pt x="135844" y="64154"/>
                  <a:pt x="134677" y="62616"/>
                  <a:pt x="133164" y="61634"/>
                </a:cubicBezTo>
                <a:cubicBezTo>
                  <a:pt x="129662" y="59352"/>
                  <a:pt x="127354" y="55425"/>
                  <a:pt x="127354" y="50942"/>
                </a:cubicBezTo>
                <a:cubicBezTo>
                  <a:pt x="127354" y="46458"/>
                  <a:pt x="129662" y="42531"/>
                  <a:pt x="133164" y="40249"/>
                </a:cubicBezTo>
                <a:cubicBezTo>
                  <a:pt x="134677" y="39267"/>
                  <a:pt x="135844" y="37729"/>
                  <a:pt x="135844" y="35924"/>
                </a:cubicBezTo>
                <a:lnTo>
                  <a:pt x="135844" y="33961"/>
                </a:lnTo>
                <a:cubicBezTo>
                  <a:pt x="135844" y="24595"/>
                  <a:pt x="128229" y="16981"/>
                  <a:pt x="118864" y="16981"/>
                </a:cubicBezTo>
                <a:lnTo>
                  <a:pt x="16981" y="16981"/>
                </a:lnTo>
                <a:close/>
                <a:moveTo>
                  <a:pt x="135844" y="110373"/>
                </a:moveTo>
                <a:lnTo>
                  <a:pt x="135844" y="93393"/>
                </a:lnTo>
                <a:lnTo>
                  <a:pt x="0" y="93393"/>
                </a:lnTo>
                <a:lnTo>
                  <a:pt x="0" y="110373"/>
                </a:lnTo>
                <a:cubicBezTo>
                  <a:pt x="0" y="115069"/>
                  <a:pt x="3794" y="118864"/>
                  <a:pt x="8490" y="118864"/>
                </a:cubicBezTo>
                <a:lnTo>
                  <a:pt x="25471" y="118864"/>
                </a:lnTo>
                <a:lnTo>
                  <a:pt x="25471" y="112496"/>
                </a:lnTo>
                <a:cubicBezTo>
                  <a:pt x="25471" y="108967"/>
                  <a:pt x="28310" y="106128"/>
                  <a:pt x="31838" y="106128"/>
                </a:cubicBezTo>
                <a:cubicBezTo>
                  <a:pt x="35367" y="106128"/>
                  <a:pt x="38206" y="108967"/>
                  <a:pt x="38206" y="112496"/>
                </a:cubicBezTo>
                <a:lnTo>
                  <a:pt x="38206" y="118864"/>
                </a:lnTo>
                <a:lnTo>
                  <a:pt x="61554" y="118864"/>
                </a:lnTo>
                <a:lnTo>
                  <a:pt x="61554" y="112496"/>
                </a:lnTo>
                <a:cubicBezTo>
                  <a:pt x="61554" y="108967"/>
                  <a:pt x="64393" y="106128"/>
                  <a:pt x="67922" y="106128"/>
                </a:cubicBezTo>
                <a:cubicBezTo>
                  <a:pt x="71451" y="106128"/>
                  <a:pt x="74290" y="108967"/>
                  <a:pt x="74290" y="112496"/>
                </a:cubicBezTo>
                <a:lnTo>
                  <a:pt x="74290" y="118864"/>
                </a:lnTo>
                <a:lnTo>
                  <a:pt x="97638" y="118864"/>
                </a:lnTo>
                <a:lnTo>
                  <a:pt x="97638" y="112496"/>
                </a:lnTo>
                <a:cubicBezTo>
                  <a:pt x="97638" y="108967"/>
                  <a:pt x="100477" y="106128"/>
                  <a:pt x="104006" y="106128"/>
                </a:cubicBezTo>
                <a:cubicBezTo>
                  <a:pt x="107534" y="106128"/>
                  <a:pt x="110373" y="108967"/>
                  <a:pt x="110373" y="112496"/>
                </a:cubicBezTo>
                <a:lnTo>
                  <a:pt x="110373" y="118864"/>
                </a:lnTo>
                <a:lnTo>
                  <a:pt x="127354" y="118864"/>
                </a:lnTo>
                <a:cubicBezTo>
                  <a:pt x="132050" y="118864"/>
                  <a:pt x="135844" y="115069"/>
                  <a:pt x="135844" y="110373"/>
                </a:cubicBezTo>
                <a:close/>
                <a:moveTo>
                  <a:pt x="42451" y="42451"/>
                </a:moveTo>
                <a:lnTo>
                  <a:pt x="42451" y="59432"/>
                </a:lnTo>
                <a:cubicBezTo>
                  <a:pt x="42451" y="64128"/>
                  <a:pt x="38657" y="67922"/>
                  <a:pt x="33961" y="67922"/>
                </a:cubicBezTo>
                <a:cubicBezTo>
                  <a:pt x="29265" y="67922"/>
                  <a:pt x="25471" y="64128"/>
                  <a:pt x="25471" y="59432"/>
                </a:cubicBezTo>
                <a:lnTo>
                  <a:pt x="25471" y="42451"/>
                </a:lnTo>
                <a:cubicBezTo>
                  <a:pt x="25471" y="37755"/>
                  <a:pt x="29265" y="33961"/>
                  <a:pt x="33961" y="33961"/>
                </a:cubicBezTo>
                <a:cubicBezTo>
                  <a:pt x="38657" y="33961"/>
                  <a:pt x="42451" y="37755"/>
                  <a:pt x="42451" y="42451"/>
                </a:cubicBezTo>
                <a:close/>
                <a:moveTo>
                  <a:pt x="76412" y="42451"/>
                </a:moveTo>
                <a:lnTo>
                  <a:pt x="76412" y="59432"/>
                </a:lnTo>
                <a:cubicBezTo>
                  <a:pt x="76412" y="64128"/>
                  <a:pt x="72618" y="67922"/>
                  <a:pt x="67922" y="67922"/>
                </a:cubicBezTo>
                <a:cubicBezTo>
                  <a:pt x="63226" y="67922"/>
                  <a:pt x="59432" y="64128"/>
                  <a:pt x="59432" y="59432"/>
                </a:cubicBezTo>
                <a:lnTo>
                  <a:pt x="59432" y="42451"/>
                </a:lnTo>
                <a:cubicBezTo>
                  <a:pt x="59432" y="37755"/>
                  <a:pt x="63226" y="33961"/>
                  <a:pt x="67922" y="33961"/>
                </a:cubicBezTo>
                <a:cubicBezTo>
                  <a:pt x="72618" y="33961"/>
                  <a:pt x="76412" y="37755"/>
                  <a:pt x="76412" y="42451"/>
                </a:cubicBezTo>
                <a:close/>
                <a:moveTo>
                  <a:pt x="110373" y="42451"/>
                </a:moveTo>
                <a:lnTo>
                  <a:pt x="110373" y="59432"/>
                </a:lnTo>
                <a:cubicBezTo>
                  <a:pt x="110373" y="64128"/>
                  <a:pt x="106579" y="67922"/>
                  <a:pt x="101883" y="67922"/>
                </a:cubicBezTo>
                <a:cubicBezTo>
                  <a:pt x="97187" y="67922"/>
                  <a:pt x="93393" y="64128"/>
                  <a:pt x="93393" y="59432"/>
                </a:cubicBezTo>
                <a:lnTo>
                  <a:pt x="93393" y="42451"/>
                </a:lnTo>
                <a:cubicBezTo>
                  <a:pt x="93393" y="37755"/>
                  <a:pt x="97187" y="33961"/>
                  <a:pt x="101883" y="33961"/>
                </a:cubicBezTo>
                <a:cubicBezTo>
                  <a:pt x="106579" y="33961"/>
                  <a:pt x="110373" y="37755"/>
                  <a:pt x="110373" y="42451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5" name="Text 13"/>
          <p:cNvSpPr/>
          <p:nvPr/>
        </p:nvSpPr>
        <p:spPr>
          <a:xfrm>
            <a:off x="3566754" y="2672729"/>
            <a:ext cx="925437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Low Memory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29027" y="2944417"/>
            <a:ext cx="247066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Efficient for large datasets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2900" y="3566160"/>
            <a:ext cx="5669915" cy="3159760"/>
          </a:xfrm>
          <a:custGeom>
            <a:avLst/>
            <a:gdLst/>
            <a:ahLst/>
            <a:cxnLst/>
            <a:rect l="l" t="t" r="r" b="b"/>
            <a:pathLst>
              <a:path w="5669789" h="3292519">
                <a:moveTo>
                  <a:pt x="101871" y="0"/>
                </a:moveTo>
                <a:lnTo>
                  <a:pt x="5567919" y="0"/>
                </a:lnTo>
                <a:cubicBezTo>
                  <a:pt x="5624180" y="0"/>
                  <a:pt x="5669789" y="45609"/>
                  <a:pt x="5669789" y="101871"/>
                </a:cubicBezTo>
                <a:lnTo>
                  <a:pt x="5669789" y="3190649"/>
                </a:lnTo>
                <a:cubicBezTo>
                  <a:pt x="5669789" y="3246910"/>
                  <a:pt x="5624180" y="3292519"/>
                  <a:pt x="5567919" y="3292519"/>
                </a:cubicBezTo>
                <a:lnTo>
                  <a:pt x="101871" y="3292519"/>
                </a:lnTo>
                <a:cubicBezTo>
                  <a:pt x="45609" y="3292519"/>
                  <a:pt x="0" y="3246910"/>
                  <a:pt x="0" y="3190649"/>
                </a:cubicBezTo>
                <a:lnTo>
                  <a:pt x="0" y="101871"/>
                </a:lnTo>
                <a:cubicBezTo>
                  <a:pt x="0" y="45647"/>
                  <a:pt x="45647" y="0"/>
                  <a:pt x="101871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207" y="3739110"/>
            <a:ext cx="5399799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How It Works</a:t>
            </a:r>
            <a:endParaRPr lang="en-US" sz="120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6207" y="4078720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0" name="Text 18"/>
          <p:cNvSpPr/>
          <p:nvPr/>
        </p:nvSpPr>
        <p:spPr>
          <a:xfrm>
            <a:off x="611935" y="4112681"/>
            <a:ext cx="14433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9778" y="4078720"/>
            <a:ext cx="2750841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Random Subsampling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9778" y="4282486"/>
            <a:ext cx="2750841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Select random subset of data for each tree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6207" y="4740535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4" name="Text 22"/>
          <p:cNvSpPr/>
          <p:nvPr/>
        </p:nvSpPr>
        <p:spPr>
          <a:xfrm>
            <a:off x="611935" y="4774496"/>
            <a:ext cx="14433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778" y="4740535"/>
            <a:ext cx="2564056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Recursive Partitioning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89778" y="4944301"/>
            <a:ext cx="2564056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Randomly select feature and split value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16207" y="5430925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8" name="Text 26"/>
          <p:cNvSpPr/>
          <p:nvPr/>
        </p:nvSpPr>
        <p:spPr>
          <a:xfrm>
            <a:off x="611935" y="5464886"/>
            <a:ext cx="14433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9778" y="5430925"/>
            <a:ext cx="216501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Path Length Calculation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9778" y="5634691"/>
            <a:ext cx="216501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Shorter paths indicate anomalies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16207" y="6140365"/>
            <a:ext cx="271688" cy="271688"/>
          </a:xfrm>
          <a:custGeom>
            <a:avLst/>
            <a:gdLst/>
            <a:ahLst/>
            <a:cxnLst/>
            <a:rect l="l" t="t" r="r" b="b"/>
            <a:pathLst>
              <a:path w="271688" h="271688">
                <a:moveTo>
                  <a:pt x="67922" y="0"/>
                </a:moveTo>
                <a:lnTo>
                  <a:pt x="203766" y="0"/>
                </a:lnTo>
                <a:cubicBezTo>
                  <a:pt x="241278" y="0"/>
                  <a:pt x="271688" y="30410"/>
                  <a:pt x="271688" y="67922"/>
                </a:cubicBezTo>
                <a:lnTo>
                  <a:pt x="271688" y="203766"/>
                </a:lnTo>
                <a:cubicBezTo>
                  <a:pt x="271688" y="241278"/>
                  <a:pt x="241278" y="271688"/>
                  <a:pt x="203766" y="271688"/>
                </a:cubicBezTo>
                <a:lnTo>
                  <a:pt x="67922" y="271688"/>
                </a:lnTo>
                <a:cubicBezTo>
                  <a:pt x="30410" y="271688"/>
                  <a:pt x="0" y="241278"/>
                  <a:pt x="0" y="203766"/>
                </a:cubicBezTo>
                <a:lnTo>
                  <a:pt x="0" y="67922"/>
                </a:lnTo>
                <a:cubicBezTo>
                  <a:pt x="0" y="30410"/>
                  <a:pt x="30410" y="0"/>
                  <a:pt x="67922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32" name="Text 30"/>
          <p:cNvSpPr/>
          <p:nvPr/>
        </p:nvSpPr>
        <p:spPr>
          <a:xfrm>
            <a:off x="611935" y="6174326"/>
            <a:ext cx="14433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9778" y="6140365"/>
            <a:ext cx="2309348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Anomaly Score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9778" y="6344131"/>
            <a:ext cx="2309348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Average path length across all trees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86170" y="1259840"/>
            <a:ext cx="5669915" cy="5466715"/>
          </a:xfrm>
          <a:custGeom>
            <a:avLst/>
            <a:gdLst/>
            <a:ahLst/>
            <a:cxnLst/>
            <a:rect l="l" t="t" r="r" b="b"/>
            <a:pathLst>
              <a:path w="5669789" h="3818915">
                <a:moveTo>
                  <a:pt x="101889" y="0"/>
                </a:moveTo>
                <a:lnTo>
                  <a:pt x="5567901" y="0"/>
                </a:lnTo>
                <a:cubicBezTo>
                  <a:pt x="5624172" y="0"/>
                  <a:pt x="5669789" y="45617"/>
                  <a:pt x="5669789" y="101889"/>
                </a:cubicBezTo>
                <a:lnTo>
                  <a:pt x="5669789" y="3717026"/>
                </a:lnTo>
                <a:cubicBezTo>
                  <a:pt x="5669789" y="3773298"/>
                  <a:pt x="5624172" y="3818915"/>
                  <a:pt x="5567901" y="3818915"/>
                </a:cubicBezTo>
                <a:lnTo>
                  <a:pt x="101889" y="3818915"/>
                </a:lnTo>
                <a:cubicBezTo>
                  <a:pt x="45617" y="3818915"/>
                  <a:pt x="0" y="3773298"/>
                  <a:pt x="0" y="3717026"/>
                </a:cubicBezTo>
                <a:lnTo>
                  <a:pt x="0" y="101889"/>
                </a:lnTo>
                <a:cubicBezTo>
                  <a:pt x="0" y="45655"/>
                  <a:pt x="45655" y="0"/>
                  <a:pt x="101889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9304" y="1433153"/>
            <a:ext cx="5408290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Anomaly Score Interpretation</a:t>
            </a:r>
            <a:endParaRPr lang="en-US" sz="133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59304" y="4377784"/>
            <a:ext cx="5323387" cy="6792"/>
          </a:xfrm>
          <a:custGeom>
            <a:avLst/>
            <a:gdLst/>
            <a:ahLst/>
            <a:cxnLst/>
            <a:rect l="l" t="t" r="r" b="b"/>
            <a:pathLst>
              <a:path w="5323387" h="6792">
                <a:moveTo>
                  <a:pt x="0" y="0"/>
                </a:moveTo>
                <a:lnTo>
                  <a:pt x="5323387" y="0"/>
                </a:lnTo>
                <a:lnTo>
                  <a:pt x="5323387" y="6792"/>
                </a:lnTo>
                <a:lnTo>
                  <a:pt x="0" y="679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359304" y="4517031"/>
            <a:ext cx="5323387" cy="645259"/>
          </a:xfrm>
          <a:custGeom>
            <a:avLst/>
            <a:gdLst/>
            <a:ahLst/>
            <a:cxnLst/>
            <a:rect l="l" t="t" r="r" b="b"/>
            <a:pathLst>
              <a:path w="5323387" h="645259">
                <a:moveTo>
                  <a:pt x="67920" y="0"/>
                </a:moveTo>
                <a:lnTo>
                  <a:pt x="5255467" y="0"/>
                </a:lnTo>
                <a:cubicBezTo>
                  <a:pt x="5292978" y="0"/>
                  <a:pt x="5323387" y="30409"/>
                  <a:pt x="5323387" y="67920"/>
                </a:cubicBezTo>
                <a:lnTo>
                  <a:pt x="5323387" y="577339"/>
                </a:lnTo>
                <a:cubicBezTo>
                  <a:pt x="5323387" y="614850"/>
                  <a:pt x="5292978" y="645259"/>
                  <a:pt x="5255467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461187" y="4618914"/>
            <a:ext cx="976379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Normal Users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851602" y="4618914"/>
            <a:ext cx="79808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Score &gt; 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61187" y="4856641"/>
            <a:ext cx="518754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Typical behavioral patterns, longer isolation paths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59304" y="5264173"/>
            <a:ext cx="5323387" cy="645259"/>
          </a:xfrm>
          <a:custGeom>
            <a:avLst/>
            <a:gdLst/>
            <a:ahLst/>
            <a:cxnLst/>
            <a:rect l="l" t="t" r="r" b="b"/>
            <a:pathLst>
              <a:path w="5323387" h="645259">
                <a:moveTo>
                  <a:pt x="67920" y="0"/>
                </a:moveTo>
                <a:lnTo>
                  <a:pt x="5255467" y="0"/>
                </a:lnTo>
                <a:cubicBezTo>
                  <a:pt x="5292978" y="0"/>
                  <a:pt x="5323387" y="30409"/>
                  <a:pt x="5323387" y="67920"/>
                </a:cubicBezTo>
                <a:lnTo>
                  <a:pt x="5323387" y="577339"/>
                </a:lnTo>
                <a:cubicBezTo>
                  <a:pt x="5323387" y="614850"/>
                  <a:pt x="5292978" y="645259"/>
                  <a:pt x="5255467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461187" y="5366056"/>
            <a:ext cx="1332969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Suspicious Activity</a:t>
            </a:r>
            <a:endParaRPr lang="en-US" sz="107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0971022" y="5366056"/>
            <a:ext cx="585827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-0.5 - 0.5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61187" y="5603783"/>
            <a:ext cx="518754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Unusual patterns requiring investigation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59304" y="6011315"/>
            <a:ext cx="5323387" cy="645259"/>
          </a:xfrm>
          <a:custGeom>
            <a:avLst/>
            <a:gdLst/>
            <a:ahLst/>
            <a:cxnLst/>
            <a:rect l="l" t="t" r="r" b="b"/>
            <a:pathLst>
              <a:path w="5323387" h="645259">
                <a:moveTo>
                  <a:pt x="67920" y="0"/>
                </a:moveTo>
                <a:lnTo>
                  <a:pt x="5255467" y="0"/>
                </a:lnTo>
                <a:cubicBezTo>
                  <a:pt x="5292978" y="0"/>
                  <a:pt x="5323387" y="30409"/>
                  <a:pt x="5323387" y="67920"/>
                </a:cubicBezTo>
                <a:lnTo>
                  <a:pt x="5323387" y="577339"/>
                </a:lnTo>
                <a:cubicBezTo>
                  <a:pt x="5323387" y="614850"/>
                  <a:pt x="5292978" y="645259"/>
                  <a:pt x="5255467" y="645259"/>
                </a:cubicBezTo>
                <a:lnTo>
                  <a:pt x="67920" y="645259"/>
                </a:lnTo>
                <a:cubicBezTo>
                  <a:pt x="30409" y="645259"/>
                  <a:pt x="0" y="614850"/>
                  <a:pt x="0" y="577339"/>
                </a:cubicBezTo>
                <a:lnTo>
                  <a:pt x="0" y="67920"/>
                </a:lnTo>
                <a:cubicBezTo>
                  <a:pt x="0" y="30409"/>
                  <a:pt x="30409" y="0"/>
                  <a:pt x="6792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6461187" y="6113198"/>
            <a:ext cx="77261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0E0E0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Anomalies</a:t>
            </a:r>
            <a:endParaRPr lang="en-US" sz="1070" b="1" dirty="0">
              <a:solidFill>
                <a:srgbClr val="E0E0E0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0851602" y="6113198"/>
            <a:ext cx="798084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F6467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Score &lt; 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61187" y="6350925"/>
            <a:ext cx="5187543" cy="2037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Highly abnormal behavior, potential risks</a:t>
            </a:r>
            <a:endParaRPr lang="en-US" sz="107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8805" y="1772920"/>
            <a:ext cx="4230370" cy="2454910"/>
          </a:xfrm>
          <a:prstGeom prst="round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RISK ASSESSMENT FRAMEWORK</a:t>
            </a:r>
            <a:endParaRPr lang="en-US" sz="1000" b="1" kern="0" spc="50" dirty="0">
              <a:solidFill>
                <a:srgbClr val="5E8B7E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Risk Matrix: Four-Quadrant User Segmentation</a:t>
            </a:r>
            <a:endParaRPr lang="en-US" sz="2250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280670" y="1111885"/>
            <a:ext cx="11619230" cy="2780665"/>
          </a:xfrm>
          <a:custGeom>
            <a:avLst/>
            <a:gdLst/>
            <a:ahLst/>
            <a:cxnLst/>
            <a:rect l="l" t="t" r="r" b="b"/>
            <a:pathLst>
              <a:path w="6411913" h="5356225">
                <a:moveTo>
                  <a:pt x="95234" y="0"/>
                </a:moveTo>
                <a:lnTo>
                  <a:pt x="6316679" y="0"/>
                </a:lnTo>
                <a:cubicBezTo>
                  <a:pt x="6369275" y="0"/>
                  <a:pt x="6411913" y="42638"/>
                  <a:pt x="6411913" y="95234"/>
                </a:cubicBezTo>
                <a:lnTo>
                  <a:pt x="6411913" y="5260991"/>
                </a:lnTo>
                <a:cubicBezTo>
                  <a:pt x="6411913" y="5313587"/>
                  <a:pt x="6369275" y="5356225"/>
                  <a:pt x="6316679" y="5356225"/>
                </a:cubicBezTo>
                <a:lnTo>
                  <a:pt x="95234" y="5356225"/>
                </a:lnTo>
                <a:cubicBezTo>
                  <a:pt x="42638" y="5356225"/>
                  <a:pt x="0" y="5313587"/>
                  <a:pt x="0" y="5260991"/>
                </a:cubicBezTo>
                <a:lnTo>
                  <a:pt x="0" y="95234"/>
                </a:lnTo>
                <a:cubicBezTo>
                  <a:pt x="0" y="42638"/>
                  <a:pt x="42638" y="0"/>
                  <a:pt x="95234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2281" y="1169668"/>
            <a:ext cx="6167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Credit Score vs. Anomaly Score Risk Matrix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56972" y="3989705"/>
            <a:ext cx="4975225" cy="1355725"/>
          </a:xfrm>
          <a:custGeom>
            <a:avLst/>
            <a:gdLst/>
            <a:ahLst/>
            <a:cxnLst/>
            <a:rect l="l" t="t" r="r" b="b"/>
            <a:pathLst>
              <a:path w="4975225" h="1355725">
                <a:moveTo>
                  <a:pt x="95253" y="0"/>
                </a:moveTo>
                <a:lnTo>
                  <a:pt x="4879972" y="0"/>
                </a:lnTo>
                <a:cubicBezTo>
                  <a:pt x="4932579" y="0"/>
                  <a:pt x="4975225" y="42646"/>
                  <a:pt x="4975225" y="95253"/>
                </a:cubicBezTo>
                <a:lnTo>
                  <a:pt x="4975225" y="1260472"/>
                </a:lnTo>
                <a:cubicBezTo>
                  <a:pt x="4975225" y="1313079"/>
                  <a:pt x="4932579" y="1355725"/>
                  <a:pt x="4879972" y="1355725"/>
                </a:cubicBezTo>
                <a:lnTo>
                  <a:pt x="95253" y="1355725"/>
                </a:lnTo>
                <a:cubicBezTo>
                  <a:pt x="42646" y="1355725"/>
                  <a:pt x="0" y="1313079"/>
                  <a:pt x="0" y="1260472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147" y="416750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7"/>
          <p:cNvSpPr/>
          <p:nvPr/>
        </p:nvSpPr>
        <p:spPr>
          <a:xfrm>
            <a:off x="1048663" y="4215128"/>
            <a:ext cx="261937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Q1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99897" y="4119878"/>
            <a:ext cx="1865312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High-Quality Users</a:t>
            </a:r>
            <a:endParaRPr lang="en-US" sz="1125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99897" y="4342128"/>
            <a:ext cx="1857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 Credit + Normal Behavior</a:t>
            </a:r>
            <a:endParaRPr lang="en-US" sz="1000" dirty="0">
              <a:solidFill>
                <a:srgbClr val="5E8B7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7147" y="4596128"/>
            <a:ext cx="4778375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Reliable borrowers with excellent credit scores and typical behavioral patterns. These users represent the lowest risk category and should receive preferential lending terms.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53797" y="5440685"/>
            <a:ext cx="4975225" cy="1149350"/>
          </a:xfrm>
          <a:custGeom>
            <a:avLst/>
            <a:gdLst/>
            <a:ahLst/>
            <a:cxnLst/>
            <a:rect l="l" t="t" r="r" b="b"/>
            <a:pathLst>
              <a:path w="4975225" h="1149350">
                <a:moveTo>
                  <a:pt x="95247" y="0"/>
                </a:moveTo>
                <a:lnTo>
                  <a:pt x="4879978" y="0"/>
                </a:lnTo>
                <a:cubicBezTo>
                  <a:pt x="4932582" y="0"/>
                  <a:pt x="4975225" y="42643"/>
                  <a:pt x="4975225" y="95247"/>
                </a:cubicBezTo>
                <a:lnTo>
                  <a:pt x="4975225" y="1054103"/>
                </a:lnTo>
                <a:cubicBezTo>
                  <a:pt x="4975225" y="1106707"/>
                  <a:pt x="4932582" y="1149350"/>
                  <a:pt x="4879978" y="1149350"/>
                </a:cubicBezTo>
                <a:lnTo>
                  <a:pt x="95247" y="1149350"/>
                </a:lnTo>
                <a:cubicBezTo>
                  <a:pt x="42643" y="1149350"/>
                  <a:pt x="0" y="1106707"/>
                  <a:pt x="0" y="10541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3972" y="561848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6" name="Text 13"/>
          <p:cNvSpPr/>
          <p:nvPr/>
        </p:nvSpPr>
        <p:spPr>
          <a:xfrm>
            <a:off x="1045488" y="5666108"/>
            <a:ext cx="261937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Q2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96722" y="5570858"/>
            <a:ext cx="1841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Subprime Users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396722" y="5793108"/>
            <a:ext cx="1833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A6C8C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Low Credit + Normal Behavior</a:t>
            </a:r>
            <a:endParaRPr lang="en-US" sz="1000" dirty="0">
              <a:solidFill>
                <a:srgbClr val="4A6C8C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83972" y="6047108"/>
            <a:ext cx="477837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Users with poor credit history but consistent behavior. May benefit from credit-building programs with limited exposure and higher collateral requirements.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398617" y="3993517"/>
            <a:ext cx="4975225" cy="1355725"/>
          </a:xfrm>
          <a:custGeom>
            <a:avLst/>
            <a:gdLst/>
            <a:ahLst/>
            <a:cxnLst/>
            <a:rect l="l" t="t" r="r" b="b"/>
            <a:pathLst>
              <a:path w="4975225" h="1355725">
                <a:moveTo>
                  <a:pt x="95253" y="0"/>
                </a:moveTo>
                <a:lnTo>
                  <a:pt x="4879972" y="0"/>
                </a:lnTo>
                <a:cubicBezTo>
                  <a:pt x="4932579" y="0"/>
                  <a:pt x="4975225" y="42646"/>
                  <a:pt x="4975225" y="95253"/>
                </a:cubicBezTo>
                <a:lnTo>
                  <a:pt x="4975225" y="1260472"/>
                </a:lnTo>
                <a:cubicBezTo>
                  <a:pt x="4975225" y="1313079"/>
                  <a:pt x="4932579" y="1355725"/>
                  <a:pt x="4879972" y="1355725"/>
                </a:cubicBezTo>
                <a:lnTo>
                  <a:pt x="95253" y="1355725"/>
                </a:lnTo>
                <a:cubicBezTo>
                  <a:pt x="42646" y="1355725"/>
                  <a:pt x="0" y="1313079"/>
                  <a:pt x="0" y="1260472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>
                  <a:alpha val="20000"/>
                </a:srgbClr>
              </a:gs>
              <a:gs pos="100000">
                <a:srgbClr val="FF6900">
                  <a:alpha val="5000"/>
                </a:srgbClr>
              </a:gs>
            </a:gsLst>
            <a:lin ang="0" scaled="1"/>
          </a:gradFill>
          <a:ln w="10160">
            <a:solidFill>
              <a:srgbClr val="FF6900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28792" y="417131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6900"/>
          </a:solidFill>
        </p:spPr>
      </p:sp>
      <p:sp>
        <p:nvSpPr>
          <p:cNvPr id="22" name="Text 19"/>
          <p:cNvSpPr/>
          <p:nvPr/>
        </p:nvSpPr>
        <p:spPr>
          <a:xfrm>
            <a:off x="6590308" y="4218940"/>
            <a:ext cx="261937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Q3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41542" y="4123690"/>
            <a:ext cx="2008187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Hidden Whales ⚠️</a:t>
            </a:r>
            <a:endParaRPr lang="en-US" sz="1125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41542" y="4345940"/>
            <a:ext cx="2000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8904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 Credit + Abnormal Behavior</a:t>
            </a:r>
            <a:endParaRPr lang="en-US" sz="1000" dirty="0">
              <a:solidFill>
                <a:srgbClr val="FF8904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528792" y="4599940"/>
            <a:ext cx="4778375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8904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Most dangerous category.</a:t>
            </a: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 Users who appear creditworthy but exhibit suspicious patterns. May be manipulating markets or preparing for large-scale attacks.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398617" y="5450838"/>
            <a:ext cx="4975225" cy="1149350"/>
          </a:xfrm>
          <a:custGeom>
            <a:avLst/>
            <a:gdLst/>
            <a:ahLst/>
            <a:cxnLst/>
            <a:rect l="l" t="t" r="r" b="b"/>
            <a:pathLst>
              <a:path w="4975225" h="1149350">
                <a:moveTo>
                  <a:pt x="95247" y="0"/>
                </a:moveTo>
                <a:lnTo>
                  <a:pt x="4879978" y="0"/>
                </a:lnTo>
                <a:cubicBezTo>
                  <a:pt x="4932582" y="0"/>
                  <a:pt x="4975225" y="42643"/>
                  <a:pt x="4975225" y="95247"/>
                </a:cubicBezTo>
                <a:lnTo>
                  <a:pt x="4975225" y="1054103"/>
                </a:lnTo>
                <a:cubicBezTo>
                  <a:pt x="4975225" y="1106707"/>
                  <a:pt x="4932582" y="1149350"/>
                  <a:pt x="4879978" y="1149350"/>
                </a:cubicBezTo>
                <a:lnTo>
                  <a:pt x="95247" y="1149350"/>
                </a:lnTo>
                <a:cubicBezTo>
                  <a:pt x="42643" y="1149350"/>
                  <a:pt x="0" y="1106707"/>
                  <a:pt x="0" y="10541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FB2C36">
                  <a:alpha val="5000"/>
                </a:srgbClr>
              </a:gs>
            </a:gsLst>
            <a:lin ang="0" scaled="1"/>
          </a:gradFill>
          <a:ln w="1016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28792" y="562864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B2C36"/>
          </a:solidFill>
        </p:spPr>
      </p:sp>
      <p:sp>
        <p:nvSpPr>
          <p:cNvPr id="28" name="Text 25"/>
          <p:cNvSpPr/>
          <p:nvPr/>
        </p:nvSpPr>
        <p:spPr>
          <a:xfrm>
            <a:off x="6590308" y="5676270"/>
            <a:ext cx="261937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MiSans" pitchFamily="34" charset="-120"/>
              </a:rPr>
              <a:t>Q4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941542" y="5581020"/>
            <a:ext cx="1976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High-Risk Users 💀</a:t>
            </a:r>
            <a:endParaRPr lang="en-US" sz="112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941542" y="5803270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6467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Low Credit + Abnormal Behavior</a:t>
            </a:r>
            <a:endParaRPr lang="en-US" sz="1000" dirty="0">
              <a:solidFill>
                <a:srgbClr val="FF6467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528792" y="6057270"/>
            <a:ext cx="4778375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Clear high-risk users with both poor credit and suspicious behavior. Should be flagged for immediate review and potentially restricted from borrowing.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850" y="1405255"/>
            <a:ext cx="11176000" cy="23660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SYSTEM ARCHITECTURE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Technical Implementation &amp; System Architecture</a:t>
            </a:r>
            <a:endParaRPr lang="en-US" altLang="zh-CN" sz="2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20675" y="1177925"/>
            <a:ext cx="7642225" cy="4585335"/>
          </a:xfrm>
          <a:custGeom>
            <a:avLst/>
            <a:gdLst/>
            <a:ahLst/>
            <a:cxnLst/>
            <a:rect l="l" t="t" r="r" b="b"/>
            <a:pathLst>
              <a:path w="7642225" h="4292600">
                <a:moveTo>
                  <a:pt x="95253" y="0"/>
                </a:moveTo>
                <a:lnTo>
                  <a:pt x="7546972" y="0"/>
                </a:lnTo>
                <a:cubicBezTo>
                  <a:pt x="7599579" y="0"/>
                  <a:pt x="7642225" y="42646"/>
                  <a:pt x="7642225" y="95253"/>
                </a:cubicBezTo>
                <a:lnTo>
                  <a:pt x="7642225" y="4197347"/>
                </a:lnTo>
                <a:cubicBezTo>
                  <a:pt x="7642225" y="4249954"/>
                  <a:pt x="7599579" y="4292600"/>
                  <a:pt x="7546972" y="4292600"/>
                </a:cubicBezTo>
                <a:lnTo>
                  <a:pt x="95253" y="4292600"/>
                </a:lnTo>
                <a:cubicBezTo>
                  <a:pt x="42646" y="4292600"/>
                  <a:pt x="0" y="4249954"/>
                  <a:pt x="0" y="4197347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2600" y="1339848"/>
            <a:ext cx="7397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System Architecture Diagram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5775" y="1692273"/>
            <a:ext cx="3427412" cy="831850"/>
          </a:xfrm>
          <a:custGeom>
            <a:avLst/>
            <a:gdLst/>
            <a:ahLst/>
            <a:cxnLst/>
            <a:rect l="l" t="t" r="r" b="b"/>
            <a:pathLst>
              <a:path w="3427412" h="831850">
                <a:moveTo>
                  <a:pt x="63503" y="0"/>
                </a:moveTo>
                <a:lnTo>
                  <a:pt x="3363909" y="0"/>
                </a:lnTo>
                <a:cubicBezTo>
                  <a:pt x="3398958" y="0"/>
                  <a:pt x="3427412" y="28455"/>
                  <a:pt x="3427412" y="63503"/>
                </a:cubicBezTo>
                <a:lnTo>
                  <a:pt x="3427412" y="768347"/>
                </a:lnTo>
                <a:cubicBezTo>
                  <a:pt x="3427412" y="803419"/>
                  <a:pt x="3398981" y="831850"/>
                  <a:pt x="3363909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16534" y="179070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9" name="Text 7"/>
          <p:cNvSpPr/>
          <p:nvPr/>
        </p:nvSpPr>
        <p:spPr>
          <a:xfrm>
            <a:off x="552450" y="2044705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On-Chain Data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2450" y="2235205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Transactions, Deposits, Borrows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064000" y="202883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835" y="86382"/>
                </a:moveTo>
                <a:cubicBezTo>
                  <a:pt x="159711" y="82507"/>
                  <a:pt x="159711" y="76212"/>
                  <a:pt x="155835" y="72337"/>
                </a:cubicBezTo>
                <a:lnTo>
                  <a:pt x="106226" y="22727"/>
                </a:lnTo>
                <a:cubicBezTo>
                  <a:pt x="102350" y="18852"/>
                  <a:pt x="96056" y="18852"/>
                  <a:pt x="92180" y="22727"/>
                </a:cubicBezTo>
                <a:cubicBezTo>
                  <a:pt x="88305" y="26603"/>
                  <a:pt x="88305" y="32897"/>
                  <a:pt x="92180" y="36773"/>
                </a:cubicBezTo>
                <a:lnTo>
                  <a:pt x="124861" y="69453"/>
                </a:lnTo>
                <a:lnTo>
                  <a:pt x="9922" y="69453"/>
                </a:lnTo>
                <a:cubicBezTo>
                  <a:pt x="4434" y="69453"/>
                  <a:pt x="0" y="73887"/>
                  <a:pt x="0" y="79375"/>
                </a:cubicBezTo>
                <a:cubicBezTo>
                  <a:pt x="0" y="84863"/>
                  <a:pt x="4434" y="89297"/>
                  <a:pt x="9922" y="89297"/>
                </a:cubicBezTo>
                <a:lnTo>
                  <a:pt x="124861" y="89297"/>
                </a:lnTo>
                <a:lnTo>
                  <a:pt x="92180" y="121977"/>
                </a:lnTo>
                <a:cubicBezTo>
                  <a:pt x="88305" y="125853"/>
                  <a:pt x="88305" y="132147"/>
                  <a:pt x="92180" y="136023"/>
                </a:cubicBezTo>
                <a:cubicBezTo>
                  <a:pt x="96056" y="139898"/>
                  <a:pt x="102350" y="139898"/>
                  <a:pt x="106226" y="136023"/>
                </a:cubicBezTo>
                <a:lnTo>
                  <a:pt x="155835" y="8641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2" name="Shape 10"/>
          <p:cNvSpPr/>
          <p:nvPr/>
        </p:nvSpPr>
        <p:spPr>
          <a:xfrm>
            <a:off x="4372769" y="1692273"/>
            <a:ext cx="3427412" cy="831850"/>
          </a:xfrm>
          <a:custGeom>
            <a:avLst/>
            <a:gdLst/>
            <a:ahLst/>
            <a:cxnLst/>
            <a:rect l="l" t="t" r="r" b="b"/>
            <a:pathLst>
              <a:path w="3427412" h="831850">
                <a:moveTo>
                  <a:pt x="63503" y="0"/>
                </a:moveTo>
                <a:lnTo>
                  <a:pt x="3363909" y="0"/>
                </a:lnTo>
                <a:cubicBezTo>
                  <a:pt x="3398958" y="0"/>
                  <a:pt x="3427412" y="28455"/>
                  <a:pt x="3427412" y="63503"/>
                </a:cubicBezTo>
                <a:lnTo>
                  <a:pt x="3427412" y="768347"/>
                </a:lnTo>
                <a:cubicBezTo>
                  <a:pt x="3427412" y="803419"/>
                  <a:pt x="3398981" y="831850"/>
                  <a:pt x="3363909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7810" y="179070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4" name="Text 12"/>
          <p:cNvSpPr/>
          <p:nvPr/>
        </p:nvSpPr>
        <p:spPr>
          <a:xfrm>
            <a:off x="4439444" y="2044705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Data Preprocessing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39444" y="2235205"/>
            <a:ext cx="32940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Log Transform, Winsorization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83844" y="262255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Shape 15"/>
          <p:cNvSpPr/>
          <p:nvPr/>
        </p:nvSpPr>
        <p:spPr>
          <a:xfrm>
            <a:off x="485775" y="3070228"/>
            <a:ext cx="3490912" cy="831850"/>
          </a:xfrm>
          <a:custGeom>
            <a:avLst/>
            <a:gdLst/>
            <a:ahLst/>
            <a:cxnLst/>
            <a:rect l="l" t="t" r="r" b="b"/>
            <a:pathLst>
              <a:path w="3490912" h="831850">
                <a:moveTo>
                  <a:pt x="63503" y="0"/>
                </a:moveTo>
                <a:lnTo>
                  <a:pt x="3427409" y="0"/>
                </a:lnTo>
                <a:cubicBezTo>
                  <a:pt x="3462458" y="0"/>
                  <a:pt x="3490912" y="28455"/>
                  <a:pt x="3490912" y="63503"/>
                </a:cubicBezTo>
                <a:lnTo>
                  <a:pt x="3490912" y="768347"/>
                </a:lnTo>
                <a:cubicBezTo>
                  <a:pt x="3490912" y="803419"/>
                  <a:pt x="3462481" y="831850"/>
                  <a:pt x="3427409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36577" y="31686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9" name="Text 17"/>
          <p:cNvSpPr/>
          <p:nvPr/>
        </p:nvSpPr>
        <p:spPr>
          <a:xfrm>
            <a:off x="552450" y="3422652"/>
            <a:ext cx="335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PCA Model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2450" y="3613152"/>
            <a:ext cx="335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Credit Score (300-850)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76303" y="3375027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+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8773" y="3070228"/>
            <a:ext cx="3490912" cy="831850"/>
          </a:xfrm>
          <a:custGeom>
            <a:avLst/>
            <a:gdLst/>
            <a:ahLst/>
            <a:cxnLst/>
            <a:rect l="l" t="t" r="r" b="b"/>
            <a:pathLst>
              <a:path w="3490912" h="831850">
                <a:moveTo>
                  <a:pt x="63503" y="0"/>
                </a:moveTo>
                <a:lnTo>
                  <a:pt x="3427409" y="0"/>
                </a:lnTo>
                <a:cubicBezTo>
                  <a:pt x="3462458" y="0"/>
                  <a:pt x="3490912" y="28455"/>
                  <a:pt x="3490912" y="63503"/>
                </a:cubicBezTo>
                <a:lnTo>
                  <a:pt x="3490912" y="768347"/>
                </a:lnTo>
                <a:cubicBezTo>
                  <a:pt x="3490912" y="803419"/>
                  <a:pt x="3462481" y="831850"/>
                  <a:pt x="3427409" y="831850"/>
                </a:cubicBezTo>
                <a:lnTo>
                  <a:pt x="63503" y="831850"/>
                </a:lnTo>
                <a:cubicBezTo>
                  <a:pt x="28431" y="831850"/>
                  <a:pt x="0" y="803419"/>
                  <a:pt x="0" y="76834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71480" y="31686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4" name="Text 22"/>
          <p:cNvSpPr/>
          <p:nvPr/>
        </p:nvSpPr>
        <p:spPr>
          <a:xfrm>
            <a:off x="4375448" y="3422652"/>
            <a:ext cx="335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Isolation Forest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75448" y="3613152"/>
            <a:ext cx="3357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Anomaly Score (</a:t>
            </a:r>
            <a:r>
              <a:rPr lang="en-US" altLang="zh-CN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Negative values indicate anomalies</a:t>
            </a: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)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083844" y="420052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7" name="Shape 25"/>
          <p:cNvSpPr/>
          <p:nvPr/>
        </p:nvSpPr>
        <p:spPr>
          <a:xfrm>
            <a:off x="485775" y="4457700"/>
            <a:ext cx="7316788" cy="895350"/>
          </a:xfrm>
          <a:custGeom>
            <a:avLst/>
            <a:gdLst/>
            <a:ahLst/>
            <a:cxnLst/>
            <a:rect l="l" t="t" r="r" b="b"/>
            <a:pathLst>
              <a:path w="7316788" h="895350">
                <a:moveTo>
                  <a:pt x="63498" y="0"/>
                </a:moveTo>
                <a:lnTo>
                  <a:pt x="7253289" y="0"/>
                </a:lnTo>
                <a:cubicBezTo>
                  <a:pt x="7288358" y="0"/>
                  <a:pt x="7316788" y="28429"/>
                  <a:pt x="7316788" y="63498"/>
                </a:cubicBezTo>
                <a:lnTo>
                  <a:pt x="7316788" y="831852"/>
                </a:lnTo>
                <a:cubicBezTo>
                  <a:pt x="7316787" y="866921"/>
                  <a:pt x="7288358" y="895350"/>
                  <a:pt x="72532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30000"/>
                </a:srgbClr>
              </a:gs>
              <a:gs pos="100000">
                <a:srgbClr val="4A6C8C">
                  <a:alpha val="30000"/>
                </a:srgbClr>
              </a:gs>
            </a:gsLst>
            <a:lin ang="0" scaled="1"/>
          </a:gradFill>
          <a:ln w="1016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0031" y="45878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95250" y="35719"/>
                </a:lnTo>
                <a:lnTo>
                  <a:pt x="95250" y="83344"/>
                </a:lnTo>
                <a:lnTo>
                  <a:pt x="142875" y="83344"/>
                </a:lnTo>
                <a:lnTo>
                  <a:pt x="142875" y="35719"/>
                </a:lnTo>
                <a:close/>
                <a:moveTo>
                  <a:pt x="166688" y="83344"/>
                </a:move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83344"/>
                </a:lnTo>
                <a:close/>
                <a:moveTo>
                  <a:pt x="23812" y="107156"/>
                </a:moveTo>
                <a:lnTo>
                  <a:pt x="23812" y="154781"/>
                </a:lnTo>
                <a:lnTo>
                  <a:pt x="71438" y="154781"/>
                </a:lnTo>
                <a:lnTo>
                  <a:pt x="71438" y="107156"/>
                </a:lnTo>
                <a:lnTo>
                  <a:pt x="23812" y="107156"/>
                </a:lnTo>
                <a:close/>
                <a:moveTo>
                  <a:pt x="71438" y="83344"/>
                </a:moveTo>
                <a:lnTo>
                  <a:pt x="71438" y="35719"/>
                </a:lnTo>
                <a:lnTo>
                  <a:pt x="23812" y="35719"/>
                </a:lnTo>
                <a:lnTo>
                  <a:pt x="23812" y="83344"/>
                </a:lnTo>
                <a:lnTo>
                  <a:pt x="71438" y="83344"/>
                </a:lnTo>
                <a:close/>
                <a:moveTo>
                  <a:pt x="95250" y="107156"/>
                </a:moveTo>
                <a:lnTo>
                  <a:pt x="95250" y="154781"/>
                </a:lnTo>
                <a:lnTo>
                  <a:pt x="142875" y="154781"/>
                </a:lnTo>
                <a:lnTo>
                  <a:pt x="142875" y="107156"/>
                </a:lnTo>
                <a:lnTo>
                  <a:pt x="95250" y="10715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9" name="Text 27"/>
          <p:cNvSpPr/>
          <p:nvPr/>
        </p:nvSpPr>
        <p:spPr>
          <a:xfrm>
            <a:off x="584200" y="4841873"/>
            <a:ext cx="7119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Matrix Output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4200" y="5032373"/>
            <a:ext cx="7119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Q1-Q4 User Segmentation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131175" y="1177925"/>
            <a:ext cx="3736975" cy="4546600"/>
          </a:xfrm>
          <a:custGeom>
            <a:avLst/>
            <a:gdLst/>
            <a:ahLst/>
            <a:cxnLst/>
            <a:rect l="l" t="t" r="r" b="b"/>
            <a:pathLst>
              <a:path w="3736975" h="4546600">
                <a:moveTo>
                  <a:pt x="95255" y="0"/>
                </a:moveTo>
                <a:lnTo>
                  <a:pt x="3641720" y="0"/>
                </a:lnTo>
                <a:cubicBezTo>
                  <a:pt x="3694328" y="0"/>
                  <a:pt x="3736975" y="42647"/>
                  <a:pt x="3736975" y="95255"/>
                </a:cubicBezTo>
                <a:lnTo>
                  <a:pt x="3736975" y="4451345"/>
                </a:lnTo>
                <a:cubicBezTo>
                  <a:pt x="3736975" y="4503953"/>
                  <a:pt x="3694328" y="4546600"/>
                  <a:pt x="3641720" y="4546600"/>
                </a:cubicBezTo>
                <a:lnTo>
                  <a:pt x="95255" y="4546600"/>
                </a:lnTo>
                <a:cubicBezTo>
                  <a:pt x="42647" y="4546600"/>
                  <a:pt x="0" y="4503953"/>
                  <a:pt x="0" y="4451345"/>
                </a:cubicBezTo>
                <a:lnTo>
                  <a:pt x="0" y="95255"/>
                </a:lnTo>
                <a:cubicBezTo>
                  <a:pt x="0" y="42683"/>
                  <a:pt x="42683" y="0"/>
                  <a:pt x="95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93100" y="1339848"/>
            <a:ext cx="3492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Implementation Workflow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293100" y="1689098"/>
            <a:ext cx="3413125" cy="698500"/>
          </a:xfrm>
          <a:custGeom>
            <a:avLst/>
            <a:gdLst/>
            <a:ahLst/>
            <a:cxnLst/>
            <a:rect l="l" t="t" r="r" b="b"/>
            <a:pathLst>
              <a:path w="3413125" h="6985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634999"/>
                </a:lnTo>
                <a:cubicBezTo>
                  <a:pt x="3413125" y="670070"/>
                  <a:pt x="3384695" y="698500"/>
                  <a:pt x="3349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8388350" y="17843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5" name="Text 53"/>
          <p:cNvSpPr/>
          <p:nvPr/>
        </p:nvSpPr>
        <p:spPr>
          <a:xfrm>
            <a:off x="8477846" y="1816098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737600" y="1816098"/>
            <a:ext cx="1023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Data Collection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88350" y="2101848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Extract on-chain data via Web3 APIs</a:t>
            </a:r>
            <a:endParaRPr lang="en-US" sz="1000" dirty="0">
              <a:solidFill>
                <a:srgbClr val="8D99A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293100" y="2482848"/>
            <a:ext cx="3413125" cy="698500"/>
          </a:xfrm>
          <a:custGeom>
            <a:avLst/>
            <a:gdLst/>
            <a:ahLst/>
            <a:cxnLst/>
            <a:rect l="l" t="t" r="r" b="b"/>
            <a:pathLst>
              <a:path w="3413125" h="6985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634999"/>
                </a:lnTo>
                <a:cubicBezTo>
                  <a:pt x="3413125" y="670070"/>
                  <a:pt x="3384695" y="698500"/>
                  <a:pt x="3349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8388350" y="257809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60" name="Text 58"/>
          <p:cNvSpPr/>
          <p:nvPr/>
        </p:nvSpPr>
        <p:spPr>
          <a:xfrm>
            <a:off x="8477846" y="2609848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0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2</a:t>
            </a:r>
            <a:endParaRPr lang="en-US" sz="10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737600" y="2609848"/>
            <a:ext cx="133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Feature Engineering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388350" y="2895598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Transform raw data into ML features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293100" y="3276598"/>
            <a:ext cx="3413125" cy="698500"/>
          </a:xfrm>
          <a:custGeom>
            <a:avLst/>
            <a:gdLst/>
            <a:ahLst/>
            <a:cxnLst/>
            <a:rect l="l" t="t" r="r" b="b"/>
            <a:pathLst>
              <a:path w="3413125" h="6985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634999"/>
                </a:lnTo>
                <a:cubicBezTo>
                  <a:pt x="3413125" y="670070"/>
                  <a:pt x="3384695" y="698500"/>
                  <a:pt x="3349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8388350" y="33718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65" name="Text 63"/>
          <p:cNvSpPr/>
          <p:nvPr/>
        </p:nvSpPr>
        <p:spPr>
          <a:xfrm>
            <a:off x="8477846" y="3403598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0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3</a:t>
            </a:r>
            <a:endParaRPr lang="en-US" sz="10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737600" y="3403598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Model Training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388350" y="3689348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Train PCA and Isolation Forest models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293100" y="4070348"/>
            <a:ext cx="3413125" cy="698500"/>
          </a:xfrm>
          <a:custGeom>
            <a:avLst/>
            <a:gdLst/>
            <a:ahLst/>
            <a:cxnLst/>
            <a:rect l="l" t="t" r="r" b="b"/>
            <a:pathLst>
              <a:path w="3413125" h="6985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634999"/>
                </a:lnTo>
                <a:cubicBezTo>
                  <a:pt x="3413125" y="670070"/>
                  <a:pt x="3384695" y="698500"/>
                  <a:pt x="3349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8388350" y="416559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0" name="Text 68"/>
          <p:cNvSpPr/>
          <p:nvPr/>
        </p:nvSpPr>
        <p:spPr>
          <a:xfrm>
            <a:off x="8477846" y="4197348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0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4</a:t>
            </a:r>
            <a:endParaRPr lang="en-US" sz="10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8737600" y="4197348"/>
            <a:ext cx="1158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Score Calculation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388350" y="4483098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Generate credit and anomaly scores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8293100" y="4864098"/>
            <a:ext cx="3413125" cy="698500"/>
          </a:xfrm>
          <a:custGeom>
            <a:avLst/>
            <a:gdLst/>
            <a:ahLst/>
            <a:cxnLst/>
            <a:rect l="l" t="t" r="r" b="b"/>
            <a:pathLst>
              <a:path w="3413125" h="698500">
                <a:moveTo>
                  <a:pt x="63501" y="0"/>
                </a:moveTo>
                <a:lnTo>
                  <a:pt x="3349624" y="0"/>
                </a:lnTo>
                <a:cubicBezTo>
                  <a:pt x="3384695" y="0"/>
                  <a:pt x="3413125" y="28430"/>
                  <a:pt x="3413125" y="63501"/>
                </a:cubicBezTo>
                <a:lnTo>
                  <a:pt x="3413125" y="634999"/>
                </a:lnTo>
                <a:cubicBezTo>
                  <a:pt x="3413125" y="670070"/>
                  <a:pt x="3384695" y="698500"/>
                  <a:pt x="33496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8388350" y="495934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5" name="Text 73"/>
          <p:cNvSpPr/>
          <p:nvPr/>
        </p:nvSpPr>
        <p:spPr>
          <a:xfrm>
            <a:off x="8477846" y="4991098"/>
            <a:ext cx="13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000" b="1" dirty="0">
                <a:solidFill>
                  <a:srgbClr val="E0E0E0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5</a:t>
            </a:r>
            <a:endParaRPr lang="en-US" sz="1000" b="1" dirty="0">
              <a:solidFill>
                <a:srgbClr val="E0E0E0"/>
              </a:solidFill>
              <a:latin typeface="Arial" panose="020B0604020202020204" pitchFamily="34" charset="0"/>
              <a:ea typeface="MiSans" pitchFamily="34" charset="-122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737600" y="4991098"/>
            <a:ext cx="1198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Risk Classification</a:t>
            </a:r>
            <a:endParaRPr lang="en-US" sz="10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8388350" y="5276848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Assign users to Q1-Q4 quadrants</a:t>
            </a:r>
            <a:endParaRPr lang="en-US" sz="10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images.unsplash.com/photo-1639762681485-074b7f938ba0?w=1280&amp;h=720&amp;fit=crop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1829754"/>
            <a:ext cx="960120" cy="388620"/>
          </a:xfrm>
          <a:custGeom>
            <a:avLst/>
            <a:gdLst/>
            <a:ahLst/>
            <a:cxnLst/>
            <a:rect l="l" t="t" r="r" b="b"/>
            <a:pathLst>
              <a:path w="960120" h="388620">
                <a:moveTo>
                  <a:pt x="76201" y="0"/>
                </a:moveTo>
                <a:lnTo>
                  <a:pt x="883919" y="0"/>
                </a:lnTo>
                <a:cubicBezTo>
                  <a:pt x="926004" y="0"/>
                  <a:pt x="960120" y="34116"/>
                  <a:pt x="960120" y="76201"/>
                </a:cubicBezTo>
                <a:lnTo>
                  <a:pt x="960120" y="312419"/>
                </a:lnTo>
                <a:cubicBezTo>
                  <a:pt x="960120" y="354504"/>
                  <a:pt x="926004" y="388620"/>
                  <a:pt x="88391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909762"/>
            <a:ext cx="723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A6C8C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PART III</a:t>
            </a:r>
            <a:endParaRPr lang="en-US" sz="1200" b="1" kern="0" spc="60" dirty="0">
              <a:solidFill>
                <a:srgbClr val="4A6C8C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1000" y="2450781"/>
            <a:ext cx="7381875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Research Findings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Noto Sans SC" panose="020B0200000000000000" pitchFamily="34" charset="-120"/>
              </a:rPr>
              <a:t>&amp; Analysis</a:t>
            </a:r>
            <a:endParaRPr lang="en-US" sz="1600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4393881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4660265"/>
            <a:ext cx="940308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zh-CN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Validation of score tiers, anomaly detection, and quadrant-level risk pattern</a:t>
            </a:r>
            <a:r>
              <a:rPr lang="en-US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s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kern="0" spc="55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VALIDATION RESULTS</a:t>
            </a:r>
            <a:endParaRPr lang="en-US" sz="1110" b="1" kern="0" spc="55" dirty="0">
              <a:solidFill>
                <a:srgbClr val="5E8B7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49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Repayment Behavior Across PCA Credit Tiers</a:t>
            </a:r>
            <a:endParaRPr lang="en-US" altLang="zh-CN" sz="249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2116" y="1091558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55600" y="1306195"/>
            <a:ext cx="6925945" cy="5402580"/>
          </a:xfrm>
          <a:custGeom>
            <a:avLst/>
            <a:gdLst/>
            <a:ahLst/>
            <a:cxnLst/>
            <a:rect l="l" t="t" r="r" b="b"/>
            <a:pathLst>
              <a:path w="6926112" h="5552862">
                <a:moveTo>
                  <a:pt x="105615" y="0"/>
                </a:moveTo>
                <a:lnTo>
                  <a:pt x="6820497" y="0"/>
                </a:lnTo>
                <a:cubicBezTo>
                  <a:pt x="6878827" y="0"/>
                  <a:pt x="6926112" y="47286"/>
                  <a:pt x="6926112" y="105615"/>
                </a:cubicBezTo>
                <a:lnTo>
                  <a:pt x="6926112" y="5447246"/>
                </a:lnTo>
                <a:cubicBezTo>
                  <a:pt x="6926112" y="5505576"/>
                  <a:pt x="6878827" y="5552862"/>
                  <a:pt x="6820497" y="5552862"/>
                </a:cubicBezTo>
                <a:lnTo>
                  <a:pt x="105615" y="5552862"/>
                </a:lnTo>
                <a:cubicBezTo>
                  <a:pt x="47286" y="5552862"/>
                  <a:pt x="0" y="5505576"/>
                  <a:pt x="0" y="5447246"/>
                </a:cubicBezTo>
                <a:lnTo>
                  <a:pt x="0" y="105615"/>
                </a:lnTo>
                <a:cubicBezTo>
                  <a:pt x="0" y="47325"/>
                  <a:pt x="47325" y="0"/>
                  <a:pt x="105615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1201" y="1485926"/>
            <a:ext cx="6654983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Credit Score vs. Repayment Rate Correlation</a:t>
            </a:r>
            <a:endParaRPr lang="en-US" sz="138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64425" y="1306195"/>
            <a:ext cx="4373245" cy="3056890"/>
          </a:xfrm>
          <a:custGeom>
            <a:avLst/>
            <a:gdLst/>
            <a:ahLst/>
            <a:cxnLst/>
            <a:rect l="l" t="t" r="r" b="b"/>
            <a:pathLst>
              <a:path w="4373275" h="3985948">
                <a:moveTo>
                  <a:pt x="105628" y="0"/>
                </a:moveTo>
                <a:lnTo>
                  <a:pt x="4267647" y="0"/>
                </a:lnTo>
                <a:cubicBezTo>
                  <a:pt x="4325984" y="0"/>
                  <a:pt x="4373275" y="47291"/>
                  <a:pt x="4373275" y="105628"/>
                </a:cubicBezTo>
                <a:lnTo>
                  <a:pt x="4373275" y="3880320"/>
                </a:lnTo>
                <a:cubicBezTo>
                  <a:pt x="4373275" y="3938657"/>
                  <a:pt x="4325984" y="3985948"/>
                  <a:pt x="4267647" y="3985948"/>
                </a:cubicBezTo>
                <a:lnTo>
                  <a:pt x="105628" y="3985948"/>
                </a:lnTo>
                <a:cubicBezTo>
                  <a:pt x="47291" y="3985948"/>
                  <a:pt x="0" y="3938657"/>
                  <a:pt x="0" y="3880320"/>
                </a:cubicBezTo>
                <a:lnTo>
                  <a:pt x="0" y="105628"/>
                </a:lnTo>
                <a:cubicBezTo>
                  <a:pt x="0" y="47291"/>
                  <a:pt x="47291" y="0"/>
                  <a:pt x="10562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4208" y="1485926"/>
            <a:ext cx="4102146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38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What the validation show</a:t>
            </a:r>
            <a:r>
              <a:rPr lang="en-US" sz="138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44130" y="1873250"/>
            <a:ext cx="4013835" cy="715010"/>
          </a:xfrm>
          <a:custGeom>
            <a:avLst/>
            <a:gdLst/>
            <a:ahLst/>
            <a:cxnLst/>
            <a:rect l="l" t="t" r="r" b="b"/>
            <a:pathLst>
              <a:path w="4014117" h="1056347">
                <a:moveTo>
                  <a:pt x="70427" y="0"/>
                </a:moveTo>
                <a:lnTo>
                  <a:pt x="3943690" y="0"/>
                </a:lnTo>
                <a:cubicBezTo>
                  <a:pt x="3982586" y="0"/>
                  <a:pt x="4014117" y="31531"/>
                  <a:pt x="4014117" y="70427"/>
                </a:cubicBezTo>
                <a:lnTo>
                  <a:pt x="4014117" y="985920"/>
                </a:lnTo>
                <a:cubicBezTo>
                  <a:pt x="4014117" y="1024815"/>
                  <a:pt x="3982586" y="1056347"/>
                  <a:pt x="3943690" y="1056347"/>
                </a:cubicBezTo>
                <a:lnTo>
                  <a:pt x="70427" y="1056347"/>
                </a:lnTo>
                <a:cubicBezTo>
                  <a:pt x="31531" y="1056347"/>
                  <a:pt x="0" y="1024815"/>
                  <a:pt x="0" y="985920"/>
                </a:cubicBezTo>
                <a:lnTo>
                  <a:pt x="0" y="70427"/>
                </a:lnTo>
                <a:cubicBezTo>
                  <a:pt x="0" y="31557"/>
                  <a:pt x="31557" y="0"/>
                  <a:pt x="704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7778750" y="1873250"/>
            <a:ext cx="3610610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Users are grouped into five score tiers based on the PCA credit score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464425" y="4490085"/>
            <a:ext cx="4373245" cy="2217420"/>
          </a:xfrm>
          <a:custGeom>
            <a:avLst/>
            <a:gdLst/>
            <a:ahLst/>
            <a:cxnLst/>
            <a:rect l="l" t="t" r="r" b="b"/>
            <a:pathLst>
              <a:path w="4373275" h="1415504">
                <a:moveTo>
                  <a:pt x="105639" y="0"/>
                </a:moveTo>
                <a:lnTo>
                  <a:pt x="4267636" y="0"/>
                </a:lnTo>
                <a:cubicBezTo>
                  <a:pt x="4325979" y="0"/>
                  <a:pt x="4373275" y="47296"/>
                  <a:pt x="4373275" y="105639"/>
                </a:cubicBezTo>
                <a:lnTo>
                  <a:pt x="4373275" y="1309865"/>
                </a:lnTo>
                <a:cubicBezTo>
                  <a:pt x="4373275" y="1368208"/>
                  <a:pt x="4325979" y="1415504"/>
                  <a:pt x="4267636" y="1415504"/>
                </a:cubicBezTo>
                <a:lnTo>
                  <a:pt x="105639" y="1415504"/>
                </a:lnTo>
                <a:cubicBezTo>
                  <a:pt x="47296" y="1415504"/>
                  <a:pt x="0" y="1368208"/>
                  <a:pt x="0" y="1309865"/>
                </a:cubicBezTo>
                <a:lnTo>
                  <a:pt x="0" y="105639"/>
                </a:lnTo>
                <a:cubicBezTo>
                  <a:pt x="0" y="47296"/>
                  <a:pt x="47296" y="0"/>
                  <a:pt x="1056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1" name="Shape 7"/>
          <p:cNvSpPr/>
          <p:nvPr/>
        </p:nvSpPr>
        <p:spPr>
          <a:xfrm>
            <a:off x="7644130" y="2694940"/>
            <a:ext cx="4013835" cy="715010"/>
          </a:xfrm>
          <a:custGeom>
            <a:avLst/>
            <a:gdLst/>
            <a:ahLst/>
            <a:cxnLst/>
            <a:rect l="l" t="t" r="r" b="b"/>
            <a:pathLst>
              <a:path w="4014117" h="1056347">
                <a:moveTo>
                  <a:pt x="70427" y="0"/>
                </a:moveTo>
                <a:lnTo>
                  <a:pt x="3943690" y="0"/>
                </a:lnTo>
                <a:cubicBezTo>
                  <a:pt x="3982586" y="0"/>
                  <a:pt x="4014117" y="31531"/>
                  <a:pt x="4014117" y="70427"/>
                </a:cubicBezTo>
                <a:lnTo>
                  <a:pt x="4014117" y="985920"/>
                </a:lnTo>
                <a:cubicBezTo>
                  <a:pt x="4014117" y="1024815"/>
                  <a:pt x="3982586" y="1056347"/>
                  <a:pt x="3943690" y="1056347"/>
                </a:cubicBezTo>
                <a:lnTo>
                  <a:pt x="70427" y="1056347"/>
                </a:lnTo>
                <a:cubicBezTo>
                  <a:pt x="31531" y="1056347"/>
                  <a:pt x="0" y="1024815"/>
                  <a:pt x="0" y="985920"/>
                </a:cubicBezTo>
                <a:lnTo>
                  <a:pt x="0" y="70427"/>
                </a:lnTo>
                <a:cubicBezTo>
                  <a:pt x="0" y="31557"/>
                  <a:pt x="31557" y="0"/>
                  <a:pt x="704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2" name="Text 8"/>
          <p:cNvSpPr/>
          <p:nvPr/>
        </p:nvSpPr>
        <p:spPr>
          <a:xfrm>
            <a:off x="7778750" y="2694940"/>
            <a:ext cx="3610610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The median historical repayment ratio increases as the score tier rises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7661910" y="3537585"/>
            <a:ext cx="4013835" cy="715010"/>
          </a:xfrm>
          <a:custGeom>
            <a:avLst/>
            <a:gdLst/>
            <a:ahLst/>
            <a:cxnLst/>
            <a:rect l="l" t="t" r="r" b="b"/>
            <a:pathLst>
              <a:path w="4014117" h="1056347">
                <a:moveTo>
                  <a:pt x="70427" y="0"/>
                </a:moveTo>
                <a:lnTo>
                  <a:pt x="3943690" y="0"/>
                </a:lnTo>
                <a:cubicBezTo>
                  <a:pt x="3982586" y="0"/>
                  <a:pt x="4014117" y="31531"/>
                  <a:pt x="4014117" y="70427"/>
                </a:cubicBezTo>
                <a:lnTo>
                  <a:pt x="4014117" y="985920"/>
                </a:lnTo>
                <a:cubicBezTo>
                  <a:pt x="4014117" y="1024815"/>
                  <a:pt x="3982586" y="1056347"/>
                  <a:pt x="3943690" y="1056347"/>
                </a:cubicBezTo>
                <a:lnTo>
                  <a:pt x="70427" y="1056347"/>
                </a:lnTo>
                <a:cubicBezTo>
                  <a:pt x="31531" y="1056347"/>
                  <a:pt x="0" y="1024815"/>
                  <a:pt x="0" y="985920"/>
                </a:cubicBezTo>
                <a:lnTo>
                  <a:pt x="0" y="70427"/>
                </a:lnTo>
                <a:cubicBezTo>
                  <a:pt x="0" y="31557"/>
                  <a:pt x="31557" y="0"/>
                  <a:pt x="704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4" name="Text 8"/>
          <p:cNvSpPr/>
          <p:nvPr/>
        </p:nvSpPr>
        <p:spPr>
          <a:xfrm>
            <a:off x="7796530" y="3537585"/>
            <a:ext cx="3754755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Tier 4 and Tier 5 are close to full repayment while low-score tiers perform much worse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0" y="1798320"/>
            <a:ext cx="6655435" cy="4862830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37" name="Text 6"/>
          <p:cNvSpPr/>
          <p:nvPr/>
        </p:nvSpPr>
        <p:spPr>
          <a:xfrm>
            <a:off x="7573723" y="4616476"/>
            <a:ext cx="4102146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38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Interpretation</a:t>
            </a:r>
            <a:endParaRPr lang="en-US" altLang="zh-CN" sz="138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7531100" y="4929505"/>
            <a:ext cx="4013835" cy="715010"/>
          </a:xfrm>
          <a:custGeom>
            <a:avLst/>
            <a:gdLst/>
            <a:ahLst/>
            <a:cxnLst/>
            <a:rect l="l" t="t" r="r" b="b"/>
            <a:pathLst>
              <a:path w="4014117" h="1056347">
                <a:moveTo>
                  <a:pt x="70427" y="0"/>
                </a:moveTo>
                <a:lnTo>
                  <a:pt x="3943690" y="0"/>
                </a:lnTo>
                <a:cubicBezTo>
                  <a:pt x="3982586" y="0"/>
                  <a:pt x="4014117" y="31531"/>
                  <a:pt x="4014117" y="70427"/>
                </a:cubicBezTo>
                <a:lnTo>
                  <a:pt x="4014117" y="985920"/>
                </a:lnTo>
                <a:cubicBezTo>
                  <a:pt x="4014117" y="1024815"/>
                  <a:pt x="3982586" y="1056347"/>
                  <a:pt x="3943690" y="1056347"/>
                </a:cubicBezTo>
                <a:lnTo>
                  <a:pt x="70427" y="1056347"/>
                </a:lnTo>
                <a:cubicBezTo>
                  <a:pt x="31531" y="1056347"/>
                  <a:pt x="0" y="1024815"/>
                  <a:pt x="0" y="985920"/>
                </a:cubicBezTo>
                <a:lnTo>
                  <a:pt x="0" y="70427"/>
                </a:lnTo>
                <a:cubicBezTo>
                  <a:pt x="0" y="31557"/>
                  <a:pt x="31557" y="0"/>
                  <a:pt x="704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Text 8"/>
          <p:cNvSpPr/>
          <p:nvPr/>
        </p:nvSpPr>
        <p:spPr>
          <a:xfrm>
            <a:off x="7665720" y="4929505"/>
            <a:ext cx="3610610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The PCA-based score is not just a mathematical compression of features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0" name="Shape 7"/>
          <p:cNvSpPr/>
          <p:nvPr/>
        </p:nvSpPr>
        <p:spPr>
          <a:xfrm>
            <a:off x="7527925" y="5736590"/>
            <a:ext cx="4013835" cy="715010"/>
          </a:xfrm>
          <a:custGeom>
            <a:avLst/>
            <a:gdLst/>
            <a:ahLst/>
            <a:cxnLst/>
            <a:rect l="l" t="t" r="r" b="b"/>
            <a:pathLst>
              <a:path w="4014117" h="1056347">
                <a:moveTo>
                  <a:pt x="70427" y="0"/>
                </a:moveTo>
                <a:lnTo>
                  <a:pt x="3943690" y="0"/>
                </a:lnTo>
                <a:cubicBezTo>
                  <a:pt x="3982586" y="0"/>
                  <a:pt x="4014117" y="31531"/>
                  <a:pt x="4014117" y="70427"/>
                </a:cubicBezTo>
                <a:lnTo>
                  <a:pt x="4014117" y="985920"/>
                </a:lnTo>
                <a:cubicBezTo>
                  <a:pt x="4014117" y="1024815"/>
                  <a:pt x="3982586" y="1056347"/>
                  <a:pt x="3943690" y="1056347"/>
                </a:cubicBezTo>
                <a:lnTo>
                  <a:pt x="70427" y="1056347"/>
                </a:lnTo>
                <a:cubicBezTo>
                  <a:pt x="31531" y="1056347"/>
                  <a:pt x="0" y="1024815"/>
                  <a:pt x="0" y="985920"/>
                </a:cubicBezTo>
                <a:lnTo>
                  <a:pt x="0" y="70427"/>
                </a:lnTo>
                <a:cubicBezTo>
                  <a:pt x="0" y="31557"/>
                  <a:pt x="31557" y="0"/>
                  <a:pt x="704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Text 8"/>
          <p:cNvSpPr/>
          <p:nvPr/>
        </p:nvSpPr>
        <p:spPr>
          <a:xfrm>
            <a:off x="7662545" y="5736590"/>
            <a:ext cx="3610610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This supports the score as a useful 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first-layer credit signal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CRITICAL FINDINGS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The Q3 Phenomenon: High Score Does Not Always Mean Low Risk</a:t>
            </a:r>
            <a:endParaRPr lang="en-US" altLang="zh-CN" sz="2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20675" y="1177925"/>
            <a:ext cx="5689600" cy="5501640"/>
          </a:xfrm>
          <a:custGeom>
            <a:avLst/>
            <a:gdLst/>
            <a:ahLst/>
            <a:cxnLst/>
            <a:rect l="l" t="t" r="r" b="b"/>
            <a:pathLst>
              <a:path w="5689600" h="2149475">
                <a:moveTo>
                  <a:pt x="95243" y="0"/>
                </a:moveTo>
                <a:lnTo>
                  <a:pt x="5594357" y="0"/>
                </a:lnTo>
                <a:cubicBezTo>
                  <a:pt x="5646958" y="0"/>
                  <a:pt x="5689600" y="42642"/>
                  <a:pt x="5689600" y="95243"/>
                </a:cubicBezTo>
                <a:lnTo>
                  <a:pt x="5689600" y="2054232"/>
                </a:lnTo>
                <a:cubicBezTo>
                  <a:pt x="5689600" y="2106833"/>
                  <a:pt x="5646958" y="2149475"/>
                  <a:pt x="5594357" y="2149475"/>
                </a:cubicBezTo>
                <a:lnTo>
                  <a:pt x="95243" y="2149475"/>
                </a:lnTo>
                <a:cubicBezTo>
                  <a:pt x="42642" y="2149475"/>
                  <a:pt x="0" y="2106833"/>
                  <a:pt x="0" y="2054232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>
                  <a:alpha val="20000"/>
                </a:srgbClr>
              </a:gs>
              <a:gs pos="100000">
                <a:srgbClr val="FF6900">
                  <a:alpha val="5000"/>
                </a:srgbClr>
              </a:gs>
            </a:gsLst>
            <a:lin ang="2700000" scaled="1"/>
          </a:gradFill>
          <a:ln w="10160">
            <a:solidFill>
              <a:srgbClr val="FF690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6412" y="13715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8904"/>
          </a:solidFill>
        </p:spPr>
      </p:sp>
      <p:sp>
        <p:nvSpPr>
          <p:cNvPr id="7" name="Text 5"/>
          <p:cNvSpPr/>
          <p:nvPr/>
        </p:nvSpPr>
        <p:spPr>
          <a:xfrm>
            <a:off x="720725" y="1339848"/>
            <a:ext cx="5222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The Q3 Problem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2600" y="1958880"/>
            <a:ext cx="54292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·Q3 users have relatively strong credit scores but are still flagged by the anomaly detector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·This means that good historical repayment behavior does not guarantee normal current behavior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6280" y="3147695"/>
            <a:ext cx="4884420" cy="698500"/>
          </a:xfrm>
          <a:custGeom>
            <a:avLst/>
            <a:gdLst/>
            <a:ahLst/>
            <a:cxnLst/>
            <a:rect l="l" t="t" r="r" b="b"/>
            <a:pathLst>
              <a:path w="2635250" h="69850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21799" y="3353975"/>
            <a:ext cx="2563813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8904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1391</a:t>
            </a:r>
            <a:endParaRPr lang="en-US" sz="1875" b="1" dirty="0">
              <a:solidFill>
                <a:srgbClr val="FF8904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87550" y="3324225"/>
            <a:ext cx="2635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active borrowers scored</a:t>
            </a:r>
            <a:endParaRPr lang="en-US" altLang="zh-CN" sz="16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8550" y="1177925"/>
            <a:ext cx="5689600" cy="3856037"/>
          </a:xfrm>
          <a:custGeom>
            <a:avLst/>
            <a:gdLst/>
            <a:ahLst/>
            <a:cxnLst/>
            <a:rect l="l" t="t" r="r" b="b"/>
            <a:pathLst>
              <a:path w="5689600" h="3856037">
                <a:moveTo>
                  <a:pt x="95244" y="0"/>
                </a:moveTo>
                <a:lnTo>
                  <a:pt x="5594356" y="0"/>
                </a:lnTo>
                <a:cubicBezTo>
                  <a:pt x="5646958" y="0"/>
                  <a:pt x="5689600" y="42642"/>
                  <a:pt x="5689600" y="95244"/>
                </a:cubicBezTo>
                <a:lnTo>
                  <a:pt x="5689600" y="3760793"/>
                </a:lnTo>
                <a:cubicBezTo>
                  <a:pt x="5689600" y="3813395"/>
                  <a:pt x="5646958" y="3856037"/>
                  <a:pt x="5594356" y="3856037"/>
                </a:cubicBezTo>
                <a:lnTo>
                  <a:pt x="95244" y="3856037"/>
                </a:lnTo>
                <a:cubicBezTo>
                  <a:pt x="42642" y="3856037"/>
                  <a:pt x="0" y="3813395"/>
                  <a:pt x="0" y="3760793"/>
                </a:cubicBezTo>
                <a:lnTo>
                  <a:pt x="0" y="95244"/>
                </a:lnTo>
                <a:cubicBezTo>
                  <a:pt x="0" y="42677"/>
                  <a:pt x="42677" y="0"/>
                  <a:pt x="95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0475" y="1339848"/>
            <a:ext cx="5445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Case Study: Q3 User Profile</a:t>
            </a:r>
            <a:endParaRPr lang="en-US" sz="125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40475" y="1729740"/>
            <a:ext cx="5365750" cy="920750"/>
          </a:xfrm>
          <a:custGeom>
            <a:avLst/>
            <a:gdLst/>
            <a:ahLst/>
            <a:cxnLst/>
            <a:rect l="l" t="t" r="r" b="b"/>
            <a:pathLst>
              <a:path w="5365750" h="762000">
                <a:moveTo>
                  <a:pt x="63497" y="0"/>
                </a:moveTo>
                <a:lnTo>
                  <a:pt x="5302253" y="0"/>
                </a:lnTo>
                <a:cubicBezTo>
                  <a:pt x="5337321" y="0"/>
                  <a:pt x="5365750" y="28429"/>
                  <a:pt x="5365750" y="63497"/>
                </a:cubicBezTo>
                <a:lnTo>
                  <a:pt x="5365750" y="698503"/>
                </a:lnTo>
                <a:cubicBezTo>
                  <a:pt x="5365750" y="733571"/>
                  <a:pt x="5337321" y="762000"/>
                  <a:pt x="530225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467475" y="1827530"/>
            <a:ext cx="1731645" cy="2108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What Q3 represents</a:t>
            </a:r>
            <a:endParaRPr lang="en-US" altLang="zh-CN" sz="14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67475" y="2204625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Q3 users have relatively strong credit scores but are still flagged by the anomaly detector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40475" y="2791460"/>
            <a:ext cx="5365750" cy="920750"/>
          </a:xfrm>
          <a:custGeom>
            <a:avLst/>
            <a:gdLst/>
            <a:ahLst/>
            <a:cxnLst/>
            <a:rect l="l" t="t" r="r" b="b"/>
            <a:pathLst>
              <a:path w="5365750" h="762000">
                <a:moveTo>
                  <a:pt x="63497" y="0"/>
                </a:moveTo>
                <a:lnTo>
                  <a:pt x="5302253" y="0"/>
                </a:lnTo>
                <a:cubicBezTo>
                  <a:pt x="5337321" y="0"/>
                  <a:pt x="5365750" y="28429"/>
                  <a:pt x="5365750" y="63497"/>
                </a:cubicBezTo>
                <a:lnTo>
                  <a:pt x="5365750" y="698503"/>
                </a:lnTo>
                <a:cubicBezTo>
                  <a:pt x="5365750" y="733571"/>
                  <a:pt x="5337321" y="762000"/>
                  <a:pt x="5302253" y="762000"/>
                </a:cubicBezTo>
                <a:lnTo>
                  <a:pt x="63497" y="762000"/>
                </a:lnTo>
                <a:cubicBezTo>
                  <a:pt x="28429" y="762000"/>
                  <a:pt x="0" y="733571"/>
                  <a:pt x="0" y="69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467475" y="2899410"/>
            <a:ext cx="4305300" cy="23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Behavioral signals used by the anomaly layer</a:t>
            </a:r>
            <a:endParaRPr lang="en-US" altLang="zh-CN" sz="14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7475" y="3286565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Borrowing scale, balance volatility, and transaction activity intensity 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40475" y="3893820"/>
            <a:ext cx="5365750" cy="767080"/>
          </a:xfrm>
          <a:custGeom>
            <a:avLst/>
            <a:gdLst/>
            <a:ahLst/>
            <a:cxnLst/>
            <a:rect l="l" t="t" r="r" b="b"/>
            <a:pathLst>
              <a:path w="5365750" h="730250">
                <a:moveTo>
                  <a:pt x="63503" y="0"/>
                </a:moveTo>
                <a:lnTo>
                  <a:pt x="5302247" y="0"/>
                </a:lnTo>
                <a:cubicBezTo>
                  <a:pt x="5337319" y="0"/>
                  <a:pt x="5365750" y="28431"/>
                  <a:pt x="5365750" y="63503"/>
                </a:cubicBezTo>
                <a:lnTo>
                  <a:pt x="5365750" y="666747"/>
                </a:lnTo>
                <a:cubicBezTo>
                  <a:pt x="5365750" y="701819"/>
                  <a:pt x="5337319" y="730250"/>
                  <a:pt x="5302247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6459220" y="3951605"/>
            <a:ext cx="309562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Practical interpretation</a:t>
            </a:r>
            <a:endParaRPr lang="en-US" altLang="zh-CN" sz="14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467475" y="4359080"/>
            <a:ext cx="517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The anomaly layer does not prove fraud or future default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78550" y="5165527"/>
            <a:ext cx="5689600" cy="1530350"/>
          </a:xfrm>
          <a:custGeom>
            <a:avLst/>
            <a:gdLst/>
            <a:ahLst/>
            <a:cxnLst/>
            <a:rect l="l" t="t" r="r" b="b"/>
            <a:pathLst>
              <a:path w="5689600" h="1530350">
                <a:moveTo>
                  <a:pt x="95249" y="0"/>
                </a:moveTo>
                <a:lnTo>
                  <a:pt x="5594351" y="0"/>
                </a:lnTo>
                <a:cubicBezTo>
                  <a:pt x="5646956" y="0"/>
                  <a:pt x="5689600" y="42644"/>
                  <a:pt x="5689600" y="95249"/>
                </a:cubicBezTo>
                <a:lnTo>
                  <a:pt x="5689600" y="1435101"/>
                </a:lnTo>
                <a:cubicBezTo>
                  <a:pt x="5689600" y="1487706"/>
                  <a:pt x="5646956" y="1530350"/>
                  <a:pt x="5594351" y="1530350"/>
                </a:cubicBezTo>
                <a:lnTo>
                  <a:pt x="95249" y="1530350"/>
                </a:lnTo>
                <a:cubicBezTo>
                  <a:pt x="42644" y="1530350"/>
                  <a:pt x="0" y="1487706"/>
                  <a:pt x="0" y="1435101"/>
                </a:cubicBezTo>
                <a:lnTo>
                  <a:pt x="0" y="95249"/>
                </a:lnTo>
                <a:cubicBezTo>
                  <a:pt x="0" y="42644"/>
                  <a:pt x="42644" y="0"/>
                  <a:pt x="9524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016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8725" y="5295700"/>
            <a:ext cx="5500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Risk Mitigation Strategies</a:t>
            </a:r>
            <a:endParaRPr lang="en-US" sz="14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97320" y="5867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8" name="Text 46"/>
          <p:cNvSpPr/>
          <p:nvPr/>
        </p:nvSpPr>
        <p:spPr>
          <a:xfrm>
            <a:off x="6703060" y="5613400"/>
            <a:ext cx="343471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Enhanced due diligence for Q3 users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489382" y="61212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7938"/>
                </a:moveTo>
                <a:cubicBezTo>
                  <a:pt x="51395" y="7938"/>
                  <a:pt x="35347" y="17066"/>
                  <a:pt x="23664" y="27930"/>
                </a:cubicBezTo>
                <a:cubicBezTo>
                  <a:pt x="12055" y="38720"/>
                  <a:pt x="4291" y="51594"/>
                  <a:pt x="595" y="60449"/>
                </a:cubicBezTo>
                <a:cubicBezTo>
                  <a:pt x="-223" y="62409"/>
                  <a:pt x="-223" y="64591"/>
                  <a:pt x="595" y="66551"/>
                </a:cubicBezTo>
                <a:cubicBezTo>
                  <a:pt x="4291" y="75406"/>
                  <a:pt x="12055" y="88305"/>
                  <a:pt x="23664" y="99070"/>
                </a:cubicBezTo>
                <a:cubicBezTo>
                  <a:pt x="35347" y="109910"/>
                  <a:pt x="51395" y="119063"/>
                  <a:pt x="71438" y="119063"/>
                </a:cubicBezTo>
                <a:cubicBezTo>
                  <a:pt x="91480" y="119063"/>
                  <a:pt x="107528" y="109934"/>
                  <a:pt x="119211" y="99070"/>
                </a:cubicBezTo>
                <a:cubicBezTo>
                  <a:pt x="130820" y="88280"/>
                  <a:pt x="138584" y="75406"/>
                  <a:pt x="142280" y="66551"/>
                </a:cubicBezTo>
                <a:cubicBezTo>
                  <a:pt x="143098" y="64591"/>
                  <a:pt x="143098" y="62409"/>
                  <a:pt x="142280" y="60449"/>
                </a:cubicBezTo>
                <a:cubicBezTo>
                  <a:pt x="138584" y="51594"/>
                  <a:pt x="130820" y="38695"/>
                  <a:pt x="119211" y="27930"/>
                </a:cubicBezTo>
                <a:cubicBezTo>
                  <a:pt x="107528" y="17090"/>
                  <a:pt x="91480" y="7937"/>
                  <a:pt x="71438" y="7937"/>
                </a:cubicBezTo>
                <a:close/>
                <a:moveTo>
                  <a:pt x="35719" y="63500"/>
                </a:moveTo>
                <a:cubicBezTo>
                  <a:pt x="35719" y="43786"/>
                  <a:pt x="51724" y="27781"/>
                  <a:pt x="71438" y="27781"/>
                </a:cubicBezTo>
                <a:cubicBezTo>
                  <a:pt x="91151" y="27781"/>
                  <a:pt x="107156" y="43786"/>
                  <a:pt x="107156" y="63500"/>
                </a:cubicBezTo>
                <a:cubicBezTo>
                  <a:pt x="107156" y="83214"/>
                  <a:pt x="91151" y="99219"/>
                  <a:pt x="71438" y="99219"/>
                </a:cubicBezTo>
                <a:cubicBezTo>
                  <a:pt x="51724" y="99219"/>
                  <a:pt x="35719" y="83214"/>
                  <a:pt x="35719" y="63500"/>
                </a:cubicBezTo>
                <a:close/>
                <a:moveTo>
                  <a:pt x="71438" y="47625"/>
                </a:moveTo>
                <a:cubicBezTo>
                  <a:pt x="71438" y="56381"/>
                  <a:pt x="64319" y="63500"/>
                  <a:pt x="55563" y="63500"/>
                </a:cubicBezTo>
                <a:cubicBezTo>
                  <a:pt x="52710" y="63500"/>
                  <a:pt x="50031" y="62756"/>
                  <a:pt x="47699" y="61416"/>
                </a:cubicBezTo>
                <a:cubicBezTo>
                  <a:pt x="47451" y="64120"/>
                  <a:pt x="47675" y="66898"/>
                  <a:pt x="48419" y="69652"/>
                </a:cubicBezTo>
                <a:cubicBezTo>
                  <a:pt x="51817" y="82352"/>
                  <a:pt x="64889" y="89892"/>
                  <a:pt x="77589" y="86494"/>
                </a:cubicBezTo>
                <a:cubicBezTo>
                  <a:pt x="90289" y="83096"/>
                  <a:pt x="97830" y="70024"/>
                  <a:pt x="94431" y="57324"/>
                </a:cubicBezTo>
                <a:cubicBezTo>
                  <a:pt x="91405" y="45988"/>
                  <a:pt x="80665" y="38770"/>
                  <a:pt x="69354" y="39762"/>
                </a:cubicBezTo>
                <a:cubicBezTo>
                  <a:pt x="70669" y="42069"/>
                  <a:pt x="71438" y="44748"/>
                  <a:pt x="71438" y="4762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0" name="Text 48"/>
          <p:cNvSpPr/>
          <p:nvPr/>
        </p:nvSpPr>
        <p:spPr>
          <a:xfrm>
            <a:off x="6703060" y="5867400"/>
            <a:ext cx="4036695" cy="154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Real-time monitoring of flagged accounts</a:t>
            </a:r>
            <a:endParaRPr lang="en-US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505257" y="61720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7625" y="31750"/>
                </a:moveTo>
                <a:cubicBezTo>
                  <a:pt x="47625" y="18608"/>
                  <a:pt x="36955" y="7938"/>
                  <a:pt x="23812" y="7938"/>
                </a:cubicBezTo>
                <a:cubicBezTo>
                  <a:pt x="10670" y="7938"/>
                  <a:pt x="0" y="18608"/>
                  <a:pt x="0" y="31750"/>
                </a:cubicBezTo>
                <a:cubicBezTo>
                  <a:pt x="0" y="44892"/>
                  <a:pt x="10670" y="55563"/>
                  <a:pt x="23812" y="55563"/>
                </a:cubicBezTo>
                <a:cubicBezTo>
                  <a:pt x="36955" y="55563"/>
                  <a:pt x="47625" y="44892"/>
                  <a:pt x="47625" y="31750"/>
                </a:cubicBezTo>
                <a:close/>
                <a:moveTo>
                  <a:pt x="111125" y="95250"/>
                </a:moveTo>
                <a:cubicBezTo>
                  <a:pt x="111125" y="82108"/>
                  <a:pt x="100455" y="71438"/>
                  <a:pt x="87313" y="71438"/>
                </a:cubicBezTo>
                <a:cubicBezTo>
                  <a:pt x="74170" y="71438"/>
                  <a:pt x="63500" y="82108"/>
                  <a:pt x="63500" y="95250"/>
                </a:cubicBezTo>
                <a:cubicBezTo>
                  <a:pt x="63500" y="108392"/>
                  <a:pt x="74170" y="119063"/>
                  <a:pt x="87313" y="119063"/>
                </a:cubicBezTo>
                <a:cubicBezTo>
                  <a:pt x="100455" y="119063"/>
                  <a:pt x="111125" y="108392"/>
                  <a:pt x="111125" y="95250"/>
                </a:cubicBezTo>
                <a:close/>
                <a:moveTo>
                  <a:pt x="108793" y="21481"/>
                </a:moveTo>
                <a:cubicBezTo>
                  <a:pt x="111894" y="18380"/>
                  <a:pt x="111894" y="13345"/>
                  <a:pt x="108793" y="10244"/>
                </a:cubicBezTo>
                <a:cubicBezTo>
                  <a:pt x="105693" y="7144"/>
                  <a:pt x="100657" y="7144"/>
                  <a:pt x="97557" y="10244"/>
                </a:cubicBezTo>
                <a:lnTo>
                  <a:pt x="2307" y="105494"/>
                </a:lnTo>
                <a:cubicBezTo>
                  <a:pt x="-794" y="108595"/>
                  <a:pt x="-794" y="113630"/>
                  <a:pt x="2307" y="116731"/>
                </a:cubicBezTo>
                <a:cubicBezTo>
                  <a:pt x="5407" y="119831"/>
                  <a:pt x="10443" y="119831"/>
                  <a:pt x="13543" y="116731"/>
                </a:cubicBezTo>
                <a:lnTo>
                  <a:pt x="108793" y="21481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2" name="Text 50"/>
          <p:cNvSpPr/>
          <p:nvPr/>
        </p:nvSpPr>
        <p:spPr>
          <a:xfrm>
            <a:off x="6703060" y="6121400"/>
            <a:ext cx="343471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Higher collateral requirements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497320" y="6426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1083" y="102319"/>
                </a:moveTo>
                <a:lnTo>
                  <a:pt x="24681" y="35917"/>
                </a:lnTo>
                <a:cubicBezTo>
                  <a:pt x="19124" y="43706"/>
                  <a:pt x="15875" y="53231"/>
                  <a:pt x="15875" y="63500"/>
                </a:cubicBezTo>
                <a:cubicBezTo>
                  <a:pt x="15875" y="89793"/>
                  <a:pt x="37207" y="111125"/>
                  <a:pt x="63500" y="111125"/>
                </a:cubicBezTo>
                <a:cubicBezTo>
                  <a:pt x="73794" y="111125"/>
                  <a:pt x="83319" y="107876"/>
                  <a:pt x="91083" y="102319"/>
                </a:cubicBezTo>
                <a:close/>
                <a:moveTo>
                  <a:pt x="102319" y="91083"/>
                </a:moveTo>
                <a:cubicBezTo>
                  <a:pt x="107876" y="83294"/>
                  <a:pt x="111125" y="73769"/>
                  <a:pt x="111125" y="63500"/>
                </a:cubicBezTo>
                <a:cubicBezTo>
                  <a:pt x="111125" y="37207"/>
                  <a:pt x="89793" y="15875"/>
                  <a:pt x="63500" y="15875"/>
                </a:cubicBezTo>
                <a:cubicBezTo>
                  <a:pt x="53206" y="15875"/>
                  <a:pt x="43681" y="19124"/>
                  <a:pt x="35917" y="24681"/>
                </a:cubicBezTo>
                <a:lnTo>
                  <a:pt x="102319" y="91083"/>
                </a:lnTo>
                <a:close/>
                <a:moveTo>
                  <a:pt x="0" y="63500"/>
                </a:moveTo>
                <a:cubicBezTo>
                  <a:pt x="0" y="28453"/>
                  <a:pt x="28453" y="0"/>
                  <a:pt x="63500" y="0"/>
                </a:cubicBez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4" name="Text 52"/>
          <p:cNvSpPr/>
          <p:nvPr/>
        </p:nvSpPr>
        <p:spPr>
          <a:xfrm>
            <a:off x="6703060" y="6375400"/>
            <a:ext cx="4224020" cy="144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Temporary borrowing limits for suspicious activity</a:t>
            </a:r>
            <a:endParaRPr lang="en-US" altLang="zh-CN" sz="14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706120" y="4219575"/>
            <a:ext cx="4884420" cy="698500"/>
          </a:xfrm>
          <a:custGeom>
            <a:avLst/>
            <a:gdLst/>
            <a:ahLst/>
            <a:cxnLst/>
            <a:rect l="l" t="t" r="r" b="b"/>
            <a:pathLst>
              <a:path w="2635250" h="69850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6" name="Text 8"/>
          <p:cNvSpPr/>
          <p:nvPr/>
        </p:nvSpPr>
        <p:spPr>
          <a:xfrm>
            <a:off x="391319" y="4425855"/>
            <a:ext cx="2563813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8904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70</a:t>
            </a:r>
            <a:endParaRPr lang="en-US" sz="1875" b="1" dirty="0">
              <a:solidFill>
                <a:srgbClr val="FF8904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57" name="Text 9"/>
          <p:cNvSpPr/>
          <p:nvPr/>
        </p:nvSpPr>
        <p:spPr>
          <a:xfrm>
            <a:off x="1957070" y="4405630"/>
            <a:ext cx="2986405" cy="248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anomalous accounts detected</a:t>
            </a:r>
            <a:endParaRPr lang="en-US" altLang="zh-CN" sz="16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709295" y="5342890"/>
            <a:ext cx="4884420" cy="698500"/>
          </a:xfrm>
          <a:custGeom>
            <a:avLst/>
            <a:gdLst/>
            <a:ahLst/>
            <a:cxnLst/>
            <a:rect l="l" t="t" r="r" b="b"/>
            <a:pathLst>
              <a:path w="2635250" h="698500">
                <a:moveTo>
                  <a:pt x="63501" y="0"/>
                </a:moveTo>
                <a:lnTo>
                  <a:pt x="2571749" y="0"/>
                </a:lnTo>
                <a:cubicBezTo>
                  <a:pt x="2606820" y="0"/>
                  <a:pt x="2635250" y="28430"/>
                  <a:pt x="2635250" y="63501"/>
                </a:cubicBezTo>
                <a:lnTo>
                  <a:pt x="2635250" y="634999"/>
                </a:lnTo>
                <a:cubicBezTo>
                  <a:pt x="2635250" y="670070"/>
                  <a:pt x="2606820" y="698500"/>
                  <a:pt x="2571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9" name="Text 8"/>
          <p:cNvSpPr/>
          <p:nvPr/>
        </p:nvSpPr>
        <p:spPr>
          <a:xfrm>
            <a:off x="360839" y="5549170"/>
            <a:ext cx="2563813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8904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10</a:t>
            </a:r>
            <a:endParaRPr lang="en-US" sz="1875" b="1" dirty="0">
              <a:solidFill>
                <a:srgbClr val="FF8904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833880" y="5528945"/>
            <a:ext cx="30797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high-score anomalies identified </a:t>
            </a:r>
            <a:endParaRPr lang="en-US" altLang="zh-CN" sz="16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  <a:p>
            <a:pPr algn="ctr">
              <a:lnSpc>
                <a:spcPct val="130000"/>
              </a:lnSpc>
            </a:pPr>
            <a:r>
              <a:rPr lang="en-US" altLang="zh-CN" sz="16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as Q3 hidden whales</a:t>
            </a:r>
            <a:endParaRPr lang="en-US" altLang="zh-CN" sz="16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6498907" y="566082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7625" y="31750"/>
                </a:moveTo>
                <a:cubicBezTo>
                  <a:pt x="47625" y="18608"/>
                  <a:pt x="36955" y="7938"/>
                  <a:pt x="23812" y="7938"/>
                </a:cubicBezTo>
                <a:cubicBezTo>
                  <a:pt x="10670" y="7938"/>
                  <a:pt x="0" y="18608"/>
                  <a:pt x="0" y="31750"/>
                </a:cubicBezTo>
                <a:cubicBezTo>
                  <a:pt x="0" y="44892"/>
                  <a:pt x="10670" y="55563"/>
                  <a:pt x="23812" y="55563"/>
                </a:cubicBezTo>
                <a:cubicBezTo>
                  <a:pt x="36955" y="55563"/>
                  <a:pt x="47625" y="44892"/>
                  <a:pt x="47625" y="31750"/>
                </a:cubicBezTo>
                <a:close/>
                <a:moveTo>
                  <a:pt x="111125" y="95250"/>
                </a:moveTo>
                <a:cubicBezTo>
                  <a:pt x="111125" y="82108"/>
                  <a:pt x="100455" y="71438"/>
                  <a:pt x="87313" y="71438"/>
                </a:cubicBezTo>
                <a:cubicBezTo>
                  <a:pt x="74170" y="71438"/>
                  <a:pt x="63500" y="82108"/>
                  <a:pt x="63500" y="95250"/>
                </a:cubicBezTo>
                <a:cubicBezTo>
                  <a:pt x="63500" y="108392"/>
                  <a:pt x="74170" y="119063"/>
                  <a:pt x="87313" y="119063"/>
                </a:cubicBezTo>
                <a:cubicBezTo>
                  <a:pt x="100455" y="119063"/>
                  <a:pt x="111125" y="108392"/>
                  <a:pt x="111125" y="95250"/>
                </a:cubicBezTo>
                <a:close/>
                <a:moveTo>
                  <a:pt x="108793" y="21481"/>
                </a:moveTo>
                <a:cubicBezTo>
                  <a:pt x="111894" y="18380"/>
                  <a:pt x="111894" y="13345"/>
                  <a:pt x="108793" y="10244"/>
                </a:cubicBezTo>
                <a:cubicBezTo>
                  <a:pt x="105693" y="7144"/>
                  <a:pt x="100657" y="7144"/>
                  <a:pt x="97557" y="10244"/>
                </a:cubicBezTo>
                <a:lnTo>
                  <a:pt x="2307" y="105494"/>
                </a:lnTo>
                <a:cubicBezTo>
                  <a:pt x="-794" y="108595"/>
                  <a:pt x="-794" y="113630"/>
                  <a:pt x="2307" y="116731"/>
                </a:cubicBezTo>
                <a:cubicBezTo>
                  <a:pt x="5407" y="119831"/>
                  <a:pt x="10443" y="119831"/>
                  <a:pt x="13543" y="116731"/>
                </a:cubicBezTo>
                <a:lnTo>
                  <a:pt x="108793" y="21481"/>
                </a:lnTo>
                <a:close/>
              </a:path>
            </a:pathLst>
          </a:custGeom>
          <a:solidFill>
            <a:srgbClr val="5E8B7E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images.unsplash.com/photo-1639762681485-074b7f938ba0?w=1280&amp;h=720&amp;fit=crop"/>
          <p:cNvPicPr>
            <a:picLocks noChangeAspect="1"/>
          </p:cNvPicPr>
          <p:nvPr/>
        </p:nvPicPr>
        <p:blipFill>
          <a:blip r:embed="rId1">
            <a:alphaModFix amt="4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4810" y="1644017"/>
            <a:ext cx="941070" cy="388620"/>
          </a:xfrm>
          <a:custGeom>
            <a:avLst/>
            <a:gdLst/>
            <a:ahLst/>
            <a:cxnLst/>
            <a:rect l="l" t="t" r="r" b="b"/>
            <a:pathLst>
              <a:path w="941070" h="388620">
                <a:moveTo>
                  <a:pt x="76201" y="0"/>
                </a:moveTo>
                <a:lnTo>
                  <a:pt x="864869" y="0"/>
                </a:lnTo>
                <a:cubicBezTo>
                  <a:pt x="906954" y="0"/>
                  <a:pt x="941070" y="34116"/>
                  <a:pt x="941070" y="76201"/>
                </a:cubicBezTo>
                <a:lnTo>
                  <a:pt x="941070" y="312419"/>
                </a:lnTo>
                <a:cubicBezTo>
                  <a:pt x="941070" y="354504"/>
                  <a:pt x="906954" y="388620"/>
                  <a:pt x="8648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724025"/>
            <a:ext cx="704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PART IV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1000" y="2265043"/>
            <a:ext cx="76581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Limitations &amp;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B7E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Future Directions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1000" y="420814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8" name="Text 5"/>
          <p:cNvSpPr/>
          <p:nvPr/>
        </p:nvSpPr>
        <p:spPr>
          <a:xfrm>
            <a:off x="381000" y="4474843"/>
            <a:ext cx="7429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Coda" pitchFamily="34" charset="-120"/>
              </a:rPr>
              <a:t>Critical reflections, improvement opportunities, and acknowledgments</a:t>
            </a:r>
            <a:endParaRPr lang="en-US" sz="18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Coda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CRITICAL REFLECTIONS</a:t>
            </a:r>
            <a:endParaRPr lang="en-US" sz="1200" b="1" kern="0" spc="60" dirty="0">
              <a:solidFill>
                <a:srgbClr val="5E8B7E"/>
              </a:solidFill>
              <a:latin typeface="Arial" panose="020B0604020202020204" pitchFamily="34" charset="0"/>
              <a:ea typeface="Quattrocento Sans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Research Limitations</a:t>
            </a:r>
            <a:endParaRPr lang="en-US" sz="2700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84810" y="1413510"/>
            <a:ext cx="5608320" cy="2503170"/>
          </a:xfrm>
          <a:custGeom>
            <a:avLst/>
            <a:gdLst/>
            <a:ahLst/>
            <a:cxnLst/>
            <a:rect l="l" t="t" r="r" b="b"/>
            <a:pathLst>
              <a:path w="5608320" h="2503170">
                <a:moveTo>
                  <a:pt x="114295" y="0"/>
                </a:moveTo>
                <a:lnTo>
                  <a:pt x="5494025" y="0"/>
                </a:lnTo>
                <a:cubicBezTo>
                  <a:pt x="5557149" y="0"/>
                  <a:pt x="5608320" y="51171"/>
                  <a:pt x="5608320" y="114295"/>
                </a:cubicBezTo>
                <a:lnTo>
                  <a:pt x="5608320" y="2388875"/>
                </a:lnTo>
                <a:cubicBezTo>
                  <a:pt x="5608320" y="2451999"/>
                  <a:pt x="5557149" y="2503170"/>
                  <a:pt x="5494025" y="2503170"/>
                </a:cubicBezTo>
                <a:lnTo>
                  <a:pt x="114295" y="2503170"/>
                </a:lnTo>
                <a:cubicBezTo>
                  <a:pt x="51171" y="2503170"/>
                  <a:pt x="0" y="2451999"/>
                  <a:pt x="0" y="2388875"/>
                </a:cubicBezTo>
                <a:lnTo>
                  <a:pt x="0" y="114295"/>
                </a:lnTo>
                <a:cubicBezTo>
                  <a:pt x="0" y="51172"/>
                  <a:pt x="51171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839" y="164591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817245" y="1607818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Data Availability Constraints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9120" y="2026918"/>
            <a:ext cx="52959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Our analysis is limited by the availability and quality of on-chain data. While blockchain provides transparency, not all relevant information is publicly accessible.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170" y="29222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0" name="Text 8"/>
          <p:cNvSpPr/>
          <p:nvPr/>
        </p:nvSpPr>
        <p:spPr>
          <a:xfrm>
            <a:off x="845820" y="2884168"/>
            <a:ext cx="3314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Cross-protocol interactions not fully captured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8170" y="32270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2" name="Text 10"/>
          <p:cNvSpPr/>
          <p:nvPr/>
        </p:nvSpPr>
        <p:spPr>
          <a:xfrm>
            <a:off x="845820" y="3188968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Off-chain activities remain invisible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8170" y="35318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4" name="Text 12"/>
          <p:cNvSpPr/>
          <p:nvPr/>
        </p:nvSpPr>
        <p:spPr>
          <a:xfrm>
            <a:off x="845820" y="3493770"/>
            <a:ext cx="4839335" cy="222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A</a:t>
            </a:r>
            <a:r>
              <a:rPr lang="en-US" altLang="zh-CN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nalysis is based on the currently available transaction window</a:t>
            </a:r>
            <a:endParaRPr lang="en-US" sz="1600" dirty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810" y="4076706"/>
            <a:ext cx="5608320" cy="2255520"/>
          </a:xfrm>
          <a:custGeom>
            <a:avLst/>
            <a:gdLst/>
            <a:ahLst/>
            <a:cxnLst/>
            <a:rect l="l" t="t" r="r" b="b"/>
            <a:pathLst>
              <a:path w="5608320" h="2255520">
                <a:moveTo>
                  <a:pt x="114310" y="0"/>
                </a:moveTo>
                <a:lnTo>
                  <a:pt x="5494010" y="0"/>
                </a:lnTo>
                <a:cubicBezTo>
                  <a:pt x="5557142" y="0"/>
                  <a:pt x="5608320" y="51178"/>
                  <a:pt x="5608320" y="114310"/>
                </a:cubicBezTo>
                <a:lnTo>
                  <a:pt x="5608320" y="2141210"/>
                </a:lnTo>
                <a:cubicBezTo>
                  <a:pt x="5608320" y="2204342"/>
                  <a:pt x="5557142" y="2255520"/>
                  <a:pt x="5494010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932" y="43091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7" name="Text 15"/>
          <p:cNvSpPr/>
          <p:nvPr/>
        </p:nvSpPr>
        <p:spPr>
          <a:xfrm>
            <a:off x="817245" y="4271014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Protocol Scope Limitations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9120" y="4690114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The current model focuses on specific DeFi lending protocols, which may limit generalizability across the broader ecosystem.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170" y="53378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8"/>
          <p:cNvSpPr/>
          <p:nvPr/>
        </p:nvSpPr>
        <p:spPr>
          <a:xfrm>
            <a:off x="845820" y="5299714"/>
            <a:ext cx="2981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Single protocol focus (lending platforms)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8170" y="56426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Text 20"/>
          <p:cNvSpPr/>
          <p:nvPr/>
        </p:nvSpPr>
        <p:spPr>
          <a:xfrm>
            <a:off x="845820" y="5604514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Different protocols may require model adaptation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8170" y="59474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4" name="Text 22"/>
          <p:cNvSpPr/>
          <p:nvPr/>
        </p:nvSpPr>
        <p:spPr>
          <a:xfrm>
            <a:off x="845820" y="5909310"/>
            <a:ext cx="3996055" cy="207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Single-protocol focus: only Aave V2 on Polygon</a:t>
            </a:r>
            <a:endParaRPr lang="en-US" altLang="zh-CN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95060" y="1413510"/>
            <a:ext cx="5608320" cy="2503170"/>
          </a:xfrm>
          <a:custGeom>
            <a:avLst/>
            <a:gdLst/>
            <a:ahLst/>
            <a:cxnLst/>
            <a:rect l="l" t="t" r="r" b="b"/>
            <a:pathLst>
              <a:path w="5608320" h="2503170">
                <a:moveTo>
                  <a:pt x="114295" y="0"/>
                </a:moveTo>
                <a:lnTo>
                  <a:pt x="5494025" y="0"/>
                </a:lnTo>
                <a:cubicBezTo>
                  <a:pt x="5557149" y="0"/>
                  <a:pt x="5608320" y="51171"/>
                  <a:pt x="5608320" y="114295"/>
                </a:cubicBezTo>
                <a:lnTo>
                  <a:pt x="5608320" y="2388875"/>
                </a:lnTo>
                <a:cubicBezTo>
                  <a:pt x="5608320" y="2451999"/>
                  <a:pt x="5557149" y="2503170"/>
                  <a:pt x="5494025" y="2503170"/>
                </a:cubicBezTo>
                <a:lnTo>
                  <a:pt x="114295" y="2503170"/>
                </a:lnTo>
                <a:cubicBezTo>
                  <a:pt x="51171" y="2503170"/>
                  <a:pt x="0" y="2451999"/>
                  <a:pt x="0" y="2388875"/>
                </a:cubicBezTo>
                <a:lnTo>
                  <a:pt x="0" y="114295"/>
                </a:lnTo>
                <a:cubicBezTo>
                  <a:pt x="0" y="51172"/>
                  <a:pt x="51171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>
                  <a:alpha val="20000"/>
                </a:srgbClr>
              </a:gs>
              <a:gs pos="100000">
                <a:srgbClr val="FF6900">
                  <a:alpha val="5000"/>
                </a:srgbClr>
              </a:gs>
            </a:gsLst>
            <a:lin ang="2700000" scaled="1"/>
          </a:gradFill>
          <a:ln w="10160">
            <a:solidFill>
              <a:srgbClr val="FF690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3182" y="16459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8904"/>
          </a:solidFill>
        </p:spPr>
      </p:sp>
      <p:sp>
        <p:nvSpPr>
          <p:cNvPr id="27" name="Text 25"/>
          <p:cNvSpPr/>
          <p:nvPr/>
        </p:nvSpPr>
        <p:spPr>
          <a:xfrm>
            <a:off x="6627495" y="1607818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Static Model Limitations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89370" y="2026918"/>
            <a:ext cx="52959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The current implementation uses a static model trained on historical data, which may not adapt quickly to rapidly changing market conditions.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8420" y="29222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0" name="Text 28"/>
          <p:cNvSpPr/>
          <p:nvPr/>
        </p:nvSpPr>
        <p:spPr>
          <a:xfrm>
            <a:off x="6656070" y="2884168"/>
            <a:ext cx="3000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No real-time model updating mechanism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8420" y="32270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2" name="Text 30"/>
          <p:cNvSpPr/>
          <p:nvPr/>
        </p:nvSpPr>
        <p:spPr>
          <a:xfrm>
            <a:off x="6656070" y="3188968"/>
            <a:ext cx="3267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Market regime changes may reduce accuracy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8420" y="35318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4" name="Text 32"/>
          <p:cNvSpPr/>
          <p:nvPr/>
        </p:nvSpPr>
        <p:spPr>
          <a:xfrm>
            <a:off x="6656070" y="349376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Concept drift not addressed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95060" y="4076700"/>
            <a:ext cx="5608320" cy="2256155"/>
          </a:xfrm>
          <a:custGeom>
            <a:avLst/>
            <a:gdLst/>
            <a:ahLst/>
            <a:cxnLst/>
            <a:rect l="l" t="t" r="r" b="b"/>
            <a:pathLst>
              <a:path w="5608320" h="2398395">
                <a:moveTo>
                  <a:pt x="114308" y="0"/>
                </a:moveTo>
                <a:lnTo>
                  <a:pt x="5494012" y="0"/>
                </a:lnTo>
                <a:cubicBezTo>
                  <a:pt x="5557143" y="0"/>
                  <a:pt x="5608320" y="51177"/>
                  <a:pt x="5608320" y="114308"/>
                </a:cubicBezTo>
                <a:lnTo>
                  <a:pt x="5608320" y="2284087"/>
                </a:lnTo>
                <a:cubicBezTo>
                  <a:pt x="5608320" y="2347176"/>
                  <a:pt x="5557101" y="2398395"/>
                  <a:pt x="549401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>
                  <a:alpha val="20000"/>
                </a:srgbClr>
              </a:gs>
              <a:gs pos="100000">
                <a:srgbClr val="FB2C36">
                  <a:alpha val="5000"/>
                </a:srgbClr>
              </a:gs>
            </a:gsLst>
            <a:lin ang="2700000" scaled="1"/>
          </a:gradFill>
          <a:ln w="1016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5089" y="430911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3624" y="-5953"/>
                </a:moveTo>
                <a:cubicBezTo>
                  <a:pt x="50081" y="-5953"/>
                  <a:pt x="42118" y="15739"/>
                  <a:pt x="38212" y="35719"/>
                </a:cubicBezTo>
                <a:lnTo>
                  <a:pt x="26789" y="35719"/>
                </a:lnTo>
                <a:cubicBezTo>
                  <a:pt x="21841" y="35719"/>
                  <a:pt x="17859" y="39700"/>
                  <a:pt x="17859" y="44648"/>
                </a:cubicBezTo>
                <a:cubicBezTo>
                  <a:pt x="17859" y="49597"/>
                  <a:pt x="21841" y="53578"/>
                  <a:pt x="26789" y="53578"/>
                </a:cubicBezTo>
                <a:lnTo>
                  <a:pt x="35719" y="53578"/>
                </a:lnTo>
                <a:lnTo>
                  <a:pt x="35719" y="65484"/>
                </a:lnTo>
                <a:cubicBezTo>
                  <a:pt x="35719" y="71810"/>
                  <a:pt x="36947" y="77837"/>
                  <a:pt x="39179" y="83344"/>
                </a:cubicBezTo>
                <a:lnTo>
                  <a:pt x="35719" y="83344"/>
                </a:lnTo>
                <a:lnTo>
                  <a:pt x="35719" y="83344"/>
                </a:lnTo>
                <a:lnTo>
                  <a:pt x="28091" y="83344"/>
                </a:lnTo>
                <a:cubicBezTo>
                  <a:pt x="22436" y="83344"/>
                  <a:pt x="17859" y="87920"/>
                  <a:pt x="17859" y="93576"/>
                </a:cubicBezTo>
                <a:cubicBezTo>
                  <a:pt x="17859" y="94692"/>
                  <a:pt x="18045" y="95771"/>
                  <a:pt x="18380" y="96813"/>
                </a:cubicBezTo>
                <a:lnTo>
                  <a:pt x="29133" y="129034"/>
                </a:lnTo>
                <a:cubicBezTo>
                  <a:pt x="14957" y="141238"/>
                  <a:pt x="5953" y="159283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59283"/>
                  <a:pt x="151730" y="141238"/>
                  <a:pt x="137554" y="129071"/>
                </a:cubicBezTo>
                <a:lnTo>
                  <a:pt x="148307" y="96850"/>
                </a:lnTo>
                <a:cubicBezTo>
                  <a:pt x="148642" y="95808"/>
                  <a:pt x="148828" y="94729"/>
                  <a:pt x="148828" y="93613"/>
                </a:cubicBezTo>
                <a:cubicBezTo>
                  <a:pt x="148828" y="87957"/>
                  <a:pt x="144252" y="83381"/>
                  <a:pt x="138596" y="83381"/>
                </a:cubicBezTo>
                <a:lnTo>
                  <a:pt x="130969" y="83381"/>
                </a:lnTo>
                <a:lnTo>
                  <a:pt x="130969" y="83381"/>
                </a:lnTo>
                <a:lnTo>
                  <a:pt x="127508" y="83381"/>
                </a:lnTo>
                <a:cubicBezTo>
                  <a:pt x="129741" y="77874"/>
                  <a:pt x="130969" y="71847"/>
                  <a:pt x="130969" y="65522"/>
                </a:cubicBezTo>
                <a:lnTo>
                  <a:pt x="130969" y="53615"/>
                </a:lnTo>
                <a:lnTo>
                  <a:pt x="139898" y="53615"/>
                </a:lnTo>
                <a:cubicBezTo>
                  <a:pt x="144847" y="53615"/>
                  <a:pt x="148828" y="49634"/>
                  <a:pt x="148828" y="44686"/>
                </a:cubicBezTo>
                <a:cubicBezTo>
                  <a:pt x="148828" y="39737"/>
                  <a:pt x="144847" y="35756"/>
                  <a:pt x="139898" y="35756"/>
                </a:cubicBezTo>
                <a:lnTo>
                  <a:pt x="128476" y="35756"/>
                </a:lnTo>
                <a:cubicBezTo>
                  <a:pt x="124606" y="15776"/>
                  <a:pt x="116607" y="-5916"/>
                  <a:pt x="103063" y="-5916"/>
                </a:cubicBezTo>
                <a:cubicBezTo>
                  <a:pt x="99492" y="-5916"/>
                  <a:pt x="95994" y="-4465"/>
                  <a:pt x="92832" y="-2865"/>
                </a:cubicBezTo>
                <a:cubicBezTo>
                  <a:pt x="89781" y="-1339"/>
                  <a:pt x="85985" y="37"/>
                  <a:pt x="83344" y="37"/>
                </a:cubicBezTo>
                <a:cubicBezTo>
                  <a:pt x="80702" y="37"/>
                  <a:pt x="76907" y="-1339"/>
                  <a:pt x="73856" y="-2865"/>
                </a:cubicBezTo>
                <a:cubicBezTo>
                  <a:pt x="70693" y="-4502"/>
                  <a:pt x="67196" y="-5953"/>
                  <a:pt x="63624" y="-5953"/>
                </a:cubicBezTo>
                <a:close/>
                <a:moveTo>
                  <a:pt x="98487" y="174278"/>
                </a:moveTo>
                <a:lnTo>
                  <a:pt x="89260" y="147898"/>
                </a:lnTo>
                <a:lnTo>
                  <a:pt x="99640" y="135806"/>
                </a:lnTo>
                <a:cubicBezTo>
                  <a:pt x="100645" y="134615"/>
                  <a:pt x="101203" y="133127"/>
                  <a:pt x="101203" y="131564"/>
                </a:cubicBezTo>
                <a:cubicBezTo>
                  <a:pt x="101203" y="127955"/>
                  <a:pt x="98301" y="125053"/>
                  <a:pt x="94692" y="125053"/>
                </a:cubicBezTo>
                <a:lnTo>
                  <a:pt x="71996" y="125053"/>
                </a:lnTo>
                <a:cubicBezTo>
                  <a:pt x="68387" y="125053"/>
                  <a:pt x="65484" y="127955"/>
                  <a:pt x="65484" y="131564"/>
                </a:cubicBezTo>
                <a:cubicBezTo>
                  <a:pt x="65484" y="133127"/>
                  <a:pt x="66042" y="134615"/>
                  <a:pt x="67047" y="135806"/>
                </a:cubicBezTo>
                <a:lnTo>
                  <a:pt x="77428" y="147898"/>
                </a:lnTo>
                <a:lnTo>
                  <a:pt x="68200" y="174278"/>
                </a:lnTo>
                <a:lnTo>
                  <a:pt x="46992" y="107156"/>
                </a:lnTo>
                <a:lnTo>
                  <a:pt x="60275" y="107156"/>
                </a:lnTo>
                <a:cubicBezTo>
                  <a:pt x="67121" y="110951"/>
                  <a:pt x="74972" y="113109"/>
                  <a:pt x="83344" y="113109"/>
                </a:cubicBezTo>
                <a:cubicBezTo>
                  <a:pt x="91715" y="113109"/>
                  <a:pt x="99566" y="110951"/>
                  <a:pt x="106412" y="107156"/>
                </a:cubicBezTo>
                <a:lnTo>
                  <a:pt x="119695" y="107156"/>
                </a:lnTo>
                <a:lnTo>
                  <a:pt x="98487" y="174278"/>
                </a:lnTo>
                <a:close/>
                <a:moveTo>
                  <a:pt x="83344" y="95250"/>
                </a:moveTo>
                <a:cubicBezTo>
                  <a:pt x="70433" y="95250"/>
                  <a:pt x="59457" y="87027"/>
                  <a:pt x="55327" y="75530"/>
                </a:cubicBezTo>
                <a:cubicBezTo>
                  <a:pt x="57448" y="76721"/>
                  <a:pt x="59903" y="77391"/>
                  <a:pt x="62508" y="77391"/>
                </a:cubicBezTo>
                <a:lnTo>
                  <a:pt x="67121" y="77391"/>
                </a:lnTo>
                <a:cubicBezTo>
                  <a:pt x="73261" y="77391"/>
                  <a:pt x="78693" y="73447"/>
                  <a:pt x="80628" y="67642"/>
                </a:cubicBezTo>
                <a:cubicBezTo>
                  <a:pt x="81483" y="65038"/>
                  <a:pt x="85167" y="65038"/>
                  <a:pt x="86023" y="67642"/>
                </a:cubicBezTo>
                <a:cubicBezTo>
                  <a:pt x="87957" y="73447"/>
                  <a:pt x="93427" y="77391"/>
                  <a:pt x="99529" y="77391"/>
                </a:cubicBezTo>
                <a:lnTo>
                  <a:pt x="104142" y="77391"/>
                </a:lnTo>
                <a:cubicBezTo>
                  <a:pt x="106747" y="77391"/>
                  <a:pt x="109203" y="76721"/>
                  <a:pt x="111323" y="75530"/>
                </a:cubicBezTo>
                <a:cubicBezTo>
                  <a:pt x="107193" y="87027"/>
                  <a:pt x="96217" y="95250"/>
                  <a:pt x="83307" y="95250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7" name="Text 35"/>
          <p:cNvSpPr/>
          <p:nvPr/>
        </p:nvSpPr>
        <p:spPr>
          <a:xfrm>
            <a:off x="6627495" y="4271014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Hedvig Letters Sans" pitchFamily="34" charset="-120"/>
              </a:rPr>
              <a:t>Ground Truth Validation Challenges</a:t>
            </a:r>
            <a:endParaRPr lang="en-US" sz="150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Hedvig Letters Sans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89370" y="4690114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Validating the model's predictions is challenging in a pseudonymous ecosystem where true identities and intentions remain hidden.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408420" y="53378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0" name="Text 38"/>
          <p:cNvSpPr/>
          <p:nvPr/>
        </p:nvSpPr>
        <p:spPr>
          <a:xfrm>
            <a:off x="6656070" y="5299710"/>
            <a:ext cx="301434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No access to off-chain financial data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8420" y="56426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2" name="Text 40"/>
          <p:cNvSpPr/>
          <p:nvPr/>
        </p:nvSpPr>
        <p:spPr>
          <a:xfrm>
            <a:off x="6656070" y="5604514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Sybil attacks may contaminate training data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408420" y="594741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6656070" y="5909314"/>
            <a:ext cx="2990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Self-fulfilling prophecy risk in predictions</a:t>
            </a:r>
            <a:endParaRPr lang="en-US" sz="120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kern="0" spc="55" dirty="0">
                <a:solidFill>
                  <a:srgbClr val="5E8B7E"/>
                </a:solidFill>
                <a:latin typeface="Arial" panose="020B0604020202020204" pitchFamily="34" charset="0"/>
                <a:ea typeface="黑体" panose="02010609060101010101" charset="-122"/>
                <a:cs typeface="Quattrocento Sans" pitchFamily="34" charset="-120"/>
              </a:rPr>
              <a:t>FUTURE OPPORTUNITIES</a:t>
            </a:r>
            <a:endParaRPr lang="en-US" sz="1110" b="1" kern="0" spc="55" dirty="0">
              <a:solidFill>
                <a:srgbClr val="5E8B7E"/>
              </a:solidFill>
              <a:latin typeface="Arial" panose="020B0604020202020204" pitchFamily="34" charset="0"/>
              <a:ea typeface="黑体" panose="0201060906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</a:rPr>
              <a:t>Future Research Directions</a:t>
            </a:r>
            <a:endParaRPr lang="en-US" sz="249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2116" y="1091558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" name="Shape 3"/>
          <p:cNvSpPr/>
          <p:nvPr/>
        </p:nvSpPr>
        <p:spPr>
          <a:xfrm>
            <a:off x="355600" y="1306195"/>
            <a:ext cx="3703955" cy="4841240"/>
          </a:xfrm>
          <a:custGeom>
            <a:avLst/>
            <a:gdLst/>
            <a:ahLst/>
            <a:cxnLst/>
            <a:rect l="l" t="t" r="r" b="b"/>
            <a:pathLst>
              <a:path w="3704255" h="5552862">
                <a:moveTo>
                  <a:pt x="105645" y="0"/>
                </a:moveTo>
                <a:lnTo>
                  <a:pt x="3598610" y="0"/>
                </a:lnTo>
                <a:cubicBezTo>
                  <a:pt x="3656956" y="0"/>
                  <a:pt x="3704255" y="47299"/>
                  <a:pt x="3704255" y="105645"/>
                </a:cubicBezTo>
                <a:lnTo>
                  <a:pt x="3704255" y="5447216"/>
                </a:lnTo>
                <a:cubicBezTo>
                  <a:pt x="3704255" y="5505563"/>
                  <a:pt x="3656956" y="5552862"/>
                  <a:pt x="3598610" y="5552862"/>
                </a:cubicBezTo>
                <a:lnTo>
                  <a:pt x="105645" y="5552862"/>
                </a:lnTo>
                <a:cubicBezTo>
                  <a:pt x="47299" y="5552862"/>
                  <a:pt x="0" y="5505563"/>
                  <a:pt x="0" y="5447216"/>
                </a:cubicBezTo>
                <a:lnTo>
                  <a:pt x="0" y="105645"/>
                </a:lnTo>
                <a:cubicBezTo>
                  <a:pt x="0" y="47338"/>
                  <a:pt x="47338" y="0"/>
                  <a:pt x="105645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016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6219" y="1521146"/>
            <a:ext cx="198065" cy="176058"/>
          </a:xfrm>
          <a:custGeom>
            <a:avLst/>
            <a:gdLst/>
            <a:ahLst/>
            <a:cxnLst/>
            <a:rect l="l" t="t" r="r" b="b"/>
            <a:pathLst>
              <a:path w="198065" h="176058">
                <a:moveTo>
                  <a:pt x="144250" y="33011"/>
                </a:moveTo>
                <a:cubicBezTo>
                  <a:pt x="138542" y="33011"/>
                  <a:pt x="133006" y="34558"/>
                  <a:pt x="128158" y="37378"/>
                </a:cubicBezTo>
                <a:cubicBezTo>
                  <a:pt x="122725" y="31876"/>
                  <a:pt x="116398" y="27268"/>
                  <a:pt x="109417" y="23795"/>
                </a:cubicBezTo>
                <a:cubicBezTo>
                  <a:pt x="119114" y="15543"/>
                  <a:pt x="131459" y="11004"/>
                  <a:pt x="144250" y="11004"/>
                </a:cubicBezTo>
                <a:cubicBezTo>
                  <a:pt x="173960" y="11004"/>
                  <a:pt x="198065" y="35074"/>
                  <a:pt x="198065" y="64818"/>
                </a:cubicBezTo>
                <a:cubicBezTo>
                  <a:pt x="198065" y="79088"/>
                  <a:pt x="192391" y="92774"/>
                  <a:pt x="182316" y="102849"/>
                </a:cubicBezTo>
                <a:lnTo>
                  <a:pt x="157867" y="127298"/>
                </a:lnTo>
                <a:cubicBezTo>
                  <a:pt x="147792" y="137373"/>
                  <a:pt x="134106" y="143047"/>
                  <a:pt x="119836" y="143047"/>
                </a:cubicBezTo>
                <a:cubicBezTo>
                  <a:pt x="90126" y="143047"/>
                  <a:pt x="66022" y="118977"/>
                  <a:pt x="66022" y="89232"/>
                </a:cubicBezTo>
                <a:cubicBezTo>
                  <a:pt x="66022" y="88717"/>
                  <a:pt x="66022" y="88201"/>
                  <a:pt x="66056" y="87685"/>
                </a:cubicBezTo>
                <a:cubicBezTo>
                  <a:pt x="66228" y="81599"/>
                  <a:pt x="71283" y="76819"/>
                  <a:pt x="77369" y="76991"/>
                </a:cubicBezTo>
                <a:cubicBezTo>
                  <a:pt x="83456" y="77163"/>
                  <a:pt x="88235" y="82218"/>
                  <a:pt x="88063" y="88304"/>
                </a:cubicBezTo>
                <a:cubicBezTo>
                  <a:pt x="88063" y="88613"/>
                  <a:pt x="88063" y="88923"/>
                  <a:pt x="88063" y="89198"/>
                </a:cubicBezTo>
                <a:cubicBezTo>
                  <a:pt x="88063" y="106769"/>
                  <a:pt x="102299" y="121005"/>
                  <a:pt x="119871" y="121005"/>
                </a:cubicBezTo>
                <a:cubicBezTo>
                  <a:pt x="128295" y="121005"/>
                  <a:pt x="136376" y="117670"/>
                  <a:pt x="142359" y="111687"/>
                </a:cubicBezTo>
                <a:lnTo>
                  <a:pt x="166808" y="87238"/>
                </a:lnTo>
                <a:cubicBezTo>
                  <a:pt x="172757" y="81289"/>
                  <a:pt x="176127" y="73174"/>
                  <a:pt x="176127" y="64749"/>
                </a:cubicBezTo>
                <a:cubicBezTo>
                  <a:pt x="176127" y="47178"/>
                  <a:pt x="161891" y="32942"/>
                  <a:pt x="144319" y="32942"/>
                </a:cubicBezTo>
                <a:close/>
                <a:moveTo>
                  <a:pt x="94631" y="59591"/>
                </a:moveTo>
                <a:cubicBezTo>
                  <a:pt x="93978" y="59316"/>
                  <a:pt x="93324" y="58938"/>
                  <a:pt x="92740" y="58525"/>
                </a:cubicBezTo>
                <a:cubicBezTo>
                  <a:pt x="88407" y="56290"/>
                  <a:pt x="83456" y="55018"/>
                  <a:pt x="78263" y="55018"/>
                </a:cubicBezTo>
                <a:cubicBezTo>
                  <a:pt x="69839" y="55018"/>
                  <a:pt x="61758" y="58354"/>
                  <a:pt x="55775" y="64337"/>
                </a:cubicBezTo>
                <a:lnTo>
                  <a:pt x="31326" y="88785"/>
                </a:lnTo>
                <a:cubicBezTo>
                  <a:pt x="25377" y="94734"/>
                  <a:pt x="22007" y="102849"/>
                  <a:pt x="22007" y="111274"/>
                </a:cubicBezTo>
                <a:cubicBezTo>
                  <a:pt x="22007" y="128845"/>
                  <a:pt x="36243" y="143081"/>
                  <a:pt x="53815" y="143081"/>
                </a:cubicBezTo>
                <a:cubicBezTo>
                  <a:pt x="59488" y="143081"/>
                  <a:pt x="65024" y="141568"/>
                  <a:pt x="69873" y="138749"/>
                </a:cubicBezTo>
                <a:cubicBezTo>
                  <a:pt x="75306" y="144250"/>
                  <a:pt x="81633" y="148858"/>
                  <a:pt x="88648" y="152331"/>
                </a:cubicBezTo>
                <a:cubicBezTo>
                  <a:pt x="78951" y="160550"/>
                  <a:pt x="66641" y="165123"/>
                  <a:pt x="53815" y="165123"/>
                </a:cubicBezTo>
                <a:cubicBezTo>
                  <a:pt x="24105" y="165123"/>
                  <a:pt x="0" y="141053"/>
                  <a:pt x="0" y="111308"/>
                </a:cubicBezTo>
                <a:cubicBezTo>
                  <a:pt x="0" y="97038"/>
                  <a:pt x="5674" y="83352"/>
                  <a:pt x="15749" y="73277"/>
                </a:cubicBezTo>
                <a:lnTo>
                  <a:pt x="40198" y="48829"/>
                </a:lnTo>
                <a:cubicBezTo>
                  <a:pt x="50273" y="38753"/>
                  <a:pt x="63958" y="33080"/>
                  <a:pt x="78229" y="33080"/>
                </a:cubicBezTo>
                <a:cubicBezTo>
                  <a:pt x="108007" y="33080"/>
                  <a:pt x="132043" y="57356"/>
                  <a:pt x="132043" y="87032"/>
                </a:cubicBezTo>
                <a:cubicBezTo>
                  <a:pt x="132043" y="87479"/>
                  <a:pt x="132043" y="87926"/>
                  <a:pt x="132043" y="88373"/>
                </a:cubicBezTo>
                <a:cubicBezTo>
                  <a:pt x="131906" y="94459"/>
                  <a:pt x="126851" y="99239"/>
                  <a:pt x="120765" y="99101"/>
                </a:cubicBezTo>
                <a:cubicBezTo>
                  <a:pt x="114678" y="98964"/>
                  <a:pt x="109899" y="93909"/>
                  <a:pt x="110036" y="87823"/>
                </a:cubicBezTo>
                <a:cubicBezTo>
                  <a:pt x="110036" y="87547"/>
                  <a:pt x="110036" y="87307"/>
                  <a:pt x="110036" y="87032"/>
                </a:cubicBezTo>
                <a:cubicBezTo>
                  <a:pt x="110036" y="75444"/>
                  <a:pt x="103847" y="65265"/>
                  <a:pt x="94631" y="5966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7" name="Text 5"/>
          <p:cNvSpPr/>
          <p:nvPr/>
        </p:nvSpPr>
        <p:spPr>
          <a:xfrm>
            <a:off x="755288" y="1485934"/>
            <a:ext cx="3213054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Data Integration</a:t>
            </a:r>
            <a:endParaRPr lang="en-US" sz="1385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5216" y="1873261"/>
            <a:ext cx="3345097" cy="1197193"/>
          </a:xfrm>
          <a:custGeom>
            <a:avLst/>
            <a:gdLst/>
            <a:ahLst/>
            <a:cxnLst/>
            <a:rect l="l" t="t" r="r" b="b"/>
            <a:pathLst>
              <a:path w="3345097" h="1197193">
                <a:moveTo>
                  <a:pt x="70419" y="0"/>
                </a:moveTo>
                <a:lnTo>
                  <a:pt x="3274679" y="0"/>
                </a:lnTo>
                <a:cubicBezTo>
                  <a:pt x="3313570" y="0"/>
                  <a:pt x="3345097" y="31528"/>
                  <a:pt x="3345097" y="70419"/>
                </a:cubicBezTo>
                <a:lnTo>
                  <a:pt x="3345097" y="1126774"/>
                </a:lnTo>
                <a:cubicBezTo>
                  <a:pt x="3345097" y="1165665"/>
                  <a:pt x="3313570" y="1197193"/>
                  <a:pt x="3274679" y="1197193"/>
                </a:cubicBezTo>
                <a:lnTo>
                  <a:pt x="70419" y="1197193"/>
                </a:lnTo>
                <a:cubicBezTo>
                  <a:pt x="31554" y="1197193"/>
                  <a:pt x="0" y="1165639"/>
                  <a:pt x="0" y="1126774"/>
                </a:cubicBezTo>
                <a:lnTo>
                  <a:pt x="0" y="70419"/>
                </a:lnTo>
                <a:cubicBezTo>
                  <a:pt x="0" y="31554"/>
                  <a:pt x="31554" y="0"/>
                  <a:pt x="7041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84865" y="2049319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0" y="92430"/>
                </a:moveTo>
                <a:cubicBezTo>
                  <a:pt x="0" y="114300"/>
                  <a:pt x="17743" y="132043"/>
                  <a:pt x="39613" y="132043"/>
                </a:cubicBezTo>
                <a:lnTo>
                  <a:pt x="123240" y="132043"/>
                </a:lnTo>
                <a:cubicBezTo>
                  <a:pt x="142689" y="132043"/>
                  <a:pt x="158452" y="116281"/>
                  <a:pt x="158452" y="96832"/>
                </a:cubicBezTo>
                <a:cubicBezTo>
                  <a:pt x="158452" y="82637"/>
                  <a:pt x="150062" y="70396"/>
                  <a:pt x="137958" y="64839"/>
                </a:cubicBezTo>
                <a:cubicBezTo>
                  <a:pt x="139801" y="61235"/>
                  <a:pt x="140846" y="57136"/>
                  <a:pt x="140846" y="52817"/>
                </a:cubicBezTo>
                <a:cubicBezTo>
                  <a:pt x="140846" y="38238"/>
                  <a:pt x="129017" y="26409"/>
                  <a:pt x="114438" y="26409"/>
                </a:cubicBezTo>
                <a:cubicBezTo>
                  <a:pt x="109568" y="26409"/>
                  <a:pt x="105029" y="27729"/>
                  <a:pt x="101123" y="30012"/>
                </a:cubicBezTo>
                <a:cubicBezTo>
                  <a:pt x="94494" y="17413"/>
                  <a:pt x="81262" y="8803"/>
                  <a:pt x="66022" y="8803"/>
                </a:cubicBezTo>
                <a:cubicBezTo>
                  <a:pt x="44152" y="8803"/>
                  <a:pt x="26409" y="26546"/>
                  <a:pt x="26409" y="48416"/>
                </a:cubicBezTo>
                <a:cubicBezTo>
                  <a:pt x="26409" y="50617"/>
                  <a:pt x="26601" y="52790"/>
                  <a:pt x="26931" y="54881"/>
                </a:cubicBezTo>
                <a:cubicBezTo>
                  <a:pt x="11279" y="60162"/>
                  <a:pt x="0" y="74990"/>
                  <a:pt x="0" y="9243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0" name="Text 8"/>
          <p:cNvSpPr/>
          <p:nvPr/>
        </p:nvSpPr>
        <p:spPr>
          <a:xfrm>
            <a:off x="957754" y="2014108"/>
            <a:ext cx="1091558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Off-Chain Data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062" y="2295800"/>
            <a:ext cx="3133828" cy="633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Integrate social media, transaction history, and alternative data sources for comprehensive user profiling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5216" y="3487525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84865" y="3663583"/>
            <a:ext cx="158452" cy="140846"/>
          </a:xfrm>
          <a:custGeom>
            <a:avLst/>
            <a:gdLst/>
            <a:ahLst/>
            <a:cxnLst/>
            <a:rect l="l" t="t" r="r" b="b"/>
            <a:pathLst>
              <a:path w="158452" h="140846">
                <a:moveTo>
                  <a:pt x="68222" y="24208"/>
                </a:moveTo>
                <a:lnTo>
                  <a:pt x="90230" y="24208"/>
                </a:lnTo>
                <a:lnTo>
                  <a:pt x="90230" y="37412"/>
                </a:lnTo>
                <a:lnTo>
                  <a:pt x="68222" y="37412"/>
                </a:lnTo>
                <a:lnTo>
                  <a:pt x="68222" y="24208"/>
                </a:lnTo>
                <a:close/>
                <a:moveTo>
                  <a:pt x="66022" y="8803"/>
                </a:moveTo>
                <a:cubicBezTo>
                  <a:pt x="58732" y="8803"/>
                  <a:pt x="52817" y="14717"/>
                  <a:pt x="52817" y="22007"/>
                </a:cubicBezTo>
                <a:lnTo>
                  <a:pt x="52817" y="39613"/>
                </a:lnTo>
                <a:cubicBezTo>
                  <a:pt x="52817" y="46903"/>
                  <a:pt x="58732" y="52817"/>
                  <a:pt x="66022" y="52817"/>
                </a:cubicBezTo>
                <a:lnTo>
                  <a:pt x="70423" y="52817"/>
                </a:lnTo>
                <a:lnTo>
                  <a:pt x="70423" y="61620"/>
                </a:lnTo>
                <a:lnTo>
                  <a:pt x="8803" y="61620"/>
                </a:lnTo>
                <a:cubicBezTo>
                  <a:pt x="3934" y="61620"/>
                  <a:pt x="0" y="65554"/>
                  <a:pt x="0" y="70423"/>
                </a:cubicBezTo>
                <a:cubicBezTo>
                  <a:pt x="0" y="75292"/>
                  <a:pt x="3934" y="79226"/>
                  <a:pt x="8803" y="79226"/>
                </a:cubicBezTo>
                <a:lnTo>
                  <a:pt x="35212" y="79226"/>
                </a:lnTo>
                <a:lnTo>
                  <a:pt x="35212" y="88029"/>
                </a:lnTo>
                <a:lnTo>
                  <a:pt x="30810" y="88029"/>
                </a:lnTo>
                <a:cubicBezTo>
                  <a:pt x="23520" y="88029"/>
                  <a:pt x="17606" y="93943"/>
                  <a:pt x="17606" y="101233"/>
                </a:cubicBezTo>
                <a:lnTo>
                  <a:pt x="17606" y="118839"/>
                </a:lnTo>
                <a:cubicBezTo>
                  <a:pt x="17606" y="126129"/>
                  <a:pt x="23520" y="132043"/>
                  <a:pt x="30810" y="132043"/>
                </a:cubicBezTo>
                <a:lnTo>
                  <a:pt x="57219" y="132043"/>
                </a:lnTo>
                <a:cubicBezTo>
                  <a:pt x="64509" y="132043"/>
                  <a:pt x="70423" y="126129"/>
                  <a:pt x="70423" y="118839"/>
                </a:cubicBezTo>
                <a:lnTo>
                  <a:pt x="70423" y="101233"/>
                </a:lnTo>
                <a:cubicBezTo>
                  <a:pt x="70423" y="93943"/>
                  <a:pt x="64509" y="88029"/>
                  <a:pt x="57219" y="88029"/>
                </a:cubicBezTo>
                <a:lnTo>
                  <a:pt x="52817" y="88029"/>
                </a:lnTo>
                <a:lnTo>
                  <a:pt x="52817" y="79226"/>
                </a:lnTo>
                <a:lnTo>
                  <a:pt x="105635" y="79226"/>
                </a:lnTo>
                <a:lnTo>
                  <a:pt x="105635" y="88029"/>
                </a:lnTo>
                <a:lnTo>
                  <a:pt x="101233" y="88029"/>
                </a:lnTo>
                <a:cubicBezTo>
                  <a:pt x="93943" y="88029"/>
                  <a:pt x="88029" y="93943"/>
                  <a:pt x="88029" y="101233"/>
                </a:cubicBezTo>
                <a:lnTo>
                  <a:pt x="88029" y="118839"/>
                </a:lnTo>
                <a:cubicBezTo>
                  <a:pt x="88029" y="126129"/>
                  <a:pt x="93943" y="132043"/>
                  <a:pt x="101233" y="132043"/>
                </a:cubicBezTo>
                <a:lnTo>
                  <a:pt x="127642" y="132043"/>
                </a:lnTo>
                <a:cubicBezTo>
                  <a:pt x="134932" y="132043"/>
                  <a:pt x="140846" y="126129"/>
                  <a:pt x="140846" y="118839"/>
                </a:cubicBezTo>
                <a:lnTo>
                  <a:pt x="140846" y="101233"/>
                </a:lnTo>
                <a:cubicBezTo>
                  <a:pt x="140846" y="93943"/>
                  <a:pt x="134932" y="88029"/>
                  <a:pt x="127642" y="88029"/>
                </a:cubicBezTo>
                <a:lnTo>
                  <a:pt x="123240" y="88029"/>
                </a:lnTo>
                <a:lnTo>
                  <a:pt x="123240" y="79226"/>
                </a:lnTo>
                <a:lnTo>
                  <a:pt x="149649" y="79226"/>
                </a:lnTo>
                <a:cubicBezTo>
                  <a:pt x="154518" y="79226"/>
                  <a:pt x="158452" y="75292"/>
                  <a:pt x="158452" y="70423"/>
                </a:cubicBezTo>
                <a:cubicBezTo>
                  <a:pt x="158452" y="65554"/>
                  <a:pt x="154518" y="61620"/>
                  <a:pt x="149649" y="61620"/>
                </a:cubicBezTo>
                <a:lnTo>
                  <a:pt x="88029" y="61620"/>
                </a:lnTo>
                <a:lnTo>
                  <a:pt x="88029" y="52817"/>
                </a:lnTo>
                <a:lnTo>
                  <a:pt x="92430" y="52817"/>
                </a:lnTo>
                <a:cubicBezTo>
                  <a:pt x="99720" y="52817"/>
                  <a:pt x="105635" y="46903"/>
                  <a:pt x="105635" y="39613"/>
                </a:cubicBezTo>
                <a:lnTo>
                  <a:pt x="105635" y="22007"/>
                </a:lnTo>
                <a:cubicBezTo>
                  <a:pt x="105635" y="14717"/>
                  <a:pt x="99720" y="8803"/>
                  <a:pt x="92430" y="8803"/>
                </a:cubicBezTo>
                <a:lnTo>
                  <a:pt x="66022" y="8803"/>
                </a:lnTo>
                <a:close/>
                <a:moveTo>
                  <a:pt x="123240" y="103434"/>
                </a:moveTo>
                <a:lnTo>
                  <a:pt x="125441" y="103434"/>
                </a:lnTo>
                <a:lnTo>
                  <a:pt x="125441" y="116638"/>
                </a:lnTo>
                <a:lnTo>
                  <a:pt x="103434" y="116638"/>
                </a:lnTo>
                <a:lnTo>
                  <a:pt x="103434" y="103434"/>
                </a:lnTo>
                <a:lnTo>
                  <a:pt x="123240" y="103434"/>
                </a:lnTo>
                <a:close/>
                <a:moveTo>
                  <a:pt x="52817" y="103434"/>
                </a:moveTo>
                <a:lnTo>
                  <a:pt x="55018" y="103434"/>
                </a:lnTo>
                <a:lnTo>
                  <a:pt x="55018" y="116638"/>
                </a:lnTo>
                <a:lnTo>
                  <a:pt x="33011" y="116638"/>
                </a:lnTo>
                <a:lnTo>
                  <a:pt x="33011" y="103434"/>
                </a:lnTo>
                <a:lnTo>
                  <a:pt x="52817" y="103434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2"/>
          <p:cNvSpPr/>
          <p:nvPr/>
        </p:nvSpPr>
        <p:spPr>
          <a:xfrm>
            <a:off x="957754" y="3628372"/>
            <a:ext cx="1707760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Cross-Protocol Analysis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062" y="3910064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Track user behavior across multiple DeFi protocols to build holistic credit profiles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5216" y="4852420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93668" y="5028478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63958" y="1430"/>
                </a:moveTo>
                <a:cubicBezTo>
                  <a:pt x="68057" y="-468"/>
                  <a:pt x="72789" y="-468"/>
                  <a:pt x="76888" y="1430"/>
                </a:cubicBezTo>
                <a:lnTo>
                  <a:pt x="137022" y="29215"/>
                </a:lnTo>
                <a:cubicBezTo>
                  <a:pt x="139361" y="30287"/>
                  <a:pt x="140846" y="32626"/>
                  <a:pt x="140846" y="35212"/>
                </a:cubicBezTo>
                <a:cubicBezTo>
                  <a:pt x="140846" y="37797"/>
                  <a:pt x="139361" y="40136"/>
                  <a:pt x="137022" y="41209"/>
                </a:cubicBezTo>
                <a:lnTo>
                  <a:pt x="76888" y="68993"/>
                </a:lnTo>
                <a:cubicBezTo>
                  <a:pt x="72789" y="70891"/>
                  <a:pt x="68057" y="70891"/>
                  <a:pt x="63958" y="68993"/>
                </a:cubicBezTo>
                <a:lnTo>
                  <a:pt x="3824" y="41209"/>
                </a:lnTo>
                <a:cubicBezTo>
                  <a:pt x="1485" y="40108"/>
                  <a:pt x="0" y="37770"/>
                  <a:pt x="0" y="35212"/>
                </a:cubicBezTo>
                <a:cubicBezTo>
                  <a:pt x="0" y="32653"/>
                  <a:pt x="1485" y="30287"/>
                  <a:pt x="3824" y="29215"/>
                </a:cubicBezTo>
                <a:lnTo>
                  <a:pt x="63958" y="1430"/>
                </a:lnTo>
                <a:close/>
                <a:moveTo>
                  <a:pt x="13232" y="60080"/>
                </a:moveTo>
                <a:lnTo>
                  <a:pt x="58429" y="80959"/>
                </a:lnTo>
                <a:cubicBezTo>
                  <a:pt x="66049" y="84480"/>
                  <a:pt x="74825" y="84480"/>
                  <a:pt x="82445" y="80959"/>
                </a:cubicBezTo>
                <a:lnTo>
                  <a:pt x="127642" y="60080"/>
                </a:lnTo>
                <a:lnTo>
                  <a:pt x="137022" y="64426"/>
                </a:lnTo>
                <a:cubicBezTo>
                  <a:pt x="139361" y="65499"/>
                  <a:pt x="140846" y="67837"/>
                  <a:pt x="140846" y="70423"/>
                </a:cubicBezTo>
                <a:cubicBezTo>
                  <a:pt x="140846" y="73009"/>
                  <a:pt x="139361" y="75347"/>
                  <a:pt x="137022" y="76420"/>
                </a:cubicBezTo>
                <a:lnTo>
                  <a:pt x="76888" y="104204"/>
                </a:lnTo>
                <a:cubicBezTo>
                  <a:pt x="72789" y="106102"/>
                  <a:pt x="68057" y="106102"/>
                  <a:pt x="63958" y="104204"/>
                </a:cubicBezTo>
                <a:lnTo>
                  <a:pt x="3824" y="76420"/>
                </a:lnTo>
                <a:cubicBezTo>
                  <a:pt x="1485" y="75320"/>
                  <a:pt x="0" y="72981"/>
                  <a:pt x="0" y="70423"/>
                </a:cubicBezTo>
                <a:cubicBezTo>
                  <a:pt x="0" y="67865"/>
                  <a:pt x="1485" y="65499"/>
                  <a:pt x="3824" y="64426"/>
                </a:cubicBezTo>
                <a:lnTo>
                  <a:pt x="13204" y="60080"/>
                </a:lnTo>
                <a:close/>
                <a:moveTo>
                  <a:pt x="3824" y="99638"/>
                </a:moveTo>
                <a:lnTo>
                  <a:pt x="13204" y="95291"/>
                </a:lnTo>
                <a:lnTo>
                  <a:pt x="58402" y="116171"/>
                </a:lnTo>
                <a:cubicBezTo>
                  <a:pt x="66022" y="119692"/>
                  <a:pt x="74797" y="119692"/>
                  <a:pt x="82417" y="116171"/>
                </a:cubicBezTo>
                <a:lnTo>
                  <a:pt x="127614" y="95291"/>
                </a:lnTo>
                <a:lnTo>
                  <a:pt x="136995" y="99638"/>
                </a:lnTo>
                <a:cubicBezTo>
                  <a:pt x="139333" y="100711"/>
                  <a:pt x="140819" y="103049"/>
                  <a:pt x="140819" y="105635"/>
                </a:cubicBezTo>
                <a:cubicBezTo>
                  <a:pt x="140819" y="108221"/>
                  <a:pt x="139333" y="110559"/>
                  <a:pt x="136995" y="111632"/>
                </a:cubicBezTo>
                <a:lnTo>
                  <a:pt x="76860" y="139416"/>
                </a:lnTo>
                <a:cubicBezTo>
                  <a:pt x="72761" y="141314"/>
                  <a:pt x="68030" y="141314"/>
                  <a:pt x="63931" y="139416"/>
                </a:cubicBezTo>
                <a:lnTo>
                  <a:pt x="3824" y="111632"/>
                </a:lnTo>
                <a:cubicBezTo>
                  <a:pt x="1485" y="110531"/>
                  <a:pt x="0" y="108193"/>
                  <a:pt x="0" y="105635"/>
                </a:cubicBezTo>
                <a:cubicBezTo>
                  <a:pt x="0" y="103076"/>
                  <a:pt x="1485" y="100711"/>
                  <a:pt x="3824" y="9963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8" name="Text 16"/>
          <p:cNvSpPr/>
          <p:nvPr/>
        </p:nvSpPr>
        <p:spPr>
          <a:xfrm>
            <a:off x="957754" y="4993266"/>
            <a:ext cx="1390856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Layer 2 Integration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6062" y="5274959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Extend from single-protocol to multi-protocol analysis</a:t>
            </a:r>
            <a:endParaRPr lang="en-US" altLang="zh-CN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43070" y="1306195"/>
            <a:ext cx="3703955" cy="4832985"/>
          </a:xfrm>
          <a:custGeom>
            <a:avLst/>
            <a:gdLst/>
            <a:ahLst/>
            <a:cxnLst/>
            <a:rect l="l" t="t" r="r" b="b"/>
            <a:pathLst>
              <a:path w="3704255" h="5552862">
                <a:moveTo>
                  <a:pt x="105645" y="0"/>
                </a:moveTo>
                <a:lnTo>
                  <a:pt x="3598610" y="0"/>
                </a:lnTo>
                <a:cubicBezTo>
                  <a:pt x="3656956" y="0"/>
                  <a:pt x="3704255" y="47299"/>
                  <a:pt x="3704255" y="105645"/>
                </a:cubicBezTo>
                <a:lnTo>
                  <a:pt x="3704255" y="5447216"/>
                </a:lnTo>
                <a:cubicBezTo>
                  <a:pt x="3704255" y="5505563"/>
                  <a:pt x="3656956" y="5552862"/>
                  <a:pt x="3598610" y="5552862"/>
                </a:cubicBezTo>
                <a:lnTo>
                  <a:pt x="105645" y="5552862"/>
                </a:lnTo>
                <a:cubicBezTo>
                  <a:pt x="47299" y="5552862"/>
                  <a:pt x="0" y="5505563"/>
                  <a:pt x="0" y="5447216"/>
                </a:cubicBezTo>
                <a:lnTo>
                  <a:pt x="0" y="105645"/>
                </a:lnTo>
                <a:cubicBezTo>
                  <a:pt x="0" y="47338"/>
                  <a:pt x="47338" y="0"/>
                  <a:pt x="10564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016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4798" y="1521146"/>
            <a:ext cx="176058" cy="176058"/>
          </a:xfrm>
          <a:custGeom>
            <a:avLst/>
            <a:gdLst/>
            <a:ahLst/>
            <a:cxnLst/>
            <a:rect l="l" t="t" r="r" b="b"/>
            <a:pathLst>
              <a:path w="176058" h="176058">
                <a:moveTo>
                  <a:pt x="41264" y="19256"/>
                </a:moveTo>
                <a:cubicBezTo>
                  <a:pt x="41264" y="8631"/>
                  <a:pt x="49894" y="0"/>
                  <a:pt x="60520" y="0"/>
                </a:cubicBezTo>
                <a:lnTo>
                  <a:pt x="68773" y="0"/>
                </a:lnTo>
                <a:cubicBezTo>
                  <a:pt x="74859" y="0"/>
                  <a:pt x="79776" y="4917"/>
                  <a:pt x="79776" y="11004"/>
                </a:cubicBezTo>
                <a:lnTo>
                  <a:pt x="79776" y="165054"/>
                </a:lnTo>
                <a:cubicBezTo>
                  <a:pt x="79776" y="171141"/>
                  <a:pt x="74859" y="176058"/>
                  <a:pt x="68773" y="176058"/>
                </a:cubicBezTo>
                <a:lnTo>
                  <a:pt x="57769" y="176058"/>
                </a:lnTo>
                <a:cubicBezTo>
                  <a:pt x="47522" y="176058"/>
                  <a:pt x="38891" y="169043"/>
                  <a:pt x="36449" y="159552"/>
                </a:cubicBezTo>
                <a:cubicBezTo>
                  <a:pt x="36209" y="159552"/>
                  <a:pt x="36002" y="159552"/>
                  <a:pt x="35762" y="159552"/>
                </a:cubicBezTo>
                <a:cubicBezTo>
                  <a:pt x="20563" y="159552"/>
                  <a:pt x="8253" y="147242"/>
                  <a:pt x="8253" y="132043"/>
                </a:cubicBezTo>
                <a:cubicBezTo>
                  <a:pt x="8253" y="125854"/>
                  <a:pt x="10316" y="120146"/>
                  <a:pt x="13755" y="115538"/>
                </a:cubicBezTo>
                <a:cubicBezTo>
                  <a:pt x="7084" y="110518"/>
                  <a:pt x="2751" y="102540"/>
                  <a:pt x="2751" y="93531"/>
                </a:cubicBezTo>
                <a:cubicBezTo>
                  <a:pt x="2751" y="82905"/>
                  <a:pt x="8803" y="73655"/>
                  <a:pt x="17606" y="69082"/>
                </a:cubicBezTo>
                <a:cubicBezTo>
                  <a:pt x="15164" y="64956"/>
                  <a:pt x="13755" y="60142"/>
                  <a:pt x="13755" y="55018"/>
                </a:cubicBezTo>
                <a:cubicBezTo>
                  <a:pt x="13755" y="39819"/>
                  <a:pt x="26065" y="27509"/>
                  <a:pt x="41264" y="27509"/>
                </a:cubicBezTo>
                <a:lnTo>
                  <a:pt x="41264" y="19256"/>
                </a:lnTo>
                <a:close/>
                <a:moveTo>
                  <a:pt x="134794" y="19256"/>
                </a:moveTo>
                <a:lnTo>
                  <a:pt x="134794" y="27509"/>
                </a:lnTo>
                <a:cubicBezTo>
                  <a:pt x="149993" y="27509"/>
                  <a:pt x="162303" y="39819"/>
                  <a:pt x="162303" y="55018"/>
                </a:cubicBezTo>
                <a:cubicBezTo>
                  <a:pt x="162303" y="60176"/>
                  <a:pt x="160893" y="64990"/>
                  <a:pt x="158452" y="69082"/>
                </a:cubicBezTo>
                <a:cubicBezTo>
                  <a:pt x="167289" y="73655"/>
                  <a:pt x="173307" y="82871"/>
                  <a:pt x="173307" y="93531"/>
                </a:cubicBezTo>
                <a:cubicBezTo>
                  <a:pt x="173307" y="102540"/>
                  <a:pt x="168974" y="110518"/>
                  <a:pt x="162303" y="115538"/>
                </a:cubicBezTo>
                <a:cubicBezTo>
                  <a:pt x="165742" y="120146"/>
                  <a:pt x="167805" y="125854"/>
                  <a:pt x="167805" y="132043"/>
                </a:cubicBezTo>
                <a:cubicBezTo>
                  <a:pt x="167805" y="147242"/>
                  <a:pt x="155495" y="159552"/>
                  <a:pt x="140296" y="159552"/>
                </a:cubicBezTo>
                <a:cubicBezTo>
                  <a:pt x="140055" y="159552"/>
                  <a:pt x="139849" y="159552"/>
                  <a:pt x="139608" y="159552"/>
                </a:cubicBezTo>
                <a:cubicBezTo>
                  <a:pt x="137167" y="169043"/>
                  <a:pt x="128536" y="176058"/>
                  <a:pt x="118289" y="176058"/>
                </a:cubicBezTo>
                <a:lnTo>
                  <a:pt x="107285" y="176058"/>
                </a:lnTo>
                <a:cubicBezTo>
                  <a:pt x="101199" y="176058"/>
                  <a:pt x="96282" y="171141"/>
                  <a:pt x="96282" y="165054"/>
                </a:cubicBezTo>
                <a:lnTo>
                  <a:pt x="96282" y="11004"/>
                </a:lnTo>
                <a:cubicBezTo>
                  <a:pt x="96282" y="4917"/>
                  <a:pt x="101199" y="0"/>
                  <a:pt x="107285" y="0"/>
                </a:cubicBezTo>
                <a:lnTo>
                  <a:pt x="115538" y="0"/>
                </a:lnTo>
                <a:cubicBezTo>
                  <a:pt x="126163" y="0"/>
                  <a:pt x="134794" y="8631"/>
                  <a:pt x="134794" y="19256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2" name="Text 20"/>
          <p:cNvSpPr/>
          <p:nvPr/>
        </p:nvSpPr>
        <p:spPr>
          <a:xfrm>
            <a:off x="4642863" y="1485934"/>
            <a:ext cx="3213054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Advanced Modeling</a:t>
            </a:r>
            <a:endParaRPr lang="en-US" sz="1385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422791" y="1873261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4563637" y="2049319"/>
            <a:ext cx="176058" cy="140846"/>
          </a:xfrm>
          <a:custGeom>
            <a:avLst/>
            <a:gdLst/>
            <a:ahLst/>
            <a:cxnLst/>
            <a:rect l="l" t="t" r="r" b="b"/>
            <a:pathLst>
              <a:path w="176058" h="140846">
                <a:moveTo>
                  <a:pt x="96832" y="0"/>
                </a:moveTo>
                <a:cubicBezTo>
                  <a:pt x="96832" y="-4869"/>
                  <a:pt x="92898" y="-8803"/>
                  <a:pt x="88029" y="-8803"/>
                </a:cubicBezTo>
                <a:cubicBezTo>
                  <a:pt x="83160" y="-8803"/>
                  <a:pt x="79226" y="-4869"/>
                  <a:pt x="79226" y="0"/>
                </a:cubicBezTo>
                <a:lnTo>
                  <a:pt x="79226" y="17606"/>
                </a:lnTo>
                <a:lnTo>
                  <a:pt x="52817" y="17606"/>
                </a:lnTo>
                <a:cubicBezTo>
                  <a:pt x="38238" y="17606"/>
                  <a:pt x="26409" y="29435"/>
                  <a:pt x="26409" y="44014"/>
                </a:cubicBezTo>
                <a:lnTo>
                  <a:pt x="26409" y="105635"/>
                </a:lnTo>
                <a:cubicBezTo>
                  <a:pt x="26409" y="120214"/>
                  <a:pt x="38238" y="132043"/>
                  <a:pt x="52817" y="132043"/>
                </a:cubicBezTo>
                <a:lnTo>
                  <a:pt x="123240" y="132043"/>
                </a:lnTo>
                <a:cubicBezTo>
                  <a:pt x="137820" y="132043"/>
                  <a:pt x="149649" y="120214"/>
                  <a:pt x="149649" y="105635"/>
                </a:cubicBezTo>
                <a:lnTo>
                  <a:pt x="149649" y="44014"/>
                </a:lnTo>
                <a:cubicBezTo>
                  <a:pt x="149649" y="29435"/>
                  <a:pt x="137820" y="17606"/>
                  <a:pt x="123240" y="17606"/>
                </a:cubicBezTo>
                <a:lnTo>
                  <a:pt x="96832" y="17606"/>
                </a:lnTo>
                <a:lnTo>
                  <a:pt x="96832" y="0"/>
                </a:lnTo>
                <a:close/>
                <a:moveTo>
                  <a:pt x="44014" y="101233"/>
                </a:moveTo>
                <a:cubicBezTo>
                  <a:pt x="44014" y="97575"/>
                  <a:pt x="46958" y="94631"/>
                  <a:pt x="50617" y="94631"/>
                </a:cubicBezTo>
                <a:lnTo>
                  <a:pt x="59419" y="94631"/>
                </a:lnTo>
                <a:cubicBezTo>
                  <a:pt x="63078" y="94631"/>
                  <a:pt x="66022" y="97575"/>
                  <a:pt x="66022" y="101233"/>
                </a:cubicBezTo>
                <a:cubicBezTo>
                  <a:pt x="66022" y="104892"/>
                  <a:pt x="63078" y="107835"/>
                  <a:pt x="59419" y="107835"/>
                </a:cubicBezTo>
                <a:lnTo>
                  <a:pt x="50617" y="107835"/>
                </a:lnTo>
                <a:cubicBezTo>
                  <a:pt x="46958" y="107835"/>
                  <a:pt x="44014" y="104892"/>
                  <a:pt x="44014" y="101233"/>
                </a:cubicBezTo>
                <a:close/>
                <a:moveTo>
                  <a:pt x="77025" y="101233"/>
                </a:moveTo>
                <a:cubicBezTo>
                  <a:pt x="77025" y="97575"/>
                  <a:pt x="79969" y="94631"/>
                  <a:pt x="83627" y="94631"/>
                </a:cubicBezTo>
                <a:lnTo>
                  <a:pt x="92430" y="94631"/>
                </a:lnTo>
                <a:cubicBezTo>
                  <a:pt x="96089" y="94631"/>
                  <a:pt x="99032" y="97575"/>
                  <a:pt x="99032" y="101233"/>
                </a:cubicBezTo>
                <a:cubicBezTo>
                  <a:pt x="99032" y="104892"/>
                  <a:pt x="96089" y="107835"/>
                  <a:pt x="92430" y="107835"/>
                </a:cubicBezTo>
                <a:lnTo>
                  <a:pt x="83627" y="107835"/>
                </a:lnTo>
                <a:cubicBezTo>
                  <a:pt x="79969" y="107835"/>
                  <a:pt x="77025" y="104892"/>
                  <a:pt x="77025" y="101233"/>
                </a:cubicBezTo>
                <a:close/>
                <a:moveTo>
                  <a:pt x="110036" y="101233"/>
                </a:moveTo>
                <a:cubicBezTo>
                  <a:pt x="110036" y="97575"/>
                  <a:pt x="112980" y="94631"/>
                  <a:pt x="116638" y="94631"/>
                </a:cubicBezTo>
                <a:lnTo>
                  <a:pt x="125441" y="94631"/>
                </a:lnTo>
                <a:cubicBezTo>
                  <a:pt x="129100" y="94631"/>
                  <a:pt x="132043" y="97575"/>
                  <a:pt x="132043" y="101233"/>
                </a:cubicBezTo>
                <a:cubicBezTo>
                  <a:pt x="132043" y="104892"/>
                  <a:pt x="129100" y="107835"/>
                  <a:pt x="125441" y="107835"/>
                </a:cubicBezTo>
                <a:lnTo>
                  <a:pt x="116638" y="107835"/>
                </a:lnTo>
                <a:cubicBezTo>
                  <a:pt x="112980" y="107835"/>
                  <a:pt x="110036" y="104892"/>
                  <a:pt x="110036" y="101233"/>
                </a:cubicBezTo>
                <a:close/>
                <a:moveTo>
                  <a:pt x="61620" y="48416"/>
                </a:moveTo>
                <a:cubicBezTo>
                  <a:pt x="68908" y="48416"/>
                  <a:pt x="74825" y="54333"/>
                  <a:pt x="74825" y="61620"/>
                </a:cubicBezTo>
                <a:cubicBezTo>
                  <a:pt x="74825" y="68908"/>
                  <a:pt x="68908" y="74825"/>
                  <a:pt x="61620" y="74825"/>
                </a:cubicBezTo>
                <a:cubicBezTo>
                  <a:pt x="54333" y="74825"/>
                  <a:pt x="48416" y="68908"/>
                  <a:pt x="48416" y="61620"/>
                </a:cubicBezTo>
                <a:cubicBezTo>
                  <a:pt x="48416" y="54333"/>
                  <a:pt x="54333" y="48416"/>
                  <a:pt x="61620" y="48416"/>
                </a:cubicBezTo>
                <a:close/>
                <a:moveTo>
                  <a:pt x="101233" y="61620"/>
                </a:moveTo>
                <a:cubicBezTo>
                  <a:pt x="101233" y="54333"/>
                  <a:pt x="107150" y="48416"/>
                  <a:pt x="114438" y="48416"/>
                </a:cubicBezTo>
                <a:cubicBezTo>
                  <a:pt x="121725" y="48416"/>
                  <a:pt x="127642" y="54333"/>
                  <a:pt x="127642" y="61620"/>
                </a:cubicBezTo>
                <a:cubicBezTo>
                  <a:pt x="127642" y="68908"/>
                  <a:pt x="121725" y="74825"/>
                  <a:pt x="114438" y="74825"/>
                </a:cubicBezTo>
                <a:cubicBezTo>
                  <a:pt x="107150" y="74825"/>
                  <a:pt x="101233" y="68908"/>
                  <a:pt x="101233" y="61620"/>
                </a:cubicBezTo>
                <a:close/>
                <a:moveTo>
                  <a:pt x="17606" y="61620"/>
                </a:moveTo>
                <a:cubicBezTo>
                  <a:pt x="17606" y="56751"/>
                  <a:pt x="13672" y="52817"/>
                  <a:pt x="8803" y="52817"/>
                </a:cubicBezTo>
                <a:cubicBezTo>
                  <a:pt x="3934" y="52817"/>
                  <a:pt x="0" y="56751"/>
                  <a:pt x="0" y="61620"/>
                </a:cubicBezTo>
                <a:lnTo>
                  <a:pt x="0" y="88029"/>
                </a:lnTo>
                <a:cubicBezTo>
                  <a:pt x="0" y="92898"/>
                  <a:pt x="3934" y="96832"/>
                  <a:pt x="8803" y="96832"/>
                </a:cubicBezTo>
                <a:cubicBezTo>
                  <a:pt x="13672" y="96832"/>
                  <a:pt x="17606" y="92898"/>
                  <a:pt x="17606" y="88029"/>
                </a:cubicBezTo>
                <a:lnTo>
                  <a:pt x="17606" y="61620"/>
                </a:lnTo>
                <a:close/>
                <a:moveTo>
                  <a:pt x="167255" y="52817"/>
                </a:moveTo>
                <a:cubicBezTo>
                  <a:pt x="162386" y="52817"/>
                  <a:pt x="158452" y="56751"/>
                  <a:pt x="158452" y="61620"/>
                </a:cubicBezTo>
                <a:lnTo>
                  <a:pt x="158452" y="88029"/>
                </a:lnTo>
                <a:cubicBezTo>
                  <a:pt x="158452" y="92898"/>
                  <a:pt x="162386" y="96832"/>
                  <a:pt x="167255" y="96832"/>
                </a:cubicBezTo>
                <a:cubicBezTo>
                  <a:pt x="172124" y="96832"/>
                  <a:pt x="176058" y="92898"/>
                  <a:pt x="176058" y="88029"/>
                </a:cubicBezTo>
                <a:lnTo>
                  <a:pt x="176058" y="61620"/>
                </a:lnTo>
                <a:cubicBezTo>
                  <a:pt x="176058" y="56751"/>
                  <a:pt x="172124" y="52817"/>
                  <a:pt x="167255" y="52817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5" name="Text 23"/>
          <p:cNvSpPr/>
          <p:nvPr/>
        </p:nvSpPr>
        <p:spPr>
          <a:xfrm>
            <a:off x="4845330" y="2014108"/>
            <a:ext cx="1073952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Deep Learning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63637" y="2295800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Explore neural networks and LSTM models for temporal pattern recognition in user behavior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422791" y="3457231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4581243" y="3633289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8128" y="62858"/>
                </a:moveTo>
                <a:cubicBezTo>
                  <a:pt x="21787" y="37275"/>
                  <a:pt x="43822" y="17606"/>
                  <a:pt x="70423" y="17606"/>
                </a:cubicBezTo>
                <a:cubicBezTo>
                  <a:pt x="85003" y="17606"/>
                  <a:pt x="98207" y="23520"/>
                  <a:pt x="107780" y="33066"/>
                </a:cubicBezTo>
                <a:cubicBezTo>
                  <a:pt x="107835" y="33121"/>
                  <a:pt x="107890" y="33176"/>
                  <a:pt x="107945" y="33231"/>
                </a:cubicBezTo>
                <a:lnTo>
                  <a:pt x="110036" y="35212"/>
                </a:lnTo>
                <a:lnTo>
                  <a:pt x="96859" y="35212"/>
                </a:lnTo>
                <a:cubicBezTo>
                  <a:pt x="91990" y="35212"/>
                  <a:pt x="88056" y="39145"/>
                  <a:pt x="88056" y="44014"/>
                </a:cubicBezTo>
                <a:cubicBezTo>
                  <a:pt x="88056" y="48884"/>
                  <a:pt x="91990" y="52817"/>
                  <a:pt x="96859" y="52817"/>
                </a:cubicBezTo>
                <a:lnTo>
                  <a:pt x="132071" y="52817"/>
                </a:lnTo>
                <a:cubicBezTo>
                  <a:pt x="136940" y="52817"/>
                  <a:pt x="140874" y="48884"/>
                  <a:pt x="140874" y="44014"/>
                </a:cubicBezTo>
                <a:lnTo>
                  <a:pt x="140874" y="8803"/>
                </a:lnTo>
                <a:cubicBezTo>
                  <a:pt x="140874" y="3934"/>
                  <a:pt x="136940" y="0"/>
                  <a:pt x="132071" y="0"/>
                </a:cubicBezTo>
                <a:cubicBezTo>
                  <a:pt x="127202" y="0"/>
                  <a:pt x="123268" y="3934"/>
                  <a:pt x="123268" y="8803"/>
                </a:cubicBezTo>
                <a:lnTo>
                  <a:pt x="123268" y="23493"/>
                </a:lnTo>
                <a:lnTo>
                  <a:pt x="120159" y="20549"/>
                </a:lnTo>
                <a:cubicBezTo>
                  <a:pt x="107423" y="7868"/>
                  <a:pt x="89817" y="0"/>
                  <a:pt x="70423" y="0"/>
                </a:cubicBezTo>
                <a:cubicBezTo>
                  <a:pt x="34936" y="0"/>
                  <a:pt x="5584" y="26244"/>
                  <a:pt x="715" y="60382"/>
                </a:cubicBezTo>
                <a:cubicBezTo>
                  <a:pt x="28" y="65196"/>
                  <a:pt x="3356" y="69653"/>
                  <a:pt x="8170" y="70341"/>
                </a:cubicBezTo>
                <a:cubicBezTo>
                  <a:pt x="12984" y="71028"/>
                  <a:pt x="17441" y="67672"/>
                  <a:pt x="18128" y="62886"/>
                </a:cubicBezTo>
                <a:close/>
                <a:moveTo>
                  <a:pt x="140131" y="80464"/>
                </a:moveTo>
                <a:cubicBezTo>
                  <a:pt x="140819" y="75650"/>
                  <a:pt x="137463" y="71193"/>
                  <a:pt x="132676" y="70506"/>
                </a:cubicBezTo>
                <a:cubicBezTo>
                  <a:pt x="127889" y="69818"/>
                  <a:pt x="123405" y="73174"/>
                  <a:pt x="122718" y="77961"/>
                </a:cubicBezTo>
                <a:cubicBezTo>
                  <a:pt x="119059" y="103544"/>
                  <a:pt x="97024" y="123213"/>
                  <a:pt x="70423" y="123213"/>
                </a:cubicBezTo>
                <a:cubicBezTo>
                  <a:pt x="55843" y="123213"/>
                  <a:pt x="42639" y="117298"/>
                  <a:pt x="33066" y="107753"/>
                </a:cubicBezTo>
                <a:cubicBezTo>
                  <a:pt x="33011" y="107698"/>
                  <a:pt x="32956" y="107643"/>
                  <a:pt x="32901" y="107588"/>
                </a:cubicBezTo>
                <a:lnTo>
                  <a:pt x="30810" y="105607"/>
                </a:lnTo>
                <a:lnTo>
                  <a:pt x="43987" y="105607"/>
                </a:lnTo>
                <a:cubicBezTo>
                  <a:pt x="48856" y="105607"/>
                  <a:pt x="52790" y="101673"/>
                  <a:pt x="52790" y="96804"/>
                </a:cubicBezTo>
                <a:cubicBezTo>
                  <a:pt x="52790" y="91935"/>
                  <a:pt x="48856" y="88001"/>
                  <a:pt x="43987" y="88001"/>
                </a:cubicBezTo>
                <a:lnTo>
                  <a:pt x="8803" y="88029"/>
                </a:lnTo>
                <a:cubicBezTo>
                  <a:pt x="6465" y="88029"/>
                  <a:pt x="4209" y="88964"/>
                  <a:pt x="2558" y="90642"/>
                </a:cubicBezTo>
                <a:cubicBezTo>
                  <a:pt x="908" y="92320"/>
                  <a:pt x="-28" y="94549"/>
                  <a:pt x="0" y="96914"/>
                </a:cubicBezTo>
                <a:lnTo>
                  <a:pt x="275" y="131851"/>
                </a:lnTo>
                <a:cubicBezTo>
                  <a:pt x="303" y="136720"/>
                  <a:pt x="4291" y="140626"/>
                  <a:pt x="9161" y="140571"/>
                </a:cubicBezTo>
                <a:cubicBezTo>
                  <a:pt x="14030" y="140516"/>
                  <a:pt x="17936" y="136555"/>
                  <a:pt x="17881" y="131686"/>
                </a:cubicBezTo>
                <a:lnTo>
                  <a:pt x="17771" y="117519"/>
                </a:lnTo>
                <a:lnTo>
                  <a:pt x="20714" y="120297"/>
                </a:lnTo>
                <a:cubicBezTo>
                  <a:pt x="33451" y="132979"/>
                  <a:pt x="51029" y="140846"/>
                  <a:pt x="70423" y="140846"/>
                </a:cubicBezTo>
                <a:cubicBezTo>
                  <a:pt x="105910" y="140846"/>
                  <a:pt x="135262" y="114603"/>
                  <a:pt x="140131" y="80464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29" name="Text 27"/>
          <p:cNvSpPr/>
          <p:nvPr/>
        </p:nvSpPr>
        <p:spPr>
          <a:xfrm>
            <a:off x="4845330" y="3598077"/>
            <a:ext cx="1205996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Dynamic Models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63637" y="3879770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Develop adaptive models that update in real-time based on new transaction data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22791" y="4860226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4581243" y="5036284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0" y="22007"/>
                </a:moveTo>
                <a:cubicBezTo>
                  <a:pt x="0" y="14717"/>
                  <a:pt x="5914" y="8803"/>
                  <a:pt x="13204" y="8803"/>
                </a:cubicBezTo>
                <a:lnTo>
                  <a:pt x="39613" y="8803"/>
                </a:lnTo>
                <a:cubicBezTo>
                  <a:pt x="46903" y="8803"/>
                  <a:pt x="52817" y="14717"/>
                  <a:pt x="52817" y="22007"/>
                </a:cubicBezTo>
                <a:lnTo>
                  <a:pt x="52817" y="26409"/>
                </a:lnTo>
                <a:lnTo>
                  <a:pt x="88029" y="26409"/>
                </a:lnTo>
                <a:lnTo>
                  <a:pt x="88029" y="22007"/>
                </a:lnTo>
                <a:cubicBezTo>
                  <a:pt x="88029" y="14717"/>
                  <a:pt x="93943" y="8803"/>
                  <a:pt x="101233" y="8803"/>
                </a:cubicBezTo>
                <a:lnTo>
                  <a:pt x="127642" y="8803"/>
                </a:lnTo>
                <a:cubicBezTo>
                  <a:pt x="134932" y="8803"/>
                  <a:pt x="140846" y="14717"/>
                  <a:pt x="140846" y="22007"/>
                </a:cubicBezTo>
                <a:lnTo>
                  <a:pt x="140846" y="48416"/>
                </a:lnTo>
                <a:cubicBezTo>
                  <a:pt x="140846" y="55706"/>
                  <a:pt x="134932" y="61620"/>
                  <a:pt x="127642" y="61620"/>
                </a:cubicBezTo>
                <a:lnTo>
                  <a:pt x="101233" y="61620"/>
                </a:lnTo>
                <a:cubicBezTo>
                  <a:pt x="93943" y="61620"/>
                  <a:pt x="88029" y="55706"/>
                  <a:pt x="88029" y="48416"/>
                </a:cubicBezTo>
                <a:lnTo>
                  <a:pt x="88029" y="44014"/>
                </a:lnTo>
                <a:lnTo>
                  <a:pt x="52817" y="44014"/>
                </a:lnTo>
                <a:lnTo>
                  <a:pt x="52817" y="48416"/>
                </a:lnTo>
                <a:cubicBezTo>
                  <a:pt x="52817" y="50424"/>
                  <a:pt x="52350" y="52350"/>
                  <a:pt x="51552" y="54055"/>
                </a:cubicBezTo>
                <a:lnTo>
                  <a:pt x="70423" y="79226"/>
                </a:lnTo>
                <a:lnTo>
                  <a:pt x="92430" y="79226"/>
                </a:lnTo>
                <a:cubicBezTo>
                  <a:pt x="99720" y="79226"/>
                  <a:pt x="105635" y="85140"/>
                  <a:pt x="105635" y="92430"/>
                </a:cubicBezTo>
                <a:lnTo>
                  <a:pt x="105635" y="118839"/>
                </a:lnTo>
                <a:cubicBezTo>
                  <a:pt x="105635" y="126129"/>
                  <a:pt x="99720" y="132043"/>
                  <a:pt x="92430" y="132043"/>
                </a:cubicBezTo>
                <a:lnTo>
                  <a:pt x="66022" y="132043"/>
                </a:lnTo>
                <a:cubicBezTo>
                  <a:pt x="58732" y="132043"/>
                  <a:pt x="52817" y="126129"/>
                  <a:pt x="52817" y="118839"/>
                </a:cubicBezTo>
                <a:lnTo>
                  <a:pt x="52817" y="92430"/>
                </a:lnTo>
                <a:cubicBezTo>
                  <a:pt x="52817" y="90422"/>
                  <a:pt x="53285" y="88497"/>
                  <a:pt x="54083" y="86791"/>
                </a:cubicBezTo>
                <a:lnTo>
                  <a:pt x="35212" y="61620"/>
                </a:lnTo>
                <a:lnTo>
                  <a:pt x="13204" y="61620"/>
                </a:lnTo>
                <a:cubicBezTo>
                  <a:pt x="5914" y="61620"/>
                  <a:pt x="0" y="55706"/>
                  <a:pt x="0" y="48416"/>
                </a:cubicBezTo>
                <a:lnTo>
                  <a:pt x="0" y="22007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33" name="Text 31"/>
          <p:cNvSpPr/>
          <p:nvPr/>
        </p:nvSpPr>
        <p:spPr>
          <a:xfrm>
            <a:off x="4845330" y="5001072"/>
            <a:ext cx="1698957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Graph Neural Networks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63637" y="5282764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Model user relationships and transaction networks to detect coordinated attacks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30540" y="1306195"/>
            <a:ext cx="3703955" cy="4841240"/>
          </a:xfrm>
          <a:custGeom>
            <a:avLst/>
            <a:gdLst/>
            <a:ahLst/>
            <a:cxnLst/>
            <a:rect l="l" t="t" r="r" b="b"/>
            <a:pathLst>
              <a:path w="3704255" h="3985948">
                <a:moveTo>
                  <a:pt x="105645" y="0"/>
                </a:moveTo>
                <a:lnTo>
                  <a:pt x="3598610" y="0"/>
                </a:lnTo>
                <a:cubicBezTo>
                  <a:pt x="3656956" y="0"/>
                  <a:pt x="3704255" y="47299"/>
                  <a:pt x="3704255" y="105645"/>
                </a:cubicBezTo>
                <a:lnTo>
                  <a:pt x="3704255" y="3880302"/>
                </a:lnTo>
                <a:cubicBezTo>
                  <a:pt x="3704255" y="3938649"/>
                  <a:pt x="3656956" y="3985948"/>
                  <a:pt x="3598610" y="3985948"/>
                </a:cubicBezTo>
                <a:lnTo>
                  <a:pt x="105645" y="3985948"/>
                </a:lnTo>
                <a:cubicBezTo>
                  <a:pt x="47299" y="3985948"/>
                  <a:pt x="0" y="3938649"/>
                  <a:pt x="0" y="3880302"/>
                </a:cubicBezTo>
                <a:lnTo>
                  <a:pt x="0" y="105645"/>
                </a:lnTo>
                <a:cubicBezTo>
                  <a:pt x="0" y="47338"/>
                  <a:pt x="47338" y="0"/>
                  <a:pt x="105645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0160">
            <a:solidFill>
              <a:srgbClr val="8D99AE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370" y="1521146"/>
            <a:ext cx="198065" cy="176058"/>
          </a:xfrm>
          <a:custGeom>
            <a:avLst/>
            <a:gdLst/>
            <a:ahLst/>
            <a:cxnLst/>
            <a:rect l="l" t="t" r="r" b="b"/>
            <a:pathLst>
              <a:path w="198065" h="176058">
                <a:moveTo>
                  <a:pt x="0" y="33011"/>
                </a:moveTo>
                <a:cubicBezTo>
                  <a:pt x="0" y="20872"/>
                  <a:pt x="9869" y="11004"/>
                  <a:pt x="22007" y="11004"/>
                </a:cubicBezTo>
                <a:lnTo>
                  <a:pt x="176058" y="11004"/>
                </a:lnTo>
                <a:cubicBezTo>
                  <a:pt x="188196" y="11004"/>
                  <a:pt x="198065" y="20872"/>
                  <a:pt x="198065" y="33011"/>
                </a:cubicBezTo>
                <a:lnTo>
                  <a:pt x="0" y="33011"/>
                </a:lnTo>
                <a:close/>
                <a:moveTo>
                  <a:pt x="0" y="49516"/>
                </a:moveTo>
                <a:lnTo>
                  <a:pt x="198065" y="49516"/>
                </a:lnTo>
                <a:lnTo>
                  <a:pt x="198065" y="143047"/>
                </a:lnTo>
                <a:cubicBezTo>
                  <a:pt x="198065" y="155185"/>
                  <a:pt x="188196" y="165054"/>
                  <a:pt x="176058" y="165054"/>
                </a:cubicBezTo>
                <a:lnTo>
                  <a:pt x="22007" y="165054"/>
                </a:lnTo>
                <a:cubicBezTo>
                  <a:pt x="9869" y="165054"/>
                  <a:pt x="0" y="155185"/>
                  <a:pt x="0" y="143047"/>
                </a:cubicBezTo>
                <a:lnTo>
                  <a:pt x="0" y="49516"/>
                </a:lnTo>
                <a:close/>
                <a:moveTo>
                  <a:pt x="85037" y="143047"/>
                </a:moveTo>
                <a:cubicBezTo>
                  <a:pt x="91983" y="143047"/>
                  <a:pt x="97176" y="136376"/>
                  <a:pt x="92740" y="131012"/>
                </a:cubicBezTo>
                <a:cubicBezTo>
                  <a:pt x="87685" y="124925"/>
                  <a:pt x="80051" y="121040"/>
                  <a:pt x="71523" y="121040"/>
                </a:cubicBezTo>
                <a:lnTo>
                  <a:pt x="49516" y="121040"/>
                </a:lnTo>
                <a:cubicBezTo>
                  <a:pt x="40988" y="121040"/>
                  <a:pt x="33355" y="124925"/>
                  <a:pt x="28300" y="131012"/>
                </a:cubicBezTo>
                <a:cubicBezTo>
                  <a:pt x="23864" y="136376"/>
                  <a:pt x="29056" y="143047"/>
                  <a:pt x="36002" y="143047"/>
                </a:cubicBezTo>
                <a:lnTo>
                  <a:pt x="85003" y="143047"/>
                </a:lnTo>
                <a:close/>
                <a:moveTo>
                  <a:pt x="60520" y="107285"/>
                </a:moveTo>
                <a:cubicBezTo>
                  <a:pt x="71148" y="107285"/>
                  <a:pt x="79776" y="98657"/>
                  <a:pt x="79776" y="88029"/>
                </a:cubicBezTo>
                <a:cubicBezTo>
                  <a:pt x="79776" y="77401"/>
                  <a:pt x="71148" y="68773"/>
                  <a:pt x="60520" y="68773"/>
                </a:cubicBezTo>
                <a:cubicBezTo>
                  <a:pt x="49892" y="68773"/>
                  <a:pt x="41264" y="77401"/>
                  <a:pt x="41264" y="88029"/>
                </a:cubicBezTo>
                <a:cubicBezTo>
                  <a:pt x="41264" y="98657"/>
                  <a:pt x="49892" y="107285"/>
                  <a:pt x="60520" y="107285"/>
                </a:cubicBezTo>
                <a:close/>
                <a:moveTo>
                  <a:pt x="123791" y="71523"/>
                </a:moveTo>
                <a:cubicBezTo>
                  <a:pt x="119217" y="71523"/>
                  <a:pt x="115538" y="75203"/>
                  <a:pt x="115538" y="79776"/>
                </a:cubicBezTo>
                <a:cubicBezTo>
                  <a:pt x="115538" y="84350"/>
                  <a:pt x="119217" y="88029"/>
                  <a:pt x="123791" y="88029"/>
                </a:cubicBezTo>
                <a:lnTo>
                  <a:pt x="162303" y="88029"/>
                </a:lnTo>
                <a:cubicBezTo>
                  <a:pt x="166877" y="88029"/>
                  <a:pt x="170556" y="84350"/>
                  <a:pt x="170556" y="79776"/>
                </a:cubicBezTo>
                <a:cubicBezTo>
                  <a:pt x="170556" y="75203"/>
                  <a:pt x="166877" y="71523"/>
                  <a:pt x="162303" y="71523"/>
                </a:cubicBezTo>
                <a:lnTo>
                  <a:pt x="123791" y="71523"/>
                </a:lnTo>
                <a:close/>
                <a:moveTo>
                  <a:pt x="123791" y="104534"/>
                </a:moveTo>
                <a:cubicBezTo>
                  <a:pt x="119217" y="104534"/>
                  <a:pt x="115538" y="108214"/>
                  <a:pt x="115538" y="112787"/>
                </a:cubicBezTo>
                <a:cubicBezTo>
                  <a:pt x="115538" y="117360"/>
                  <a:pt x="119217" y="121040"/>
                  <a:pt x="123791" y="121040"/>
                </a:cubicBezTo>
                <a:lnTo>
                  <a:pt x="162303" y="121040"/>
                </a:lnTo>
                <a:cubicBezTo>
                  <a:pt x="166877" y="121040"/>
                  <a:pt x="170556" y="117360"/>
                  <a:pt x="170556" y="112787"/>
                </a:cubicBezTo>
                <a:cubicBezTo>
                  <a:pt x="170556" y="108214"/>
                  <a:pt x="166877" y="104534"/>
                  <a:pt x="162303" y="104534"/>
                </a:cubicBezTo>
                <a:lnTo>
                  <a:pt x="123791" y="10453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Text 35"/>
          <p:cNvSpPr/>
          <p:nvPr/>
        </p:nvSpPr>
        <p:spPr>
          <a:xfrm>
            <a:off x="8530439" y="1485934"/>
            <a:ext cx="3213054" cy="2464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Identity Solutions</a:t>
            </a:r>
            <a:endParaRPr lang="en-US" sz="1385" b="1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10366" y="1873261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468818" y="2049319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13204" y="70423"/>
                </a:moveTo>
                <a:cubicBezTo>
                  <a:pt x="13204" y="38815"/>
                  <a:pt x="38815" y="13204"/>
                  <a:pt x="70423" y="13204"/>
                </a:cubicBezTo>
                <a:cubicBezTo>
                  <a:pt x="87781" y="13204"/>
                  <a:pt x="103324" y="20934"/>
                  <a:pt x="113832" y="33148"/>
                </a:cubicBezTo>
                <a:cubicBezTo>
                  <a:pt x="116198" y="35927"/>
                  <a:pt x="120379" y="36229"/>
                  <a:pt x="123130" y="33864"/>
                </a:cubicBezTo>
                <a:cubicBezTo>
                  <a:pt x="125881" y="31498"/>
                  <a:pt x="126211" y="27316"/>
                  <a:pt x="123846" y="24566"/>
                </a:cubicBezTo>
                <a:cubicBezTo>
                  <a:pt x="110944" y="9518"/>
                  <a:pt x="91798" y="0"/>
                  <a:pt x="70423" y="0"/>
                </a:cubicBezTo>
                <a:cubicBezTo>
                  <a:pt x="31525" y="0"/>
                  <a:pt x="0" y="31525"/>
                  <a:pt x="0" y="70423"/>
                </a:cubicBezTo>
                <a:lnTo>
                  <a:pt x="0" y="81427"/>
                </a:lnTo>
                <a:cubicBezTo>
                  <a:pt x="0" y="85085"/>
                  <a:pt x="2943" y="88029"/>
                  <a:pt x="6602" y="88029"/>
                </a:cubicBezTo>
                <a:cubicBezTo>
                  <a:pt x="10261" y="88029"/>
                  <a:pt x="13204" y="85085"/>
                  <a:pt x="13204" y="81427"/>
                </a:cubicBezTo>
                <a:lnTo>
                  <a:pt x="13204" y="70423"/>
                </a:lnTo>
                <a:close/>
                <a:moveTo>
                  <a:pt x="139333" y="55871"/>
                </a:moveTo>
                <a:cubicBezTo>
                  <a:pt x="138590" y="52295"/>
                  <a:pt x="135069" y="50011"/>
                  <a:pt x="131521" y="50782"/>
                </a:cubicBezTo>
                <a:cubicBezTo>
                  <a:pt x="127972" y="51552"/>
                  <a:pt x="125661" y="55046"/>
                  <a:pt x="126431" y="58594"/>
                </a:cubicBezTo>
                <a:cubicBezTo>
                  <a:pt x="127229" y="62418"/>
                  <a:pt x="127669" y="66379"/>
                  <a:pt x="127669" y="70451"/>
                </a:cubicBezTo>
                <a:lnTo>
                  <a:pt x="127669" y="81454"/>
                </a:lnTo>
                <a:cubicBezTo>
                  <a:pt x="127669" y="85113"/>
                  <a:pt x="130613" y="88056"/>
                  <a:pt x="134272" y="88056"/>
                </a:cubicBezTo>
                <a:cubicBezTo>
                  <a:pt x="137930" y="88056"/>
                  <a:pt x="140874" y="85113"/>
                  <a:pt x="140874" y="81454"/>
                </a:cubicBezTo>
                <a:lnTo>
                  <a:pt x="140874" y="70451"/>
                </a:lnTo>
                <a:cubicBezTo>
                  <a:pt x="140874" y="65471"/>
                  <a:pt x="140351" y="60602"/>
                  <a:pt x="139361" y="55898"/>
                </a:cubicBezTo>
                <a:close/>
                <a:moveTo>
                  <a:pt x="70423" y="22007"/>
                </a:moveTo>
                <a:cubicBezTo>
                  <a:pt x="65196" y="22007"/>
                  <a:pt x="60135" y="22832"/>
                  <a:pt x="55431" y="24373"/>
                </a:cubicBezTo>
                <a:cubicBezTo>
                  <a:pt x="51249" y="25748"/>
                  <a:pt x="50286" y="30893"/>
                  <a:pt x="53147" y="34249"/>
                </a:cubicBezTo>
                <a:cubicBezTo>
                  <a:pt x="55101" y="36532"/>
                  <a:pt x="58319" y="37220"/>
                  <a:pt x="61235" y="36422"/>
                </a:cubicBezTo>
                <a:cubicBezTo>
                  <a:pt x="64151" y="35624"/>
                  <a:pt x="67232" y="35212"/>
                  <a:pt x="70423" y="35212"/>
                </a:cubicBezTo>
                <a:cubicBezTo>
                  <a:pt x="89872" y="35212"/>
                  <a:pt x="105635" y="50974"/>
                  <a:pt x="105635" y="70423"/>
                </a:cubicBezTo>
                <a:lnTo>
                  <a:pt x="105635" y="77273"/>
                </a:lnTo>
                <a:cubicBezTo>
                  <a:pt x="105635" y="84205"/>
                  <a:pt x="105222" y="91110"/>
                  <a:pt x="104424" y="97987"/>
                </a:cubicBezTo>
                <a:cubicBezTo>
                  <a:pt x="103957" y="102003"/>
                  <a:pt x="107010" y="105635"/>
                  <a:pt x="111081" y="105635"/>
                </a:cubicBezTo>
                <a:cubicBezTo>
                  <a:pt x="114328" y="105635"/>
                  <a:pt x="117106" y="103269"/>
                  <a:pt x="117491" y="100050"/>
                </a:cubicBezTo>
                <a:cubicBezTo>
                  <a:pt x="118399" y="92513"/>
                  <a:pt x="118866" y="84920"/>
                  <a:pt x="118866" y="77300"/>
                </a:cubicBezTo>
                <a:lnTo>
                  <a:pt x="118866" y="70451"/>
                </a:lnTo>
                <a:cubicBezTo>
                  <a:pt x="118866" y="43712"/>
                  <a:pt x="97189" y="22035"/>
                  <a:pt x="70451" y="22035"/>
                </a:cubicBezTo>
                <a:close/>
                <a:moveTo>
                  <a:pt x="41456" y="40906"/>
                </a:moveTo>
                <a:cubicBezTo>
                  <a:pt x="38953" y="37990"/>
                  <a:pt x="34496" y="37770"/>
                  <a:pt x="32131" y="40796"/>
                </a:cubicBezTo>
                <a:cubicBezTo>
                  <a:pt x="25776" y="48994"/>
                  <a:pt x="22007" y="59254"/>
                  <a:pt x="22007" y="70423"/>
                </a:cubicBezTo>
                <a:lnTo>
                  <a:pt x="22007" y="77273"/>
                </a:lnTo>
                <a:cubicBezTo>
                  <a:pt x="22007" y="83930"/>
                  <a:pt x="21292" y="90587"/>
                  <a:pt x="19862" y="97052"/>
                </a:cubicBezTo>
                <a:cubicBezTo>
                  <a:pt x="18926" y="101343"/>
                  <a:pt x="22035" y="105607"/>
                  <a:pt x="26436" y="105607"/>
                </a:cubicBezTo>
                <a:cubicBezTo>
                  <a:pt x="29325" y="105607"/>
                  <a:pt x="31910" y="103682"/>
                  <a:pt x="32543" y="100848"/>
                </a:cubicBezTo>
                <a:cubicBezTo>
                  <a:pt x="34304" y="93118"/>
                  <a:pt x="35212" y="85223"/>
                  <a:pt x="35212" y="77245"/>
                </a:cubicBezTo>
                <a:lnTo>
                  <a:pt x="35212" y="70396"/>
                </a:lnTo>
                <a:cubicBezTo>
                  <a:pt x="35212" y="62913"/>
                  <a:pt x="37550" y="55981"/>
                  <a:pt x="41511" y="50286"/>
                </a:cubicBezTo>
                <a:cubicBezTo>
                  <a:pt x="43492" y="47426"/>
                  <a:pt x="43712" y="43519"/>
                  <a:pt x="41456" y="40878"/>
                </a:cubicBezTo>
                <a:close/>
                <a:moveTo>
                  <a:pt x="70423" y="44014"/>
                </a:moveTo>
                <a:cubicBezTo>
                  <a:pt x="55843" y="44014"/>
                  <a:pt x="44014" y="55843"/>
                  <a:pt x="44014" y="70423"/>
                </a:cubicBezTo>
                <a:lnTo>
                  <a:pt x="44014" y="77273"/>
                </a:lnTo>
                <a:cubicBezTo>
                  <a:pt x="44014" y="87149"/>
                  <a:pt x="42749" y="96942"/>
                  <a:pt x="40218" y="106460"/>
                </a:cubicBezTo>
                <a:cubicBezTo>
                  <a:pt x="39173" y="110394"/>
                  <a:pt x="42061" y="114438"/>
                  <a:pt x="46133" y="114438"/>
                </a:cubicBezTo>
                <a:cubicBezTo>
                  <a:pt x="48746" y="114438"/>
                  <a:pt x="51057" y="112732"/>
                  <a:pt x="51744" y="110201"/>
                </a:cubicBezTo>
                <a:cubicBezTo>
                  <a:pt x="54633" y="99473"/>
                  <a:pt x="56118" y="88414"/>
                  <a:pt x="56118" y="77273"/>
                </a:cubicBezTo>
                <a:lnTo>
                  <a:pt x="56118" y="70423"/>
                </a:lnTo>
                <a:cubicBezTo>
                  <a:pt x="56118" y="62528"/>
                  <a:pt x="62528" y="56118"/>
                  <a:pt x="70423" y="56118"/>
                </a:cubicBezTo>
                <a:cubicBezTo>
                  <a:pt x="78318" y="56118"/>
                  <a:pt x="84728" y="62528"/>
                  <a:pt x="84728" y="70423"/>
                </a:cubicBezTo>
                <a:lnTo>
                  <a:pt x="84728" y="77273"/>
                </a:lnTo>
                <a:cubicBezTo>
                  <a:pt x="84728" y="87259"/>
                  <a:pt x="83765" y="97189"/>
                  <a:pt x="81867" y="106955"/>
                </a:cubicBezTo>
                <a:cubicBezTo>
                  <a:pt x="81124" y="110779"/>
                  <a:pt x="83985" y="114438"/>
                  <a:pt x="87864" y="114438"/>
                </a:cubicBezTo>
                <a:cubicBezTo>
                  <a:pt x="90670" y="114438"/>
                  <a:pt x="93091" y="112512"/>
                  <a:pt x="93641" y="109761"/>
                </a:cubicBezTo>
                <a:cubicBezTo>
                  <a:pt x="95759" y="99088"/>
                  <a:pt x="96832" y="88221"/>
                  <a:pt x="96832" y="77273"/>
                </a:cubicBezTo>
                <a:lnTo>
                  <a:pt x="96832" y="70423"/>
                </a:lnTo>
                <a:cubicBezTo>
                  <a:pt x="96832" y="55843"/>
                  <a:pt x="85003" y="44014"/>
                  <a:pt x="70423" y="44014"/>
                </a:cubicBezTo>
                <a:close/>
                <a:moveTo>
                  <a:pt x="77025" y="70423"/>
                </a:moveTo>
                <a:cubicBezTo>
                  <a:pt x="77025" y="66764"/>
                  <a:pt x="74082" y="63821"/>
                  <a:pt x="70423" y="63821"/>
                </a:cubicBezTo>
                <a:cubicBezTo>
                  <a:pt x="66764" y="63821"/>
                  <a:pt x="63821" y="66764"/>
                  <a:pt x="63821" y="70423"/>
                </a:cubicBezTo>
                <a:lnTo>
                  <a:pt x="63821" y="77273"/>
                </a:lnTo>
                <a:cubicBezTo>
                  <a:pt x="63821" y="93751"/>
                  <a:pt x="60795" y="110091"/>
                  <a:pt x="54881" y="125469"/>
                </a:cubicBezTo>
                <a:lnTo>
                  <a:pt x="53257" y="129678"/>
                </a:lnTo>
                <a:cubicBezTo>
                  <a:pt x="51937" y="133089"/>
                  <a:pt x="53643" y="136912"/>
                  <a:pt x="57054" y="138205"/>
                </a:cubicBezTo>
                <a:cubicBezTo>
                  <a:pt x="60465" y="139498"/>
                  <a:pt x="64289" y="137820"/>
                  <a:pt x="65582" y="134409"/>
                </a:cubicBezTo>
                <a:lnTo>
                  <a:pt x="67205" y="130200"/>
                </a:lnTo>
                <a:cubicBezTo>
                  <a:pt x="73697" y="113310"/>
                  <a:pt x="77025" y="95374"/>
                  <a:pt x="77025" y="77273"/>
                </a:cubicBezTo>
                <a:lnTo>
                  <a:pt x="77025" y="70423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0" name="Text 38"/>
          <p:cNvSpPr/>
          <p:nvPr/>
        </p:nvSpPr>
        <p:spPr>
          <a:xfrm>
            <a:off x="8732905" y="2014108"/>
            <a:ext cx="1619731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Decentralized Identity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451213" y="2295800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Integrate with DID solutions to bridge on-chain and off-chain identity verification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310366" y="3428656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477621" y="3604714"/>
            <a:ext cx="123240" cy="140846"/>
          </a:xfrm>
          <a:custGeom>
            <a:avLst/>
            <a:gdLst/>
            <a:ahLst/>
            <a:cxnLst/>
            <a:rect l="l" t="t" r="r" b="b"/>
            <a:pathLst>
              <a:path w="123240" h="140846">
                <a:moveTo>
                  <a:pt x="67645" y="-7125"/>
                </a:moveTo>
                <a:cubicBezTo>
                  <a:pt x="63958" y="-9381"/>
                  <a:pt x="59309" y="-9381"/>
                  <a:pt x="55623" y="-7125"/>
                </a:cubicBezTo>
                <a:cubicBezTo>
                  <a:pt x="48911" y="-3026"/>
                  <a:pt x="44757" y="-1926"/>
                  <a:pt x="36890" y="-2091"/>
                </a:cubicBezTo>
                <a:cubicBezTo>
                  <a:pt x="32571" y="-2201"/>
                  <a:pt x="28554" y="138"/>
                  <a:pt x="26464" y="3934"/>
                </a:cubicBezTo>
                <a:cubicBezTo>
                  <a:pt x="22695" y="10839"/>
                  <a:pt x="19641" y="13892"/>
                  <a:pt x="12737" y="17661"/>
                </a:cubicBezTo>
                <a:cubicBezTo>
                  <a:pt x="8940" y="19724"/>
                  <a:pt x="6630" y="23768"/>
                  <a:pt x="6712" y="28087"/>
                </a:cubicBezTo>
                <a:cubicBezTo>
                  <a:pt x="6905" y="35954"/>
                  <a:pt x="5777" y="40108"/>
                  <a:pt x="1678" y="46820"/>
                </a:cubicBezTo>
                <a:cubicBezTo>
                  <a:pt x="-578" y="50507"/>
                  <a:pt x="-578" y="55156"/>
                  <a:pt x="1678" y="58842"/>
                </a:cubicBezTo>
                <a:cubicBezTo>
                  <a:pt x="5777" y="65554"/>
                  <a:pt x="6877" y="69708"/>
                  <a:pt x="6712" y="77575"/>
                </a:cubicBezTo>
                <a:cubicBezTo>
                  <a:pt x="6602" y="81894"/>
                  <a:pt x="8940" y="85911"/>
                  <a:pt x="12737" y="88001"/>
                </a:cubicBezTo>
                <a:cubicBezTo>
                  <a:pt x="18816" y="91330"/>
                  <a:pt x="21897" y="94081"/>
                  <a:pt x="25143" y="99418"/>
                </a:cubicBezTo>
                <a:lnTo>
                  <a:pt x="11746" y="126129"/>
                </a:lnTo>
                <a:cubicBezTo>
                  <a:pt x="10123" y="129402"/>
                  <a:pt x="11444" y="133364"/>
                  <a:pt x="14690" y="134987"/>
                </a:cubicBezTo>
                <a:lnTo>
                  <a:pt x="38348" y="146816"/>
                </a:lnTo>
                <a:cubicBezTo>
                  <a:pt x="41511" y="148384"/>
                  <a:pt x="45362" y="147201"/>
                  <a:pt x="47068" y="144120"/>
                </a:cubicBezTo>
                <a:lnTo>
                  <a:pt x="61593" y="117959"/>
                </a:lnTo>
                <a:lnTo>
                  <a:pt x="76117" y="144120"/>
                </a:lnTo>
                <a:cubicBezTo>
                  <a:pt x="77823" y="147201"/>
                  <a:pt x="81674" y="148411"/>
                  <a:pt x="84838" y="146816"/>
                </a:cubicBezTo>
                <a:lnTo>
                  <a:pt x="108496" y="134987"/>
                </a:lnTo>
                <a:cubicBezTo>
                  <a:pt x="111769" y="133364"/>
                  <a:pt x="113090" y="129402"/>
                  <a:pt x="111439" y="126129"/>
                </a:cubicBezTo>
                <a:lnTo>
                  <a:pt x="98070" y="99390"/>
                </a:lnTo>
                <a:cubicBezTo>
                  <a:pt x="101288" y="94053"/>
                  <a:pt x="104397" y="91302"/>
                  <a:pt x="110476" y="87974"/>
                </a:cubicBezTo>
                <a:cubicBezTo>
                  <a:pt x="114272" y="85911"/>
                  <a:pt x="116583" y="81867"/>
                  <a:pt x="116501" y="77548"/>
                </a:cubicBezTo>
                <a:cubicBezTo>
                  <a:pt x="116308" y="69680"/>
                  <a:pt x="117436" y="65526"/>
                  <a:pt x="121535" y="58814"/>
                </a:cubicBezTo>
                <a:cubicBezTo>
                  <a:pt x="123791" y="55128"/>
                  <a:pt x="123791" y="50479"/>
                  <a:pt x="121535" y="46793"/>
                </a:cubicBezTo>
                <a:cubicBezTo>
                  <a:pt x="117436" y="40081"/>
                  <a:pt x="116336" y="35927"/>
                  <a:pt x="116501" y="28059"/>
                </a:cubicBezTo>
                <a:cubicBezTo>
                  <a:pt x="116611" y="23740"/>
                  <a:pt x="114272" y="19724"/>
                  <a:pt x="110476" y="17633"/>
                </a:cubicBezTo>
                <a:cubicBezTo>
                  <a:pt x="103571" y="13865"/>
                  <a:pt x="100518" y="10811"/>
                  <a:pt x="96749" y="3906"/>
                </a:cubicBezTo>
                <a:cubicBezTo>
                  <a:pt x="94686" y="110"/>
                  <a:pt x="90642" y="-2201"/>
                  <a:pt x="86323" y="-2118"/>
                </a:cubicBezTo>
                <a:cubicBezTo>
                  <a:pt x="78456" y="-1926"/>
                  <a:pt x="74302" y="-3054"/>
                  <a:pt x="67590" y="-7152"/>
                </a:cubicBezTo>
                <a:close/>
                <a:moveTo>
                  <a:pt x="61620" y="26409"/>
                </a:moveTo>
                <a:cubicBezTo>
                  <a:pt x="76196" y="26409"/>
                  <a:pt x="88029" y="38242"/>
                  <a:pt x="88029" y="52817"/>
                </a:cubicBezTo>
                <a:cubicBezTo>
                  <a:pt x="88029" y="67393"/>
                  <a:pt x="76196" y="79226"/>
                  <a:pt x="61620" y="79226"/>
                </a:cubicBezTo>
                <a:cubicBezTo>
                  <a:pt x="47045" y="79226"/>
                  <a:pt x="35212" y="67393"/>
                  <a:pt x="35212" y="52817"/>
                </a:cubicBezTo>
                <a:cubicBezTo>
                  <a:pt x="35212" y="38242"/>
                  <a:pt x="47045" y="26409"/>
                  <a:pt x="61620" y="2640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Text 42"/>
          <p:cNvSpPr/>
          <p:nvPr/>
        </p:nvSpPr>
        <p:spPr>
          <a:xfrm>
            <a:off x="8732905" y="3569502"/>
            <a:ext cx="1470082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Reputation Systems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51213" y="3851195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Build interoperable reputation systems across DeFi protocols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310366" y="4879276"/>
            <a:ext cx="3345097" cy="985923"/>
          </a:xfrm>
          <a:custGeom>
            <a:avLst/>
            <a:gdLst/>
            <a:ahLst/>
            <a:cxnLst/>
            <a:rect l="l" t="t" r="r" b="b"/>
            <a:pathLst>
              <a:path w="3345097" h="985923">
                <a:moveTo>
                  <a:pt x="70425" y="0"/>
                </a:moveTo>
                <a:lnTo>
                  <a:pt x="3274673" y="0"/>
                </a:lnTo>
                <a:cubicBezTo>
                  <a:pt x="3313567" y="0"/>
                  <a:pt x="3345097" y="31530"/>
                  <a:pt x="3345097" y="70425"/>
                </a:cubicBezTo>
                <a:lnTo>
                  <a:pt x="3345097" y="915499"/>
                </a:lnTo>
                <a:cubicBezTo>
                  <a:pt x="3345097" y="954393"/>
                  <a:pt x="3313567" y="985923"/>
                  <a:pt x="3274673" y="985923"/>
                </a:cubicBezTo>
                <a:lnTo>
                  <a:pt x="70425" y="985923"/>
                </a:lnTo>
                <a:cubicBezTo>
                  <a:pt x="31530" y="985923"/>
                  <a:pt x="0" y="954393"/>
                  <a:pt x="0" y="915499"/>
                </a:cubicBezTo>
                <a:lnTo>
                  <a:pt x="0" y="70425"/>
                </a:lnTo>
                <a:cubicBezTo>
                  <a:pt x="0" y="31530"/>
                  <a:pt x="31530" y="0"/>
                  <a:pt x="7042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8468818" y="5055334"/>
            <a:ext cx="140846" cy="140846"/>
          </a:xfrm>
          <a:custGeom>
            <a:avLst/>
            <a:gdLst/>
            <a:ahLst/>
            <a:cxnLst/>
            <a:rect l="l" t="t" r="r" b="b"/>
            <a:pathLst>
              <a:path w="140846" h="140846">
                <a:moveTo>
                  <a:pt x="70423" y="0"/>
                </a:moveTo>
                <a:cubicBezTo>
                  <a:pt x="71689" y="0"/>
                  <a:pt x="72954" y="275"/>
                  <a:pt x="74109" y="798"/>
                </a:cubicBezTo>
                <a:lnTo>
                  <a:pt x="125936" y="22777"/>
                </a:lnTo>
                <a:cubicBezTo>
                  <a:pt x="131988" y="25336"/>
                  <a:pt x="136500" y="31305"/>
                  <a:pt x="136472" y="38513"/>
                </a:cubicBezTo>
                <a:cubicBezTo>
                  <a:pt x="136335" y="65802"/>
                  <a:pt x="125111" y="115730"/>
                  <a:pt x="77713" y="138425"/>
                </a:cubicBezTo>
                <a:cubicBezTo>
                  <a:pt x="73119" y="140626"/>
                  <a:pt x="67782" y="140626"/>
                  <a:pt x="63188" y="138425"/>
                </a:cubicBezTo>
                <a:cubicBezTo>
                  <a:pt x="15763" y="115730"/>
                  <a:pt x="4566" y="65802"/>
                  <a:pt x="4429" y="38513"/>
                </a:cubicBezTo>
                <a:cubicBezTo>
                  <a:pt x="4401" y="31305"/>
                  <a:pt x="8913" y="25336"/>
                  <a:pt x="14965" y="22777"/>
                </a:cubicBezTo>
                <a:lnTo>
                  <a:pt x="66764" y="798"/>
                </a:lnTo>
                <a:cubicBezTo>
                  <a:pt x="67920" y="275"/>
                  <a:pt x="69158" y="0"/>
                  <a:pt x="70423" y="0"/>
                </a:cubicBezTo>
                <a:close/>
                <a:moveTo>
                  <a:pt x="70423" y="18376"/>
                </a:moveTo>
                <a:lnTo>
                  <a:pt x="70423" y="122388"/>
                </a:lnTo>
                <a:cubicBezTo>
                  <a:pt x="108386" y="104012"/>
                  <a:pt x="118591" y="63298"/>
                  <a:pt x="118839" y="38925"/>
                </a:cubicBezTo>
                <a:lnTo>
                  <a:pt x="70423" y="18404"/>
                </a:lnTo>
                <a:lnTo>
                  <a:pt x="70423" y="1840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8" name="Text 46"/>
          <p:cNvSpPr/>
          <p:nvPr/>
        </p:nvSpPr>
        <p:spPr>
          <a:xfrm>
            <a:off x="8732905" y="5020122"/>
            <a:ext cx="1390856" cy="211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Privacy-Preserving</a:t>
            </a:r>
            <a:endParaRPr lang="en-US" sz="1110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451213" y="5301814"/>
            <a:ext cx="3133828" cy="422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0" dirty="0">
                <a:solidFill>
                  <a:srgbClr val="8D99AE"/>
                </a:solidFill>
                <a:latin typeface="Times New Roman" panose="02020603050405020304" charset="0"/>
                <a:ea typeface="宋体" panose="02010600030101010101" pitchFamily="2" charset="-122"/>
                <a:cs typeface="Quattrocento Sans" pitchFamily="34" charset="-120"/>
              </a:rPr>
              <a:t>Implement zero-knowledge proofs for privacy-preserving credit verification</a:t>
            </a:r>
            <a:endParaRPr lang="en-US" sz="1110" dirty="0">
              <a:solidFill>
                <a:srgbClr val="8D99AE"/>
              </a:solidFill>
              <a:latin typeface="Times New Roman" panose="02020603050405020304" charset="0"/>
              <a:ea typeface="宋体" panose="02010600030101010101" pitchFamily="2" charset="-122"/>
              <a:cs typeface="Quattrocento Sans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3A5168"/>
            </a:gs>
            <a:gs pos="96000">
              <a:srgbClr val="344556"/>
            </a:gs>
            <a:gs pos="59000">
              <a:srgbClr val="293440"/>
            </a:gs>
            <a:gs pos="3000">
              <a:srgbClr val="1A1D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2116" y="281383"/>
            <a:ext cx="11646221" cy="3521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buClrTx/>
              <a:buSzTx/>
              <a:buNone/>
            </a:pPr>
            <a:r>
              <a:rPr lang="en-US" altLang="zh-CN" sz="2250" b="1" dirty="0">
                <a:solidFill>
                  <a:srgbClr val="E0E0E0"/>
                </a:solidFill>
                <a:latin typeface="Times New Roman" panose="02020603050405020304" charset="0"/>
                <a:ea typeface="宋体" panose="02010600030101010101" pitchFamily="2" charset="-122"/>
                <a:cs typeface="Noto Sans SC" panose="020B0200000000000000" pitchFamily="34" charset="-120"/>
                <a:sym typeface="+mn-ea"/>
              </a:rPr>
              <a:t>References</a:t>
            </a:r>
            <a:r>
              <a:rPr lang="en-US" sz="2495" b="1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  <a:sym typeface="+mn-ea"/>
              </a:rPr>
              <a:t> </a:t>
            </a:r>
            <a:endParaRPr lang="en-US" sz="2495" b="1" dirty="0">
              <a:solidFill>
                <a:srgbClr val="E0E0E0"/>
              </a:solidFill>
              <a:latin typeface="Times New Roman" panose="02020603050405020304" charset="0"/>
              <a:ea typeface="宋体" panose="02010600030101010101" pitchFamily="2" charset="-122"/>
              <a:cs typeface="Noto Sans SC" panose="020B0200000000000000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2116" y="691508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50" name="文本框 49"/>
          <p:cNvSpPr txBox="1"/>
          <p:nvPr/>
        </p:nvSpPr>
        <p:spPr>
          <a:xfrm>
            <a:off x="210820" y="765175"/>
            <a:ext cx="11809095" cy="5477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ts val="2000"/>
              </a:lnSpc>
              <a:buClrTx/>
              <a:buSzTx/>
              <a:buNone/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[1] Bartoletti, M., Chiang, J. H., &amp; Lluch-Lafuente, A. (2021). SoK: Lending pools in decentralized finance. ’In Financial Cryptography and Data Security (FC)‘(pp. 553-578). Springer.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algn="l" fontAlgn="auto">
              <a:lnSpc>
                <a:spcPts val="2000"/>
              </a:lnSpc>
              <a:buClrTx/>
              <a:buSzTx/>
              <a:buNone/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[2] Werner, S. M., Perez, D., Gudgeon, L., Klages-Mundt, A., Harz, D., &amp; Knottenbelt, W. J. (2022). SoK: Decentralized finance (DeFi). ‘Communications of the ACM’, 65(4), 58-66.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algn="l" fontAlgn="auto">
              <a:lnSpc>
                <a:spcPts val="2000"/>
              </a:lnSpc>
              <a:buClrTx/>
              <a:buSzTx/>
              <a:buNone/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[3] Qin, K., Zhou, L., Afonin, Y., Lazzaretti, L., &amp; Gervais, A. (2021). CeFi vs. DeFi—Comparing centralized to decentralized finance. ‘Proceedings of the 2021 ACM SIGSAC Conference on Cloud Computing Security Workshop’(pp. 1-14).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algn="l" fontAlgn="auto">
              <a:lnSpc>
                <a:spcPts val="2000"/>
              </a:lnSpc>
              <a:buClrTx/>
              <a:buSzTx/>
              <a:buNone/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[4] Makarov, I., &amp; Schoar, A. (2022). Cryptocurrencies and decentralized finance (DeFi). ‘Brookings Papers on Economic Activity’, 2022(1), 141-216.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[5] Khandani, A. E., Kim, A. J., &amp; Lo, A. W. (2010). Consumer credit-risk models via machine-learning algorithms. ‘Journal of Banking &amp; Finance’, 34(11), 2767-2787.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[6] Lessmann, S., Baesens, B., Seow, H. V., &amp; Thomas, L. C. (2015). Benchmarking state-of-the-art classification algorithms for credit scoring: An update of research. ‘European Journal of Operational Research’, 247(1), 124-136.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[7] Marques, A. I., García, V., &amp; Sánchez, J. S. (2012). Exploring the behaviour of ensemble methods in credit scoring. ‘Expert Systems with Applications’, 39(10), 9606-9612.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[8] Danenas, P., &amp; Garsva, G. (2015). Selection of support vector machines based classifiers for credit risk domain. ‘Expert Systems with Applications’, 42(6), 3194-3204.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[9] Liu, F. T., Ting, K. M., &amp; Zhou, Z. H. (2008). Isolation Forest. ‘2008 Eighth IEEE International Conference on Data Mining’ (pp. 413-422). IEEE.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[10] Chandola, V., Banerjee, A., &amp; Kumar, V. (2009). Anomaly detection: A survey. ’ACM Computing Surveys (CSUR)‘, 41(3), 1-58.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[11] Chen, W., Zheng, Z., Cui, J., Ngai, E., Zheng, P., &amp; Zhou, Y. (2020). Detecting Ponzi schemes on Ethereum: Towards healthier blockchain technology. ’Proceedings of the 20th International Conference on World Wide Web‘ (pp. 1409-1418).</a:t>
            </a:r>
            <a:endParaRPr lang="en-US" sz="1385" dirty="0">
              <a:solidFill>
                <a:srgbClr val="E0E0E0"/>
              </a:solidFill>
              <a:latin typeface="Arial" panose="020B0604020202020204" pitchFamily="34" charset="0"/>
              <a:ea typeface="黑体" panose="02010609060101010101" charset="-122"/>
              <a:cs typeface="Hedvig Letters Sans" pitchFamily="34" charset="-120"/>
            </a:endParaRPr>
          </a:p>
          <a:p>
            <a:pPr indent="0" fontAlgn="auto">
              <a:lnSpc>
                <a:spcPts val="2000"/>
              </a:lnSpc>
            </a:pPr>
            <a:r>
              <a:rPr lang="en-US" sz="1385" dirty="0">
                <a:solidFill>
                  <a:srgbClr val="E0E0E0"/>
                </a:solidFill>
                <a:latin typeface="Arial" panose="020B0604020202020204" pitchFamily="34" charset="0"/>
                <a:ea typeface="黑体" panose="02010609060101010101" charset="-122"/>
                <a:cs typeface="Hedvig Letters Sans" pitchFamily="34" charset="-120"/>
              </a:rPr>
              <a:t>[12] Victor, F., &amp; Lüders, B. (2019). Measuring Ethereum-based ERC20 token networks. ‘In Financial Cryptography and Data Security’ (pp. 113-129). Springer.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尾页致谢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15550</Words>
  <Application>WPS 演示</Application>
  <PresentationFormat>On-screen Show (16:9)</PresentationFormat>
  <Paragraphs>769</Paragraphs>
  <Slides>21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7" baseType="lpstr">
      <vt:lpstr>Arial</vt:lpstr>
      <vt:lpstr>宋体</vt:lpstr>
      <vt:lpstr>Wingdings</vt:lpstr>
      <vt:lpstr>Quattrocento Sans</vt:lpstr>
      <vt:lpstr>Segoe Print</vt:lpstr>
      <vt:lpstr>Quattrocento Sans</vt:lpstr>
      <vt:lpstr>Quattrocento Sans</vt:lpstr>
      <vt:lpstr>Noto Sans SC</vt:lpstr>
      <vt:lpstr>Noto Sans SC</vt:lpstr>
      <vt:lpstr>Coda</vt:lpstr>
      <vt:lpstr>Coda</vt:lpstr>
      <vt:lpstr>Coda</vt:lpstr>
      <vt:lpstr>Hedvig Letters Sans</vt:lpstr>
      <vt:lpstr>Hedvig Letters Sans</vt:lpstr>
      <vt:lpstr>Hedvig Letters Sans</vt:lpstr>
      <vt:lpstr>MiSans</vt:lpstr>
      <vt:lpstr>MiSans</vt:lpstr>
      <vt:lpstr>MiSans</vt:lpstr>
      <vt:lpstr>Calibri</vt:lpstr>
      <vt:lpstr>微软雅黑</vt:lpstr>
      <vt:lpstr>Arial Unicode MS</vt:lpstr>
      <vt:lpstr>等线</vt:lpstr>
      <vt:lpstr>MingLiU-ExtB</vt:lpstr>
      <vt:lpstr>黑体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 User Credit Scoring &amp; Risk Detection System</dc:title>
  <dc:creator>Kimi</dc:creator>
  <dc:subject>DeFi User Credit Scoring &amp; Risk Detection System</dc:subject>
  <cp:lastModifiedBy>快乐宝贝</cp:lastModifiedBy>
  <cp:revision>9</cp:revision>
  <dcterms:created xsi:type="dcterms:W3CDTF">2026-04-01T05:46:00Z</dcterms:created>
  <dcterms:modified xsi:type="dcterms:W3CDTF">2026-04-01T07:46:40Z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{"Label":"DeFi User Credit Scoring &amp; Risk Detection System","ContentProducer":"001191110108MACG2KBH8F10000","ProduceID":"19d4206f-22a2-8343-8000-0000315a4d98","ReservedCode1":"","ContentPropagator":"001191110108MACG2KBH8F20000","PropagateID":"19d4206f-22a2-8343-8000-0000315a4d98","ReservedCode2":""}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1607F28B18BB40369E543EE3AD15B938_13</vt:lpwstr>
  </property>
</Properties>
</file>