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5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sldIdLst>
    <p:sldId id="257" r:id="rId2"/>
    <p:sldId id="258" r:id="rId3"/>
    <p:sldId id="286" r:id="rId4"/>
    <p:sldId id="269" r:id="rId5"/>
    <p:sldId id="261" r:id="rId6"/>
    <p:sldId id="276" r:id="rId7"/>
    <p:sldId id="287" r:id="rId8"/>
    <p:sldId id="318" r:id="rId9"/>
    <p:sldId id="312" r:id="rId10"/>
    <p:sldId id="288" r:id="rId11"/>
    <p:sldId id="316" r:id="rId12"/>
    <p:sldId id="293" r:id="rId13"/>
    <p:sldId id="296" r:id="rId14"/>
    <p:sldId id="297" r:id="rId15"/>
    <p:sldId id="298" r:id="rId16"/>
    <p:sldId id="315" r:id="rId17"/>
    <p:sldId id="313" r:id="rId18"/>
    <p:sldId id="314" r:id="rId19"/>
    <p:sldId id="304" r:id="rId20"/>
    <p:sldId id="305" r:id="rId21"/>
    <p:sldId id="306" r:id="rId22"/>
    <p:sldId id="307" r:id="rId23"/>
    <p:sldId id="308" r:id="rId24"/>
    <p:sldId id="311" r:id="rId25"/>
    <p:sldId id="310" r:id="rId26"/>
    <p:sldId id="301" r:id="rId27"/>
    <p:sldId id="303" r:id="rId28"/>
    <p:sldId id="302" r:id="rId29"/>
    <p:sldId id="317" r:id="rId30"/>
  </p:sldIdLst>
  <p:sldSz cx="12192000" cy="6858000"/>
  <p:notesSz cx="6858000" cy="9144000"/>
  <p:embeddedFontLst>
    <p:embeddedFont>
      <p:font typeface="SimHei" panose="02010609060101010101" pitchFamily="49" charset="-122"/>
      <p:regular r:id="rId32"/>
    </p:embeddedFont>
    <p:embeddedFont>
      <p:font typeface="等线" panose="02010600030101010101" pitchFamily="2" charset="-122"/>
      <p:regular r:id="rId33"/>
      <p:bold r:id="rId34"/>
    </p:embeddedFont>
    <p:embeddedFont>
      <p:font typeface="等线 Light" panose="02010600030101010101" pitchFamily="2" charset="-122"/>
      <p:regular r:id="rId35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10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01" autoAdjust="0"/>
    <p:restoredTop sz="94660"/>
  </p:normalViewPr>
  <p:slideViewPr>
    <p:cSldViewPr snapToGrid="0">
      <p:cViewPr>
        <p:scale>
          <a:sx n="66" d="100"/>
          <a:sy n="66" d="100"/>
        </p:scale>
        <p:origin x="1090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0EF34-49F3-43CF-BABF-D735AF2B7A4A}" type="datetimeFigureOut">
              <a:rPr lang="zh-CN" altLang="en-US" smtClean="0"/>
              <a:t>2026/04/01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4AD4EA-352D-479E-9827-E9CD6EF8D3F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558A7-2A1D-48AA-9D84-E9AFF4826E46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558A7-2A1D-48AA-9D84-E9AFF4826E46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558A7-2A1D-48AA-9D84-E9AFF4826E46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558A7-2A1D-48AA-9D84-E9AFF4826E46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558A7-2A1D-48AA-9D84-E9AFF4826E4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7130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11D2F1-3F22-4A71-B659-12ABA816989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0073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558A7-2A1D-48AA-9D84-E9AFF4826E46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FEB9D-9FFD-D170-21D4-EE8F1205F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92B3D9E-D6FF-B106-2782-78628F780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436694A-2C48-8A3F-D463-8DA4727FA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F32EEF-F5C3-61E2-0679-297852F3BA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558A7-2A1D-48AA-9D84-E9AFF4826E4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5726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558A7-2A1D-48AA-9D84-E9AFF4826E46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5647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8378B-327B-7A0C-D65A-74EEE7690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0BA631-7980-E4A1-186B-838307EC7A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88193A-6771-A1D2-2435-7F7D29F45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4872500-5ABA-F8B0-27A8-9EE5FDD3CF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558A7-2A1D-48AA-9D84-E9AFF4826E46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665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0AB38-0620-EE2B-DEEE-DBFA78F0B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AD63FB-1519-5D8D-06FE-729CA7108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7F5153-C29F-D4AB-9F0E-37C9E2A14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C1209E-7AE9-1C78-EAFA-06C986F81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558A7-2A1D-48AA-9D84-E9AFF4826E46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687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F7D67-EBE2-F9B8-2BDD-83B86667E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A363196-029E-5AFE-84F0-081371F1A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2124DF-4C72-25C3-A9F3-B3307BC55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D947E5-40B4-CE88-C6DD-B7F06072E8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2F558A7-2A1D-48AA-9D84-E9AFF4826E46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52454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5E6A0-747E-61C3-1983-318C056D7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58248AB-C9F2-C0E3-226B-5ED7C35C63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F56527-B7A3-E218-9595-DE5FEB2E9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1063A2-3213-1B6B-75DD-5E87277C92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F558A7-2A1D-48AA-9D84-E9AFF4826E46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861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678E-3B97-4843-BE05-2F87204F4F25}" type="datetimeFigureOut">
              <a:rPr lang="zh-CN" altLang="en-US" smtClean="0"/>
              <a:t>2026/04/01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8A2-73B7-4EF8-905A-452F6B3F2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678E-3B97-4843-BE05-2F87204F4F25}" type="datetimeFigureOut">
              <a:rPr lang="zh-CN" altLang="en-US" smtClean="0"/>
              <a:t>2026/04/01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8A2-73B7-4EF8-905A-452F6B3F2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678E-3B97-4843-BE05-2F87204F4F25}" type="datetimeFigureOut">
              <a:rPr lang="zh-CN" altLang="en-US" smtClean="0"/>
              <a:t>2026/04/01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8A2-73B7-4EF8-905A-452F6B3F2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678E-3B97-4843-BE05-2F87204F4F25}" type="datetimeFigureOut">
              <a:rPr lang="zh-CN" altLang="en-US" smtClean="0"/>
              <a:t>2026/04/01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8A2-73B7-4EF8-905A-452F6B3F2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678E-3B97-4843-BE05-2F87204F4F25}" type="datetimeFigureOut">
              <a:rPr lang="zh-CN" altLang="en-US" smtClean="0"/>
              <a:t>2026/04/01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8A2-73B7-4EF8-905A-452F6B3F2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678E-3B97-4843-BE05-2F87204F4F25}" type="datetimeFigureOut">
              <a:rPr lang="zh-CN" altLang="en-US" smtClean="0"/>
              <a:t>2026/04/01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8A2-73B7-4EF8-905A-452F6B3F2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678E-3B97-4843-BE05-2F87204F4F25}" type="datetimeFigureOut">
              <a:rPr lang="zh-CN" altLang="en-US" smtClean="0"/>
              <a:t>2026/04/01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8A2-73B7-4EF8-905A-452F6B3F2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678E-3B97-4843-BE05-2F87204F4F25}" type="datetimeFigureOut">
              <a:rPr lang="zh-CN" altLang="en-US" smtClean="0"/>
              <a:t>2026/04/01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8A2-73B7-4EF8-905A-452F6B3F2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678E-3B97-4843-BE05-2F87204F4F25}" type="datetimeFigureOut">
              <a:rPr lang="zh-CN" altLang="en-US" smtClean="0"/>
              <a:t>2026/04/01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8A2-73B7-4EF8-905A-452F6B3F2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678E-3B97-4843-BE05-2F87204F4F25}" type="datetimeFigureOut">
              <a:rPr lang="zh-CN" altLang="en-US" smtClean="0"/>
              <a:t>2026/04/01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8A2-73B7-4EF8-905A-452F6B3F2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5678E-3B97-4843-BE05-2F87204F4F25}" type="datetimeFigureOut">
              <a:rPr lang="zh-CN" altLang="en-US" smtClean="0"/>
              <a:t>2026/04/01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628A2-73B7-4EF8-905A-452F6B3F29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1728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 advTm="12952">
        <p14:pan dir="u"/>
      </p:transition>
    </mc:Choice>
    <mc:Fallback xmlns="">
      <p:transition spd="slow" advTm="12952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8647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5678E-3B97-4843-BE05-2F87204F4F25}" type="datetimeFigureOut">
              <a:rPr lang="zh-CN" altLang="en-US" smtClean="0"/>
              <a:t>2026/04/01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A628A2-73B7-4EF8-905A-452F6B3F29E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3"/>
            <a:ext cx="12192000" cy="6857194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138897" y="150471"/>
            <a:ext cx="11910349" cy="6562845"/>
          </a:xfrm>
          <a:prstGeom prst="rect">
            <a:avLst/>
          </a:prstGeom>
          <a:solidFill>
            <a:schemeClr val="bg1"/>
          </a:solidFill>
          <a:ln>
            <a:solidFill>
              <a:srgbClr val="4710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image" Target="../media/image1.jpe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image" Target="../media/image5.jpeg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notesSlide" Target="../notesSlides/notesSlide5.xml"/><Relationship Id="rId2" Type="http://schemas.openxmlformats.org/officeDocument/2006/relationships/tags" Target="../tags/tag6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10" Type="http://schemas.openxmlformats.org/officeDocument/2006/relationships/tags" Target="../tags/tag14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7" Type="http://schemas.openxmlformats.org/officeDocument/2006/relationships/image" Target="../media/image6.jpe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2.xml"/><Relationship Id="rId4" Type="http://schemas.openxmlformats.org/officeDocument/2006/relationships/tags" Target="../tags/tag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12" Type="http://schemas.openxmlformats.org/officeDocument/2006/relationships/image" Target="../media/image9.png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28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27.xml"/><Relationship Id="rId9" Type="http://schemas.openxmlformats.org/officeDocument/2006/relationships/tags" Target="../tags/tag3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7" Type="http://schemas.openxmlformats.org/officeDocument/2006/relationships/image" Target="../media/image26.png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3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7" Type="http://schemas.openxmlformats.org/officeDocument/2006/relationships/image" Target="../media/image44.jpe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3"/>
            <a:ext cx="12192000" cy="6857194"/>
          </a:xfrm>
          <a:prstGeom prst="rect">
            <a:avLst/>
          </a:prstGeom>
        </p:spPr>
      </p:pic>
      <p:sp>
        <p:nvSpPr>
          <p:cNvPr id="66" name="矩形 65"/>
          <p:cNvSpPr/>
          <p:nvPr/>
        </p:nvSpPr>
        <p:spPr>
          <a:xfrm>
            <a:off x="3634105" y="732155"/>
            <a:ext cx="7882255" cy="2861310"/>
          </a:xfrm>
          <a:prstGeom prst="rect">
            <a:avLst/>
          </a:prstGeom>
          <a:effectLst/>
        </p:spPr>
        <p:txBody>
          <a:bodyPr vert="horz" wrap="square">
            <a:spAutoFit/>
          </a:bodyPr>
          <a:lstStyle/>
          <a:p>
            <a:pPr algn="ctr"/>
            <a:r>
              <a:rPr lang="en-US" altLang="zh-CN" sz="6000" b="1" dirty="0">
                <a:solidFill>
                  <a:srgbClr val="47100A"/>
                </a:solidFill>
                <a:latin typeface="Times New Roman" panose="02020603050405020304" pitchFamily="18" charset="0"/>
                <a:ea typeface="方正公文小标宋" panose="02000500000000000000" charset="-122"/>
                <a:cs typeface="Times New Roman" panose="02020603050405020304" pitchFamily="18" charset="0"/>
              </a:rPr>
              <a:t>Default Risk </a:t>
            </a:r>
          </a:p>
          <a:p>
            <a:pPr algn="ctr"/>
            <a:r>
              <a:rPr lang="en-US" altLang="zh-CN" sz="6000" b="1" dirty="0">
                <a:solidFill>
                  <a:srgbClr val="47100A"/>
                </a:solidFill>
                <a:latin typeface="Times New Roman" panose="02020603050405020304" pitchFamily="18" charset="0"/>
                <a:ea typeface="方正公文小标宋" panose="02000500000000000000" charset="-122"/>
                <a:cs typeface="Times New Roman" panose="02020603050405020304" pitchFamily="18" charset="0"/>
              </a:rPr>
              <a:t>Prediction Model of P2P Online Lending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958330" y="4076065"/>
            <a:ext cx="528193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Xiaoxuan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Wang</a:t>
            </a:r>
          </a:p>
          <a:p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Shirui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Du(Institute of Economics)</a:t>
            </a:r>
          </a:p>
          <a:p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Shuqing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Ao(Institute of Economics)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 Gao(School of Management)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6"/>
            <a:ext cx="12192000" cy="6857194"/>
          </a:xfrm>
          <a:prstGeom prst="rect">
            <a:avLst/>
          </a:prstGeom>
        </p:spPr>
      </p:pic>
      <p:sp>
        <p:nvSpPr>
          <p:cNvPr id="9" name="ïṣḷiḓe"/>
          <p:cNvSpPr/>
          <p:nvPr/>
        </p:nvSpPr>
        <p:spPr>
          <a:xfrm>
            <a:off x="567055" y="79375"/>
            <a:ext cx="3496945" cy="143383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/>
          <a:p>
            <a:pPr algn="ctr"/>
            <a:endParaRPr lang="en-US" altLang="zh-CN" sz="4400" b="1" dirty="0">
              <a:solidFill>
                <a:srgbClr val="47100A"/>
              </a:solidFill>
              <a:latin typeface="Times New Roman" panose="02020603050405020304" pitchFamily="18" charset="0"/>
              <a:ea typeface="思源黑体 Heavy" panose="020B0A00000000000000" pitchFamily="34" charset="-122"/>
              <a:cs typeface="Times New Roman" panose="02020603050405020304" pitchFamily="18" charset="0"/>
            </a:endParaRPr>
          </a:p>
          <a:p>
            <a:pPr algn="l"/>
            <a:r>
              <a:rPr lang="en-US" altLang="tr-TR" sz="5400" b="1" dirty="0">
                <a:solidFill>
                  <a:srgbClr val="47100A"/>
                </a:solidFill>
                <a:latin typeface="Times New Roman" panose="02020603050405020304" pitchFamily="18" charset="0"/>
                <a:ea typeface="思源黑体 Heavy" panose="020B0A00000000000000" pitchFamily="34" charset="-122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10" name="işḷiḑe"/>
          <p:cNvSpPr/>
          <p:nvPr>
            <p:custDataLst>
              <p:tags r:id="rId1"/>
            </p:custDataLst>
          </p:nvPr>
        </p:nvSpPr>
        <p:spPr bwMode="auto">
          <a:xfrm>
            <a:off x="1547235" y="1938844"/>
            <a:ext cx="621260" cy="6212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47100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altLang="zh-CN" sz="2000" b="1" dirty="0">
                <a:solidFill>
                  <a:srgbClr val="47100A"/>
                </a:solidFill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rPr>
              <a:t>01</a:t>
            </a:r>
            <a:endParaRPr lang="zh-CN" altLang="en-US" sz="2000" b="1" dirty="0">
              <a:solidFill>
                <a:srgbClr val="47100A"/>
              </a:solidFill>
              <a:latin typeface="Times New Roman" panose="02020603050405020304" pitchFamily="18" charset="0"/>
              <a:ea typeface="思源黑体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ïṧľiḍê"/>
          <p:cNvSpPr txBox="1"/>
          <p:nvPr>
            <p:custDataLst>
              <p:tags r:id="rId2"/>
            </p:custDataLst>
          </p:nvPr>
        </p:nvSpPr>
        <p:spPr>
          <a:xfrm>
            <a:off x="1962785" y="2013585"/>
            <a:ext cx="4770524" cy="47180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lang="en-US" altLang="zh-CN" sz="3600" b="1" dirty="0">
                <a:solidFill>
                  <a:srgbClr val="47100A"/>
                </a:solidFill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rPr>
              <a:t>Project Introduction</a:t>
            </a:r>
          </a:p>
        </p:txBody>
      </p:sp>
      <p:sp>
        <p:nvSpPr>
          <p:cNvPr id="12" name="ïsļíḍê"/>
          <p:cNvSpPr/>
          <p:nvPr>
            <p:custDataLst>
              <p:tags r:id="rId3"/>
            </p:custDataLst>
          </p:nvPr>
        </p:nvSpPr>
        <p:spPr bwMode="auto">
          <a:xfrm>
            <a:off x="1547235" y="3429000"/>
            <a:ext cx="621260" cy="621260"/>
          </a:xfrm>
          <a:prstGeom prst="ellipse">
            <a:avLst/>
          </a:prstGeom>
          <a:solidFill>
            <a:schemeClr val="bg1"/>
          </a:solidFill>
          <a:ln w="38100">
            <a:solidFill>
              <a:srgbClr val="47100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91440" tIns="45720" rIns="91440" bIns="45720" rtlCol="0" anchor="ctr">
            <a:normAutofit/>
          </a:bodyPr>
          <a:lstStyle/>
          <a:p>
            <a:pPr algn="ctr"/>
            <a:r>
              <a:rPr lang="en-US" altLang="zh-CN" sz="2000" b="1" dirty="0">
                <a:solidFill>
                  <a:srgbClr val="47100A"/>
                </a:solidFill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rPr>
              <a:t>02</a:t>
            </a:r>
            <a:endParaRPr lang="zh-CN" altLang="en-US" sz="2000" b="1" dirty="0">
              <a:solidFill>
                <a:srgbClr val="47100A"/>
              </a:solidFill>
              <a:latin typeface="Times New Roman" panose="02020603050405020304" pitchFamily="18" charset="0"/>
              <a:ea typeface="思源黑体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" name="ïṧľiḍê"/>
          <p:cNvSpPr txBox="1"/>
          <p:nvPr>
            <p:custDataLst>
              <p:tags r:id="rId4"/>
            </p:custDataLst>
          </p:nvPr>
        </p:nvSpPr>
        <p:spPr>
          <a:xfrm>
            <a:off x="2055149" y="3525984"/>
            <a:ext cx="3680633" cy="471805"/>
          </a:xfrm>
          <a:prstGeom prst="rect">
            <a:avLst/>
          </a:prstGeom>
          <a:noFill/>
        </p:spPr>
        <p:txBody>
          <a:bodyPr wrap="square" lIns="91440" tIns="45720" rIns="91440" bIns="45720" rtlCol="0" anchor="ctr" anchorCtr="0">
            <a:noAutofit/>
          </a:bodyPr>
          <a:lstStyle/>
          <a:p>
            <a:pPr algn="ctr"/>
            <a:r>
              <a:rPr lang="en-US" altLang="zh-CN" sz="3600" b="1" dirty="0">
                <a:solidFill>
                  <a:srgbClr val="47100A"/>
                </a:solidFill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rPr>
              <a:t>Model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875"/>
            <a:ext cx="12192000" cy="685719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913432" y="1904470"/>
            <a:ext cx="41847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rgbClr val="47100A"/>
                </a:solidFill>
                <a:latin typeface="Times New Roman" panose="02020603050405020304" pitchFamily="18" charset="0"/>
                <a:ea typeface="思源黑体 CN Regular" panose="020B0500000000000000" pitchFamily="34" charset="-122"/>
                <a:cs typeface="Times New Roman" panose="02020603050405020304" pitchFamily="18" charset="0"/>
              </a:rPr>
              <a:t>PART 01</a:t>
            </a:r>
            <a:endParaRPr lang="zh-CN" altLang="en-US" sz="4800" b="1" dirty="0">
              <a:solidFill>
                <a:srgbClr val="47100A"/>
              </a:solidFill>
              <a:latin typeface="Times New Roman" panose="02020603050405020304" pitchFamily="18" charset="0"/>
              <a:ea typeface="思源黑体 CN Regular" panose="020B05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13432" y="2624317"/>
            <a:ext cx="4310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47100A"/>
                </a:solidFill>
                <a:latin typeface="Times New Roman" panose="02020603050405020304" pitchFamily="18" charset="0"/>
                <a:ea typeface="思源黑体 CN Regular" panose="020B0500000000000000" pitchFamily="34" charset="-122"/>
                <a:cs typeface="Times New Roman" panose="02020603050405020304" pitchFamily="18" charset="0"/>
              </a:rPr>
              <a:t>Project Introduction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6263217" y="3236306"/>
            <a:ext cx="3610778" cy="0"/>
          </a:xfrm>
          <a:prstGeom prst="line">
            <a:avLst/>
          </a:prstGeom>
          <a:ln w="28575">
            <a:solidFill>
              <a:srgbClr val="4710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图片 5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24727" y="2387135"/>
            <a:ext cx="1646235" cy="1695405"/>
          </a:xfrm>
          <a:prstGeom prst="ellipse">
            <a:avLst/>
          </a:prstGeom>
          <a:ln w="95250">
            <a:solidFill>
              <a:schemeClr val="bg1"/>
            </a:solidFill>
          </a:ln>
        </p:spPr>
      </p:pic>
      <p:cxnSp>
        <p:nvCxnSpPr>
          <p:cNvPr id="5" name="直接连接符 4"/>
          <p:cNvCxnSpPr/>
          <p:nvPr/>
        </p:nvCxnSpPr>
        <p:spPr>
          <a:xfrm>
            <a:off x="2849057" y="3277678"/>
            <a:ext cx="6481185" cy="0"/>
          </a:xfrm>
          <a:prstGeom prst="line">
            <a:avLst/>
          </a:prstGeom>
          <a:ln w="3175" cap="rnd">
            <a:solidFill>
              <a:schemeClr val="bg1">
                <a:lumMod val="75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îṡḷïḋè"/>
          <p:cNvSpPr/>
          <p:nvPr/>
        </p:nvSpPr>
        <p:spPr>
          <a:xfrm>
            <a:off x="5450840" y="2649220"/>
            <a:ext cx="1193800" cy="1200150"/>
          </a:xfrm>
          <a:custGeom>
            <a:avLst/>
            <a:gdLst>
              <a:gd name="connsiteX0" fmla="*/ 0 w 1945905"/>
              <a:gd name="connsiteY0" fmla="*/ 972953 h 1945905"/>
              <a:gd name="connsiteX1" fmla="*/ 972953 w 1945905"/>
              <a:gd name="connsiteY1" fmla="*/ 0 h 1945905"/>
              <a:gd name="connsiteX2" fmla="*/ 1945906 w 1945905"/>
              <a:gd name="connsiteY2" fmla="*/ 972953 h 1945905"/>
              <a:gd name="connsiteX3" fmla="*/ 972953 w 1945905"/>
              <a:gd name="connsiteY3" fmla="*/ 1945906 h 1945905"/>
              <a:gd name="connsiteX4" fmla="*/ 0 w 1945905"/>
              <a:gd name="connsiteY4" fmla="*/ 972953 h 1945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45905" h="1945905">
                <a:moveTo>
                  <a:pt x="0" y="972953"/>
                </a:moveTo>
                <a:cubicBezTo>
                  <a:pt x="0" y="435606"/>
                  <a:pt x="435606" y="0"/>
                  <a:pt x="972953" y="0"/>
                </a:cubicBezTo>
                <a:cubicBezTo>
                  <a:pt x="1510300" y="0"/>
                  <a:pt x="1945906" y="435606"/>
                  <a:pt x="1945906" y="972953"/>
                </a:cubicBezTo>
                <a:cubicBezTo>
                  <a:pt x="1945906" y="1510300"/>
                  <a:pt x="1510300" y="1945906"/>
                  <a:pt x="972953" y="1945906"/>
                </a:cubicBezTo>
                <a:cubicBezTo>
                  <a:pt x="435606" y="1945906"/>
                  <a:pt x="0" y="1510300"/>
                  <a:pt x="0" y="972953"/>
                </a:cubicBezTo>
                <a:close/>
              </a:path>
            </a:pathLst>
          </a:custGeom>
          <a:solidFill>
            <a:srgbClr val="47100A"/>
          </a:solidFill>
          <a:ln w="57150">
            <a:solidFill>
              <a:schemeClr val="bg1">
                <a:alpha val="54000"/>
              </a:schemeClr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9156" tIns="169156" rIns="169156" bIns="169156" numCol="1" spcCol="1270" anchor="ctr" anchorCtr="0">
            <a:noAutofit/>
          </a:bodyPr>
          <a:lstStyle/>
          <a:p>
            <a:pPr algn="ctr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100" dirty="0">
              <a:ea typeface="思源黑体 Medium" panose="020B0600000000000000" pitchFamily="34" charset="-122"/>
            </a:endParaRPr>
          </a:p>
        </p:txBody>
      </p:sp>
      <p:grpSp>
        <p:nvGrpSpPr>
          <p:cNvPr id="6" name="îŝ1îḓé"/>
          <p:cNvGrpSpPr/>
          <p:nvPr/>
        </p:nvGrpSpPr>
        <p:grpSpPr>
          <a:xfrm rot="10800000">
            <a:off x="8046496" y="3144328"/>
            <a:ext cx="266700" cy="266700"/>
            <a:chOff x="6548437" y="533400"/>
            <a:chExt cx="266700" cy="266700"/>
          </a:xfrm>
        </p:grpSpPr>
        <p:sp>
          <p:nvSpPr>
            <p:cNvPr id="50" name="iś1íde"/>
            <p:cNvSpPr/>
            <p:nvPr/>
          </p:nvSpPr>
          <p:spPr>
            <a:xfrm>
              <a:off x="6548437" y="533400"/>
              <a:ext cx="266700" cy="266700"/>
            </a:xfrm>
            <a:prstGeom prst="ellipse">
              <a:avLst/>
            </a:prstGeom>
            <a:solidFill>
              <a:srgbClr val="47100A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32500" lnSpcReduction="20000"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  <a:ea typeface="思源黑体 Medium" panose="020B0600000000000000" pitchFamily="34" charset="-122"/>
              </a:endParaRPr>
            </a:p>
          </p:txBody>
        </p:sp>
        <p:sp>
          <p:nvSpPr>
            <p:cNvPr id="51" name="i$lïḋe"/>
            <p:cNvSpPr/>
            <p:nvPr/>
          </p:nvSpPr>
          <p:spPr>
            <a:xfrm>
              <a:off x="6629400" y="609600"/>
              <a:ext cx="104775" cy="104775"/>
            </a:xfrm>
            <a:prstGeom prst="chevron">
              <a:avLst/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  <a:ea typeface="思源黑体 Medium" panose="020B0600000000000000" pitchFamily="34" charset="-122"/>
              </a:endParaRPr>
            </a:p>
          </p:txBody>
        </p:sp>
      </p:grpSp>
      <p:grpSp>
        <p:nvGrpSpPr>
          <p:cNvPr id="7" name="ïṧļîḋe"/>
          <p:cNvGrpSpPr/>
          <p:nvPr/>
        </p:nvGrpSpPr>
        <p:grpSpPr>
          <a:xfrm rot="10800000">
            <a:off x="3773802" y="3144328"/>
            <a:ext cx="266700" cy="266700"/>
            <a:chOff x="6548437" y="533400"/>
            <a:chExt cx="266700" cy="266700"/>
          </a:xfrm>
        </p:grpSpPr>
        <p:sp>
          <p:nvSpPr>
            <p:cNvPr id="48" name="iSlîḑè"/>
            <p:cNvSpPr/>
            <p:nvPr/>
          </p:nvSpPr>
          <p:spPr>
            <a:xfrm>
              <a:off x="6548437" y="533400"/>
              <a:ext cx="266700" cy="266700"/>
            </a:xfrm>
            <a:prstGeom prst="ellipse">
              <a:avLst/>
            </a:prstGeom>
            <a:solidFill>
              <a:srgbClr val="47100A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32500" lnSpcReduction="20000"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  <a:ea typeface="思源黑体 Medium" panose="020B0600000000000000" pitchFamily="34" charset="-122"/>
              </a:endParaRPr>
            </a:p>
          </p:txBody>
        </p:sp>
        <p:sp>
          <p:nvSpPr>
            <p:cNvPr id="49" name="iṩḻïḓé"/>
            <p:cNvSpPr/>
            <p:nvPr/>
          </p:nvSpPr>
          <p:spPr>
            <a:xfrm rot="10800000">
              <a:off x="6629400" y="609600"/>
              <a:ext cx="104775" cy="104775"/>
            </a:xfrm>
            <a:prstGeom prst="chevron">
              <a:avLst/>
            </a:prstGeom>
            <a:solidFill>
              <a:schemeClr val="bg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2000" b="1" dirty="0">
                <a:solidFill>
                  <a:schemeClr val="bg1"/>
                </a:solidFill>
                <a:ea typeface="思源黑体 Medium" panose="020B0600000000000000" pitchFamily="34" charset="-122"/>
              </a:endParaRPr>
            </a:p>
          </p:txBody>
        </p:sp>
      </p:grpSp>
      <p:sp>
        <p:nvSpPr>
          <p:cNvPr id="11" name="í$1ídè"/>
          <p:cNvSpPr/>
          <p:nvPr/>
        </p:nvSpPr>
        <p:spPr bwMode="auto">
          <a:xfrm>
            <a:off x="1832070" y="3017680"/>
            <a:ext cx="511244" cy="5104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ea typeface="思源黑体 Medium" panose="020B0600000000000000" pitchFamily="34" charset="-122"/>
            </a:endParaRPr>
          </a:p>
        </p:txBody>
      </p:sp>
      <p:sp>
        <p:nvSpPr>
          <p:cNvPr id="13" name="î$ľídê"/>
          <p:cNvSpPr/>
          <p:nvPr/>
        </p:nvSpPr>
        <p:spPr bwMode="auto">
          <a:xfrm>
            <a:off x="9830620" y="3022443"/>
            <a:ext cx="511244" cy="51047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zh-CN" altLang="en-US">
              <a:ea typeface="思源黑体 Medium" panose="020B0600000000000000" pitchFamily="34" charset="-122"/>
            </a:endParaRPr>
          </a:p>
        </p:txBody>
      </p:sp>
      <p:sp>
        <p:nvSpPr>
          <p:cNvPr id="14" name="iṣḷidè"/>
          <p:cNvSpPr/>
          <p:nvPr/>
        </p:nvSpPr>
        <p:spPr>
          <a:xfrm>
            <a:off x="1196975" y="2244725"/>
            <a:ext cx="1391920" cy="1555115"/>
          </a:xfrm>
          <a:custGeom>
            <a:avLst/>
            <a:gdLst>
              <a:gd name="connsiteX0" fmla="*/ 47370 w 595290"/>
              <a:gd name="connsiteY0" fmla="*/ 369974 h 607921"/>
              <a:gd name="connsiteX1" fmla="*/ 48020 w 595290"/>
              <a:gd name="connsiteY1" fmla="*/ 369974 h 607921"/>
              <a:gd name="connsiteX2" fmla="*/ 96040 w 595290"/>
              <a:gd name="connsiteY2" fmla="*/ 417923 h 607921"/>
              <a:gd name="connsiteX3" fmla="*/ 48020 w 595290"/>
              <a:gd name="connsiteY3" fmla="*/ 465872 h 607921"/>
              <a:gd name="connsiteX4" fmla="*/ 47370 w 595290"/>
              <a:gd name="connsiteY4" fmla="*/ 465872 h 607921"/>
              <a:gd name="connsiteX5" fmla="*/ 37366 w 595290"/>
              <a:gd name="connsiteY5" fmla="*/ 464673 h 607921"/>
              <a:gd name="connsiteX6" fmla="*/ 27361 w 595290"/>
              <a:gd name="connsiteY6" fmla="*/ 461177 h 607921"/>
              <a:gd name="connsiteX7" fmla="*/ 0 w 595290"/>
              <a:gd name="connsiteY7" fmla="*/ 417923 h 607921"/>
              <a:gd name="connsiteX8" fmla="*/ 27361 w 595290"/>
              <a:gd name="connsiteY8" fmla="*/ 374619 h 607921"/>
              <a:gd name="connsiteX9" fmla="*/ 37366 w 595290"/>
              <a:gd name="connsiteY9" fmla="*/ 371173 h 607921"/>
              <a:gd name="connsiteX10" fmla="*/ 47370 w 595290"/>
              <a:gd name="connsiteY10" fmla="*/ 369974 h 607921"/>
              <a:gd name="connsiteX11" fmla="*/ 547270 w 595290"/>
              <a:gd name="connsiteY11" fmla="*/ 369833 h 607921"/>
              <a:gd name="connsiteX12" fmla="*/ 557274 w 595290"/>
              <a:gd name="connsiteY12" fmla="*/ 370882 h 607921"/>
              <a:gd name="connsiteX13" fmla="*/ 567278 w 595290"/>
              <a:gd name="connsiteY13" fmla="*/ 374228 h 607921"/>
              <a:gd name="connsiteX14" fmla="*/ 595290 w 595290"/>
              <a:gd name="connsiteY14" fmla="*/ 417828 h 607921"/>
              <a:gd name="connsiteX15" fmla="*/ 567278 w 595290"/>
              <a:gd name="connsiteY15" fmla="*/ 461478 h 607921"/>
              <a:gd name="connsiteX16" fmla="*/ 557274 w 595290"/>
              <a:gd name="connsiteY16" fmla="*/ 464774 h 607921"/>
              <a:gd name="connsiteX17" fmla="*/ 547270 w 595290"/>
              <a:gd name="connsiteY17" fmla="*/ 465873 h 607921"/>
              <a:gd name="connsiteX18" fmla="*/ 499250 w 595290"/>
              <a:gd name="connsiteY18" fmla="*/ 417928 h 607921"/>
              <a:gd name="connsiteX19" fmla="*/ 547270 w 595290"/>
              <a:gd name="connsiteY19" fmla="*/ 369833 h 607921"/>
              <a:gd name="connsiteX20" fmla="*/ 172366 w 595290"/>
              <a:gd name="connsiteY20" fmla="*/ 284449 h 607921"/>
              <a:gd name="connsiteX21" fmla="*/ 297363 w 595290"/>
              <a:gd name="connsiteY21" fmla="*/ 306124 h 607921"/>
              <a:gd name="connsiteX22" fmla="*/ 422360 w 595290"/>
              <a:gd name="connsiteY22" fmla="*/ 284449 h 607921"/>
              <a:gd name="connsiteX23" fmla="*/ 535652 w 595290"/>
              <a:gd name="connsiteY23" fmla="*/ 302128 h 607921"/>
              <a:gd name="connsiteX24" fmla="*/ 547306 w 595290"/>
              <a:gd name="connsiteY24" fmla="*/ 318010 h 607921"/>
              <a:gd name="connsiteX25" fmla="*/ 547306 w 595290"/>
              <a:gd name="connsiteY25" fmla="*/ 345977 h 607921"/>
              <a:gd name="connsiteX26" fmla="*/ 496387 w 595290"/>
              <a:gd name="connsiteY26" fmla="*/ 367002 h 607921"/>
              <a:gd name="connsiteX27" fmla="*/ 475279 w 595290"/>
              <a:gd name="connsiteY27" fmla="*/ 417893 h 607921"/>
              <a:gd name="connsiteX28" fmla="*/ 496387 w 595290"/>
              <a:gd name="connsiteY28" fmla="*/ 468734 h 607921"/>
              <a:gd name="connsiteX29" fmla="*/ 547306 w 595290"/>
              <a:gd name="connsiteY29" fmla="*/ 489809 h 607921"/>
              <a:gd name="connsiteX30" fmla="*/ 547306 w 595290"/>
              <a:gd name="connsiteY30" fmla="*/ 586197 h 607921"/>
              <a:gd name="connsiteX31" fmla="*/ 530700 w 595290"/>
              <a:gd name="connsiteY31" fmla="*/ 602877 h 607921"/>
              <a:gd name="connsiteX32" fmla="*/ 527299 w 595290"/>
              <a:gd name="connsiteY32" fmla="*/ 602527 h 607921"/>
              <a:gd name="connsiteX33" fmla="*/ 422360 w 595290"/>
              <a:gd name="connsiteY33" fmla="*/ 594087 h 607921"/>
              <a:gd name="connsiteX34" fmla="*/ 297363 w 595290"/>
              <a:gd name="connsiteY34" fmla="*/ 607921 h 607921"/>
              <a:gd name="connsiteX35" fmla="*/ 172366 w 595290"/>
              <a:gd name="connsiteY35" fmla="*/ 594087 h 607921"/>
              <a:gd name="connsiteX36" fmla="*/ 67427 w 595290"/>
              <a:gd name="connsiteY36" fmla="*/ 602527 h 607921"/>
              <a:gd name="connsiteX37" fmla="*/ 64026 w 595290"/>
              <a:gd name="connsiteY37" fmla="*/ 602877 h 607921"/>
              <a:gd name="connsiteX38" fmla="*/ 47420 w 595290"/>
              <a:gd name="connsiteY38" fmla="*/ 586197 h 607921"/>
              <a:gd name="connsiteX39" fmla="*/ 47420 w 595290"/>
              <a:gd name="connsiteY39" fmla="*/ 489809 h 607921"/>
              <a:gd name="connsiteX40" fmla="*/ 48070 w 595290"/>
              <a:gd name="connsiteY40" fmla="*/ 489809 h 607921"/>
              <a:gd name="connsiteX41" fmla="*/ 99039 w 595290"/>
              <a:gd name="connsiteY41" fmla="*/ 468734 h 607921"/>
              <a:gd name="connsiteX42" fmla="*/ 120097 w 595290"/>
              <a:gd name="connsiteY42" fmla="*/ 417893 h 607921"/>
              <a:gd name="connsiteX43" fmla="*/ 99039 w 595290"/>
              <a:gd name="connsiteY43" fmla="*/ 367002 h 607921"/>
              <a:gd name="connsiteX44" fmla="*/ 48070 w 595290"/>
              <a:gd name="connsiteY44" fmla="*/ 345977 h 607921"/>
              <a:gd name="connsiteX45" fmla="*/ 47420 w 595290"/>
              <a:gd name="connsiteY45" fmla="*/ 345977 h 607921"/>
              <a:gd name="connsiteX46" fmla="*/ 47420 w 595290"/>
              <a:gd name="connsiteY46" fmla="*/ 318010 h 607921"/>
              <a:gd name="connsiteX47" fmla="*/ 59074 w 595290"/>
              <a:gd name="connsiteY47" fmla="*/ 302128 h 607921"/>
              <a:gd name="connsiteX48" fmla="*/ 172366 w 595290"/>
              <a:gd name="connsiteY48" fmla="*/ 284449 h 607921"/>
              <a:gd name="connsiteX49" fmla="*/ 297363 w 595290"/>
              <a:gd name="connsiteY49" fmla="*/ 0 h 607921"/>
              <a:gd name="connsiteX50" fmla="*/ 432355 w 595290"/>
              <a:gd name="connsiteY50" fmla="*/ 134780 h 607921"/>
              <a:gd name="connsiteX51" fmla="*/ 297363 w 595290"/>
              <a:gd name="connsiteY51" fmla="*/ 269560 h 607921"/>
              <a:gd name="connsiteX52" fmla="*/ 162371 w 595290"/>
              <a:gd name="connsiteY52" fmla="*/ 134780 h 607921"/>
              <a:gd name="connsiteX53" fmla="*/ 297363 w 595290"/>
              <a:gd name="connsiteY53" fmla="*/ 0 h 607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595290" h="607921">
                <a:moveTo>
                  <a:pt x="47370" y="369974"/>
                </a:moveTo>
                <a:lnTo>
                  <a:pt x="48020" y="369974"/>
                </a:lnTo>
                <a:cubicBezTo>
                  <a:pt x="74581" y="369974"/>
                  <a:pt x="96040" y="391401"/>
                  <a:pt x="96040" y="417923"/>
                </a:cubicBezTo>
                <a:cubicBezTo>
                  <a:pt x="96040" y="444395"/>
                  <a:pt x="74581" y="465872"/>
                  <a:pt x="48020" y="465872"/>
                </a:cubicBezTo>
                <a:lnTo>
                  <a:pt x="47370" y="465872"/>
                </a:lnTo>
                <a:cubicBezTo>
                  <a:pt x="43968" y="465772"/>
                  <a:pt x="40567" y="465373"/>
                  <a:pt x="37366" y="464673"/>
                </a:cubicBezTo>
                <a:cubicBezTo>
                  <a:pt x="33864" y="463874"/>
                  <a:pt x="30463" y="462725"/>
                  <a:pt x="27361" y="461177"/>
                </a:cubicBezTo>
                <a:cubicBezTo>
                  <a:pt x="11205" y="453485"/>
                  <a:pt x="0" y="437003"/>
                  <a:pt x="0" y="417923"/>
                </a:cubicBezTo>
                <a:cubicBezTo>
                  <a:pt x="0" y="398793"/>
                  <a:pt x="11155" y="382361"/>
                  <a:pt x="27361" y="374619"/>
                </a:cubicBezTo>
                <a:cubicBezTo>
                  <a:pt x="30463" y="373071"/>
                  <a:pt x="33864" y="371972"/>
                  <a:pt x="37366" y="371173"/>
                </a:cubicBezTo>
                <a:cubicBezTo>
                  <a:pt x="40617" y="370424"/>
                  <a:pt x="43968" y="370024"/>
                  <a:pt x="47370" y="369974"/>
                </a:cubicBezTo>
                <a:close/>
                <a:moveTo>
                  <a:pt x="547270" y="369833"/>
                </a:moveTo>
                <a:cubicBezTo>
                  <a:pt x="550671" y="369833"/>
                  <a:pt x="554073" y="370233"/>
                  <a:pt x="557274" y="370882"/>
                </a:cubicBezTo>
                <a:cubicBezTo>
                  <a:pt x="560726" y="371631"/>
                  <a:pt x="564127" y="372780"/>
                  <a:pt x="567278" y="374228"/>
                </a:cubicBezTo>
                <a:cubicBezTo>
                  <a:pt x="583835" y="381819"/>
                  <a:pt x="595290" y="398450"/>
                  <a:pt x="595290" y="417828"/>
                </a:cubicBezTo>
                <a:cubicBezTo>
                  <a:pt x="595290" y="437206"/>
                  <a:pt x="583835" y="453887"/>
                  <a:pt x="567278" y="461478"/>
                </a:cubicBezTo>
                <a:cubicBezTo>
                  <a:pt x="564127" y="462927"/>
                  <a:pt x="560726" y="464075"/>
                  <a:pt x="557274" y="464774"/>
                </a:cubicBezTo>
                <a:cubicBezTo>
                  <a:pt x="554073" y="465524"/>
                  <a:pt x="550671" y="465873"/>
                  <a:pt x="547270" y="465873"/>
                </a:cubicBezTo>
                <a:cubicBezTo>
                  <a:pt x="520709" y="465873"/>
                  <a:pt x="499250" y="444398"/>
                  <a:pt x="499250" y="417928"/>
                </a:cubicBezTo>
                <a:cubicBezTo>
                  <a:pt x="499250" y="391458"/>
                  <a:pt x="520709" y="369983"/>
                  <a:pt x="547270" y="369833"/>
                </a:cubicBezTo>
                <a:close/>
                <a:moveTo>
                  <a:pt x="172366" y="284449"/>
                </a:moveTo>
                <a:cubicBezTo>
                  <a:pt x="241392" y="284449"/>
                  <a:pt x="297363" y="306124"/>
                  <a:pt x="297363" y="306124"/>
                </a:cubicBezTo>
                <a:cubicBezTo>
                  <a:pt x="297363" y="306124"/>
                  <a:pt x="353334" y="284449"/>
                  <a:pt x="422360" y="284449"/>
                </a:cubicBezTo>
                <a:cubicBezTo>
                  <a:pt x="472478" y="284449"/>
                  <a:pt x="515794" y="295886"/>
                  <a:pt x="535652" y="302128"/>
                </a:cubicBezTo>
                <a:cubicBezTo>
                  <a:pt x="542604" y="304276"/>
                  <a:pt x="547306" y="310718"/>
                  <a:pt x="547306" y="318010"/>
                </a:cubicBezTo>
                <a:lnTo>
                  <a:pt x="547306" y="345977"/>
                </a:lnTo>
                <a:cubicBezTo>
                  <a:pt x="528049" y="345977"/>
                  <a:pt x="509992" y="353418"/>
                  <a:pt x="496387" y="367002"/>
                </a:cubicBezTo>
                <a:cubicBezTo>
                  <a:pt x="482782" y="380587"/>
                  <a:pt x="475279" y="398716"/>
                  <a:pt x="475279" y="417893"/>
                </a:cubicBezTo>
                <a:cubicBezTo>
                  <a:pt x="475279" y="437121"/>
                  <a:pt x="482782" y="455150"/>
                  <a:pt x="496387" y="468734"/>
                </a:cubicBezTo>
                <a:cubicBezTo>
                  <a:pt x="509992" y="482318"/>
                  <a:pt x="528099" y="489809"/>
                  <a:pt x="547306" y="489809"/>
                </a:cubicBezTo>
                <a:lnTo>
                  <a:pt x="547306" y="586197"/>
                </a:lnTo>
                <a:cubicBezTo>
                  <a:pt x="547306" y="595586"/>
                  <a:pt x="539703" y="602877"/>
                  <a:pt x="530700" y="602877"/>
                </a:cubicBezTo>
                <a:cubicBezTo>
                  <a:pt x="529599" y="602877"/>
                  <a:pt x="528449" y="602727"/>
                  <a:pt x="527299" y="602527"/>
                </a:cubicBezTo>
                <a:cubicBezTo>
                  <a:pt x="502039" y="597334"/>
                  <a:pt x="464425" y="594087"/>
                  <a:pt x="422360" y="594087"/>
                </a:cubicBezTo>
                <a:cubicBezTo>
                  <a:pt x="366939" y="594087"/>
                  <a:pt x="319171" y="599731"/>
                  <a:pt x="297363" y="607921"/>
                </a:cubicBezTo>
                <a:cubicBezTo>
                  <a:pt x="275505" y="599731"/>
                  <a:pt x="227737" y="594087"/>
                  <a:pt x="172366" y="594087"/>
                </a:cubicBezTo>
                <a:cubicBezTo>
                  <a:pt x="130301" y="594087"/>
                  <a:pt x="92687" y="597383"/>
                  <a:pt x="67427" y="602527"/>
                </a:cubicBezTo>
                <a:cubicBezTo>
                  <a:pt x="66277" y="602727"/>
                  <a:pt x="65127" y="602877"/>
                  <a:pt x="64026" y="602877"/>
                </a:cubicBezTo>
                <a:cubicBezTo>
                  <a:pt x="55073" y="602877"/>
                  <a:pt x="47420" y="595586"/>
                  <a:pt x="47420" y="586197"/>
                </a:cubicBezTo>
                <a:lnTo>
                  <a:pt x="47420" y="489809"/>
                </a:lnTo>
                <a:lnTo>
                  <a:pt x="48070" y="489809"/>
                </a:lnTo>
                <a:cubicBezTo>
                  <a:pt x="67327" y="489809"/>
                  <a:pt x="85434" y="482318"/>
                  <a:pt x="99039" y="468734"/>
                </a:cubicBezTo>
                <a:cubicBezTo>
                  <a:pt x="112644" y="455150"/>
                  <a:pt x="120097" y="437071"/>
                  <a:pt x="120097" y="417893"/>
                </a:cubicBezTo>
                <a:cubicBezTo>
                  <a:pt x="120097" y="398616"/>
                  <a:pt x="112644" y="380587"/>
                  <a:pt x="99039" y="367002"/>
                </a:cubicBezTo>
                <a:cubicBezTo>
                  <a:pt x="85434" y="353418"/>
                  <a:pt x="67277" y="345977"/>
                  <a:pt x="48070" y="345977"/>
                </a:cubicBezTo>
                <a:lnTo>
                  <a:pt x="47420" y="345977"/>
                </a:lnTo>
                <a:lnTo>
                  <a:pt x="47420" y="318010"/>
                </a:lnTo>
                <a:cubicBezTo>
                  <a:pt x="47420" y="310718"/>
                  <a:pt x="52122" y="304326"/>
                  <a:pt x="59074" y="302128"/>
                </a:cubicBezTo>
                <a:cubicBezTo>
                  <a:pt x="78932" y="295886"/>
                  <a:pt x="122248" y="284449"/>
                  <a:pt x="172366" y="284449"/>
                </a:cubicBezTo>
                <a:close/>
                <a:moveTo>
                  <a:pt x="297363" y="0"/>
                </a:moveTo>
                <a:cubicBezTo>
                  <a:pt x="371917" y="0"/>
                  <a:pt x="432355" y="60343"/>
                  <a:pt x="432355" y="134780"/>
                </a:cubicBezTo>
                <a:cubicBezTo>
                  <a:pt x="432355" y="209217"/>
                  <a:pt x="371917" y="269560"/>
                  <a:pt x="297363" y="269560"/>
                </a:cubicBezTo>
                <a:cubicBezTo>
                  <a:pt x="222809" y="269560"/>
                  <a:pt x="162371" y="209217"/>
                  <a:pt x="162371" y="134780"/>
                </a:cubicBezTo>
                <a:cubicBezTo>
                  <a:pt x="162371" y="60343"/>
                  <a:pt x="222809" y="0"/>
                  <a:pt x="297363" y="0"/>
                </a:cubicBezTo>
                <a:close/>
              </a:path>
            </a:pathLst>
          </a:custGeom>
          <a:solidFill>
            <a:srgbClr val="47100A"/>
          </a:solidFill>
          <a:ln w="190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bg1"/>
              </a:solidFill>
              <a:ea typeface="思源黑体 Medium" panose="020B0600000000000000" pitchFamily="34" charset="-122"/>
            </a:endParaRPr>
          </a:p>
        </p:txBody>
      </p:sp>
      <p:sp>
        <p:nvSpPr>
          <p:cNvPr id="19" name="í$1íḑê"/>
          <p:cNvSpPr txBox="1"/>
          <p:nvPr/>
        </p:nvSpPr>
        <p:spPr bwMode="auto">
          <a:xfrm>
            <a:off x="501971" y="4346445"/>
            <a:ext cx="2899724" cy="33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b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47100A"/>
                </a:solidFill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rPr>
              <a:t>borrowers</a:t>
            </a:r>
          </a:p>
        </p:txBody>
      </p:sp>
      <p:sp>
        <p:nvSpPr>
          <p:cNvPr id="20" name="ïşľíḓê"/>
          <p:cNvSpPr/>
          <p:nvPr/>
        </p:nvSpPr>
        <p:spPr bwMode="auto">
          <a:xfrm>
            <a:off x="382105" y="4795437"/>
            <a:ext cx="3658397" cy="1207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rPr>
              <a:t>Have funding needs and announce the loan interest rate they can afford</a:t>
            </a:r>
          </a:p>
        </p:txBody>
      </p:sp>
      <p:grpSp>
        <p:nvGrpSpPr>
          <p:cNvPr id="21" name="ïsľíḓè"/>
          <p:cNvGrpSpPr/>
          <p:nvPr/>
        </p:nvGrpSpPr>
        <p:grpSpPr>
          <a:xfrm>
            <a:off x="4584543" y="4460937"/>
            <a:ext cx="3168015" cy="1755140"/>
            <a:chOff x="790037" y="4113557"/>
            <a:chExt cx="2813378" cy="1755140"/>
          </a:xfrm>
        </p:grpSpPr>
        <p:sp>
          <p:nvSpPr>
            <p:cNvPr id="26" name="ïṥľîdê"/>
            <p:cNvSpPr txBox="1"/>
            <p:nvPr/>
          </p:nvSpPr>
          <p:spPr bwMode="auto">
            <a:xfrm>
              <a:off x="844737" y="4113557"/>
              <a:ext cx="2575120" cy="3345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eaLnBrk="1" hangingPunct="1">
                <a:lnSpc>
                  <a:spcPct val="11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800" b="1" dirty="0">
                  <a:solidFill>
                    <a:srgbClr val="47100A"/>
                  </a:solidFill>
                  <a:latin typeface="Times New Roman" panose="02020603050405020304" pitchFamily="18" charset="0"/>
                  <a:ea typeface="思源黑体 Medium" panose="020B0600000000000000" pitchFamily="34" charset="-122"/>
                  <a:cs typeface="Times New Roman" panose="02020603050405020304" pitchFamily="18" charset="0"/>
                </a:rPr>
                <a:t>Platform</a:t>
              </a:r>
            </a:p>
          </p:txBody>
        </p:sp>
        <p:sp>
          <p:nvSpPr>
            <p:cNvPr id="27" name="í$ľîḑé"/>
            <p:cNvSpPr/>
            <p:nvPr/>
          </p:nvSpPr>
          <p:spPr bwMode="auto">
            <a:xfrm>
              <a:off x="790037" y="4380892"/>
              <a:ext cx="2813378" cy="14878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t" anchorCtr="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285750" indent="-28575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Times New Roman" panose="02020603050405020304" pitchFamily="18" charset="0"/>
                  <a:ea typeface="思源黑体 Medium" panose="020B0600000000000000" pitchFamily="34" charset="-122"/>
                  <a:cs typeface="Times New Roman" panose="02020603050405020304" pitchFamily="18" charset="0"/>
                </a:rPr>
                <a:t>Providing services to both borrowers and lenders</a:t>
              </a:r>
            </a:p>
            <a:p>
              <a:pPr marL="285750" indent="-28575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Times New Roman" panose="02020603050405020304" pitchFamily="18" charset="0"/>
                  <a:ea typeface="思源黑体 Medium" panose="020B0600000000000000" pitchFamily="34" charset="-122"/>
                  <a:cs typeface="Times New Roman" panose="02020603050405020304" pitchFamily="18" charset="0"/>
                </a:rPr>
                <a:t>act as an intermediary in the process</a:t>
              </a:r>
            </a:p>
            <a:p>
              <a:pPr marL="285750" indent="-285750" algn="l">
                <a:lnSpc>
                  <a:spcPct val="120000"/>
                </a:lnSpc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Times New Roman" panose="02020603050405020304" pitchFamily="18" charset="0"/>
                  <a:ea typeface="思源黑体 Medium" panose="020B0600000000000000" pitchFamily="34" charset="-122"/>
                  <a:cs typeface="Times New Roman" panose="02020603050405020304" pitchFamily="18" charset="0"/>
                </a:rPr>
                <a:t>Charge service fees</a:t>
              </a:r>
            </a:p>
            <a:p>
              <a:pPr algn="l">
                <a:lnSpc>
                  <a:spcPct val="120000"/>
                </a:lnSpc>
              </a:pPr>
              <a:endParaRPr lang="en-US" altLang="zh-CN" dirty="0"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2" name="iṥ1ïḓê"/>
          <p:cNvSpPr txBox="1"/>
          <p:nvPr/>
        </p:nvSpPr>
        <p:spPr bwMode="auto">
          <a:xfrm>
            <a:off x="8892002" y="4366896"/>
            <a:ext cx="2899724" cy="33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b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en-US" altLang="zh-CN" sz="2800" b="1" dirty="0">
                <a:solidFill>
                  <a:srgbClr val="47100A"/>
                </a:solidFill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rPr>
              <a:t>lenders</a:t>
            </a:r>
          </a:p>
        </p:txBody>
      </p:sp>
      <p:sp>
        <p:nvSpPr>
          <p:cNvPr id="23" name="ïSḻîde"/>
          <p:cNvSpPr/>
          <p:nvPr/>
        </p:nvSpPr>
        <p:spPr bwMode="auto">
          <a:xfrm>
            <a:off x="8997001" y="4776738"/>
            <a:ext cx="2899724" cy="780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zh-CN" dirty="0"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rPr>
              <a:t>Select borrowers with high interest rates and good credit to provide financial support</a:t>
            </a:r>
          </a:p>
        </p:txBody>
      </p:sp>
      <p:sp>
        <p:nvSpPr>
          <p:cNvPr id="59" name="矩形 58"/>
          <p:cNvSpPr/>
          <p:nvPr/>
        </p:nvSpPr>
        <p:spPr>
          <a:xfrm>
            <a:off x="1101786" y="819163"/>
            <a:ext cx="5165197" cy="523220"/>
          </a:xfrm>
          <a:prstGeom prst="rect">
            <a:avLst/>
          </a:prstGeom>
          <a:effectLst/>
        </p:spPr>
        <p:txBody>
          <a:bodyPr vert="horz" wrap="none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47100A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What is P2P Online Lending </a:t>
            </a:r>
            <a:r>
              <a:rPr lang="zh-CN" altLang="en-US" sz="2800" b="1" dirty="0">
                <a:solidFill>
                  <a:srgbClr val="47100A"/>
                </a:solidFill>
                <a:latin typeface="Times New Roman" panose="02020603050405020304" pitchFamily="18" charset="0"/>
                <a:ea typeface="方正公文小标宋" panose="02000500000000000000" charset="-122"/>
                <a:cs typeface="Times New Roman" panose="02020603050405020304" pitchFamily="18" charset="0"/>
                <a:sym typeface="+mn-ea"/>
              </a:rPr>
              <a:t>？</a:t>
            </a:r>
          </a:p>
        </p:txBody>
      </p:sp>
      <p:sp>
        <p:nvSpPr>
          <p:cNvPr id="60" name="iŝľiḓê"/>
          <p:cNvSpPr/>
          <p:nvPr/>
        </p:nvSpPr>
        <p:spPr bwMode="auto">
          <a:xfrm>
            <a:off x="494486" y="859064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</a:endParaRPr>
          </a:p>
        </p:txBody>
      </p:sp>
      <p:sp>
        <p:nvSpPr>
          <p:cNvPr id="2" name="iṣḷidè"/>
          <p:cNvSpPr/>
          <p:nvPr/>
        </p:nvSpPr>
        <p:spPr>
          <a:xfrm>
            <a:off x="9603105" y="2244725"/>
            <a:ext cx="1391920" cy="1555115"/>
          </a:xfrm>
          <a:custGeom>
            <a:avLst/>
            <a:gdLst>
              <a:gd name="connsiteX0" fmla="*/ 47370 w 595290"/>
              <a:gd name="connsiteY0" fmla="*/ 369974 h 607921"/>
              <a:gd name="connsiteX1" fmla="*/ 48020 w 595290"/>
              <a:gd name="connsiteY1" fmla="*/ 369974 h 607921"/>
              <a:gd name="connsiteX2" fmla="*/ 96040 w 595290"/>
              <a:gd name="connsiteY2" fmla="*/ 417923 h 607921"/>
              <a:gd name="connsiteX3" fmla="*/ 48020 w 595290"/>
              <a:gd name="connsiteY3" fmla="*/ 465872 h 607921"/>
              <a:gd name="connsiteX4" fmla="*/ 47370 w 595290"/>
              <a:gd name="connsiteY4" fmla="*/ 465872 h 607921"/>
              <a:gd name="connsiteX5" fmla="*/ 37366 w 595290"/>
              <a:gd name="connsiteY5" fmla="*/ 464673 h 607921"/>
              <a:gd name="connsiteX6" fmla="*/ 27361 w 595290"/>
              <a:gd name="connsiteY6" fmla="*/ 461177 h 607921"/>
              <a:gd name="connsiteX7" fmla="*/ 0 w 595290"/>
              <a:gd name="connsiteY7" fmla="*/ 417923 h 607921"/>
              <a:gd name="connsiteX8" fmla="*/ 27361 w 595290"/>
              <a:gd name="connsiteY8" fmla="*/ 374619 h 607921"/>
              <a:gd name="connsiteX9" fmla="*/ 37366 w 595290"/>
              <a:gd name="connsiteY9" fmla="*/ 371173 h 607921"/>
              <a:gd name="connsiteX10" fmla="*/ 47370 w 595290"/>
              <a:gd name="connsiteY10" fmla="*/ 369974 h 607921"/>
              <a:gd name="connsiteX11" fmla="*/ 547270 w 595290"/>
              <a:gd name="connsiteY11" fmla="*/ 369833 h 607921"/>
              <a:gd name="connsiteX12" fmla="*/ 557274 w 595290"/>
              <a:gd name="connsiteY12" fmla="*/ 370882 h 607921"/>
              <a:gd name="connsiteX13" fmla="*/ 567278 w 595290"/>
              <a:gd name="connsiteY13" fmla="*/ 374228 h 607921"/>
              <a:gd name="connsiteX14" fmla="*/ 595290 w 595290"/>
              <a:gd name="connsiteY14" fmla="*/ 417828 h 607921"/>
              <a:gd name="connsiteX15" fmla="*/ 567278 w 595290"/>
              <a:gd name="connsiteY15" fmla="*/ 461478 h 607921"/>
              <a:gd name="connsiteX16" fmla="*/ 557274 w 595290"/>
              <a:gd name="connsiteY16" fmla="*/ 464774 h 607921"/>
              <a:gd name="connsiteX17" fmla="*/ 547270 w 595290"/>
              <a:gd name="connsiteY17" fmla="*/ 465873 h 607921"/>
              <a:gd name="connsiteX18" fmla="*/ 499250 w 595290"/>
              <a:gd name="connsiteY18" fmla="*/ 417928 h 607921"/>
              <a:gd name="connsiteX19" fmla="*/ 547270 w 595290"/>
              <a:gd name="connsiteY19" fmla="*/ 369833 h 607921"/>
              <a:gd name="connsiteX20" fmla="*/ 172366 w 595290"/>
              <a:gd name="connsiteY20" fmla="*/ 284449 h 607921"/>
              <a:gd name="connsiteX21" fmla="*/ 297363 w 595290"/>
              <a:gd name="connsiteY21" fmla="*/ 306124 h 607921"/>
              <a:gd name="connsiteX22" fmla="*/ 422360 w 595290"/>
              <a:gd name="connsiteY22" fmla="*/ 284449 h 607921"/>
              <a:gd name="connsiteX23" fmla="*/ 535652 w 595290"/>
              <a:gd name="connsiteY23" fmla="*/ 302128 h 607921"/>
              <a:gd name="connsiteX24" fmla="*/ 547306 w 595290"/>
              <a:gd name="connsiteY24" fmla="*/ 318010 h 607921"/>
              <a:gd name="connsiteX25" fmla="*/ 547306 w 595290"/>
              <a:gd name="connsiteY25" fmla="*/ 345977 h 607921"/>
              <a:gd name="connsiteX26" fmla="*/ 496387 w 595290"/>
              <a:gd name="connsiteY26" fmla="*/ 367002 h 607921"/>
              <a:gd name="connsiteX27" fmla="*/ 475279 w 595290"/>
              <a:gd name="connsiteY27" fmla="*/ 417893 h 607921"/>
              <a:gd name="connsiteX28" fmla="*/ 496387 w 595290"/>
              <a:gd name="connsiteY28" fmla="*/ 468734 h 607921"/>
              <a:gd name="connsiteX29" fmla="*/ 547306 w 595290"/>
              <a:gd name="connsiteY29" fmla="*/ 489809 h 607921"/>
              <a:gd name="connsiteX30" fmla="*/ 547306 w 595290"/>
              <a:gd name="connsiteY30" fmla="*/ 586197 h 607921"/>
              <a:gd name="connsiteX31" fmla="*/ 530700 w 595290"/>
              <a:gd name="connsiteY31" fmla="*/ 602877 h 607921"/>
              <a:gd name="connsiteX32" fmla="*/ 527299 w 595290"/>
              <a:gd name="connsiteY32" fmla="*/ 602527 h 607921"/>
              <a:gd name="connsiteX33" fmla="*/ 422360 w 595290"/>
              <a:gd name="connsiteY33" fmla="*/ 594087 h 607921"/>
              <a:gd name="connsiteX34" fmla="*/ 297363 w 595290"/>
              <a:gd name="connsiteY34" fmla="*/ 607921 h 607921"/>
              <a:gd name="connsiteX35" fmla="*/ 172366 w 595290"/>
              <a:gd name="connsiteY35" fmla="*/ 594087 h 607921"/>
              <a:gd name="connsiteX36" fmla="*/ 67427 w 595290"/>
              <a:gd name="connsiteY36" fmla="*/ 602527 h 607921"/>
              <a:gd name="connsiteX37" fmla="*/ 64026 w 595290"/>
              <a:gd name="connsiteY37" fmla="*/ 602877 h 607921"/>
              <a:gd name="connsiteX38" fmla="*/ 47420 w 595290"/>
              <a:gd name="connsiteY38" fmla="*/ 586197 h 607921"/>
              <a:gd name="connsiteX39" fmla="*/ 47420 w 595290"/>
              <a:gd name="connsiteY39" fmla="*/ 489809 h 607921"/>
              <a:gd name="connsiteX40" fmla="*/ 48070 w 595290"/>
              <a:gd name="connsiteY40" fmla="*/ 489809 h 607921"/>
              <a:gd name="connsiteX41" fmla="*/ 99039 w 595290"/>
              <a:gd name="connsiteY41" fmla="*/ 468734 h 607921"/>
              <a:gd name="connsiteX42" fmla="*/ 120097 w 595290"/>
              <a:gd name="connsiteY42" fmla="*/ 417893 h 607921"/>
              <a:gd name="connsiteX43" fmla="*/ 99039 w 595290"/>
              <a:gd name="connsiteY43" fmla="*/ 367002 h 607921"/>
              <a:gd name="connsiteX44" fmla="*/ 48070 w 595290"/>
              <a:gd name="connsiteY44" fmla="*/ 345977 h 607921"/>
              <a:gd name="connsiteX45" fmla="*/ 47420 w 595290"/>
              <a:gd name="connsiteY45" fmla="*/ 345977 h 607921"/>
              <a:gd name="connsiteX46" fmla="*/ 47420 w 595290"/>
              <a:gd name="connsiteY46" fmla="*/ 318010 h 607921"/>
              <a:gd name="connsiteX47" fmla="*/ 59074 w 595290"/>
              <a:gd name="connsiteY47" fmla="*/ 302128 h 607921"/>
              <a:gd name="connsiteX48" fmla="*/ 172366 w 595290"/>
              <a:gd name="connsiteY48" fmla="*/ 284449 h 607921"/>
              <a:gd name="connsiteX49" fmla="*/ 297363 w 595290"/>
              <a:gd name="connsiteY49" fmla="*/ 0 h 607921"/>
              <a:gd name="connsiteX50" fmla="*/ 432355 w 595290"/>
              <a:gd name="connsiteY50" fmla="*/ 134780 h 607921"/>
              <a:gd name="connsiteX51" fmla="*/ 297363 w 595290"/>
              <a:gd name="connsiteY51" fmla="*/ 269560 h 607921"/>
              <a:gd name="connsiteX52" fmla="*/ 162371 w 595290"/>
              <a:gd name="connsiteY52" fmla="*/ 134780 h 607921"/>
              <a:gd name="connsiteX53" fmla="*/ 297363 w 595290"/>
              <a:gd name="connsiteY53" fmla="*/ 0 h 607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595290" h="607921">
                <a:moveTo>
                  <a:pt x="47370" y="369974"/>
                </a:moveTo>
                <a:lnTo>
                  <a:pt x="48020" y="369974"/>
                </a:lnTo>
                <a:cubicBezTo>
                  <a:pt x="74581" y="369974"/>
                  <a:pt x="96040" y="391401"/>
                  <a:pt x="96040" y="417923"/>
                </a:cubicBezTo>
                <a:cubicBezTo>
                  <a:pt x="96040" y="444395"/>
                  <a:pt x="74581" y="465872"/>
                  <a:pt x="48020" y="465872"/>
                </a:cubicBezTo>
                <a:lnTo>
                  <a:pt x="47370" y="465872"/>
                </a:lnTo>
                <a:cubicBezTo>
                  <a:pt x="43968" y="465772"/>
                  <a:pt x="40567" y="465373"/>
                  <a:pt x="37366" y="464673"/>
                </a:cubicBezTo>
                <a:cubicBezTo>
                  <a:pt x="33864" y="463874"/>
                  <a:pt x="30463" y="462725"/>
                  <a:pt x="27361" y="461177"/>
                </a:cubicBezTo>
                <a:cubicBezTo>
                  <a:pt x="11205" y="453485"/>
                  <a:pt x="0" y="437003"/>
                  <a:pt x="0" y="417923"/>
                </a:cubicBezTo>
                <a:cubicBezTo>
                  <a:pt x="0" y="398793"/>
                  <a:pt x="11155" y="382361"/>
                  <a:pt x="27361" y="374619"/>
                </a:cubicBezTo>
                <a:cubicBezTo>
                  <a:pt x="30463" y="373071"/>
                  <a:pt x="33864" y="371972"/>
                  <a:pt x="37366" y="371173"/>
                </a:cubicBezTo>
                <a:cubicBezTo>
                  <a:pt x="40617" y="370424"/>
                  <a:pt x="43968" y="370024"/>
                  <a:pt x="47370" y="369974"/>
                </a:cubicBezTo>
                <a:close/>
                <a:moveTo>
                  <a:pt x="547270" y="369833"/>
                </a:moveTo>
                <a:cubicBezTo>
                  <a:pt x="550671" y="369833"/>
                  <a:pt x="554073" y="370233"/>
                  <a:pt x="557274" y="370882"/>
                </a:cubicBezTo>
                <a:cubicBezTo>
                  <a:pt x="560726" y="371631"/>
                  <a:pt x="564127" y="372780"/>
                  <a:pt x="567278" y="374228"/>
                </a:cubicBezTo>
                <a:cubicBezTo>
                  <a:pt x="583835" y="381819"/>
                  <a:pt x="595290" y="398450"/>
                  <a:pt x="595290" y="417828"/>
                </a:cubicBezTo>
                <a:cubicBezTo>
                  <a:pt x="595290" y="437206"/>
                  <a:pt x="583835" y="453887"/>
                  <a:pt x="567278" y="461478"/>
                </a:cubicBezTo>
                <a:cubicBezTo>
                  <a:pt x="564127" y="462927"/>
                  <a:pt x="560726" y="464075"/>
                  <a:pt x="557274" y="464774"/>
                </a:cubicBezTo>
                <a:cubicBezTo>
                  <a:pt x="554073" y="465524"/>
                  <a:pt x="550671" y="465873"/>
                  <a:pt x="547270" y="465873"/>
                </a:cubicBezTo>
                <a:cubicBezTo>
                  <a:pt x="520709" y="465873"/>
                  <a:pt x="499250" y="444398"/>
                  <a:pt x="499250" y="417928"/>
                </a:cubicBezTo>
                <a:cubicBezTo>
                  <a:pt x="499250" y="391458"/>
                  <a:pt x="520709" y="369983"/>
                  <a:pt x="547270" y="369833"/>
                </a:cubicBezTo>
                <a:close/>
                <a:moveTo>
                  <a:pt x="172366" y="284449"/>
                </a:moveTo>
                <a:cubicBezTo>
                  <a:pt x="241392" y="284449"/>
                  <a:pt x="297363" y="306124"/>
                  <a:pt x="297363" y="306124"/>
                </a:cubicBezTo>
                <a:cubicBezTo>
                  <a:pt x="297363" y="306124"/>
                  <a:pt x="353334" y="284449"/>
                  <a:pt x="422360" y="284449"/>
                </a:cubicBezTo>
                <a:cubicBezTo>
                  <a:pt x="472478" y="284449"/>
                  <a:pt x="515794" y="295886"/>
                  <a:pt x="535652" y="302128"/>
                </a:cubicBezTo>
                <a:cubicBezTo>
                  <a:pt x="542604" y="304276"/>
                  <a:pt x="547306" y="310718"/>
                  <a:pt x="547306" y="318010"/>
                </a:cubicBezTo>
                <a:lnTo>
                  <a:pt x="547306" y="345977"/>
                </a:lnTo>
                <a:cubicBezTo>
                  <a:pt x="528049" y="345977"/>
                  <a:pt x="509992" y="353418"/>
                  <a:pt x="496387" y="367002"/>
                </a:cubicBezTo>
                <a:cubicBezTo>
                  <a:pt x="482782" y="380587"/>
                  <a:pt x="475279" y="398716"/>
                  <a:pt x="475279" y="417893"/>
                </a:cubicBezTo>
                <a:cubicBezTo>
                  <a:pt x="475279" y="437121"/>
                  <a:pt x="482782" y="455150"/>
                  <a:pt x="496387" y="468734"/>
                </a:cubicBezTo>
                <a:cubicBezTo>
                  <a:pt x="509992" y="482318"/>
                  <a:pt x="528099" y="489809"/>
                  <a:pt x="547306" y="489809"/>
                </a:cubicBezTo>
                <a:lnTo>
                  <a:pt x="547306" y="586197"/>
                </a:lnTo>
                <a:cubicBezTo>
                  <a:pt x="547306" y="595586"/>
                  <a:pt x="539703" y="602877"/>
                  <a:pt x="530700" y="602877"/>
                </a:cubicBezTo>
                <a:cubicBezTo>
                  <a:pt x="529599" y="602877"/>
                  <a:pt x="528449" y="602727"/>
                  <a:pt x="527299" y="602527"/>
                </a:cubicBezTo>
                <a:cubicBezTo>
                  <a:pt x="502039" y="597334"/>
                  <a:pt x="464425" y="594087"/>
                  <a:pt x="422360" y="594087"/>
                </a:cubicBezTo>
                <a:cubicBezTo>
                  <a:pt x="366939" y="594087"/>
                  <a:pt x="319171" y="599731"/>
                  <a:pt x="297363" y="607921"/>
                </a:cubicBezTo>
                <a:cubicBezTo>
                  <a:pt x="275505" y="599731"/>
                  <a:pt x="227737" y="594087"/>
                  <a:pt x="172366" y="594087"/>
                </a:cubicBezTo>
                <a:cubicBezTo>
                  <a:pt x="130301" y="594087"/>
                  <a:pt x="92687" y="597383"/>
                  <a:pt x="67427" y="602527"/>
                </a:cubicBezTo>
                <a:cubicBezTo>
                  <a:pt x="66277" y="602727"/>
                  <a:pt x="65127" y="602877"/>
                  <a:pt x="64026" y="602877"/>
                </a:cubicBezTo>
                <a:cubicBezTo>
                  <a:pt x="55073" y="602877"/>
                  <a:pt x="47420" y="595586"/>
                  <a:pt x="47420" y="586197"/>
                </a:cubicBezTo>
                <a:lnTo>
                  <a:pt x="47420" y="489809"/>
                </a:lnTo>
                <a:lnTo>
                  <a:pt x="48070" y="489809"/>
                </a:lnTo>
                <a:cubicBezTo>
                  <a:pt x="67327" y="489809"/>
                  <a:pt x="85434" y="482318"/>
                  <a:pt x="99039" y="468734"/>
                </a:cubicBezTo>
                <a:cubicBezTo>
                  <a:pt x="112644" y="455150"/>
                  <a:pt x="120097" y="437071"/>
                  <a:pt x="120097" y="417893"/>
                </a:cubicBezTo>
                <a:cubicBezTo>
                  <a:pt x="120097" y="398616"/>
                  <a:pt x="112644" y="380587"/>
                  <a:pt x="99039" y="367002"/>
                </a:cubicBezTo>
                <a:cubicBezTo>
                  <a:pt x="85434" y="353418"/>
                  <a:pt x="67277" y="345977"/>
                  <a:pt x="48070" y="345977"/>
                </a:cubicBezTo>
                <a:lnTo>
                  <a:pt x="47420" y="345977"/>
                </a:lnTo>
                <a:lnTo>
                  <a:pt x="47420" y="318010"/>
                </a:lnTo>
                <a:cubicBezTo>
                  <a:pt x="47420" y="310718"/>
                  <a:pt x="52122" y="304326"/>
                  <a:pt x="59074" y="302128"/>
                </a:cubicBezTo>
                <a:cubicBezTo>
                  <a:pt x="78932" y="295886"/>
                  <a:pt x="122248" y="284449"/>
                  <a:pt x="172366" y="284449"/>
                </a:cubicBezTo>
                <a:close/>
                <a:moveTo>
                  <a:pt x="297363" y="0"/>
                </a:moveTo>
                <a:cubicBezTo>
                  <a:pt x="371917" y="0"/>
                  <a:pt x="432355" y="60343"/>
                  <a:pt x="432355" y="134780"/>
                </a:cubicBezTo>
                <a:cubicBezTo>
                  <a:pt x="432355" y="209217"/>
                  <a:pt x="371917" y="269560"/>
                  <a:pt x="297363" y="269560"/>
                </a:cubicBezTo>
                <a:cubicBezTo>
                  <a:pt x="222809" y="269560"/>
                  <a:pt x="162371" y="209217"/>
                  <a:pt x="162371" y="134780"/>
                </a:cubicBezTo>
                <a:cubicBezTo>
                  <a:pt x="162371" y="60343"/>
                  <a:pt x="222809" y="0"/>
                  <a:pt x="297363" y="0"/>
                </a:cubicBezTo>
                <a:close/>
              </a:path>
            </a:pathLst>
          </a:custGeom>
          <a:solidFill>
            <a:srgbClr val="47100A"/>
          </a:solidFill>
          <a:ln w="190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bg1"/>
              </a:solidFill>
              <a:ea typeface="思源黑体 Medium" panose="020B0600000000000000" pitchFamily="34" charset="-122"/>
            </a:endParaRPr>
          </a:p>
        </p:txBody>
      </p:sp>
      <p:sp>
        <p:nvSpPr>
          <p:cNvPr id="8" name="îsḷíḍê"/>
          <p:cNvSpPr/>
          <p:nvPr/>
        </p:nvSpPr>
        <p:spPr bwMode="auto">
          <a:xfrm>
            <a:off x="5793105" y="2968625"/>
            <a:ext cx="606425" cy="628015"/>
          </a:xfrm>
          <a:custGeom>
            <a:avLst/>
            <a:gdLst>
              <a:gd name="connsiteX0" fmla="*/ 0 w 609050"/>
              <a:gd name="connsiteY0" fmla="*/ 411255 h 550128"/>
              <a:gd name="connsiteX1" fmla="*/ 25954 w 609050"/>
              <a:gd name="connsiteY1" fmla="*/ 426310 h 550128"/>
              <a:gd name="connsiteX2" fmla="*/ 202990 w 609050"/>
              <a:gd name="connsiteY2" fmla="*/ 463368 h 550128"/>
              <a:gd name="connsiteX3" fmla="*/ 219809 w 609050"/>
              <a:gd name="connsiteY3" fmla="*/ 462933 h 550128"/>
              <a:gd name="connsiteX4" fmla="*/ 251707 w 609050"/>
              <a:gd name="connsiteY4" fmla="*/ 518375 h 550128"/>
              <a:gd name="connsiteX5" fmla="*/ 202990 w 609050"/>
              <a:gd name="connsiteY5" fmla="*/ 521125 h 550128"/>
              <a:gd name="connsiteX6" fmla="*/ 0 w 609050"/>
              <a:gd name="connsiteY6" fmla="*/ 434416 h 550128"/>
              <a:gd name="connsiteX7" fmla="*/ 0 w 609050"/>
              <a:gd name="connsiteY7" fmla="*/ 295387 h 550128"/>
              <a:gd name="connsiteX8" fmla="*/ 25960 w 609050"/>
              <a:gd name="connsiteY8" fmla="*/ 310451 h 550128"/>
              <a:gd name="connsiteX9" fmla="*/ 203041 w 609050"/>
              <a:gd name="connsiteY9" fmla="*/ 347531 h 550128"/>
              <a:gd name="connsiteX10" fmla="*/ 204781 w 609050"/>
              <a:gd name="connsiteY10" fmla="*/ 347531 h 550128"/>
              <a:gd name="connsiteX11" fmla="*/ 203041 w 609050"/>
              <a:gd name="connsiteY11" fmla="*/ 376355 h 550128"/>
              <a:gd name="connsiteX12" fmla="*/ 204781 w 609050"/>
              <a:gd name="connsiteY12" fmla="*/ 405469 h 550128"/>
              <a:gd name="connsiteX13" fmla="*/ 203041 w 609050"/>
              <a:gd name="connsiteY13" fmla="*/ 405469 h 550128"/>
              <a:gd name="connsiteX14" fmla="*/ 0 w 609050"/>
              <a:gd name="connsiteY14" fmla="*/ 318562 h 550128"/>
              <a:gd name="connsiteX15" fmla="*/ 469983 w 609050"/>
              <a:gd name="connsiteY15" fmla="*/ 287305 h 550128"/>
              <a:gd name="connsiteX16" fmla="*/ 415604 w 609050"/>
              <a:gd name="connsiteY16" fmla="*/ 333933 h 550128"/>
              <a:gd name="connsiteX17" fmla="*/ 411834 w 609050"/>
              <a:gd name="connsiteY17" fmla="*/ 360866 h 550128"/>
              <a:gd name="connsiteX18" fmla="*/ 400813 w 609050"/>
              <a:gd name="connsiteY18" fmla="*/ 360866 h 550128"/>
              <a:gd name="connsiteX19" fmla="*/ 388197 w 609050"/>
              <a:gd name="connsiteY19" fmla="*/ 374478 h 550128"/>
              <a:gd name="connsiteX20" fmla="*/ 400813 w 609050"/>
              <a:gd name="connsiteY20" fmla="*/ 387800 h 550128"/>
              <a:gd name="connsiteX21" fmla="*/ 408063 w 609050"/>
              <a:gd name="connsiteY21" fmla="*/ 387800 h 550128"/>
              <a:gd name="connsiteX22" fmla="*/ 404583 w 609050"/>
              <a:gd name="connsiteY22" fmla="*/ 412128 h 550128"/>
              <a:gd name="connsiteX23" fmla="*/ 401103 w 609050"/>
              <a:gd name="connsiteY23" fmla="*/ 437179 h 550128"/>
              <a:gd name="connsiteX24" fmla="*/ 395302 w 609050"/>
              <a:gd name="connsiteY24" fmla="*/ 437179 h 550128"/>
              <a:gd name="connsiteX25" fmla="*/ 382251 w 609050"/>
              <a:gd name="connsiteY25" fmla="*/ 451226 h 550128"/>
              <a:gd name="connsiteX26" fmla="*/ 390952 w 609050"/>
              <a:gd name="connsiteY26" fmla="*/ 464837 h 550128"/>
              <a:gd name="connsiteX27" fmla="*/ 395302 w 609050"/>
              <a:gd name="connsiteY27" fmla="*/ 465561 h 550128"/>
              <a:gd name="connsiteX28" fmla="*/ 475059 w 609050"/>
              <a:gd name="connsiteY28" fmla="*/ 465561 h 550128"/>
              <a:gd name="connsiteX29" fmla="*/ 487675 w 609050"/>
              <a:gd name="connsiteY29" fmla="*/ 451226 h 550128"/>
              <a:gd name="connsiteX30" fmla="*/ 475059 w 609050"/>
              <a:gd name="connsiteY30" fmla="*/ 437179 h 550128"/>
              <a:gd name="connsiteX31" fmla="*/ 430250 w 609050"/>
              <a:gd name="connsiteY31" fmla="*/ 437179 h 550128"/>
              <a:gd name="connsiteX32" fmla="*/ 437356 w 609050"/>
              <a:gd name="connsiteY32" fmla="*/ 387800 h 550128"/>
              <a:gd name="connsiteX33" fmla="*/ 464038 w 609050"/>
              <a:gd name="connsiteY33" fmla="*/ 387800 h 550128"/>
              <a:gd name="connsiteX34" fmla="*/ 476219 w 609050"/>
              <a:gd name="connsiteY34" fmla="*/ 374478 h 550128"/>
              <a:gd name="connsiteX35" fmla="*/ 464038 w 609050"/>
              <a:gd name="connsiteY35" fmla="*/ 360866 h 550128"/>
              <a:gd name="connsiteX36" fmla="*/ 441271 w 609050"/>
              <a:gd name="connsiteY36" fmla="*/ 360866 h 550128"/>
              <a:gd name="connsiteX37" fmla="*/ 444751 w 609050"/>
              <a:gd name="connsiteY37" fmla="*/ 336105 h 550128"/>
              <a:gd name="connsiteX38" fmla="*/ 468968 w 609050"/>
              <a:gd name="connsiteY38" fmla="*/ 315397 h 550128"/>
              <a:gd name="connsiteX39" fmla="*/ 474044 w 609050"/>
              <a:gd name="connsiteY39" fmla="*/ 315397 h 550128"/>
              <a:gd name="connsiteX40" fmla="*/ 487675 w 609050"/>
              <a:gd name="connsiteY40" fmla="*/ 301351 h 550128"/>
              <a:gd name="connsiteX41" fmla="*/ 474044 w 609050"/>
              <a:gd name="connsiteY41" fmla="*/ 287305 h 550128"/>
              <a:gd name="connsiteX42" fmla="*/ 435036 w 609050"/>
              <a:gd name="connsiteY42" fmla="*/ 202593 h 550128"/>
              <a:gd name="connsiteX43" fmla="*/ 609050 w 609050"/>
              <a:gd name="connsiteY43" fmla="*/ 376361 h 550128"/>
              <a:gd name="connsiteX44" fmla="*/ 435036 w 609050"/>
              <a:gd name="connsiteY44" fmla="*/ 550128 h 550128"/>
              <a:gd name="connsiteX45" fmla="*/ 317721 w 609050"/>
              <a:gd name="connsiteY45" fmla="*/ 504659 h 550128"/>
              <a:gd name="connsiteX46" fmla="*/ 280888 w 609050"/>
              <a:gd name="connsiteY46" fmla="*/ 457018 h 550128"/>
              <a:gd name="connsiteX47" fmla="*/ 262761 w 609050"/>
              <a:gd name="connsiteY47" fmla="*/ 401267 h 550128"/>
              <a:gd name="connsiteX48" fmla="*/ 261021 w 609050"/>
              <a:gd name="connsiteY48" fmla="*/ 376361 h 550128"/>
              <a:gd name="connsiteX49" fmla="*/ 264066 w 609050"/>
              <a:gd name="connsiteY49" fmla="*/ 343635 h 550128"/>
              <a:gd name="connsiteX50" fmla="*/ 290023 w 609050"/>
              <a:gd name="connsiteY50" fmla="*/ 280499 h 550128"/>
              <a:gd name="connsiteX51" fmla="*/ 405888 w 609050"/>
              <a:gd name="connsiteY51" fmla="*/ 205055 h 550128"/>
              <a:gd name="connsiteX52" fmla="*/ 435036 w 609050"/>
              <a:gd name="connsiteY52" fmla="*/ 202593 h 550128"/>
              <a:gd name="connsiteX53" fmla="*/ 0 w 609050"/>
              <a:gd name="connsiteY53" fmla="*/ 179589 h 550128"/>
              <a:gd name="connsiteX54" fmla="*/ 25955 w 609050"/>
              <a:gd name="connsiteY54" fmla="*/ 194643 h 550128"/>
              <a:gd name="connsiteX55" fmla="*/ 203003 w 609050"/>
              <a:gd name="connsiteY55" fmla="*/ 231700 h 550128"/>
              <a:gd name="connsiteX56" fmla="*/ 256364 w 609050"/>
              <a:gd name="connsiteY56" fmla="*/ 228805 h 550128"/>
              <a:gd name="connsiteX57" fmla="*/ 219968 w 609050"/>
              <a:gd name="connsiteY57" fmla="*/ 289166 h 550128"/>
              <a:gd name="connsiteX58" fmla="*/ 203003 w 609050"/>
              <a:gd name="connsiteY58" fmla="*/ 289600 h 550128"/>
              <a:gd name="connsiteX59" fmla="*/ 0 w 609050"/>
              <a:gd name="connsiteY59" fmla="*/ 202749 h 550128"/>
              <a:gd name="connsiteX60" fmla="*/ 203017 w 609050"/>
              <a:gd name="connsiteY60" fmla="*/ 0 h 550128"/>
              <a:gd name="connsiteX61" fmla="*/ 406034 w 609050"/>
              <a:gd name="connsiteY61" fmla="*/ 86902 h 550128"/>
              <a:gd name="connsiteX62" fmla="*/ 203017 w 609050"/>
              <a:gd name="connsiteY62" fmla="*/ 173804 h 550128"/>
              <a:gd name="connsiteX63" fmla="*/ 0 w 609050"/>
              <a:gd name="connsiteY63" fmla="*/ 86902 h 550128"/>
              <a:gd name="connsiteX64" fmla="*/ 203017 w 609050"/>
              <a:gd name="connsiteY64" fmla="*/ 0 h 550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609050" h="550128">
                <a:moveTo>
                  <a:pt x="0" y="411255"/>
                </a:moveTo>
                <a:cubicBezTo>
                  <a:pt x="7975" y="416611"/>
                  <a:pt x="16529" y="421678"/>
                  <a:pt x="25954" y="426310"/>
                </a:cubicBezTo>
                <a:cubicBezTo>
                  <a:pt x="73656" y="450195"/>
                  <a:pt x="136583" y="463368"/>
                  <a:pt x="202990" y="463368"/>
                </a:cubicBezTo>
                <a:cubicBezTo>
                  <a:pt x="208644" y="463368"/>
                  <a:pt x="214154" y="463223"/>
                  <a:pt x="219809" y="462933"/>
                </a:cubicBezTo>
                <a:cubicBezTo>
                  <a:pt x="227783" y="483054"/>
                  <a:pt x="238658" y="501583"/>
                  <a:pt x="251707" y="518375"/>
                </a:cubicBezTo>
                <a:cubicBezTo>
                  <a:pt x="236193" y="520257"/>
                  <a:pt x="219954" y="521125"/>
                  <a:pt x="202990" y="521125"/>
                </a:cubicBezTo>
                <a:cubicBezTo>
                  <a:pt x="86851" y="521125"/>
                  <a:pt x="0" y="475382"/>
                  <a:pt x="0" y="434416"/>
                </a:cubicBezTo>
                <a:close/>
                <a:moveTo>
                  <a:pt x="0" y="295387"/>
                </a:moveTo>
                <a:cubicBezTo>
                  <a:pt x="7977" y="300747"/>
                  <a:pt x="16533" y="305816"/>
                  <a:pt x="25960" y="310451"/>
                </a:cubicBezTo>
                <a:cubicBezTo>
                  <a:pt x="73675" y="334350"/>
                  <a:pt x="136617" y="347531"/>
                  <a:pt x="203041" y="347531"/>
                </a:cubicBezTo>
                <a:cubicBezTo>
                  <a:pt x="203621" y="347531"/>
                  <a:pt x="204201" y="347531"/>
                  <a:pt x="204781" y="347531"/>
                </a:cubicBezTo>
                <a:cubicBezTo>
                  <a:pt x="203621" y="356946"/>
                  <a:pt x="203041" y="366651"/>
                  <a:pt x="203041" y="376355"/>
                </a:cubicBezTo>
                <a:cubicBezTo>
                  <a:pt x="203041" y="386205"/>
                  <a:pt x="203621" y="395909"/>
                  <a:pt x="204781" y="405469"/>
                </a:cubicBezTo>
                <a:cubicBezTo>
                  <a:pt x="204201" y="405469"/>
                  <a:pt x="203621" y="405469"/>
                  <a:pt x="203041" y="405469"/>
                </a:cubicBezTo>
                <a:cubicBezTo>
                  <a:pt x="86872" y="405469"/>
                  <a:pt x="0" y="359553"/>
                  <a:pt x="0" y="318562"/>
                </a:cubicBezTo>
                <a:close/>
                <a:moveTo>
                  <a:pt x="469983" y="287305"/>
                </a:moveTo>
                <a:cubicBezTo>
                  <a:pt x="443301" y="287305"/>
                  <a:pt x="419374" y="307723"/>
                  <a:pt x="415604" y="333933"/>
                </a:cubicBezTo>
                <a:lnTo>
                  <a:pt x="411834" y="360866"/>
                </a:lnTo>
                <a:lnTo>
                  <a:pt x="400813" y="360866"/>
                </a:lnTo>
                <a:cubicBezTo>
                  <a:pt x="393707" y="360866"/>
                  <a:pt x="388197" y="366804"/>
                  <a:pt x="388197" y="374478"/>
                </a:cubicBezTo>
                <a:cubicBezTo>
                  <a:pt x="388197" y="382008"/>
                  <a:pt x="393707" y="387800"/>
                  <a:pt x="400813" y="387800"/>
                </a:cubicBezTo>
                <a:lnTo>
                  <a:pt x="408063" y="387800"/>
                </a:lnTo>
                <a:lnTo>
                  <a:pt x="404583" y="412128"/>
                </a:lnTo>
                <a:lnTo>
                  <a:pt x="401103" y="437179"/>
                </a:lnTo>
                <a:lnTo>
                  <a:pt x="395302" y="437179"/>
                </a:lnTo>
                <a:cubicBezTo>
                  <a:pt x="387762" y="437179"/>
                  <a:pt x="382251" y="443261"/>
                  <a:pt x="382251" y="451226"/>
                </a:cubicBezTo>
                <a:cubicBezTo>
                  <a:pt x="382251" y="457887"/>
                  <a:pt x="385731" y="463100"/>
                  <a:pt x="390952" y="464837"/>
                </a:cubicBezTo>
                <a:cubicBezTo>
                  <a:pt x="392257" y="465272"/>
                  <a:pt x="393707" y="465561"/>
                  <a:pt x="395302" y="465561"/>
                </a:cubicBezTo>
                <a:lnTo>
                  <a:pt x="475059" y="465561"/>
                </a:lnTo>
                <a:cubicBezTo>
                  <a:pt x="482309" y="465561"/>
                  <a:pt x="487675" y="459480"/>
                  <a:pt x="487675" y="451226"/>
                </a:cubicBezTo>
                <a:cubicBezTo>
                  <a:pt x="487675" y="443261"/>
                  <a:pt x="482309" y="437179"/>
                  <a:pt x="475059" y="437179"/>
                </a:cubicBezTo>
                <a:lnTo>
                  <a:pt x="430250" y="437179"/>
                </a:lnTo>
                <a:lnTo>
                  <a:pt x="437356" y="387800"/>
                </a:lnTo>
                <a:lnTo>
                  <a:pt x="464038" y="387800"/>
                </a:lnTo>
                <a:cubicBezTo>
                  <a:pt x="470999" y="387800"/>
                  <a:pt x="476219" y="382008"/>
                  <a:pt x="476219" y="374478"/>
                </a:cubicBezTo>
                <a:cubicBezTo>
                  <a:pt x="476219" y="366804"/>
                  <a:pt x="470999" y="360866"/>
                  <a:pt x="464038" y="360866"/>
                </a:cubicBezTo>
                <a:lnTo>
                  <a:pt x="441271" y="360866"/>
                </a:lnTo>
                <a:lnTo>
                  <a:pt x="444751" y="336105"/>
                </a:lnTo>
                <a:cubicBezTo>
                  <a:pt x="446056" y="325968"/>
                  <a:pt x="455482" y="315397"/>
                  <a:pt x="468968" y="315397"/>
                </a:cubicBezTo>
                <a:lnTo>
                  <a:pt x="474044" y="315397"/>
                </a:lnTo>
                <a:cubicBezTo>
                  <a:pt x="482454" y="315397"/>
                  <a:pt x="487675" y="308157"/>
                  <a:pt x="487675" y="301351"/>
                </a:cubicBezTo>
                <a:cubicBezTo>
                  <a:pt x="487675" y="293387"/>
                  <a:pt x="481729" y="287305"/>
                  <a:pt x="474044" y="287305"/>
                </a:cubicBezTo>
                <a:close/>
                <a:moveTo>
                  <a:pt x="435036" y="202593"/>
                </a:moveTo>
                <a:cubicBezTo>
                  <a:pt x="530889" y="202593"/>
                  <a:pt x="609050" y="280644"/>
                  <a:pt x="609050" y="376361"/>
                </a:cubicBezTo>
                <a:cubicBezTo>
                  <a:pt x="609050" y="472222"/>
                  <a:pt x="530889" y="550128"/>
                  <a:pt x="435036" y="550128"/>
                </a:cubicBezTo>
                <a:cubicBezTo>
                  <a:pt x="389792" y="550128"/>
                  <a:pt x="348753" y="532896"/>
                  <a:pt x="317721" y="504659"/>
                </a:cubicBezTo>
                <a:cubicBezTo>
                  <a:pt x="302784" y="491192"/>
                  <a:pt x="290313" y="474974"/>
                  <a:pt x="280888" y="457018"/>
                </a:cubicBezTo>
                <a:cubicBezTo>
                  <a:pt x="271897" y="439931"/>
                  <a:pt x="265516" y="421106"/>
                  <a:pt x="262761" y="401267"/>
                </a:cubicBezTo>
                <a:cubicBezTo>
                  <a:pt x="261601" y="393158"/>
                  <a:pt x="261021" y="384904"/>
                  <a:pt x="261021" y="376361"/>
                </a:cubicBezTo>
                <a:cubicBezTo>
                  <a:pt x="261021" y="365211"/>
                  <a:pt x="262036" y="354350"/>
                  <a:pt x="264066" y="343635"/>
                </a:cubicBezTo>
                <a:cubicBezTo>
                  <a:pt x="268417" y="320755"/>
                  <a:pt x="277407" y="299324"/>
                  <a:pt x="290023" y="280499"/>
                </a:cubicBezTo>
                <a:cubicBezTo>
                  <a:pt x="316126" y="241257"/>
                  <a:pt x="357599" y="213309"/>
                  <a:pt x="405888" y="205055"/>
                </a:cubicBezTo>
                <a:cubicBezTo>
                  <a:pt x="415314" y="203462"/>
                  <a:pt x="425030" y="202593"/>
                  <a:pt x="435036" y="202593"/>
                </a:cubicBezTo>
                <a:close/>
                <a:moveTo>
                  <a:pt x="0" y="179589"/>
                </a:moveTo>
                <a:cubicBezTo>
                  <a:pt x="7975" y="184945"/>
                  <a:pt x="16530" y="190011"/>
                  <a:pt x="25955" y="194643"/>
                </a:cubicBezTo>
                <a:cubicBezTo>
                  <a:pt x="73661" y="218527"/>
                  <a:pt x="136592" y="231700"/>
                  <a:pt x="203003" y="231700"/>
                </a:cubicBezTo>
                <a:cubicBezTo>
                  <a:pt x="221128" y="231700"/>
                  <a:pt x="238964" y="230686"/>
                  <a:pt x="256364" y="228805"/>
                </a:cubicBezTo>
                <a:cubicBezTo>
                  <a:pt x="241284" y="246754"/>
                  <a:pt x="228959" y="267164"/>
                  <a:pt x="219968" y="289166"/>
                </a:cubicBezTo>
                <a:cubicBezTo>
                  <a:pt x="214458" y="289455"/>
                  <a:pt x="208658" y="289600"/>
                  <a:pt x="203003" y="289600"/>
                </a:cubicBezTo>
                <a:cubicBezTo>
                  <a:pt x="86856" y="289600"/>
                  <a:pt x="0" y="243714"/>
                  <a:pt x="0" y="202749"/>
                </a:cubicBezTo>
                <a:close/>
                <a:moveTo>
                  <a:pt x="203017" y="0"/>
                </a:moveTo>
                <a:cubicBezTo>
                  <a:pt x="315140" y="0"/>
                  <a:pt x="406034" y="38907"/>
                  <a:pt x="406034" y="86902"/>
                </a:cubicBezTo>
                <a:cubicBezTo>
                  <a:pt x="406034" y="134897"/>
                  <a:pt x="315140" y="173804"/>
                  <a:pt x="203017" y="173804"/>
                </a:cubicBezTo>
                <a:cubicBezTo>
                  <a:pt x="90894" y="173804"/>
                  <a:pt x="0" y="134897"/>
                  <a:pt x="0" y="86902"/>
                </a:cubicBezTo>
                <a:cubicBezTo>
                  <a:pt x="0" y="38907"/>
                  <a:pt x="90894" y="0"/>
                  <a:pt x="20301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endParaRPr lang="en-US">
              <a:ea typeface="思源黑体 Medium" panose="020B0600000000000000" pitchFamily="34" charset="-122"/>
            </a:endParaRPr>
          </a:p>
        </p:txBody>
      </p:sp>
      <p:pic>
        <p:nvPicPr>
          <p:cNvPr id="52" name="图片 51"/>
          <p:cNvPicPr/>
          <p:nvPr/>
        </p:nvPicPr>
        <p:blipFill>
          <a:blip r:embed="rId4"/>
          <a:stretch>
            <a:fillRect/>
          </a:stretch>
        </p:blipFill>
        <p:spPr>
          <a:xfrm>
            <a:off x="6245225" y="320675"/>
            <a:ext cx="3669665" cy="1960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íśḷïḑê"/>
          <p:cNvGrpSpPr/>
          <p:nvPr>
            <p:custDataLst>
              <p:tags r:id="rId1"/>
            </p:custDataLst>
          </p:nvPr>
        </p:nvGrpSpPr>
        <p:grpSpPr>
          <a:xfrm>
            <a:off x="4899096" y="1526238"/>
            <a:ext cx="6733098" cy="4305965"/>
            <a:chOff x="6246936" y="1807020"/>
            <a:chExt cx="6733098" cy="4305965"/>
          </a:xfrm>
        </p:grpSpPr>
        <p:grpSp>
          <p:nvGrpSpPr>
            <p:cNvPr id="8" name="íśḷîḓê"/>
            <p:cNvGrpSpPr/>
            <p:nvPr/>
          </p:nvGrpSpPr>
          <p:grpSpPr>
            <a:xfrm>
              <a:off x="6246936" y="1808178"/>
              <a:ext cx="878080" cy="880403"/>
              <a:chOff x="3852543" y="1668897"/>
              <a:chExt cx="823456" cy="825634"/>
            </a:xfrm>
          </p:grpSpPr>
          <p:sp>
            <p:nvSpPr>
              <p:cNvPr id="24" name="ïṥlîḓé"/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3852543" y="1668897"/>
                <a:ext cx="823456" cy="825634"/>
              </a:xfrm>
              <a:prstGeom prst="ellipse">
                <a:avLst/>
              </a:prstGeom>
              <a:solidFill>
                <a:srgbClr val="47100A"/>
              </a:solidFill>
              <a:ln w="28575">
                <a:solidFill>
                  <a:srgbClr val="FFFFFF"/>
                </a:solidFill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思源黑体 Medium" panose="020B0600000000000000" pitchFamily="34" charset="-122"/>
                </a:endParaRPr>
              </a:p>
            </p:txBody>
          </p:sp>
          <p:sp>
            <p:nvSpPr>
              <p:cNvPr id="25" name="iṡļîḑè"/>
              <p:cNvSpPr/>
              <p:nvPr>
                <p:custDataLst>
                  <p:tags r:id="rId15"/>
                </p:custDataLst>
              </p:nvPr>
            </p:nvSpPr>
            <p:spPr bwMode="auto">
              <a:xfrm>
                <a:off x="4053488" y="1885606"/>
                <a:ext cx="421566" cy="392214"/>
              </a:xfrm>
              <a:custGeom>
                <a:avLst/>
                <a:gdLst>
                  <a:gd name="connsiteX0" fmla="*/ 362096 w 576922"/>
                  <a:gd name="connsiteY0" fmla="*/ 472751 h 536754"/>
                  <a:gd name="connsiteX1" fmla="*/ 376350 w 576922"/>
                  <a:gd name="connsiteY1" fmla="*/ 536754 h 536754"/>
                  <a:gd name="connsiteX2" fmla="*/ 362096 w 576922"/>
                  <a:gd name="connsiteY2" fmla="*/ 536754 h 536754"/>
                  <a:gd name="connsiteX3" fmla="*/ 214826 w 576922"/>
                  <a:gd name="connsiteY3" fmla="*/ 472751 h 536754"/>
                  <a:gd name="connsiteX4" fmla="*/ 214826 w 576922"/>
                  <a:gd name="connsiteY4" fmla="*/ 536754 h 536754"/>
                  <a:gd name="connsiteX5" fmla="*/ 200572 w 576922"/>
                  <a:gd name="connsiteY5" fmla="*/ 536754 h 536754"/>
                  <a:gd name="connsiteX6" fmla="*/ 288461 w 576922"/>
                  <a:gd name="connsiteY6" fmla="*/ 200761 h 536754"/>
                  <a:gd name="connsiteX7" fmla="*/ 221958 w 576922"/>
                  <a:gd name="connsiteY7" fmla="*/ 267171 h 536754"/>
                  <a:gd name="connsiteX8" fmla="*/ 288461 w 576922"/>
                  <a:gd name="connsiteY8" fmla="*/ 346317 h 536754"/>
                  <a:gd name="connsiteX9" fmla="*/ 354963 w 576922"/>
                  <a:gd name="connsiteY9" fmla="*/ 267171 h 536754"/>
                  <a:gd name="connsiteX10" fmla="*/ 288461 w 576922"/>
                  <a:gd name="connsiteY10" fmla="*/ 200761 h 536754"/>
                  <a:gd name="connsiteX11" fmla="*/ 279958 w 576922"/>
                  <a:gd name="connsiteY11" fmla="*/ 97355 h 536754"/>
                  <a:gd name="connsiteX12" fmla="*/ 296963 w 576922"/>
                  <a:gd name="connsiteY12" fmla="*/ 97355 h 536754"/>
                  <a:gd name="connsiteX13" fmla="*/ 494649 w 576922"/>
                  <a:gd name="connsiteY13" fmla="*/ 267626 h 536754"/>
                  <a:gd name="connsiteX14" fmla="*/ 499204 w 576922"/>
                  <a:gd name="connsiteY14" fmla="*/ 277481 h 536754"/>
                  <a:gd name="connsiteX15" fmla="*/ 499204 w 576922"/>
                  <a:gd name="connsiteY15" fmla="*/ 523715 h 536754"/>
                  <a:gd name="connsiteX16" fmla="*/ 486147 w 576922"/>
                  <a:gd name="connsiteY16" fmla="*/ 536754 h 536754"/>
                  <a:gd name="connsiteX17" fmla="*/ 430272 w 576922"/>
                  <a:gd name="connsiteY17" fmla="*/ 536754 h 536754"/>
                  <a:gd name="connsiteX18" fmla="*/ 398084 w 576922"/>
                  <a:gd name="connsiteY18" fmla="*/ 393017 h 536754"/>
                  <a:gd name="connsiteX19" fmla="*/ 385634 w 576922"/>
                  <a:gd name="connsiteY19" fmla="*/ 376035 h 536754"/>
                  <a:gd name="connsiteX20" fmla="*/ 298482 w 576922"/>
                  <a:gd name="connsiteY20" fmla="*/ 352231 h 536754"/>
                  <a:gd name="connsiteX21" fmla="*/ 291953 w 576922"/>
                  <a:gd name="connsiteY21" fmla="*/ 365270 h 536754"/>
                  <a:gd name="connsiteX22" fmla="*/ 291801 w 576922"/>
                  <a:gd name="connsiteY22" fmla="*/ 365270 h 536754"/>
                  <a:gd name="connsiteX23" fmla="*/ 309565 w 576922"/>
                  <a:gd name="connsiteY23" fmla="*/ 502943 h 536754"/>
                  <a:gd name="connsiteX24" fmla="*/ 290131 w 576922"/>
                  <a:gd name="connsiteY24" fmla="*/ 536754 h 536754"/>
                  <a:gd name="connsiteX25" fmla="*/ 286791 w 576922"/>
                  <a:gd name="connsiteY25" fmla="*/ 536754 h 536754"/>
                  <a:gd name="connsiteX26" fmla="*/ 267356 w 576922"/>
                  <a:gd name="connsiteY26" fmla="*/ 502943 h 536754"/>
                  <a:gd name="connsiteX27" fmla="*/ 285120 w 576922"/>
                  <a:gd name="connsiteY27" fmla="*/ 365270 h 536754"/>
                  <a:gd name="connsiteX28" fmla="*/ 284969 w 576922"/>
                  <a:gd name="connsiteY28" fmla="*/ 365270 h 536754"/>
                  <a:gd name="connsiteX29" fmla="*/ 278440 w 576922"/>
                  <a:gd name="connsiteY29" fmla="*/ 352231 h 536754"/>
                  <a:gd name="connsiteX30" fmla="*/ 191288 w 576922"/>
                  <a:gd name="connsiteY30" fmla="*/ 376035 h 536754"/>
                  <a:gd name="connsiteX31" fmla="*/ 178838 w 576922"/>
                  <a:gd name="connsiteY31" fmla="*/ 393017 h 536754"/>
                  <a:gd name="connsiteX32" fmla="*/ 146649 w 576922"/>
                  <a:gd name="connsiteY32" fmla="*/ 536754 h 536754"/>
                  <a:gd name="connsiteX33" fmla="*/ 90775 w 576922"/>
                  <a:gd name="connsiteY33" fmla="*/ 536754 h 536754"/>
                  <a:gd name="connsiteX34" fmla="*/ 77717 w 576922"/>
                  <a:gd name="connsiteY34" fmla="*/ 523715 h 536754"/>
                  <a:gd name="connsiteX35" fmla="*/ 77717 w 576922"/>
                  <a:gd name="connsiteY35" fmla="*/ 277481 h 536754"/>
                  <a:gd name="connsiteX36" fmla="*/ 82272 w 576922"/>
                  <a:gd name="connsiteY36" fmla="*/ 267626 h 536754"/>
                  <a:gd name="connsiteX37" fmla="*/ 288461 w 576922"/>
                  <a:gd name="connsiteY37" fmla="*/ 0 h 536754"/>
                  <a:gd name="connsiteX38" fmla="*/ 305620 w 576922"/>
                  <a:gd name="connsiteY38" fmla="*/ 6254 h 536754"/>
                  <a:gd name="connsiteX39" fmla="*/ 567855 w 576922"/>
                  <a:gd name="connsiteY39" fmla="*/ 231550 h 536754"/>
                  <a:gd name="connsiteX40" fmla="*/ 570588 w 576922"/>
                  <a:gd name="connsiteY40" fmla="*/ 268392 h 536754"/>
                  <a:gd name="connsiteX41" fmla="*/ 550696 w 576922"/>
                  <a:gd name="connsiteY41" fmla="*/ 277488 h 536754"/>
                  <a:gd name="connsiteX42" fmla="*/ 533690 w 576922"/>
                  <a:gd name="connsiteY42" fmla="*/ 271272 h 536754"/>
                  <a:gd name="connsiteX43" fmla="*/ 288461 w 576922"/>
                  <a:gd name="connsiteY43" fmla="*/ 60683 h 536754"/>
                  <a:gd name="connsiteX44" fmla="*/ 43232 w 576922"/>
                  <a:gd name="connsiteY44" fmla="*/ 271272 h 536754"/>
                  <a:gd name="connsiteX45" fmla="*/ 6334 w 576922"/>
                  <a:gd name="connsiteY45" fmla="*/ 268392 h 536754"/>
                  <a:gd name="connsiteX46" fmla="*/ 9067 w 576922"/>
                  <a:gd name="connsiteY46" fmla="*/ 231550 h 536754"/>
                  <a:gd name="connsiteX47" fmla="*/ 271303 w 576922"/>
                  <a:gd name="connsiteY47" fmla="*/ 6254 h 536754"/>
                  <a:gd name="connsiteX48" fmla="*/ 288461 w 576922"/>
                  <a:gd name="connsiteY48" fmla="*/ 0 h 536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576922" h="536754">
                    <a:moveTo>
                      <a:pt x="362096" y="472751"/>
                    </a:moveTo>
                    <a:lnTo>
                      <a:pt x="376350" y="536754"/>
                    </a:lnTo>
                    <a:lnTo>
                      <a:pt x="362096" y="536754"/>
                    </a:lnTo>
                    <a:close/>
                    <a:moveTo>
                      <a:pt x="214826" y="472751"/>
                    </a:moveTo>
                    <a:lnTo>
                      <a:pt x="214826" y="536754"/>
                    </a:lnTo>
                    <a:lnTo>
                      <a:pt x="200572" y="536754"/>
                    </a:lnTo>
                    <a:close/>
                    <a:moveTo>
                      <a:pt x="288461" y="200761"/>
                    </a:moveTo>
                    <a:cubicBezTo>
                      <a:pt x="251717" y="200761"/>
                      <a:pt x="221958" y="230478"/>
                      <a:pt x="221958" y="267171"/>
                    </a:cubicBezTo>
                    <a:cubicBezTo>
                      <a:pt x="221958" y="303712"/>
                      <a:pt x="251717" y="346317"/>
                      <a:pt x="288461" y="346317"/>
                    </a:cubicBezTo>
                    <a:cubicBezTo>
                      <a:pt x="325204" y="346317"/>
                      <a:pt x="354963" y="303712"/>
                      <a:pt x="354963" y="267171"/>
                    </a:cubicBezTo>
                    <a:cubicBezTo>
                      <a:pt x="354963" y="230478"/>
                      <a:pt x="325204" y="200761"/>
                      <a:pt x="288461" y="200761"/>
                    </a:cubicBezTo>
                    <a:close/>
                    <a:moveTo>
                      <a:pt x="279958" y="97355"/>
                    </a:moveTo>
                    <a:cubicBezTo>
                      <a:pt x="284817" y="93109"/>
                      <a:pt x="292105" y="93109"/>
                      <a:pt x="296963" y="97355"/>
                    </a:cubicBezTo>
                    <a:lnTo>
                      <a:pt x="494649" y="267626"/>
                    </a:lnTo>
                    <a:cubicBezTo>
                      <a:pt x="497534" y="270052"/>
                      <a:pt x="499204" y="273691"/>
                      <a:pt x="499204" y="277481"/>
                    </a:cubicBezTo>
                    <a:lnTo>
                      <a:pt x="499204" y="523715"/>
                    </a:lnTo>
                    <a:cubicBezTo>
                      <a:pt x="499204" y="530993"/>
                      <a:pt x="493283" y="536754"/>
                      <a:pt x="486147" y="536754"/>
                    </a:cubicBezTo>
                    <a:lnTo>
                      <a:pt x="430272" y="536754"/>
                    </a:lnTo>
                    <a:lnTo>
                      <a:pt x="398084" y="393017"/>
                    </a:lnTo>
                    <a:cubicBezTo>
                      <a:pt x="396414" y="386194"/>
                      <a:pt x="392314" y="379826"/>
                      <a:pt x="385634" y="376035"/>
                    </a:cubicBezTo>
                    <a:cubicBezTo>
                      <a:pt x="383963" y="375126"/>
                      <a:pt x="346916" y="354808"/>
                      <a:pt x="298482" y="352231"/>
                    </a:cubicBezTo>
                    <a:lnTo>
                      <a:pt x="291953" y="365270"/>
                    </a:lnTo>
                    <a:lnTo>
                      <a:pt x="291801" y="365270"/>
                    </a:lnTo>
                    <a:lnTo>
                      <a:pt x="309565" y="502943"/>
                    </a:lnTo>
                    <a:lnTo>
                      <a:pt x="290131" y="536754"/>
                    </a:lnTo>
                    <a:lnTo>
                      <a:pt x="286791" y="536754"/>
                    </a:lnTo>
                    <a:lnTo>
                      <a:pt x="267356" y="502943"/>
                    </a:lnTo>
                    <a:lnTo>
                      <a:pt x="285120" y="365270"/>
                    </a:lnTo>
                    <a:lnTo>
                      <a:pt x="284969" y="365270"/>
                    </a:lnTo>
                    <a:lnTo>
                      <a:pt x="278440" y="352231"/>
                    </a:lnTo>
                    <a:cubicBezTo>
                      <a:pt x="229853" y="354808"/>
                      <a:pt x="192958" y="375126"/>
                      <a:pt x="191288" y="376035"/>
                    </a:cubicBezTo>
                    <a:cubicBezTo>
                      <a:pt x="184607" y="379826"/>
                      <a:pt x="180508" y="386194"/>
                      <a:pt x="178838" y="393017"/>
                    </a:cubicBezTo>
                    <a:lnTo>
                      <a:pt x="146649" y="536754"/>
                    </a:lnTo>
                    <a:lnTo>
                      <a:pt x="90775" y="536754"/>
                    </a:lnTo>
                    <a:cubicBezTo>
                      <a:pt x="83639" y="536754"/>
                      <a:pt x="77717" y="530993"/>
                      <a:pt x="77717" y="523715"/>
                    </a:cubicBezTo>
                    <a:lnTo>
                      <a:pt x="77717" y="277481"/>
                    </a:lnTo>
                    <a:cubicBezTo>
                      <a:pt x="77717" y="273691"/>
                      <a:pt x="79387" y="270052"/>
                      <a:pt x="82272" y="267626"/>
                    </a:cubicBezTo>
                    <a:close/>
                    <a:moveTo>
                      <a:pt x="288461" y="0"/>
                    </a:moveTo>
                    <a:cubicBezTo>
                      <a:pt x="294573" y="0"/>
                      <a:pt x="300685" y="2085"/>
                      <a:pt x="305620" y="6254"/>
                    </a:cubicBezTo>
                    <a:lnTo>
                      <a:pt x="567855" y="231550"/>
                    </a:lnTo>
                    <a:cubicBezTo>
                      <a:pt x="578787" y="240950"/>
                      <a:pt x="580002" y="257476"/>
                      <a:pt x="570588" y="268392"/>
                    </a:cubicBezTo>
                    <a:cubicBezTo>
                      <a:pt x="565425" y="274456"/>
                      <a:pt x="558137" y="277488"/>
                      <a:pt x="550696" y="277488"/>
                    </a:cubicBezTo>
                    <a:cubicBezTo>
                      <a:pt x="544623" y="277488"/>
                      <a:pt x="538549" y="275517"/>
                      <a:pt x="533690" y="271272"/>
                    </a:cubicBezTo>
                    <a:lnTo>
                      <a:pt x="288461" y="60683"/>
                    </a:lnTo>
                    <a:lnTo>
                      <a:pt x="43232" y="271272"/>
                    </a:lnTo>
                    <a:cubicBezTo>
                      <a:pt x="32299" y="280672"/>
                      <a:pt x="15748" y="279459"/>
                      <a:pt x="6334" y="268392"/>
                    </a:cubicBezTo>
                    <a:cubicBezTo>
                      <a:pt x="-3080" y="257476"/>
                      <a:pt x="-1865" y="240950"/>
                      <a:pt x="9067" y="231550"/>
                    </a:cubicBezTo>
                    <a:lnTo>
                      <a:pt x="271303" y="6254"/>
                    </a:lnTo>
                    <a:cubicBezTo>
                      <a:pt x="276238" y="2085"/>
                      <a:pt x="282350" y="0"/>
                      <a:pt x="2884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思源黑体 Medium" panose="020B0600000000000000" pitchFamily="34" charset="-122"/>
                </a:endParaRPr>
              </a:p>
            </p:txBody>
          </p:sp>
        </p:grpSp>
        <p:grpSp>
          <p:nvGrpSpPr>
            <p:cNvPr id="9" name="iṣḻïdè"/>
            <p:cNvGrpSpPr/>
            <p:nvPr/>
          </p:nvGrpSpPr>
          <p:grpSpPr>
            <a:xfrm>
              <a:off x="7286625" y="1807020"/>
              <a:ext cx="5532755" cy="1166495"/>
              <a:chOff x="1760651" y="1440088"/>
              <a:chExt cx="5037159" cy="1166495"/>
            </a:xfrm>
          </p:grpSpPr>
          <p:sp>
            <p:nvSpPr>
              <p:cNvPr id="22" name="iš1ide"/>
              <p:cNvSpPr/>
              <p:nvPr>
                <p:custDataLst>
                  <p:tags r:id="rId12"/>
                </p:custDataLst>
              </p:nvPr>
            </p:nvSpPr>
            <p:spPr bwMode="auto">
              <a:xfrm>
                <a:off x="1760651" y="1814738"/>
                <a:ext cx="5037159" cy="7918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Medium" panose="020B0600000000000000" pitchFamily="34" charset="-122"/>
                    <a:cs typeface="Times New Roman" panose="02020603050405020304" pitchFamily="18" charset="0"/>
                  </a:rPr>
                  <a:t>Lenders cannot physically vet borrowers like a bank would, making it difficult to judge if the borrower will repay on time.</a:t>
                </a:r>
              </a:p>
            </p:txBody>
          </p:sp>
          <p:sp>
            <p:nvSpPr>
              <p:cNvPr id="23" name="ïsļíḋe"/>
              <p:cNvSpPr txBox="1"/>
              <p:nvPr>
                <p:custDataLst>
                  <p:tags r:id="rId13"/>
                </p:custDataLst>
              </p:nvPr>
            </p:nvSpPr>
            <p:spPr bwMode="auto">
              <a:xfrm>
                <a:off x="1760651" y="1440088"/>
                <a:ext cx="3126184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>
                  <a:spcBef>
                    <a:spcPct val="0"/>
                  </a:spcBef>
                  <a:defRPr/>
                </a:pPr>
                <a:r>
                  <a:rPr lang="en-US" altLang="zh-CN" b="1" dirty="0">
                    <a:solidFill>
                      <a:srgbClr val="47100A"/>
                    </a:solidFill>
                    <a:latin typeface="Times New Roman" panose="02020603050405020304" pitchFamily="18" charset="0"/>
                    <a:ea typeface="思源黑体 Medium" panose="020B0600000000000000" pitchFamily="34" charset="-122"/>
                    <a:cs typeface="Times New Roman" panose="02020603050405020304" pitchFamily="18" charset="0"/>
                  </a:rPr>
                  <a:t>Information Asymmetry</a:t>
                </a:r>
              </a:p>
            </p:txBody>
          </p:sp>
        </p:grpSp>
        <p:grpSp>
          <p:nvGrpSpPr>
            <p:cNvPr id="10" name="îslîḑè"/>
            <p:cNvGrpSpPr/>
            <p:nvPr/>
          </p:nvGrpSpPr>
          <p:grpSpPr>
            <a:xfrm>
              <a:off x="6246936" y="3287124"/>
              <a:ext cx="878080" cy="880403"/>
              <a:chOff x="3852543" y="1667810"/>
              <a:chExt cx="823456" cy="825634"/>
            </a:xfrm>
          </p:grpSpPr>
          <p:sp>
            <p:nvSpPr>
              <p:cNvPr id="20" name="îṩḻïḓe"/>
              <p:cNvSpPr/>
              <p:nvPr>
                <p:custDataLst>
                  <p:tags r:id="rId10"/>
                </p:custDataLst>
              </p:nvPr>
            </p:nvSpPr>
            <p:spPr bwMode="auto">
              <a:xfrm>
                <a:off x="3852543" y="1667810"/>
                <a:ext cx="823456" cy="825634"/>
              </a:xfrm>
              <a:prstGeom prst="ellipse">
                <a:avLst/>
              </a:prstGeom>
              <a:solidFill>
                <a:srgbClr val="47100A"/>
              </a:solidFill>
              <a:ln w="28575">
                <a:solidFill>
                  <a:srgbClr val="FFFFFF"/>
                </a:solidFill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思源黑体 Medium" panose="020B0600000000000000" pitchFamily="34" charset="-122"/>
                </a:endParaRPr>
              </a:p>
            </p:txBody>
          </p:sp>
          <p:sp>
            <p:nvSpPr>
              <p:cNvPr id="21" name="íṣľíḍé"/>
              <p:cNvSpPr/>
              <p:nvPr>
                <p:custDataLst>
                  <p:tags r:id="rId11"/>
                </p:custDataLst>
              </p:nvPr>
            </p:nvSpPr>
            <p:spPr bwMode="auto">
              <a:xfrm>
                <a:off x="4053488" y="1884519"/>
                <a:ext cx="421566" cy="392214"/>
              </a:xfrm>
              <a:custGeom>
                <a:avLst/>
                <a:gdLst>
                  <a:gd name="connsiteX0" fmla="*/ 362096 w 576922"/>
                  <a:gd name="connsiteY0" fmla="*/ 472751 h 536754"/>
                  <a:gd name="connsiteX1" fmla="*/ 376350 w 576922"/>
                  <a:gd name="connsiteY1" fmla="*/ 536754 h 536754"/>
                  <a:gd name="connsiteX2" fmla="*/ 362096 w 576922"/>
                  <a:gd name="connsiteY2" fmla="*/ 536754 h 536754"/>
                  <a:gd name="connsiteX3" fmla="*/ 214826 w 576922"/>
                  <a:gd name="connsiteY3" fmla="*/ 472751 h 536754"/>
                  <a:gd name="connsiteX4" fmla="*/ 214826 w 576922"/>
                  <a:gd name="connsiteY4" fmla="*/ 536754 h 536754"/>
                  <a:gd name="connsiteX5" fmla="*/ 200572 w 576922"/>
                  <a:gd name="connsiteY5" fmla="*/ 536754 h 536754"/>
                  <a:gd name="connsiteX6" fmla="*/ 288461 w 576922"/>
                  <a:gd name="connsiteY6" fmla="*/ 200761 h 536754"/>
                  <a:gd name="connsiteX7" fmla="*/ 221958 w 576922"/>
                  <a:gd name="connsiteY7" fmla="*/ 267171 h 536754"/>
                  <a:gd name="connsiteX8" fmla="*/ 288461 w 576922"/>
                  <a:gd name="connsiteY8" fmla="*/ 346317 h 536754"/>
                  <a:gd name="connsiteX9" fmla="*/ 354963 w 576922"/>
                  <a:gd name="connsiteY9" fmla="*/ 267171 h 536754"/>
                  <a:gd name="connsiteX10" fmla="*/ 288461 w 576922"/>
                  <a:gd name="connsiteY10" fmla="*/ 200761 h 536754"/>
                  <a:gd name="connsiteX11" fmla="*/ 279958 w 576922"/>
                  <a:gd name="connsiteY11" fmla="*/ 97355 h 536754"/>
                  <a:gd name="connsiteX12" fmla="*/ 296963 w 576922"/>
                  <a:gd name="connsiteY12" fmla="*/ 97355 h 536754"/>
                  <a:gd name="connsiteX13" fmla="*/ 494649 w 576922"/>
                  <a:gd name="connsiteY13" fmla="*/ 267626 h 536754"/>
                  <a:gd name="connsiteX14" fmla="*/ 499204 w 576922"/>
                  <a:gd name="connsiteY14" fmla="*/ 277481 h 536754"/>
                  <a:gd name="connsiteX15" fmla="*/ 499204 w 576922"/>
                  <a:gd name="connsiteY15" fmla="*/ 523715 h 536754"/>
                  <a:gd name="connsiteX16" fmla="*/ 486147 w 576922"/>
                  <a:gd name="connsiteY16" fmla="*/ 536754 h 536754"/>
                  <a:gd name="connsiteX17" fmla="*/ 430272 w 576922"/>
                  <a:gd name="connsiteY17" fmla="*/ 536754 h 536754"/>
                  <a:gd name="connsiteX18" fmla="*/ 398084 w 576922"/>
                  <a:gd name="connsiteY18" fmla="*/ 393017 h 536754"/>
                  <a:gd name="connsiteX19" fmla="*/ 385634 w 576922"/>
                  <a:gd name="connsiteY19" fmla="*/ 376035 h 536754"/>
                  <a:gd name="connsiteX20" fmla="*/ 298482 w 576922"/>
                  <a:gd name="connsiteY20" fmla="*/ 352231 h 536754"/>
                  <a:gd name="connsiteX21" fmla="*/ 291953 w 576922"/>
                  <a:gd name="connsiteY21" fmla="*/ 365270 h 536754"/>
                  <a:gd name="connsiteX22" fmla="*/ 291801 w 576922"/>
                  <a:gd name="connsiteY22" fmla="*/ 365270 h 536754"/>
                  <a:gd name="connsiteX23" fmla="*/ 309565 w 576922"/>
                  <a:gd name="connsiteY23" fmla="*/ 502943 h 536754"/>
                  <a:gd name="connsiteX24" fmla="*/ 290131 w 576922"/>
                  <a:gd name="connsiteY24" fmla="*/ 536754 h 536754"/>
                  <a:gd name="connsiteX25" fmla="*/ 286791 w 576922"/>
                  <a:gd name="connsiteY25" fmla="*/ 536754 h 536754"/>
                  <a:gd name="connsiteX26" fmla="*/ 267356 w 576922"/>
                  <a:gd name="connsiteY26" fmla="*/ 502943 h 536754"/>
                  <a:gd name="connsiteX27" fmla="*/ 285120 w 576922"/>
                  <a:gd name="connsiteY27" fmla="*/ 365270 h 536754"/>
                  <a:gd name="connsiteX28" fmla="*/ 284969 w 576922"/>
                  <a:gd name="connsiteY28" fmla="*/ 365270 h 536754"/>
                  <a:gd name="connsiteX29" fmla="*/ 278440 w 576922"/>
                  <a:gd name="connsiteY29" fmla="*/ 352231 h 536754"/>
                  <a:gd name="connsiteX30" fmla="*/ 191288 w 576922"/>
                  <a:gd name="connsiteY30" fmla="*/ 376035 h 536754"/>
                  <a:gd name="connsiteX31" fmla="*/ 178838 w 576922"/>
                  <a:gd name="connsiteY31" fmla="*/ 393017 h 536754"/>
                  <a:gd name="connsiteX32" fmla="*/ 146649 w 576922"/>
                  <a:gd name="connsiteY32" fmla="*/ 536754 h 536754"/>
                  <a:gd name="connsiteX33" fmla="*/ 90775 w 576922"/>
                  <a:gd name="connsiteY33" fmla="*/ 536754 h 536754"/>
                  <a:gd name="connsiteX34" fmla="*/ 77717 w 576922"/>
                  <a:gd name="connsiteY34" fmla="*/ 523715 h 536754"/>
                  <a:gd name="connsiteX35" fmla="*/ 77717 w 576922"/>
                  <a:gd name="connsiteY35" fmla="*/ 277481 h 536754"/>
                  <a:gd name="connsiteX36" fmla="*/ 82272 w 576922"/>
                  <a:gd name="connsiteY36" fmla="*/ 267626 h 536754"/>
                  <a:gd name="connsiteX37" fmla="*/ 288461 w 576922"/>
                  <a:gd name="connsiteY37" fmla="*/ 0 h 536754"/>
                  <a:gd name="connsiteX38" fmla="*/ 305620 w 576922"/>
                  <a:gd name="connsiteY38" fmla="*/ 6254 h 536754"/>
                  <a:gd name="connsiteX39" fmla="*/ 567855 w 576922"/>
                  <a:gd name="connsiteY39" fmla="*/ 231550 h 536754"/>
                  <a:gd name="connsiteX40" fmla="*/ 570588 w 576922"/>
                  <a:gd name="connsiteY40" fmla="*/ 268392 h 536754"/>
                  <a:gd name="connsiteX41" fmla="*/ 550696 w 576922"/>
                  <a:gd name="connsiteY41" fmla="*/ 277488 h 536754"/>
                  <a:gd name="connsiteX42" fmla="*/ 533690 w 576922"/>
                  <a:gd name="connsiteY42" fmla="*/ 271272 h 536754"/>
                  <a:gd name="connsiteX43" fmla="*/ 288461 w 576922"/>
                  <a:gd name="connsiteY43" fmla="*/ 60683 h 536754"/>
                  <a:gd name="connsiteX44" fmla="*/ 43232 w 576922"/>
                  <a:gd name="connsiteY44" fmla="*/ 271272 h 536754"/>
                  <a:gd name="connsiteX45" fmla="*/ 6334 w 576922"/>
                  <a:gd name="connsiteY45" fmla="*/ 268392 h 536754"/>
                  <a:gd name="connsiteX46" fmla="*/ 9067 w 576922"/>
                  <a:gd name="connsiteY46" fmla="*/ 231550 h 536754"/>
                  <a:gd name="connsiteX47" fmla="*/ 271303 w 576922"/>
                  <a:gd name="connsiteY47" fmla="*/ 6254 h 536754"/>
                  <a:gd name="connsiteX48" fmla="*/ 288461 w 576922"/>
                  <a:gd name="connsiteY48" fmla="*/ 0 h 536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576922" h="536754">
                    <a:moveTo>
                      <a:pt x="362096" y="472751"/>
                    </a:moveTo>
                    <a:lnTo>
                      <a:pt x="376350" y="536754"/>
                    </a:lnTo>
                    <a:lnTo>
                      <a:pt x="362096" y="536754"/>
                    </a:lnTo>
                    <a:close/>
                    <a:moveTo>
                      <a:pt x="214826" y="472751"/>
                    </a:moveTo>
                    <a:lnTo>
                      <a:pt x="214826" y="536754"/>
                    </a:lnTo>
                    <a:lnTo>
                      <a:pt x="200572" y="536754"/>
                    </a:lnTo>
                    <a:close/>
                    <a:moveTo>
                      <a:pt x="288461" y="200761"/>
                    </a:moveTo>
                    <a:cubicBezTo>
                      <a:pt x="251717" y="200761"/>
                      <a:pt x="221958" y="230478"/>
                      <a:pt x="221958" y="267171"/>
                    </a:cubicBezTo>
                    <a:cubicBezTo>
                      <a:pt x="221958" y="303712"/>
                      <a:pt x="251717" y="346317"/>
                      <a:pt x="288461" y="346317"/>
                    </a:cubicBezTo>
                    <a:cubicBezTo>
                      <a:pt x="325204" y="346317"/>
                      <a:pt x="354963" y="303712"/>
                      <a:pt x="354963" y="267171"/>
                    </a:cubicBezTo>
                    <a:cubicBezTo>
                      <a:pt x="354963" y="230478"/>
                      <a:pt x="325204" y="200761"/>
                      <a:pt x="288461" y="200761"/>
                    </a:cubicBezTo>
                    <a:close/>
                    <a:moveTo>
                      <a:pt x="279958" y="97355"/>
                    </a:moveTo>
                    <a:cubicBezTo>
                      <a:pt x="284817" y="93109"/>
                      <a:pt x="292105" y="93109"/>
                      <a:pt x="296963" y="97355"/>
                    </a:cubicBezTo>
                    <a:lnTo>
                      <a:pt x="494649" y="267626"/>
                    </a:lnTo>
                    <a:cubicBezTo>
                      <a:pt x="497534" y="270052"/>
                      <a:pt x="499204" y="273691"/>
                      <a:pt x="499204" y="277481"/>
                    </a:cubicBezTo>
                    <a:lnTo>
                      <a:pt x="499204" y="523715"/>
                    </a:lnTo>
                    <a:cubicBezTo>
                      <a:pt x="499204" y="530993"/>
                      <a:pt x="493283" y="536754"/>
                      <a:pt x="486147" y="536754"/>
                    </a:cubicBezTo>
                    <a:lnTo>
                      <a:pt x="430272" y="536754"/>
                    </a:lnTo>
                    <a:lnTo>
                      <a:pt x="398084" y="393017"/>
                    </a:lnTo>
                    <a:cubicBezTo>
                      <a:pt x="396414" y="386194"/>
                      <a:pt x="392314" y="379826"/>
                      <a:pt x="385634" y="376035"/>
                    </a:cubicBezTo>
                    <a:cubicBezTo>
                      <a:pt x="383963" y="375126"/>
                      <a:pt x="346916" y="354808"/>
                      <a:pt x="298482" y="352231"/>
                    </a:cubicBezTo>
                    <a:lnTo>
                      <a:pt x="291953" y="365270"/>
                    </a:lnTo>
                    <a:lnTo>
                      <a:pt x="291801" y="365270"/>
                    </a:lnTo>
                    <a:lnTo>
                      <a:pt x="309565" y="502943"/>
                    </a:lnTo>
                    <a:lnTo>
                      <a:pt x="290131" y="536754"/>
                    </a:lnTo>
                    <a:lnTo>
                      <a:pt x="286791" y="536754"/>
                    </a:lnTo>
                    <a:lnTo>
                      <a:pt x="267356" y="502943"/>
                    </a:lnTo>
                    <a:lnTo>
                      <a:pt x="285120" y="365270"/>
                    </a:lnTo>
                    <a:lnTo>
                      <a:pt x="284969" y="365270"/>
                    </a:lnTo>
                    <a:lnTo>
                      <a:pt x="278440" y="352231"/>
                    </a:lnTo>
                    <a:cubicBezTo>
                      <a:pt x="229853" y="354808"/>
                      <a:pt x="192958" y="375126"/>
                      <a:pt x="191288" y="376035"/>
                    </a:cubicBezTo>
                    <a:cubicBezTo>
                      <a:pt x="184607" y="379826"/>
                      <a:pt x="180508" y="386194"/>
                      <a:pt x="178838" y="393017"/>
                    </a:cubicBezTo>
                    <a:lnTo>
                      <a:pt x="146649" y="536754"/>
                    </a:lnTo>
                    <a:lnTo>
                      <a:pt x="90775" y="536754"/>
                    </a:lnTo>
                    <a:cubicBezTo>
                      <a:pt x="83639" y="536754"/>
                      <a:pt x="77717" y="530993"/>
                      <a:pt x="77717" y="523715"/>
                    </a:cubicBezTo>
                    <a:lnTo>
                      <a:pt x="77717" y="277481"/>
                    </a:lnTo>
                    <a:cubicBezTo>
                      <a:pt x="77717" y="273691"/>
                      <a:pt x="79387" y="270052"/>
                      <a:pt x="82272" y="267626"/>
                    </a:cubicBezTo>
                    <a:close/>
                    <a:moveTo>
                      <a:pt x="288461" y="0"/>
                    </a:moveTo>
                    <a:cubicBezTo>
                      <a:pt x="294573" y="0"/>
                      <a:pt x="300685" y="2085"/>
                      <a:pt x="305620" y="6254"/>
                    </a:cubicBezTo>
                    <a:lnTo>
                      <a:pt x="567855" y="231550"/>
                    </a:lnTo>
                    <a:cubicBezTo>
                      <a:pt x="578787" y="240950"/>
                      <a:pt x="580002" y="257476"/>
                      <a:pt x="570588" y="268392"/>
                    </a:cubicBezTo>
                    <a:cubicBezTo>
                      <a:pt x="565425" y="274456"/>
                      <a:pt x="558137" y="277488"/>
                      <a:pt x="550696" y="277488"/>
                    </a:cubicBezTo>
                    <a:cubicBezTo>
                      <a:pt x="544623" y="277488"/>
                      <a:pt x="538549" y="275517"/>
                      <a:pt x="533690" y="271272"/>
                    </a:cubicBezTo>
                    <a:lnTo>
                      <a:pt x="288461" y="60683"/>
                    </a:lnTo>
                    <a:lnTo>
                      <a:pt x="43232" y="271272"/>
                    </a:lnTo>
                    <a:cubicBezTo>
                      <a:pt x="32299" y="280672"/>
                      <a:pt x="15748" y="279459"/>
                      <a:pt x="6334" y="268392"/>
                    </a:cubicBezTo>
                    <a:cubicBezTo>
                      <a:pt x="-3080" y="257476"/>
                      <a:pt x="-1865" y="240950"/>
                      <a:pt x="9067" y="231550"/>
                    </a:cubicBezTo>
                    <a:lnTo>
                      <a:pt x="271303" y="6254"/>
                    </a:lnTo>
                    <a:cubicBezTo>
                      <a:pt x="276238" y="2085"/>
                      <a:pt x="282350" y="0"/>
                      <a:pt x="2884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思源黑体 Medium" panose="020B0600000000000000" pitchFamily="34" charset="-122"/>
                </a:endParaRPr>
              </a:p>
            </p:txBody>
          </p:sp>
        </p:grpSp>
        <p:grpSp>
          <p:nvGrpSpPr>
            <p:cNvPr id="11" name="íşľíḓé"/>
            <p:cNvGrpSpPr/>
            <p:nvPr/>
          </p:nvGrpSpPr>
          <p:grpSpPr>
            <a:xfrm>
              <a:off x="7286624" y="3196320"/>
              <a:ext cx="5693410" cy="1113790"/>
              <a:chOff x="1760650" y="1349283"/>
              <a:chExt cx="5183423" cy="1113790"/>
            </a:xfrm>
          </p:grpSpPr>
          <p:sp>
            <p:nvSpPr>
              <p:cNvPr id="18" name="íşḷíďê"/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1760650" y="1671228"/>
                <a:ext cx="5183423" cy="7918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Medium" panose="020B0600000000000000" pitchFamily="34" charset="-122"/>
                    <a:cs typeface="Times New Roman" panose="02020603050405020304" pitchFamily="18" charset="0"/>
                  </a:rPr>
                  <a:t>If you can predict who is likely to default (e.g., based on their spending habits, social data, past repayment behavior), the platform can reject these high-risk applicants or demand a higher interest rate to cover the risk.</a:t>
                </a:r>
              </a:p>
            </p:txBody>
          </p:sp>
          <p:sp>
            <p:nvSpPr>
              <p:cNvPr id="19" name="iśḷiďê"/>
              <p:cNvSpPr txBox="1"/>
              <p:nvPr>
                <p:custDataLst>
                  <p:tags r:id="rId9"/>
                </p:custDataLst>
              </p:nvPr>
            </p:nvSpPr>
            <p:spPr bwMode="auto">
              <a:xfrm>
                <a:off x="1760651" y="1349283"/>
                <a:ext cx="3126184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>
                  <a:spcBef>
                    <a:spcPct val="0"/>
                  </a:spcBef>
                  <a:defRPr/>
                </a:pPr>
                <a:r>
                  <a:rPr lang="en-US" altLang="zh-CN" b="1" dirty="0">
                    <a:solidFill>
                      <a:srgbClr val="47100A"/>
                    </a:solidFill>
                    <a:latin typeface="Times New Roman" panose="02020603050405020304" pitchFamily="18" charset="0"/>
                    <a:ea typeface="思源黑体 Medium" panose="020B0600000000000000" pitchFamily="34" charset="-122"/>
                    <a:cs typeface="Times New Roman" panose="02020603050405020304" pitchFamily="18" charset="0"/>
                  </a:rPr>
                  <a:t>Reducing Default Rates</a:t>
                </a:r>
              </a:p>
            </p:txBody>
          </p:sp>
        </p:grpSp>
        <p:grpSp>
          <p:nvGrpSpPr>
            <p:cNvPr id="12" name="îṣļïde"/>
            <p:cNvGrpSpPr/>
            <p:nvPr/>
          </p:nvGrpSpPr>
          <p:grpSpPr>
            <a:xfrm>
              <a:off x="6246936" y="4879179"/>
              <a:ext cx="878080" cy="880403"/>
              <a:chOff x="3852543" y="1667810"/>
              <a:chExt cx="823456" cy="825634"/>
            </a:xfrm>
          </p:grpSpPr>
          <p:sp>
            <p:nvSpPr>
              <p:cNvPr id="16" name="íşḷiďè"/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3852543" y="1667810"/>
                <a:ext cx="823456" cy="825634"/>
              </a:xfrm>
              <a:prstGeom prst="ellipse">
                <a:avLst/>
              </a:prstGeom>
              <a:solidFill>
                <a:srgbClr val="47100A"/>
              </a:solidFill>
              <a:ln w="28575">
                <a:solidFill>
                  <a:srgbClr val="FFFFFF"/>
                </a:solidFill>
              </a:ln>
            </p:spPr>
            <p:txBody>
              <a:bodyPr vert="horz" wrap="square" lIns="91440" tIns="45720" rIns="91440" bIns="45720" numCol="1" anchor="ctr" anchorCtr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思源黑体 Medium" panose="020B0600000000000000" pitchFamily="34" charset="-122"/>
                </a:endParaRPr>
              </a:p>
            </p:txBody>
          </p:sp>
          <p:sp>
            <p:nvSpPr>
              <p:cNvPr id="17" name="ïṣliḋe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4053488" y="1884519"/>
                <a:ext cx="421566" cy="392214"/>
              </a:xfrm>
              <a:custGeom>
                <a:avLst/>
                <a:gdLst>
                  <a:gd name="connsiteX0" fmla="*/ 362096 w 576922"/>
                  <a:gd name="connsiteY0" fmla="*/ 472751 h 536754"/>
                  <a:gd name="connsiteX1" fmla="*/ 376350 w 576922"/>
                  <a:gd name="connsiteY1" fmla="*/ 536754 h 536754"/>
                  <a:gd name="connsiteX2" fmla="*/ 362096 w 576922"/>
                  <a:gd name="connsiteY2" fmla="*/ 536754 h 536754"/>
                  <a:gd name="connsiteX3" fmla="*/ 214826 w 576922"/>
                  <a:gd name="connsiteY3" fmla="*/ 472751 h 536754"/>
                  <a:gd name="connsiteX4" fmla="*/ 214826 w 576922"/>
                  <a:gd name="connsiteY4" fmla="*/ 536754 h 536754"/>
                  <a:gd name="connsiteX5" fmla="*/ 200572 w 576922"/>
                  <a:gd name="connsiteY5" fmla="*/ 536754 h 536754"/>
                  <a:gd name="connsiteX6" fmla="*/ 288461 w 576922"/>
                  <a:gd name="connsiteY6" fmla="*/ 200761 h 536754"/>
                  <a:gd name="connsiteX7" fmla="*/ 221958 w 576922"/>
                  <a:gd name="connsiteY7" fmla="*/ 267171 h 536754"/>
                  <a:gd name="connsiteX8" fmla="*/ 288461 w 576922"/>
                  <a:gd name="connsiteY8" fmla="*/ 346317 h 536754"/>
                  <a:gd name="connsiteX9" fmla="*/ 354963 w 576922"/>
                  <a:gd name="connsiteY9" fmla="*/ 267171 h 536754"/>
                  <a:gd name="connsiteX10" fmla="*/ 288461 w 576922"/>
                  <a:gd name="connsiteY10" fmla="*/ 200761 h 536754"/>
                  <a:gd name="connsiteX11" fmla="*/ 279958 w 576922"/>
                  <a:gd name="connsiteY11" fmla="*/ 97355 h 536754"/>
                  <a:gd name="connsiteX12" fmla="*/ 296963 w 576922"/>
                  <a:gd name="connsiteY12" fmla="*/ 97355 h 536754"/>
                  <a:gd name="connsiteX13" fmla="*/ 494649 w 576922"/>
                  <a:gd name="connsiteY13" fmla="*/ 267626 h 536754"/>
                  <a:gd name="connsiteX14" fmla="*/ 499204 w 576922"/>
                  <a:gd name="connsiteY14" fmla="*/ 277481 h 536754"/>
                  <a:gd name="connsiteX15" fmla="*/ 499204 w 576922"/>
                  <a:gd name="connsiteY15" fmla="*/ 523715 h 536754"/>
                  <a:gd name="connsiteX16" fmla="*/ 486147 w 576922"/>
                  <a:gd name="connsiteY16" fmla="*/ 536754 h 536754"/>
                  <a:gd name="connsiteX17" fmla="*/ 430272 w 576922"/>
                  <a:gd name="connsiteY17" fmla="*/ 536754 h 536754"/>
                  <a:gd name="connsiteX18" fmla="*/ 398084 w 576922"/>
                  <a:gd name="connsiteY18" fmla="*/ 393017 h 536754"/>
                  <a:gd name="connsiteX19" fmla="*/ 385634 w 576922"/>
                  <a:gd name="connsiteY19" fmla="*/ 376035 h 536754"/>
                  <a:gd name="connsiteX20" fmla="*/ 298482 w 576922"/>
                  <a:gd name="connsiteY20" fmla="*/ 352231 h 536754"/>
                  <a:gd name="connsiteX21" fmla="*/ 291953 w 576922"/>
                  <a:gd name="connsiteY21" fmla="*/ 365270 h 536754"/>
                  <a:gd name="connsiteX22" fmla="*/ 291801 w 576922"/>
                  <a:gd name="connsiteY22" fmla="*/ 365270 h 536754"/>
                  <a:gd name="connsiteX23" fmla="*/ 309565 w 576922"/>
                  <a:gd name="connsiteY23" fmla="*/ 502943 h 536754"/>
                  <a:gd name="connsiteX24" fmla="*/ 290131 w 576922"/>
                  <a:gd name="connsiteY24" fmla="*/ 536754 h 536754"/>
                  <a:gd name="connsiteX25" fmla="*/ 286791 w 576922"/>
                  <a:gd name="connsiteY25" fmla="*/ 536754 h 536754"/>
                  <a:gd name="connsiteX26" fmla="*/ 267356 w 576922"/>
                  <a:gd name="connsiteY26" fmla="*/ 502943 h 536754"/>
                  <a:gd name="connsiteX27" fmla="*/ 285120 w 576922"/>
                  <a:gd name="connsiteY27" fmla="*/ 365270 h 536754"/>
                  <a:gd name="connsiteX28" fmla="*/ 284969 w 576922"/>
                  <a:gd name="connsiteY28" fmla="*/ 365270 h 536754"/>
                  <a:gd name="connsiteX29" fmla="*/ 278440 w 576922"/>
                  <a:gd name="connsiteY29" fmla="*/ 352231 h 536754"/>
                  <a:gd name="connsiteX30" fmla="*/ 191288 w 576922"/>
                  <a:gd name="connsiteY30" fmla="*/ 376035 h 536754"/>
                  <a:gd name="connsiteX31" fmla="*/ 178838 w 576922"/>
                  <a:gd name="connsiteY31" fmla="*/ 393017 h 536754"/>
                  <a:gd name="connsiteX32" fmla="*/ 146649 w 576922"/>
                  <a:gd name="connsiteY32" fmla="*/ 536754 h 536754"/>
                  <a:gd name="connsiteX33" fmla="*/ 90775 w 576922"/>
                  <a:gd name="connsiteY33" fmla="*/ 536754 h 536754"/>
                  <a:gd name="connsiteX34" fmla="*/ 77717 w 576922"/>
                  <a:gd name="connsiteY34" fmla="*/ 523715 h 536754"/>
                  <a:gd name="connsiteX35" fmla="*/ 77717 w 576922"/>
                  <a:gd name="connsiteY35" fmla="*/ 277481 h 536754"/>
                  <a:gd name="connsiteX36" fmla="*/ 82272 w 576922"/>
                  <a:gd name="connsiteY36" fmla="*/ 267626 h 536754"/>
                  <a:gd name="connsiteX37" fmla="*/ 288461 w 576922"/>
                  <a:gd name="connsiteY37" fmla="*/ 0 h 536754"/>
                  <a:gd name="connsiteX38" fmla="*/ 305620 w 576922"/>
                  <a:gd name="connsiteY38" fmla="*/ 6254 h 536754"/>
                  <a:gd name="connsiteX39" fmla="*/ 567855 w 576922"/>
                  <a:gd name="connsiteY39" fmla="*/ 231550 h 536754"/>
                  <a:gd name="connsiteX40" fmla="*/ 570588 w 576922"/>
                  <a:gd name="connsiteY40" fmla="*/ 268392 h 536754"/>
                  <a:gd name="connsiteX41" fmla="*/ 550696 w 576922"/>
                  <a:gd name="connsiteY41" fmla="*/ 277488 h 536754"/>
                  <a:gd name="connsiteX42" fmla="*/ 533690 w 576922"/>
                  <a:gd name="connsiteY42" fmla="*/ 271272 h 536754"/>
                  <a:gd name="connsiteX43" fmla="*/ 288461 w 576922"/>
                  <a:gd name="connsiteY43" fmla="*/ 60683 h 536754"/>
                  <a:gd name="connsiteX44" fmla="*/ 43232 w 576922"/>
                  <a:gd name="connsiteY44" fmla="*/ 271272 h 536754"/>
                  <a:gd name="connsiteX45" fmla="*/ 6334 w 576922"/>
                  <a:gd name="connsiteY45" fmla="*/ 268392 h 536754"/>
                  <a:gd name="connsiteX46" fmla="*/ 9067 w 576922"/>
                  <a:gd name="connsiteY46" fmla="*/ 231550 h 536754"/>
                  <a:gd name="connsiteX47" fmla="*/ 271303 w 576922"/>
                  <a:gd name="connsiteY47" fmla="*/ 6254 h 536754"/>
                  <a:gd name="connsiteX48" fmla="*/ 288461 w 576922"/>
                  <a:gd name="connsiteY48" fmla="*/ 0 h 536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576922" h="536754">
                    <a:moveTo>
                      <a:pt x="362096" y="472751"/>
                    </a:moveTo>
                    <a:lnTo>
                      <a:pt x="376350" y="536754"/>
                    </a:lnTo>
                    <a:lnTo>
                      <a:pt x="362096" y="536754"/>
                    </a:lnTo>
                    <a:close/>
                    <a:moveTo>
                      <a:pt x="214826" y="472751"/>
                    </a:moveTo>
                    <a:lnTo>
                      <a:pt x="214826" y="536754"/>
                    </a:lnTo>
                    <a:lnTo>
                      <a:pt x="200572" y="536754"/>
                    </a:lnTo>
                    <a:close/>
                    <a:moveTo>
                      <a:pt x="288461" y="200761"/>
                    </a:moveTo>
                    <a:cubicBezTo>
                      <a:pt x="251717" y="200761"/>
                      <a:pt x="221958" y="230478"/>
                      <a:pt x="221958" y="267171"/>
                    </a:cubicBezTo>
                    <a:cubicBezTo>
                      <a:pt x="221958" y="303712"/>
                      <a:pt x="251717" y="346317"/>
                      <a:pt x="288461" y="346317"/>
                    </a:cubicBezTo>
                    <a:cubicBezTo>
                      <a:pt x="325204" y="346317"/>
                      <a:pt x="354963" y="303712"/>
                      <a:pt x="354963" y="267171"/>
                    </a:cubicBezTo>
                    <a:cubicBezTo>
                      <a:pt x="354963" y="230478"/>
                      <a:pt x="325204" y="200761"/>
                      <a:pt x="288461" y="200761"/>
                    </a:cubicBezTo>
                    <a:close/>
                    <a:moveTo>
                      <a:pt x="279958" y="97355"/>
                    </a:moveTo>
                    <a:cubicBezTo>
                      <a:pt x="284817" y="93109"/>
                      <a:pt x="292105" y="93109"/>
                      <a:pt x="296963" y="97355"/>
                    </a:cubicBezTo>
                    <a:lnTo>
                      <a:pt x="494649" y="267626"/>
                    </a:lnTo>
                    <a:cubicBezTo>
                      <a:pt x="497534" y="270052"/>
                      <a:pt x="499204" y="273691"/>
                      <a:pt x="499204" y="277481"/>
                    </a:cubicBezTo>
                    <a:lnTo>
                      <a:pt x="499204" y="523715"/>
                    </a:lnTo>
                    <a:cubicBezTo>
                      <a:pt x="499204" y="530993"/>
                      <a:pt x="493283" y="536754"/>
                      <a:pt x="486147" y="536754"/>
                    </a:cubicBezTo>
                    <a:lnTo>
                      <a:pt x="430272" y="536754"/>
                    </a:lnTo>
                    <a:lnTo>
                      <a:pt x="398084" y="393017"/>
                    </a:lnTo>
                    <a:cubicBezTo>
                      <a:pt x="396414" y="386194"/>
                      <a:pt x="392314" y="379826"/>
                      <a:pt x="385634" y="376035"/>
                    </a:cubicBezTo>
                    <a:cubicBezTo>
                      <a:pt x="383963" y="375126"/>
                      <a:pt x="346916" y="354808"/>
                      <a:pt x="298482" y="352231"/>
                    </a:cubicBezTo>
                    <a:lnTo>
                      <a:pt x="291953" y="365270"/>
                    </a:lnTo>
                    <a:lnTo>
                      <a:pt x="291801" y="365270"/>
                    </a:lnTo>
                    <a:lnTo>
                      <a:pt x="309565" y="502943"/>
                    </a:lnTo>
                    <a:lnTo>
                      <a:pt x="290131" y="536754"/>
                    </a:lnTo>
                    <a:lnTo>
                      <a:pt x="286791" y="536754"/>
                    </a:lnTo>
                    <a:lnTo>
                      <a:pt x="267356" y="502943"/>
                    </a:lnTo>
                    <a:lnTo>
                      <a:pt x="285120" y="365270"/>
                    </a:lnTo>
                    <a:lnTo>
                      <a:pt x="284969" y="365270"/>
                    </a:lnTo>
                    <a:lnTo>
                      <a:pt x="278440" y="352231"/>
                    </a:lnTo>
                    <a:cubicBezTo>
                      <a:pt x="229853" y="354808"/>
                      <a:pt x="192958" y="375126"/>
                      <a:pt x="191288" y="376035"/>
                    </a:cubicBezTo>
                    <a:cubicBezTo>
                      <a:pt x="184607" y="379826"/>
                      <a:pt x="180508" y="386194"/>
                      <a:pt x="178838" y="393017"/>
                    </a:cubicBezTo>
                    <a:lnTo>
                      <a:pt x="146649" y="536754"/>
                    </a:lnTo>
                    <a:lnTo>
                      <a:pt x="90775" y="536754"/>
                    </a:lnTo>
                    <a:cubicBezTo>
                      <a:pt x="83639" y="536754"/>
                      <a:pt x="77717" y="530993"/>
                      <a:pt x="77717" y="523715"/>
                    </a:cubicBezTo>
                    <a:lnTo>
                      <a:pt x="77717" y="277481"/>
                    </a:lnTo>
                    <a:cubicBezTo>
                      <a:pt x="77717" y="273691"/>
                      <a:pt x="79387" y="270052"/>
                      <a:pt x="82272" y="267626"/>
                    </a:cubicBezTo>
                    <a:close/>
                    <a:moveTo>
                      <a:pt x="288461" y="0"/>
                    </a:moveTo>
                    <a:cubicBezTo>
                      <a:pt x="294573" y="0"/>
                      <a:pt x="300685" y="2085"/>
                      <a:pt x="305620" y="6254"/>
                    </a:cubicBezTo>
                    <a:lnTo>
                      <a:pt x="567855" y="231550"/>
                    </a:lnTo>
                    <a:cubicBezTo>
                      <a:pt x="578787" y="240950"/>
                      <a:pt x="580002" y="257476"/>
                      <a:pt x="570588" y="268392"/>
                    </a:cubicBezTo>
                    <a:cubicBezTo>
                      <a:pt x="565425" y="274456"/>
                      <a:pt x="558137" y="277488"/>
                      <a:pt x="550696" y="277488"/>
                    </a:cubicBezTo>
                    <a:cubicBezTo>
                      <a:pt x="544623" y="277488"/>
                      <a:pt x="538549" y="275517"/>
                      <a:pt x="533690" y="271272"/>
                    </a:cubicBezTo>
                    <a:lnTo>
                      <a:pt x="288461" y="60683"/>
                    </a:lnTo>
                    <a:lnTo>
                      <a:pt x="43232" y="271272"/>
                    </a:lnTo>
                    <a:cubicBezTo>
                      <a:pt x="32299" y="280672"/>
                      <a:pt x="15748" y="279459"/>
                      <a:pt x="6334" y="268392"/>
                    </a:cubicBezTo>
                    <a:cubicBezTo>
                      <a:pt x="-3080" y="257476"/>
                      <a:pt x="-1865" y="240950"/>
                      <a:pt x="9067" y="231550"/>
                    </a:cubicBezTo>
                    <a:lnTo>
                      <a:pt x="271303" y="6254"/>
                    </a:lnTo>
                    <a:cubicBezTo>
                      <a:pt x="276238" y="2085"/>
                      <a:pt x="282350" y="0"/>
                      <a:pt x="28846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wrap="square" lIns="91440" tIns="45720" rIns="91440" bIns="4572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思源黑体 Medium" panose="020B0600000000000000" pitchFamily="34" charset="-122"/>
                </a:endParaRPr>
              </a:p>
            </p:txBody>
          </p:sp>
        </p:grpSp>
        <p:grpSp>
          <p:nvGrpSpPr>
            <p:cNvPr id="13" name="íş1îdè"/>
            <p:cNvGrpSpPr/>
            <p:nvPr/>
          </p:nvGrpSpPr>
          <p:grpSpPr>
            <a:xfrm>
              <a:off x="7286625" y="4874100"/>
              <a:ext cx="5374640" cy="1238885"/>
              <a:chOff x="1760651" y="1435008"/>
              <a:chExt cx="4893207" cy="1238885"/>
            </a:xfrm>
          </p:grpSpPr>
          <p:sp>
            <p:nvSpPr>
              <p:cNvPr id="14" name="îsḷíḍe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760651" y="1882048"/>
                <a:ext cx="4893207" cy="7918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Medium" panose="020B0600000000000000" pitchFamily="34" charset="-122"/>
                    <a:cs typeface="Times New Roman" panose="02020603050405020304" pitchFamily="18" charset="0"/>
                  </a:rPr>
                  <a:t>Due to a lack of supervision, the platform may embezzle funds.</a:t>
                </a:r>
              </a:p>
            </p:txBody>
          </p:sp>
          <p:sp>
            <p:nvSpPr>
              <p:cNvPr id="15" name="ïṣľíḑe"/>
              <p:cNvSpPr txBox="1"/>
              <p:nvPr>
                <p:custDataLst>
                  <p:tags r:id="rId5"/>
                </p:custDataLst>
              </p:nvPr>
            </p:nvSpPr>
            <p:spPr bwMode="auto">
              <a:xfrm>
                <a:off x="1760651" y="1435008"/>
                <a:ext cx="4482164" cy="441960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>
                  <a:spcBef>
                    <a:spcPct val="0"/>
                  </a:spcBef>
                  <a:defRPr/>
                </a:pPr>
                <a:r>
                  <a:rPr lang="en-US" altLang="zh-CN" b="1" dirty="0">
                    <a:solidFill>
                      <a:srgbClr val="47100A"/>
                    </a:solidFill>
                    <a:latin typeface="Times New Roman" panose="02020603050405020304" pitchFamily="18" charset="0"/>
                    <a:ea typeface="思源黑体 Medium" panose="020B0600000000000000" pitchFamily="34" charset="-122"/>
                    <a:cs typeface="Times New Roman" panose="02020603050405020304" pitchFamily="18" charset="0"/>
                  </a:rPr>
                  <a:t>the platform absconds with the money</a:t>
                </a:r>
              </a:p>
            </p:txBody>
          </p:sp>
        </p:grpSp>
      </p:grpSp>
      <p:cxnSp>
        <p:nvCxnSpPr>
          <p:cNvPr id="6" name="直接连接符 5"/>
          <p:cNvCxnSpPr/>
          <p:nvPr>
            <p:custDataLst>
              <p:tags r:id="rId2"/>
            </p:custDataLst>
          </p:nvPr>
        </p:nvCxnSpPr>
        <p:spPr>
          <a:xfrm>
            <a:off x="5249175" y="2822855"/>
            <a:ext cx="3433763" cy="0"/>
          </a:xfrm>
          <a:prstGeom prst="line">
            <a:avLst/>
          </a:prstGeom>
          <a:noFill/>
          <a:ln w="3175" cap="rnd" cmpd="sng" algn="ctr">
            <a:solidFill>
              <a:srgbClr val="FFFFFF">
                <a:lumMod val="75000"/>
              </a:srgbClr>
            </a:solidFill>
            <a:prstDash val="solid"/>
            <a:round/>
          </a:ln>
          <a:effectLst/>
        </p:spPr>
      </p:cxnSp>
      <p:cxnSp>
        <p:nvCxnSpPr>
          <p:cNvPr id="7" name="直接连接符 6"/>
          <p:cNvCxnSpPr/>
          <p:nvPr>
            <p:custDataLst>
              <p:tags r:id="rId3"/>
            </p:custDataLst>
          </p:nvPr>
        </p:nvCxnSpPr>
        <p:spPr>
          <a:xfrm>
            <a:off x="5249175" y="4522750"/>
            <a:ext cx="3433763" cy="0"/>
          </a:xfrm>
          <a:prstGeom prst="line">
            <a:avLst/>
          </a:prstGeom>
          <a:noFill/>
          <a:ln w="3175" cap="rnd" cmpd="sng" algn="ctr">
            <a:solidFill>
              <a:srgbClr val="FFFFFF">
                <a:lumMod val="75000"/>
              </a:srgbClr>
            </a:solidFill>
            <a:prstDash val="solid"/>
            <a:round/>
          </a:ln>
          <a:effectLst/>
        </p:spPr>
      </p:cxnSp>
      <p:sp>
        <p:nvSpPr>
          <p:cNvPr id="39" name="ísḻîḋe"/>
          <p:cNvSpPr/>
          <p:nvPr/>
        </p:nvSpPr>
        <p:spPr>
          <a:xfrm>
            <a:off x="549940" y="1625068"/>
            <a:ext cx="3979902" cy="3979902"/>
          </a:xfrm>
          <a:prstGeom prst="donut">
            <a:avLst>
              <a:gd name="adj" fmla="val 1675"/>
            </a:avLst>
          </a:prstGeom>
          <a:solidFill>
            <a:srgbClr val="47100A"/>
          </a:solidFill>
          <a:ln>
            <a:solidFill>
              <a:srgbClr val="47100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ea typeface="思源黑体 Medium" panose="020B0600000000000000" pitchFamily="34" charset="-122"/>
            </a:endParaRPr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55050" y="1985377"/>
            <a:ext cx="3369605" cy="3340467"/>
          </a:xfrm>
          <a:prstGeom prst="ellipse">
            <a:avLst/>
          </a:prstGeom>
          <a:ln w="95250">
            <a:solidFill>
              <a:schemeClr val="bg1"/>
            </a:solidFill>
          </a:ln>
        </p:spPr>
      </p:pic>
      <p:sp>
        <p:nvSpPr>
          <p:cNvPr id="67" name="iŝľiḓê"/>
          <p:cNvSpPr/>
          <p:nvPr/>
        </p:nvSpPr>
        <p:spPr bwMode="auto">
          <a:xfrm>
            <a:off x="450671" y="671739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78182" y="671843"/>
            <a:ext cx="3782382" cy="954107"/>
          </a:xfrm>
          <a:prstGeom prst="rect">
            <a:avLst/>
          </a:prstGeom>
          <a:effectLst/>
        </p:spPr>
        <p:txBody>
          <a:bodyPr vert="horz" wrap="none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2800" b="1" dirty="0">
                <a:solidFill>
                  <a:srgbClr val="47100A"/>
                </a:solidFill>
                <a:latin typeface="Times New Roman" panose="02020603050405020304" pitchFamily="18" charset="0"/>
                <a:ea typeface="方正公文小标宋" panose="02000500000000000000" charset="-122"/>
                <a:cs typeface="Times New Roman" panose="02020603050405020304" pitchFamily="18" charset="0"/>
                <a:sym typeface="+mn-ea"/>
              </a:rPr>
              <a:t>Why Study This Topic?</a:t>
            </a:r>
            <a:endParaRPr lang="en-US" altLang="zh-CN" sz="2800" b="1" dirty="0">
              <a:solidFill>
                <a:srgbClr val="47100A"/>
              </a:solidFill>
              <a:latin typeface="Times New Roman" panose="02020603050405020304" pitchFamily="18" charset="0"/>
              <a:ea typeface="方正公文小标宋" panose="02000500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800" b="1" dirty="0">
              <a:solidFill>
                <a:srgbClr val="47100A"/>
              </a:solidFill>
              <a:latin typeface="Times New Roman" panose="02020603050405020304" pitchFamily="18" charset="0"/>
              <a:ea typeface="方正公文小标宋" panose="02000500000000000000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66118" y="2822855"/>
            <a:ext cx="6911638" cy="1699895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深色2"/>
          <p:cNvSpPr/>
          <p:nvPr>
            <p:custDataLst>
              <p:tags r:id="rId1"/>
            </p:custDataLst>
          </p:nvPr>
        </p:nvSpPr>
        <p:spPr>
          <a:xfrm>
            <a:off x="1047115" y="1069340"/>
            <a:ext cx="8395335" cy="358775"/>
          </a:xfrm>
          <a:prstGeom prst="flowChartProcess">
            <a:avLst/>
          </a:prstGeom>
          <a:solidFill>
            <a:srgbClr val="47100A"/>
          </a:solidFill>
          <a:ln w="3175" cap="flat" cmpd="sng" algn="ctr">
            <a:solidFill>
              <a:srgbClr val="D7D7D7"/>
            </a:solidFill>
            <a:prstDash val="solid"/>
          </a:ln>
          <a:effectLst/>
        </p:spPr>
        <p:txBody>
          <a:bodyPr lIns="121908" tIns="60953" rIns="121908" bIns="60953" anchor="ctr"/>
          <a:lstStyle/>
          <a:p>
            <a:pPr algn="ctr">
              <a:lnSpc>
                <a:spcPct val="120000"/>
              </a:lnSpc>
              <a:defRPr/>
            </a:pPr>
            <a:endParaRPr lang="zh-CN" altLang="en-US" sz="1335" b="1" kern="0" dirty="0">
              <a:solidFill>
                <a:srgbClr val="FFFFFF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cs typeface="字魂105号-简雅黑" panose="00000500000000000000" pitchFamily="2" charset="-122"/>
              <a:sym typeface="Arial" panose="020B0604020202020204" pitchFamily="34" charset="0"/>
            </a:endParaRPr>
          </a:p>
        </p:txBody>
      </p:sp>
      <p:sp>
        <p:nvSpPr>
          <p:cNvPr id="7" name="文本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47115" y="1565910"/>
            <a:ext cx="8395335" cy="819785"/>
          </a:xfrm>
          <a:prstGeom prst="rect">
            <a:avLst/>
          </a:prstGeom>
          <a:solidFill>
            <a:srgbClr val="E2E9E9"/>
          </a:solidFill>
          <a:ln w="3175" cap="flat" cmpd="sng" algn="ctr">
            <a:solidFill>
              <a:srgbClr val="D7D7D7"/>
            </a:solidFill>
            <a:prstDash val="solid"/>
          </a:ln>
          <a:effectLst/>
        </p:spPr>
        <p:txBody>
          <a:bodyPr lIns="719927" tIns="179983" rIns="179983" bIns="60953" anchor="t"/>
          <a:lstStyle/>
          <a:p>
            <a:pPr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endParaRPr lang="en-US" altLang="zh-CN" b="1" kern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  <a:cs typeface="字魂105号-简雅黑" panose="00000500000000000000" pitchFamily="2" charset="-122"/>
              <a:sym typeface="Arial" panose="020B0604020202020204" pitchFamily="34" charset="0"/>
            </a:endParaRPr>
          </a:p>
        </p:txBody>
      </p:sp>
      <p:sp>
        <p:nvSpPr>
          <p:cNvPr id="18" name="iŝľiḓê"/>
          <p:cNvSpPr/>
          <p:nvPr/>
        </p:nvSpPr>
        <p:spPr bwMode="auto">
          <a:xfrm>
            <a:off x="435431" y="416469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29625" y="474993"/>
            <a:ext cx="1469698" cy="954107"/>
          </a:xfrm>
          <a:prstGeom prst="rect">
            <a:avLst/>
          </a:prstGeom>
          <a:effectLst/>
        </p:spPr>
        <p:txBody>
          <a:bodyPr vert="horz" wrap="none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2800" b="1" dirty="0">
                <a:solidFill>
                  <a:srgbClr val="47100A"/>
                </a:solidFill>
                <a:latin typeface="Times New Roman" panose="02020603050405020304" pitchFamily="18" charset="0"/>
                <a:ea typeface="方正公文小标宋" panose="02000500000000000000" charset="-122"/>
                <a:cs typeface="Times New Roman" panose="02020603050405020304" pitchFamily="18" charset="0"/>
                <a:sym typeface="+mn-ea"/>
              </a:rPr>
              <a:t>We May</a:t>
            </a:r>
            <a:endParaRPr lang="en-US" altLang="zh-CN" sz="2800" b="1" dirty="0">
              <a:solidFill>
                <a:srgbClr val="47100A"/>
              </a:solidFill>
              <a:latin typeface="Times New Roman" panose="02020603050405020304" pitchFamily="18" charset="0"/>
              <a:ea typeface="方正公文小标宋" panose="02000500000000000000" charset="-122"/>
              <a:cs typeface="Times New Roman" panose="02020603050405020304" pitchFamily="18" charset="0"/>
            </a:endParaRPr>
          </a:p>
          <a:p>
            <a:pPr algn="ctr"/>
            <a:endParaRPr lang="zh-CN" altLang="en-US" sz="2800" b="1" dirty="0">
              <a:solidFill>
                <a:srgbClr val="47100A"/>
              </a:solidFill>
              <a:latin typeface="Times New Roman" panose="02020603050405020304" pitchFamily="18" charset="0"/>
              <a:ea typeface="方正公文小标宋" panose="02000500000000000000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文本2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047115" y="2704465"/>
            <a:ext cx="8395335" cy="946785"/>
          </a:xfrm>
          <a:prstGeom prst="rect">
            <a:avLst/>
          </a:prstGeom>
          <a:solidFill>
            <a:srgbClr val="E2E9E9"/>
          </a:solidFill>
          <a:ln w="3175" cap="flat" cmpd="sng" algn="ctr">
            <a:solidFill>
              <a:srgbClr val="D7D7D7"/>
            </a:solidFill>
            <a:prstDash val="solid"/>
          </a:ln>
          <a:effectLst/>
        </p:spPr>
        <p:txBody>
          <a:bodyPr lIns="719927" tIns="179983" rIns="179983" bIns="60953" anchor="t"/>
          <a:lstStyle/>
          <a:p>
            <a:pPr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endParaRPr lang="en-US" altLang="zh-CN" b="1" kern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思源黑体 Medium" panose="020B0600000000000000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2" name="文本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047115" y="3989070"/>
            <a:ext cx="8395335" cy="902970"/>
          </a:xfrm>
          <a:prstGeom prst="rect">
            <a:avLst/>
          </a:prstGeom>
          <a:solidFill>
            <a:srgbClr val="E2E9E9"/>
          </a:solidFill>
          <a:ln w="3175" cap="flat" cmpd="sng" algn="ctr">
            <a:solidFill>
              <a:srgbClr val="D7D7D7"/>
            </a:solidFill>
            <a:prstDash val="solid"/>
          </a:ln>
          <a:effectLst/>
        </p:spPr>
        <p:txBody>
          <a:bodyPr lIns="719927" tIns="179983" rIns="179983" bIns="60953" anchor="t"/>
          <a:lstStyle/>
          <a:p>
            <a:pPr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endParaRPr lang="en-US" altLang="zh-CN" b="1" kern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  <a:cs typeface="字魂105号-简雅黑" panose="00000500000000000000" pitchFamily="2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136015" y="4013597"/>
            <a:ext cx="794956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rPr>
              <a:t>Provide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rPr>
              <a:t>risk warning signals </a:t>
            </a:r>
            <a:r>
              <a:rPr lang="en-US" altLang="zh-CN" b="1" dirty="0">
                <a:solidFill>
                  <a:srgbClr val="000000"/>
                </a:solidFill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rPr>
              <a:t>for P2P platforms to assist manual review and post-loan management decisions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1136015" y="2825115"/>
            <a:ext cx="843708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rPr>
              <a:t>Build a 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rPr>
              <a:t>basic</a:t>
            </a:r>
            <a:r>
              <a:rPr lang="en-US" altLang="zh-CN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rPr>
              <a:t> risk assessment model </a:t>
            </a:r>
            <a:r>
              <a:rPr lang="en-US" altLang="zh-CN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rPr>
              <a:t>for P2P platforms to evaluate customer borrowing reliability and reduce default risk</a:t>
            </a:r>
          </a:p>
          <a:p>
            <a:pPr algn="l">
              <a:buClrTx/>
              <a:buSzTx/>
              <a:buFontTx/>
            </a:pPr>
            <a:endParaRPr lang="en-US" altLang="zh-CN" b="1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思源黑体 Medium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82871" y="1564925"/>
            <a:ext cx="843915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rPr>
              <a:t>Analyze </a:t>
            </a:r>
            <a:r>
              <a:rPr lang="en-US" altLang="zh-CN" sz="2400" b="1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rPr>
              <a:t>how user behaviors affect loan default risk </a:t>
            </a:r>
            <a:r>
              <a:rPr lang="en-US" altLang="zh-CN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rPr>
              <a:t>on credit platforms</a:t>
            </a:r>
          </a:p>
        </p:txBody>
      </p:sp>
      <p:pic>
        <p:nvPicPr>
          <p:cNvPr id="20" name="图片 19"/>
          <p:cNvPicPr/>
          <p:nvPr/>
        </p:nvPicPr>
        <p:blipFill>
          <a:blip r:embed="rId7"/>
          <a:stretch>
            <a:fillRect/>
          </a:stretch>
        </p:blipFill>
        <p:spPr>
          <a:xfrm>
            <a:off x="8884285" y="4720749"/>
            <a:ext cx="2381250" cy="15859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8000">
        <p14:prism isContent="1" isInverted="1"/>
      </p:transition>
    </mc:Choice>
    <mc:Fallback xmlns="">
      <p:transition spd="slow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7" grpId="0" bldLvl="0" animBg="1"/>
      <p:bldP spid="11" grpId="0" bldLvl="0" animBg="1"/>
      <p:bldP spid="12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3"/>
            <a:ext cx="12192000" cy="685719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913432" y="1904470"/>
            <a:ext cx="41847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rgbClr val="47100A"/>
                </a:solidFill>
                <a:latin typeface="Times New Roman" panose="02020603050405020304" pitchFamily="18" charset="0"/>
                <a:ea typeface="思源黑体 CN Regular" panose="020B0500000000000000" pitchFamily="34" charset="-122"/>
                <a:cs typeface="Times New Roman" panose="02020603050405020304" pitchFamily="18" charset="0"/>
              </a:rPr>
              <a:t>PART 02</a:t>
            </a:r>
            <a:endParaRPr lang="zh-CN" altLang="en-US" sz="4800" b="1" dirty="0">
              <a:solidFill>
                <a:srgbClr val="47100A"/>
              </a:solidFill>
              <a:latin typeface="Times New Roman" panose="02020603050405020304" pitchFamily="18" charset="0"/>
              <a:ea typeface="思源黑体 CN Regular" panose="020B05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13432" y="2624317"/>
            <a:ext cx="43103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47100A"/>
                </a:solidFill>
                <a:latin typeface="Times New Roman" panose="02020603050405020304" pitchFamily="18" charset="0"/>
                <a:ea typeface="思源黑体 CN Regular" panose="020B0500000000000000" pitchFamily="34" charset="-122"/>
                <a:cs typeface="Times New Roman" panose="02020603050405020304" pitchFamily="18" charset="0"/>
              </a:rPr>
              <a:t>Model Analysis</a:t>
            </a:r>
          </a:p>
        </p:txBody>
      </p:sp>
      <p:cxnSp>
        <p:nvCxnSpPr>
          <p:cNvPr id="9" name="直接连接符 8"/>
          <p:cNvCxnSpPr/>
          <p:nvPr/>
        </p:nvCxnSpPr>
        <p:spPr>
          <a:xfrm>
            <a:off x="6263217" y="3236306"/>
            <a:ext cx="3610778" cy="0"/>
          </a:xfrm>
          <a:prstGeom prst="line">
            <a:avLst/>
          </a:prstGeom>
          <a:ln w="28575">
            <a:solidFill>
              <a:srgbClr val="47100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750"/>
                            </p:stCondLst>
                            <p:childTnLst>
                              <p:par>
                                <p:cTn id="1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8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062246" y="671741"/>
            <a:ext cx="30700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 Roadmap</a:t>
            </a:r>
            <a:endParaRPr lang="zh-CN" altLang="en-US" sz="2800" b="1" dirty="0">
              <a:solidFill>
                <a:srgbClr val="4710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62246" y="1556057"/>
            <a:ext cx="57726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1.Data</a:t>
            </a:r>
            <a:r>
              <a:rPr lang="en-US" altLang="zh-CN" sz="2400" kern="0" spc="43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Preprocessin</a:t>
            </a:r>
            <a:r>
              <a:rPr lang="en-US" altLang="zh-CN" sz="24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g</a:t>
            </a:r>
            <a:r>
              <a:rPr lang="en-US" altLang="zh-CN" sz="2400" kern="0" spc="3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4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&amp; Quality</a:t>
            </a:r>
            <a:r>
              <a:rPr lang="en-US" altLang="zh-CN" sz="2400" kern="0" spc="41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4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Diagnostics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62246" y="2107849"/>
            <a:ext cx="36140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2.Handling Clas</a:t>
            </a:r>
            <a:r>
              <a:rPr lang="en-US" altLang="zh-CN" sz="2400" kern="0" spc="-2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</a:t>
            </a:r>
            <a:r>
              <a:rPr lang="en-US" altLang="zh-CN" sz="2400" kern="0" spc="23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400" kern="0" spc="-2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Imbalance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62246" y="2662140"/>
            <a:ext cx="27126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3.Modeling Strategy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54363" y="3263134"/>
            <a:ext cx="4755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4.Model Performance &amp; Co</a:t>
            </a:r>
            <a:r>
              <a:rPr lang="en-US" altLang="zh-CN" sz="24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mparison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62246" y="3816175"/>
            <a:ext cx="3673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5.Performance </a:t>
            </a:r>
            <a:r>
              <a:rPr lang="en-US" altLang="zh-CN" sz="2400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Gap Analysis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5747" y="4404762"/>
            <a:ext cx="4300793" cy="4431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1013" eaLnBrk="0">
              <a:lnSpc>
                <a:spcPct val="95000"/>
              </a:lnSpc>
              <a:spcBef>
                <a:spcPts val="1384"/>
              </a:spcBef>
            </a:pPr>
            <a:r>
              <a:rPr lang="en-US" altLang="zh-CN" sz="24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6.Feature</a:t>
            </a:r>
            <a:r>
              <a:rPr lang="en-US" altLang="zh-CN" sz="2400" kern="0" spc="21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4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Engineering</a:t>
            </a:r>
            <a:r>
              <a:rPr lang="en-US" altLang="zh-CN" sz="2400" kern="0" spc="20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4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Reflect</a:t>
            </a:r>
            <a:r>
              <a:rPr lang="en-US" altLang="zh-CN" sz="2400" kern="0" spc="-2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ion</a:t>
            </a:r>
            <a:endParaRPr lang="en-US" altLang="zh-CN" sz="24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062246" y="4932111"/>
            <a:ext cx="28127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7.Clustering Analysis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62246" y="5514383"/>
            <a:ext cx="55079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8.Limitations, Conclusions</a:t>
            </a:r>
            <a:r>
              <a:rPr lang="en-US" altLang="zh-CN" sz="2400" kern="0" spc="15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400" kern="0" spc="3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&amp; </a:t>
            </a:r>
            <a:r>
              <a:rPr lang="en-US" altLang="zh-CN" sz="24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Future Work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iŝľiḓê"/>
          <p:cNvSpPr/>
          <p:nvPr/>
        </p:nvSpPr>
        <p:spPr bwMode="auto">
          <a:xfrm>
            <a:off x="595819" y="651307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3392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8"/>
          <p:cNvSpPr/>
          <p:nvPr/>
        </p:nvSpPr>
        <p:spPr>
          <a:xfrm>
            <a:off x="1162242" y="669824"/>
            <a:ext cx="5947587" cy="54181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rtl="0" eaLnBrk="0">
              <a:lnSpc>
                <a:spcPct val="82000"/>
              </a:lnSpc>
              <a:tabLst/>
            </a:pPr>
            <a:r>
              <a:rPr lang="en-US" altLang="zh-CN" sz="2800" b="1" kern="0" spc="-126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</a:t>
            </a:r>
            <a:r>
              <a:rPr sz="2800" b="1" kern="0" spc="-126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ata Quality</a:t>
            </a:r>
            <a:r>
              <a:rPr sz="2800" b="1" kern="0" spc="244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800" b="1" kern="0" spc="-126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Diagnostics</a:t>
            </a:r>
            <a:endParaRPr sz="2800" dirty="0">
              <a:solidFill>
                <a:srgbClr val="47100A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79" name="iŝľiḓê">
            <a:extLst>
              <a:ext uri="{FF2B5EF4-FFF2-40B4-BE49-F238E27FC236}">
                <a16:creationId xmlns:a16="http://schemas.microsoft.com/office/drawing/2014/main" id="{27CAD9B1-A53E-57B2-A284-7DF7DC06985F}"/>
              </a:ext>
            </a:extLst>
          </p:cNvPr>
          <p:cNvSpPr/>
          <p:nvPr/>
        </p:nvSpPr>
        <p:spPr bwMode="auto">
          <a:xfrm>
            <a:off x="496391" y="565369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391" y="1297686"/>
            <a:ext cx="5574411" cy="371627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181" y="1180065"/>
            <a:ext cx="4610100" cy="39515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96391" y="5303670"/>
            <a:ext cx="5683429" cy="7591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>
              <a:lnSpc>
                <a:spcPts val="2573"/>
              </a:lnSpc>
              <a:spcBef>
                <a:spcPts val="6"/>
              </a:spcBef>
            </a:pPr>
            <a:r>
              <a:rPr lang="en-US" altLang="zh-CN" sz="2000" b="1" kern="0" spc="-2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Missing</a:t>
            </a:r>
            <a:r>
              <a:rPr lang="en-US" altLang="zh-CN" sz="2000" b="1" kern="0" spc="27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b="1" kern="0" spc="-2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da</a:t>
            </a:r>
            <a:r>
              <a:rPr lang="en-US" altLang="zh-CN" sz="2000" b="1" kern="0" spc="-3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ta</a:t>
            </a:r>
            <a:r>
              <a:rPr lang="en-US" altLang="zh-CN" sz="2000" b="1" kern="0" spc="34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is</a:t>
            </a:r>
            <a:r>
              <a:rPr lang="en-US" altLang="zh-CN" sz="2000" kern="0" spc="33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heavily </a:t>
            </a:r>
            <a:r>
              <a:rPr lang="en-US" altLang="zh-CN" sz="2000" b="1" kern="0" spc="-1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concentrated</a:t>
            </a:r>
            <a:r>
              <a:rPr lang="en-US" altLang="zh-CN" sz="2000" kern="0" spc="14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in </a:t>
            </a:r>
            <a:r>
              <a:rPr lang="en-US" altLang="zh-CN" sz="2000" b="1" kern="0" spc="-1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optional</a:t>
            </a:r>
            <a:r>
              <a:rPr lang="en-US" altLang="zh-CN"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,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b="1" kern="0" spc="-1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non-critical</a:t>
            </a:r>
            <a:r>
              <a:rPr lang="en-US" altLang="zh-CN" sz="2000" kern="0" spc="6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bo</a:t>
            </a:r>
            <a:r>
              <a:rPr lang="en-US" altLang="zh-CN" sz="20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rrower </a:t>
            </a:r>
            <a:r>
              <a:rPr lang="en-US" altLang="zh-CN"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fields.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42760" y="5303670"/>
            <a:ext cx="4732019" cy="4024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>
              <a:lnSpc>
                <a:spcPts val="2573"/>
              </a:lnSpc>
            </a:pPr>
            <a:r>
              <a:rPr lang="en-US" altLang="zh-CN" sz="2000" b="1" kern="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Low </a:t>
            </a:r>
            <a:r>
              <a:rPr lang="en-US" altLang="zh-CN" sz="2000" b="1" kern="0" dirty="0" err="1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multicollinear</a:t>
            </a:r>
            <a:r>
              <a:rPr lang="en-US" altLang="zh-CN" sz="2000" b="1" kern="0" spc="-10" dirty="0" err="1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ity</a:t>
            </a:r>
            <a:r>
              <a:rPr lang="en-US" altLang="zh-CN" sz="2000" b="1" kern="0" spc="-1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b="1" kern="0" spc="-10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among key predicto</a:t>
            </a:r>
            <a:r>
              <a:rPr lang="en-US" altLang="zh-CN" sz="2000" b="1" kern="0" spc="-11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rs</a:t>
            </a:r>
            <a:endParaRPr lang="zh-CN" altLang="en-US" sz="2000" b="1" dirty="0">
              <a:solidFill>
                <a:srgbClr val="4710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9527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2A141-88F7-6557-ED24-D420897C7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íśḷïḑê">
            <a:extLst>
              <a:ext uri="{FF2B5EF4-FFF2-40B4-BE49-F238E27FC236}">
                <a16:creationId xmlns:a16="http://schemas.microsoft.com/office/drawing/2014/main" id="{CEC5EEE1-5A88-CA34-F1B6-E8C73175D8AF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675635" y="4536226"/>
            <a:ext cx="8155709" cy="2992582"/>
            <a:chOff x="6461211" y="1807020"/>
            <a:chExt cx="6518823" cy="3721476"/>
          </a:xfrm>
        </p:grpSpPr>
        <p:sp>
          <p:nvSpPr>
            <p:cNvPr id="25" name="iṡļîḑè">
              <a:extLst>
                <a:ext uri="{FF2B5EF4-FFF2-40B4-BE49-F238E27FC236}">
                  <a16:creationId xmlns:a16="http://schemas.microsoft.com/office/drawing/2014/main" id="{57010F80-0414-4573-D5FE-A0254B688AFB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6461211" y="2039262"/>
              <a:ext cx="449531" cy="418232"/>
            </a:xfrm>
            <a:custGeom>
              <a:avLst/>
              <a:gdLst>
                <a:gd name="connsiteX0" fmla="*/ 362096 w 576922"/>
                <a:gd name="connsiteY0" fmla="*/ 472751 h 536754"/>
                <a:gd name="connsiteX1" fmla="*/ 376350 w 576922"/>
                <a:gd name="connsiteY1" fmla="*/ 536754 h 536754"/>
                <a:gd name="connsiteX2" fmla="*/ 362096 w 576922"/>
                <a:gd name="connsiteY2" fmla="*/ 536754 h 536754"/>
                <a:gd name="connsiteX3" fmla="*/ 214826 w 576922"/>
                <a:gd name="connsiteY3" fmla="*/ 472751 h 536754"/>
                <a:gd name="connsiteX4" fmla="*/ 214826 w 576922"/>
                <a:gd name="connsiteY4" fmla="*/ 536754 h 536754"/>
                <a:gd name="connsiteX5" fmla="*/ 200572 w 576922"/>
                <a:gd name="connsiteY5" fmla="*/ 536754 h 536754"/>
                <a:gd name="connsiteX6" fmla="*/ 288461 w 576922"/>
                <a:gd name="connsiteY6" fmla="*/ 200761 h 536754"/>
                <a:gd name="connsiteX7" fmla="*/ 221958 w 576922"/>
                <a:gd name="connsiteY7" fmla="*/ 267171 h 536754"/>
                <a:gd name="connsiteX8" fmla="*/ 288461 w 576922"/>
                <a:gd name="connsiteY8" fmla="*/ 346317 h 536754"/>
                <a:gd name="connsiteX9" fmla="*/ 354963 w 576922"/>
                <a:gd name="connsiteY9" fmla="*/ 267171 h 536754"/>
                <a:gd name="connsiteX10" fmla="*/ 288461 w 576922"/>
                <a:gd name="connsiteY10" fmla="*/ 200761 h 536754"/>
                <a:gd name="connsiteX11" fmla="*/ 279958 w 576922"/>
                <a:gd name="connsiteY11" fmla="*/ 97355 h 536754"/>
                <a:gd name="connsiteX12" fmla="*/ 296963 w 576922"/>
                <a:gd name="connsiteY12" fmla="*/ 97355 h 536754"/>
                <a:gd name="connsiteX13" fmla="*/ 494649 w 576922"/>
                <a:gd name="connsiteY13" fmla="*/ 267626 h 536754"/>
                <a:gd name="connsiteX14" fmla="*/ 499204 w 576922"/>
                <a:gd name="connsiteY14" fmla="*/ 277481 h 536754"/>
                <a:gd name="connsiteX15" fmla="*/ 499204 w 576922"/>
                <a:gd name="connsiteY15" fmla="*/ 523715 h 536754"/>
                <a:gd name="connsiteX16" fmla="*/ 486147 w 576922"/>
                <a:gd name="connsiteY16" fmla="*/ 536754 h 536754"/>
                <a:gd name="connsiteX17" fmla="*/ 430272 w 576922"/>
                <a:gd name="connsiteY17" fmla="*/ 536754 h 536754"/>
                <a:gd name="connsiteX18" fmla="*/ 398084 w 576922"/>
                <a:gd name="connsiteY18" fmla="*/ 393017 h 536754"/>
                <a:gd name="connsiteX19" fmla="*/ 385634 w 576922"/>
                <a:gd name="connsiteY19" fmla="*/ 376035 h 536754"/>
                <a:gd name="connsiteX20" fmla="*/ 298482 w 576922"/>
                <a:gd name="connsiteY20" fmla="*/ 352231 h 536754"/>
                <a:gd name="connsiteX21" fmla="*/ 291953 w 576922"/>
                <a:gd name="connsiteY21" fmla="*/ 365270 h 536754"/>
                <a:gd name="connsiteX22" fmla="*/ 291801 w 576922"/>
                <a:gd name="connsiteY22" fmla="*/ 365270 h 536754"/>
                <a:gd name="connsiteX23" fmla="*/ 309565 w 576922"/>
                <a:gd name="connsiteY23" fmla="*/ 502943 h 536754"/>
                <a:gd name="connsiteX24" fmla="*/ 290131 w 576922"/>
                <a:gd name="connsiteY24" fmla="*/ 536754 h 536754"/>
                <a:gd name="connsiteX25" fmla="*/ 286791 w 576922"/>
                <a:gd name="connsiteY25" fmla="*/ 536754 h 536754"/>
                <a:gd name="connsiteX26" fmla="*/ 267356 w 576922"/>
                <a:gd name="connsiteY26" fmla="*/ 502943 h 536754"/>
                <a:gd name="connsiteX27" fmla="*/ 285120 w 576922"/>
                <a:gd name="connsiteY27" fmla="*/ 365270 h 536754"/>
                <a:gd name="connsiteX28" fmla="*/ 284969 w 576922"/>
                <a:gd name="connsiteY28" fmla="*/ 365270 h 536754"/>
                <a:gd name="connsiteX29" fmla="*/ 278440 w 576922"/>
                <a:gd name="connsiteY29" fmla="*/ 352231 h 536754"/>
                <a:gd name="connsiteX30" fmla="*/ 191288 w 576922"/>
                <a:gd name="connsiteY30" fmla="*/ 376035 h 536754"/>
                <a:gd name="connsiteX31" fmla="*/ 178838 w 576922"/>
                <a:gd name="connsiteY31" fmla="*/ 393017 h 536754"/>
                <a:gd name="connsiteX32" fmla="*/ 146649 w 576922"/>
                <a:gd name="connsiteY32" fmla="*/ 536754 h 536754"/>
                <a:gd name="connsiteX33" fmla="*/ 90775 w 576922"/>
                <a:gd name="connsiteY33" fmla="*/ 536754 h 536754"/>
                <a:gd name="connsiteX34" fmla="*/ 77717 w 576922"/>
                <a:gd name="connsiteY34" fmla="*/ 523715 h 536754"/>
                <a:gd name="connsiteX35" fmla="*/ 77717 w 576922"/>
                <a:gd name="connsiteY35" fmla="*/ 277481 h 536754"/>
                <a:gd name="connsiteX36" fmla="*/ 82272 w 576922"/>
                <a:gd name="connsiteY36" fmla="*/ 267626 h 536754"/>
                <a:gd name="connsiteX37" fmla="*/ 288461 w 576922"/>
                <a:gd name="connsiteY37" fmla="*/ 0 h 536754"/>
                <a:gd name="connsiteX38" fmla="*/ 305620 w 576922"/>
                <a:gd name="connsiteY38" fmla="*/ 6254 h 536754"/>
                <a:gd name="connsiteX39" fmla="*/ 567855 w 576922"/>
                <a:gd name="connsiteY39" fmla="*/ 231550 h 536754"/>
                <a:gd name="connsiteX40" fmla="*/ 570588 w 576922"/>
                <a:gd name="connsiteY40" fmla="*/ 268392 h 536754"/>
                <a:gd name="connsiteX41" fmla="*/ 550696 w 576922"/>
                <a:gd name="connsiteY41" fmla="*/ 277488 h 536754"/>
                <a:gd name="connsiteX42" fmla="*/ 533690 w 576922"/>
                <a:gd name="connsiteY42" fmla="*/ 271272 h 536754"/>
                <a:gd name="connsiteX43" fmla="*/ 288461 w 576922"/>
                <a:gd name="connsiteY43" fmla="*/ 60683 h 536754"/>
                <a:gd name="connsiteX44" fmla="*/ 43232 w 576922"/>
                <a:gd name="connsiteY44" fmla="*/ 271272 h 536754"/>
                <a:gd name="connsiteX45" fmla="*/ 6334 w 576922"/>
                <a:gd name="connsiteY45" fmla="*/ 268392 h 536754"/>
                <a:gd name="connsiteX46" fmla="*/ 9067 w 576922"/>
                <a:gd name="connsiteY46" fmla="*/ 231550 h 536754"/>
                <a:gd name="connsiteX47" fmla="*/ 271303 w 576922"/>
                <a:gd name="connsiteY47" fmla="*/ 6254 h 536754"/>
                <a:gd name="connsiteX48" fmla="*/ 288461 w 576922"/>
                <a:gd name="connsiteY48" fmla="*/ 0 h 53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576922" h="536754">
                  <a:moveTo>
                    <a:pt x="362096" y="472751"/>
                  </a:moveTo>
                  <a:lnTo>
                    <a:pt x="376350" y="536754"/>
                  </a:lnTo>
                  <a:lnTo>
                    <a:pt x="362096" y="536754"/>
                  </a:lnTo>
                  <a:close/>
                  <a:moveTo>
                    <a:pt x="214826" y="472751"/>
                  </a:moveTo>
                  <a:lnTo>
                    <a:pt x="214826" y="536754"/>
                  </a:lnTo>
                  <a:lnTo>
                    <a:pt x="200572" y="536754"/>
                  </a:lnTo>
                  <a:close/>
                  <a:moveTo>
                    <a:pt x="288461" y="200761"/>
                  </a:moveTo>
                  <a:cubicBezTo>
                    <a:pt x="251717" y="200761"/>
                    <a:pt x="221958" y="230478"/>
                    <a:pt x="221958" y="267171"/>
                  </a:cubicBezTo>
                  <a:cubicBezTo>
                    <a:pt x="221958" y="303712"/>
                    <a:pt x="251717" y="346317"/>
                    <a:pt x="288461" y="346317"/>
                  </a:cubicBezTo>
                  <a:cubicBezTo>
                    <a:pt x="325204" y="346317"/>
                    <a:pt x="354963" y="303712"/>
                    <a:pt x="354963" y="267171"/>
                  </a:cubicBezTo>
                  <a:cubicBezTo>
                    <a:pt x="354963" y="230478"/>
                    <a:pt x="325204" y="200761"/>
                    <a:pt x="288461" y="200761"/>
                  </a:cubicBezTo>
                  <a:close/>
                  <a:moveTo>
                    <a:pt x="279958" y="97355"/>
                  </a:moveTo>
                  <a:cubicBezTo>
                    <a:pt x="284817" y="93109"/>
                    <a:pt x="292105" y="93109"/>
                    <a:pt x="296963" y="97355"/>
                  </a:cubicBezTo>
                  <a:lnTo>
                    <a:pt x="494649" y="267626"/>
                  </a:lnTo>
                  <a:cubicBezTo>
                    <a:pt x="497534" y="270052"/>
                    <a:pt x="499204" y="273691"/>
                    <a:pt x="499204" y="277481"/>
                  </a:cubicBezTo>
                  <a:lnTo>
                    <a:pt x="499204" y="523715"/>
                  </a:lnTo>
                  <a:cubicBezTo>
                    <a:pt x="499204" y="530993"/>
                    <a:pt x="493283" y="536754"/>
                    <a:pt x="486147" y="536754"/>
                  </a:cubicBezTo>
                  <a:lnTo>
                    <a:pt x="430272" y="536754"/>
                  </a:lnTo>
                  <a:lnTo>
                    <a:pt x="398084" y="393017"/>
                  </a:lnTo>
                  <a:cubicBezTo>
                    <a:pt x="396414" y="386194"/>
                    <a:pt x="392314" y="379826"/>
                    <a:pt x="385634" y="376035"/>
                  </a:cubicBezTo>
                  <a:cubicBezTo>
                    <a:pt x="383963" y="375126"/>
                    <a:pt x="346916" y="354808"/>
                    <a:pt x="298482" y="352231"/>
                  </a:cubicBezTo>
                  <a:lnTo>
                    <a:pt x="291953" y="365270"/>
                  </a:lnTo>
                  <a:lnTo>
                    <a:pt x="291801" y="365270"/>
                  </a:lnTo>
                  <a:lnTo>
                    <a:pt x="309565" y="502943"/>
                  </a:lnTo>
                  <a:lnTo>
                    <a:pt x="290131" y="536754"/>
                  </a:lnTo>
                  <a:lnTo>
                    <a:pt x="286791" y="536754"/>
                  </a:lnTo>
                  <a:lnTo>
                    <a:pt x="267356" y="502943"/>
                  </a:lnTo>
                  <a:lnTo>
                    <a:pt x="285120" y="365270"/>
                  </a:lnTo>
                  <a:lnTo>
                    <a:pt x="284969" y="365270"/>
                  </a:lnTo>
                  <a:lnTo>
                    <a:pt x="278440" y="352231"/>
                  </a:lnTo>
                  <a:cubicBezTo>
                    <a:pt x="229853" y="354808"/>
                    <a:pt x="192958" y="375126"/>
                    <a:pt x="191288" y="376035"/>
                  </a:cubicBezTo>
                  <a:cubicBezTo>
                    <a:pt x="184607" y="379826"/>
                    <a:pt x="180508" y="386194"/>
                    <a:pt x="178838" y="393017"/>
                  </a:cubicBezTo>
                  <a:lnTo>
                    <a:pt x="146649" y="536754"/>
                  </a:lnTo>
                  <a:lnTo>
                    <a:pt x="90775" y="536754"/>
                  </a:lnTo>
                  <a:cubicBezTo>
                    <a:pt x="83639" y="536754"/>
                    <a:pt x="77717" y="530993"/>
                    <a:pt x="77717" y="523715"/>
                  </a:cubicBezTo>
                  <a:lnTo>
                    <a:pt x="77717" y="277481"/>
                  </a:lnTo>
                  <a:cubicBezTo>
                    <a:pt x="77717" y="273691"/>
                    <a:pt x="79387" y="270052"/>
                    <a:pt x="82272" y="267626"/>
                  </a:cubicBezTo>
                  <a:close/>
                  <a:moveTo>
                    <a:pt x="288461" y="0"/>
                  </a:moveTo>
                  <a:cubicBezTo>
                    <a:pt x="294573" y="0"/>
                    <a:pt x="300685" y="2085"/>
                    <a:pt x="305620" y="6254"/>
                  </a:cubicBezTo>
                  <a:lnTo>
                    <a:pt x="567855" y="231550"/>
                  </a:lnTo>
                  <a:cubicBezTo>
                    <a:pt x="578787" y="240950"/>
                    <a:pt x="580002" y="257476"/>
                    <a:pt x="570588" y="268392"/>
                  </a:cubicBezTo>
                  <a:cubicBezTo>
                    <a:pt x="565425" y="274456"/>
                    <a:pt x="558137" y="277488"/>
                    <a:pt x="550696" y="277488"/>
                  </a:cubicBezTo>
                  <a:cubicBezTo>
                    <a:pt x="544623" y="277488"/>
                    <a:pt x="538549" y="275517"/>
                    <a:pt x="533690" y="271272"/>
                  </a:cubicBezTo>
                  <a:lnTo>
                    <a:pt x="288461" y="60683"/>
                  </a:lnTo>
                  <a:lnTo>
                    <a:pt x="43232" y="271272"/>
                  </a:lnTo>
                  <a:cubicBezTo>
                    <a:pt x="32299" y="280672"/>
                    <a:pt x="15748" y="279459"/>
                    <a:pt x="6334" y="268392"/>
                  </a:cubicBezTo>
                  <a:cubicBezTo>
                    <a:pt x="-3080" y="257476"/>
                    <a:pt x="-1865" y="240950"/>
                    <a:pt x="9067" y="231550"/>
                  </a:cubicBezTo>
                  <a:lnTo>
                    <a:pt x="271303" y="6254"/>
                  </a:lnTo>
                  <a:cubicBezTo>
                    <a:pt x="276238" y="2085"/>
                    <a:pt x="282350" y="0"/>
                    <a:pt x="288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9" name="iṣḻïdè">
              <a:extLst>
                <a:ext uri="{FF2B5EF4-FFF2-40B4-BE49-F238E27FC236}">
                  <a16:creationId xmlns:a16="http://schemas.microsoft.com/office/drawing/2014/main" id="{68CD0BE7-1235-1F38-860B-DFDB731B70B8}"/>
                </a:ext>
              </a:extLst>
            </p:cNvPr>
            <p:cNvGrpSpPr/>
            <p:nvPr/>
          </p:nvGrpSpPr>
          <p:grpSpPr>
            <a:xfrm>
              <a:off x="7286625" y="1807020"/>
              <a:ext cx="5532755" cy="1166495"/>
              <a:chOff x="1760651" y="1440088"/>
              <a:chExt cx="5037159" cy="1166495"/>
            </a:xfrm>
          </p:grpSpPr>
          <p:sp>
            <p:nvSpPr>
              <p:cNvPr id="22" name="iš1ide">
                <a:extLst>
                  <a:ext uri="{FF2B5EF4-FFF2-40B4-BE49-F238E27FC236}">
                    <a16:creationId xmlns:a16="http://schemas.microsoft.com/office/drawing/2014/main" id="{460164BC-2086-3B1A-BB4C-C319400D2964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 bwMode="auto">
              <a:xfrm>
                <a:off x="1760651" y="1814738"/>
                <a:ext cx="5037159" cy="7918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Medium" panose="020B0600000000000000" pitchFamily="34" charset="-122"/>
                    <a:cs typeface="Times New Roman" panose="02020603050405020304" pitchFamily="18" charset="0"/>
                  </a:rPr>
                  <a:t>The dataset used for the default prediction model is the borrower transaction data of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Medium" panose="020B0600000000000000" pitchFamily="34" charset="-122"/>
                    <a:cs typeface="Times New Roman" panose="02020603050405020304" pitchFamily="18" charset="0"/>
                  </a:rPr>
                  <a:t>Lending Club 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Medium" panose="020B0600000000000000" pitchFamily="34" charset="-122"/>
                    <a:cs typeface="Times New Roman" panose="02020603050405020304" pitchFamily="18" charset="0"/>
                  </a:rPr>
                  <a:t>from Q4 2019 to Q3 2020.</a:t>
                </a:r>
              </a:p>
            </p:txBody>
          </p:sp>
          <p:sp>
            <p:nvSpPr>
              <p:cNvPr id="23" name="ïsļíḋe">
                <a:extLst>
                  <a:ext uri="{FF2B5EF4-FFF2-40B4-BE49-F238E27FC236}">
                    <a16:creationId xmlns:a16="http://schemas.microsoft.com/office/drawing/2014/main" id="{55A4EE49-A75D-C746-7906-51C0184B9E0D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 bwMode="auto">
              <a:xfrm>
                <a:off x="1760651" y="1440088"/>
                <a:ext cx="3126184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>
                  <a:spcBef>
                    <a:spcPct val="0"/>
                  </a:spcBef>
                  <a:defRPr/>
                </a:pPr>
                <a:r>
                  <a:rPr lang="en-US" altLang="zh-CN" sz="2000" b="1" dirty="0">
                    <a:solidFill>
                      <a:srgbClr val="47100A"/>
                    </a:solidFill>
                    <a:latin typeface="Times New Roman" panose="02020603050405020304" pitchFamily="18" charset="0"/>
                    <a:ea typeface="思源黑体 Medium" panose="020B0600000000000000" pitchFamily="34" charset="-122"/>
                    <a:cs typeface="Times New Roman" panose="02020603050405020304" pitchFamily="18" charset="0"/>
                  </a:rPr>
                  <a:t>1.Data Source</a:t>
                </a:r>
              </a:p>
            </p:txBody>
          </p:sp>
        </p:grpSp>
        <p:sp>
          <p:nvSpPr>
            <p:cNvPr id="21" name="íṣľíḍé">
              <a:extLst>
                <a:ext uri="{FF2B5EF4-FFF2-40B4-BE49-F238E27FC236}">
                  <a16:creationId xmlns:a16="http://schemas.microsoft.com/office/drawing/2014/main" id="{4F2F7F61-DB2A-6FF5-20EB-D974CF136E78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6461211" y="3518208"/>
              <a:ext cx="449531" cy="418232"/>
            </a:xfrm>
            <a:custGeom>
              <a:avLst/>
              <a:gdLst>
                <a:gd name="connsiteX0" fmla="*/ 362096 w 576922"/>
                <a:gd name="connsiteY0" fmla="*/ 472751 h 536754"/>
                <a:gd name="connsiteX1" fmla="*/ 376350 w 576922"/>
                <a:gd name="connsiteY1" fmla="*/ 536754 h 536754"/>
                <a:gd name="connsiteX2" fmla="*/ 362096 w 576922"/>
                <a:gd name="connsiteY2" fmla="*/ 536754 h 536754"/>
                <a:gd name="connsiteX3" fmla="*/ 214826 w 576922"/>
                <a:gd name="connsiteY3" fmla="*/ 472751 h 536754"/>
                <a:gd name="connsiteX4" fmla="*/ 214826 w 576922"/>
                <a:gd name="connsiteY4" fmla="*/ 536754 h 536754"/>
                <a:gd name="connsiteX5" fmla="*/ 200572 w 576922"/>
                <a:gd name="connsiteY5" fmla="*/ 536754 h 536754"/>
                <a:gd name="connsiteX6" fmla="*/ 288461 w 576922"/>
                <a:gd name="connsiteY6" fmla="*/ 200761 h 536754"/>
                <a:gd name="connsiteX7" fmla="*/ 221958 w 576922"/>
                <a:gd name="connsiteY7" fmla="*/ 267171 h 536754"/>
                <a:gd name="connsiteX8" fmla="*/ 288461 w 576922"/>
                <a:gd name="connsiteY8" fmla="*/ 346317 h 536754"/>
                <a:gd name="connsiteX9" fmla="*/ 354963 w 576922"/>
                <a:gd name="connsiteY9" fmla="*/ 267171 h 536754"/>
                <a:gd name="connsiteX10" fmla="*/ 288461 w 576922"/>
                <a:gd name="connsiteY10" fmla="*/ 200761 h 536754"/>
                <a:gd name="connsiteX11" fmla="*/ 279958 w 576922"/>
                <a:gd name="connsiteY11" fmla="*/ 97355 h 536754"/>
                <a:gd name="connsiteX12" fmla="*/ 296963 w 576922"/>
                <a:gd name="connsiteY12" fmla="*/ 97355 h 536754"/>
                <a:gd name="connsiteX13" fmla="*/ 494649 w 576922"/>
                <a:gd name="connsiteY13" fmla="*/ 267626 h 536754"/>
                <a:gd name="connsiteX14" fmla="*/ 499204 w 576922"/>
                <a:gd name="connsiteY14" fmla="*/ 277481 h 536754"/>
                <a:gd name="connsiteX15" fmla="*/ 499204 w 576922"/>
                <a:gd name="connsiteY15" fmla="*/ 523715 h 536754"/>
                <a:gd name="connsiteX16" fmla="*/ 486147 w 576922"/>
                <a:gd name="connsiteY16" fmla="*/ 536754 h 536754"/>
                <a:gd name="connsiteX17" fmla="*/ 430272 w 576922"/>
                <a:gd name="connsiteY17" fmla="*/ 536754 h 536754"/>
                <a:gd name="connsiteX18" fmla="*/ 398084 w 576922"/>
                <a:gd name="connsiteY18" fmla="*/ 393017 h 536754"/>
                <a:gd name="connsiteX19" fmla="*/ 385634 w 576922"/>
                <a:gd name="connsiteY19" fmla="*/ 376035 h 536754"/>
                <a:gd name="connsiteX20" fmla="*/ 298482 w 576922"/>
                <a:gd name="connsiteY20" fmla="*/ 352231 h 536754"/>
                <a:gd name="connsiteX21" fmla="*/ 291953 w 576922"/>
                <a:gd name="connsiteY21" fmla="*/ 365270 h 536754"/>
                <a:gd name="connsiteX22" fmla="*/ 291801 w 576922"/>
                <a:gd name="connsiteY22" fmla="*/ 365270 h 536754"/>
                <a:gd name="connsiteX23" fmla="*/ 309565 w 576922"/>
                <a:gd name="connsiteY23" fmla="*/ 502943 h 536754"/>
                <a:gd name="connsiteX24" fmla="*/ 290131 w 576922"/>
                <a:gd name="connsiteY24" fmla="*/ 536754 h 536754"/>
                <a:gd name="connsiteX25" fmla="*/ 286791 w 576922"/>
                <a:gd name="connsiteY25" fmla="*/ 536754 h 536754"/>
                <a:gd name="connsiteX26" fmla="*/ 267356 w 576922"/>
                <a:gd name="connsiteY26" fmla="*/ 502943 h 536754"/>
                <a:gd name="connsiteX27" fmla="*/ 285120 w 576922"/>
                <a:gd name="connsiteY27" fmla="*/ 365270 h 536754"/>
                <a:gd name="connsiteX28" fmla="*/ 284969 w 576922"/>
                <a:gd name="connsiteY28" fmla="*/ 365270 h 536754"/>
                <a:gd name="connsiteX29" fmla="*/ 278440 w 576922"/>
                <a:gd name="connsiteY29" fmla="*/ 352231 h 536754"/>
                <a:gd name="connsiteX30" fmla="*/ 191288 w 576922"/>
                <a:gd name="connsiteY30" fmla="*/ 376035 h 536754"/>
                <a:gd name="connsiteX31" fmla="*/ 178838 w 576922"/>
                <a:gd name="connsiteY31" fmla="*/ 393017 h 536754"/>
                <a:gd name="connsiteX32" fmla="*/ 146649 w 576922"/>
                <a:gd name="connsiteY32" fmla="*/ 536754 h 536754"/>
                <a:gd name="connsiteX33" fmla="*/ 90775 w 576922"/>
                <a:gd name="connsiteY33" fmla="*/ 536754 h 536754"/>
                <a:gd name="connsiteX34" fmla="*/ 77717 w 576922"/>
                <a:gd name="connsiteY34" fmla="*/ 523715 h 536754"/>
                <a:gd name="connsiteX35" fmla="*/ 77717 w 576922"/>
                <a:gd name="connsiteY35" fmla="*/ 277481 h 536754"/>
                <a:gd name="connsiteX36" fmla="*/ 82272 w 576922"/>
                <a:gd name="connsiteY36" fmla="*/ 267626 h 536754"/>
                <a:gd name="connsiteX37" fmla="*/ 288461 w 576922"/>
                <a:gd name="connsiteY37" fmla="*/ 0 h 536754"/>
                <a:gd name="connsiteX38" fmla="*/ 305620 w 576922"/>
                <a:gd name="connsiteY38" fmla="*/ 6254 h 536754"/>
                <a:gd name="connsiteX39" fmla="*/ 567855 w 576922"/>
                <a:gd name="connsiteY39" fmla="*/ 231550 h 536754"/>
                <a:gd name="connsiteX40" fmla="*/ 570588 w 576922"/>
                <a:gd name="connsiteY40" fmla="*/ 268392 h 536754"/>
                <a:gd name="connsiteX41" fmla="*/ 550696 w 576922"/>
                <a:gd name="connsiteY41" fmla="*/ 277488 h 536754"/>
                <a:gd name="connsiteX42" fmla="*/ 533690 w 576922"/>
                <a:gd name="connsiteY42" fmla="*/ 271272 h 536754"/>
                <a:gd name="connsiteX43" fmla="*/ 288461 w 576922"/>
                <a:gd name="connsiteY43" fmla="*/ 60683 h 536754"/>
                <a:gd name="connsiteX44" fmla="*/ 43232 w 576922"/>
                <a:gd name="connsiteY44" fmla="*/ 271272 h 536754"/>
                <a:gd name="connsiteX45" fmla="*/ 6334 w 576922"/>
                <a:gd name="connsiteY45" fmla="*/ 268392 h 536754"/>
                <a:gd name="connsiteX46" fmla="*/ 9067 w 576922"/>
                <a:gd name="connsiteY46" fmla="*/ 231550 h 536754"/>
                <a:gd name="connsiteX47" fmla="*/ 271303 w 576922"/>
                <a:gd name="connsiteY47" fmla="*/ 6254 h 536754"/>
                <a:gd name="connsiteX48" fmla="*/ 288461 w 576922"/>
                <a:gd name="connsiteY48" fmla="*/ 0 h 53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576922" h="536754">
                  <a:moveTo>
                    <a:pt x="362096" y="472751"/>
                  </a:moveTo>
                  <a:lnTo>
                    <a:pt x="376350" y="536754"/>
                  </a:lnTo>
                  <a:lnTo>
                    <a:pt x="362096" y="536754"/>
                  </a:lnTo>
                  <a:close/>
                  <a:moveTo>
                    <a:pt x="214826" y="472751"/>
                  </a:moveTo>
                  <a:lnTo>
                    <a:pt x="214826" y="536754"/>
                  </a:lnTo>
                  <a:lnTo>
                    <a:pt x="200572" y="536754"/>
                  </a:lnTo>
                  <a:close/>
                  <a:moveTo>
                    <a:pt x="288461" y="200761"/>
                  </a:moveTo>
                  <a:cubicBezTo>
                    <a:pt x="251717" y="200761"/>
                    <a:pt x="221958" y="230478"/>
                    <a:pt x="221958" y="267171"/>
                  </a:cubicBezTo>
                  <a:cubicBezTo>
                    <a:pt x="221958" y="303712"/>
                    <a:pt x="251717" y="346317"/>
                    <a:pt x="288461" y="346317"/>
                  </a:cubicBezTo>
                  <a:cubicBezTo>
                    <a:pt x="325204" y="346317"/>
                    <a:pt x="354963" y="303712"/>
                    <a:pt x="354963" y="267171"/>
                  </a:cubicBezTo>
                  <a:cubicBezTo>
                    <a:pt x="354963" y="230478"/>
                    <a:pt x="325204" y="200761"/>
                    <a:pt x="288461" y="200761"/>
                  </a:cubicBezTo>
                  <a:close/>
                  <a:moveTo>
                    <a:pt x="279958" y="97355"/>
                  </a:moveTo>
                  <a:cubicBezTo>
                    <a:pt x="284817" y="93109"/>
                    <a:pt x="292105" y="93109"/>
                    <a:pt x="296963" y="97355"/>
                  </a:cubicBezTo>
                  <a:lnTo>
                    <a:pt x="494649" y="267626"/>
                  </a:lnTo>
                  <a:cubicBezTo>
                    <a:pt x="497534" y="270052"/>
                    <a:pt x="499204" y="273691"/>
                    <a:pt x="499204" y="277481"/>
                  </a:cubicBezTo>
                  <a:lnTo>
                    <a:pt x="499204" y="523715"/>
                  </a:lnTo>
                  <a:cubicBezTo>
                    <a:pt x="499204" y="530993"/>
                    <a:pt x="493283" y="536754"/>
                    <a:pt x="486147" y="536754"/>
                  </a:cubicBezTo>
                  <a:lnTo>
                    <a:pt x="430272" y="536754"/>
                  </a:lnTo>
                  <a:lnTo>
                    <a:pt x="398084" y="393017"/>
                  </a:lnTo>
                  <a:cubicBezTo>
                    <a:pt x="396414" y="386194"/>
                    <a:pt x="392314" y="379826"/>
                    <a:pt x="385634" y="376035"/>
                  </a:cubicBezTo>
                  <a:cubicBezTo>
                    <a:pt x="383963" y="375126"/>
                    <a:pt x="346916" y="354808"/>
                    <a:pt x="298482" y="352231"/>
                  </a:cubicBezTo>
                  <a:lnTo>
                    <a:pt x="291953" y="365270"/>
                  </a:lnTo>
                  <a:lnTo>
                    <a:pt x="291801" y="365270"/>
                  </a:lnTo>
                  <a:lnTo>
                    <a:pt x="309565" y="502943"/>
                  </a:lnTo>
                  <a:lnTo>
                    <a:pt x="290131" y="536754"/>
                  </a:lnTo>
                  <a:lnTo>
                    <a:pt x="286791" y="536754"/>
                  </a:lnTo>
                  <a:lnTo>
                    <a:pt x="267356" y="502943"/>
                  </a:lnTo>
                  <a:lnTo>
                    <a:pt x="285120" y="365270"/>
                  </a:lnTo>
                  <a:lnTo>
                    <a:pt x="284969" y="365270"/>
                  </a:lnTo>
                  <a:lnTo>
                    <a:pt x="278440" y="352231"/>
                  </a:lnTo>
                  <a:cubicBezTo>
                    <a:pt x="229853" y="354808"/>
                    <a:pt x="192958" y="375126"/>
                    <a:pt x="191288" y="376035"/>
                  </a:cubicBezTo>
                  <a:cubicBezTo>
                    <a:pt x="184607" y="379826"/>
                    <a:pt x="180508" y="386194"/>
                    <a:pt x="178838" y="393017"/>
                  </a:cubicBezTo>
                  <a:lnTo>
                    <a:pt x="146649" y="536754"/>
                  </a:lnTo>
                  <a:lnTo>
                    <a:pt x="90775" y="536754"/>
                  </a:lnTo>
                  <a:cubicBezTo>
                    <a:pt x="83639" y="536754"/>
                    <a:pt x="77717" y="530993"/>
                    <a:pt x="77717" y="523715"/>
                  </a:cubicBezTo>
                  <a:lnTo>
                    <a:pt x="77717" y="277481"/>
                  </a:lnTo>
                  <a:cubicBezTo>
                    <a:pt x="77717" y="273691"/>
                    <a:pt x="79387" y="270052"/>
                    <a:pt x="82272" y="267626"/>
                  </a:cubicBezTo>
                  <a:close/>
                  <a:moveTo>
                    <a:pt x="288461" y="0"/>
                  </a:moveTo>
                  <a:cubicBezTo>
                    <a:pt x="294573" y="0"/>
                    <a:pt x="300685" y="2085"/>
                    <a:pt x="305620" y="6254"/>
                  </a:cubicBezTo>
                  <a:lnTo>
                    <a:pt x="567855" y="231550"/>
                  </a:lnTo>
                  <a:cubicBezTo>
                    <a:pt x="578787" y="240950"/>
                    <a:pt x="580002" y="257476"/>
                    <a:pt x="570588" y="268392"/>
                  </a:cubicBezTo>
                  <a:cubicBezTo>
                    <a:pt x="565425" y="274456"/>
                    <a:pt x="558137" y="277488"/>
                    <a:pt x="550696" y="277488"/>
                  </a:cubicBezTo>
                  <a:cubicBezTo>
                    <a:pt x="544623" y="277488"/>
                    <a:pt x="538549" y="275517"/>
                    <a:pt x="533690" y="271272"/>
                  </a:cubicBezTo>
                  <a:lnTo>
                    <a:pt x="288461" y="60683"/>
                  </a:lnTo>
                  <a:lnTo>
                    <a:pt x="43232" y="271272"/>
                  </a:lnTo>
                  <a:cubicBezTo>
                    <a:pt x="32299" y="280672"/>
                    <a:pt x="15748" y="279459"/>
                    <a:pt x="6334" y="268392"/>
                  </a:cubicBezTo>
                  <a:cubicBezTo>
                    <a:pt x="-3080" y="257476"/>
                    <a:pt x="-1865" y="240950"/>
                    <a:pt x="9067" y="231550"/>
                  </a:cubicBezTo>
                  <a:lnTo>
                    <a:pt x="271303" y="6254"/>
                  </a:lnTo>
                  <a:cubicBezTo>
                    <a:pt x="276238" y="2085"/>
                    <a:pt x="282350" y="0"/>
                    <a:pt x="288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1" name="íşľíḓé">
              <a:extLst>
                <a:ext uri="{FF2B5EF4-FFF2-40B4-BE49-F238E27FC236}">
                  <a16:creationId xmlns:a16="http://schemas.microsoft.com/office/drawing/2014/main" id="{21A11C0B-CCD4-361F-AA75-64C61E974BB2}"/>
                </a:ext>
              </a:extLst>
            </p:cNvPr>
            <p:cNvGrpSpPr/>
            <p:nvPr/>
          </p:nvGrpSpPr>
          <p:grpSpPr>
            <a:xfrm>
              <a:off x="7286624" y="3196320"/>
              <a:ext cx="5693410" cy="1113790"/>
              <a:chOff x="1760650" y="1349283"/>
              <a:chExt cx="5183423" cy="1113790"/>
            </a:xfrm>
          </p:grpSpPr>
          <p:sp>
            <p:nvSpPr>
              <p:cNvPr id="18" name="íşḷíďê">
                <a:extLst>
                  <a:ext uri="{FF2B5EF4-FFF2-40B4-BE49-F238E27FC236}">
                    <a16:creationId xmlns:a16="http://schemas.microsoft.com/office/drawing/2014/main" id="{811ED626-07FC-D8F3-EA0B-787B9D9242CE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 bwMode="auto">
              <a:xfrm>
                <a:off x="1760650" y="1671228"/>
                <a:ext cx="5183423" cy="7918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t" anchorCtr="0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思源黑体 Medium" panose="020B0600000000000000" pitchFamily="34" charset="-122"/>
                    <a:cs typeface="Times New Roman" panose="02020603050405020304" pitchFamily="18" charset="0"/>
                  </a:rPr>
                  <a:t>Imbalanced data is processed using the SMOTE algorithm.</a:t>
                </a:r>
              </a:p>
            </p:txBody>
          </p:sp>
          <p:sp>
            <p:nvSpPr>
              <p:cNvPr id="19" name="iśḷiďê">
                <a:extLst>
                  <a:ext uri="{FF2B5EF4-FFF2-40B4-BE49-F238E27FC236}">
                    <a16:creationId xmlns:a16="http://schemas.microsoft.com/office/drawing/2014/main" id="{13F32ED2-F809-D821-0328-8E2F5AE4030F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 bwMode="auto">
              <a:xfrm>
                <a:off x="1760651" y="1349283"/>
                <a:ext cx="3126184" cy="441805"/>
              </a:xfrm>
              <a:prstGeom prst="rect">
                <a:avLst/>
              </a:prstGeom>
              <a:no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91440" tIns="45720" rIns="91440" bIns="45720" anchor="ctr">
                <a:normAutofit fontScale="92500" lnSpcReduction="1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</a:defRPr>
                </a:lvl9pPr>
              </a:lstStyle>
              <a:p>
                <a:pPr lvl="0">
                  <a:spcBef>
                    <a:spcPct val="0"/>
                  </a:spcBef>
                  <a:defRPr/>
                </a:pPr>
                <a:r>
                  <a:rPr lang="en-US" altLang="zh-CN" sz="2000" b="1" dirty="0">
                    <a:solidFill>
                      <a:srgbClr val="47100A"/>
                    </a:solidFill>
                    <a:latin typeface="Times New Roman" panose="02020603050405020304" pitchFamily="18" charset="0"/>
                    <a:ea typeface="思源黑体 Medium" panose="020B0600000000000000" pitchFamily="34" charset="-122"/>
                    <a:cs typeface="Times New Roman" panose="02020603050405020304" pitchFamily="18" charset="0"/>
                  </a:rPr>
                  <a:t>2.Processing method</a:t>
                </a:r>
              </a:p>
            </p:txBody>
          </p:sp>
        </p:grpSp>
        <p:sp>
          <p:nvSpPr>
            <p:cNvPr id="17" name="ïṣliḋe">
              <a:extLst>
                <a:ext uri="{FF2B5EF4-FFF2-40B4-BE49-F238E27FC236}">
                  <a16:creationId xmlns:a16="http://schemas.microsoft.com/office/drawing/2014/main" id="{C3F30A08-04CA-A2F0-6484-F0182B7AAE5B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 bwMode="auto">
            <a:xfrm>
              <a:off x="6461211" y="5110264"/>
              <a:ext cx="449531" cy="418232"/>
            </a:xfrm>
            <a:custGeom>
              <a:avLst/>
              <a:gdLst>
                <a:gd name="connsiteX0" fmla="*/ 362096 w 576922"/>
                <a:gd name="connsiteY0" fmla="*/ 472751 h 536754"/>
                <a:gd name="connsiteX1" fmla="*/ 376350 w 576922"/>
                <a:gd name="connsiteY1" fmla="*/ 536754 h 536754"/>
                <a:gd name="connsiteX2" fmla="*/ 362096 w 576922"/>
                <a:gd name="connsiteY2" fmla="*/ 536754 h 536754"/>
                <a:gd name="connsiteX3" fmla="*/ 214826 w 576922"/>
                <a:gd name="connsiteY3" fmla="*/ 472751 h 536754"/>
                <a:gd name="connsiteX4" fmla="*/ 214826 w 576922"/>
                <a:gd name="connsiteY4" fmla="*/ 536754 h 536754"/>
                <a:gd name="connsiteX5" fmla="*/ 200572 w 576922"/>
                <a:gd name="connsiteY5" fmla="*/ 536754 h 536754"/>
                <a:gd name="connsiteX6" fmla="*/ 288461 w 576922"/>
                <a:gd name="connsiteY6" fmla="*/ 200761 h 536754"/>
                <a:gd name="connsiteX7" fmla="*/ 221958 w 576922"/>
                <a:gd name="connsiteY7" fmla="*/ 267171 h 536754"/>
                <a:gd name="connsiteX8" fmla="*/ 288461 w 576922"/>
                <a:gd name="connsiteY8" fmla="*/ 346317 h 536754"/>
                <a:gd name="connsiteX9" fmla="*/ 354963 w 576922"/>
                <a:gd name="connsiteY9" fmla="*/ 267171 h 536754"/>
                <a:gd name="connsiteX10" fmla="*/ 288461 w 576922"/>
                <a:gd name="connsiteY10" fmla="*/ 200761 h 536754"/>
                <a:gd name="connsiteX11" fmla="*/ 279958 w 576922"/>
                <a:gd name="connsiteY11" fmla="*/ 97355 h 536754"/>
                <a:gd name="connsiteX12" fmla="*/ 296963 w 576922"/>
                <a:gd name="connsiteY12" fmla="*/ 97355 h 536754"/>
                <a:gd name="connsiteX13" fmla="*/ 494649 w 576922"/>
                <a:gd name="connsiteY13" fmla="*/ 267626 h 536754"/>
                <a:gd name="connsiteX14" fmla="*/ 499204 w 576922"/>
                <a:gd name="connsiteY14" fmla="*/ 277481 h 536754"/>
                <a:gd name="connsiteX15" fmla="*/ 499204 w 576922"/>
                <a:gd name="connsiteY15" fmla="*/ 523715 h 536754"/>
                <a:gd name="connsiteX16" fmla="*/ 486147 w 576922"/>
                <a:gd name="connsiteY16" fmla="*/ 536754 h 536754"/>
                <a:gd name="connsiteX17" fmla="*/ 430272 w 576922"/>
                <a:gd name="connsiteY17" fmla="*/ 536754 h 536754"/>
                <a:gd name="connsiteX18" fmla="*/ 398084 w 576922"/>
                <a:gd name="connsiteY18" fmla="*/ 393017 h 536754"/>
                <a:gd name="connsiteX19" fmla="*/ 385634 w 576922"/>
                <a:gd name="connsiteY19" fmla="*/ 376035 h 536754"/>
                <a:gd name="connsiteX20" fmla="*/ 298482 w 576922"/>
                <a:gd name="connsiteY20" fmla="*/ 352231 h 536754"/>
                <a:gd name="connsiteX21" fmla="*/ 291953 w 576922"/>
                <a:gd name="connsiteY21" fmla="*/ 365270 h 536754"/>
                <a:gd name="connsiteX22" fmla="*/ 291801 w 576922"/>
                <a:gd name="connsiteY22" fmla="*/ 365270 h 536754"/>
                <a:gd name="connsiteX23" fmla="*/ 309565 w 576922"/>
                <a:gd name="connsiteY23" fmla="*/ 502943 h 536754"/>
                <a:gd name="connsiteX24" fmla="*/ 290131 w 576922"/>
                <a:gd name="connsiteY24" fmla="*/ 536754 h 536754"/>
                <a:gd name="connsiteX25" fmla="*/ 286791 w 576922"/>
                <a:gd name="connsiteY25" fmla="*/ 536754 h 536754"/>
                <a:gd name="connsiteX26" fmla="*/ 267356 w 576922"/>
                <a:gd name="connsiteY26" fmla="*/ 502943 h 536754"/>
                <a:gd name="connsiteX27" fmla="*/ 285120 w 576922"/>
                <a:gd name="connsiteY27" fmla="*/ 365270 h 536754"/>
                <a:gd name="connsiteX28" fmla="*/ 284969 w 576922"/>
                <a:gd name="connsiteY28" fmla="*/ 365270 h 536754"/>
                <a:gd name="connsiteX29" fmla="*/ 278440 w 576922"/>
                <a:gd name="connsiteY29" fmla="*/ 352231 h 536754"/>
                <a:gd name="connsiteX30" fmla="*/ 191288 w 576922"/>
                <a:gd name="connsiteY30" fmla="*/ 376035 h 536754"/>
                <a:gd name="connsiteX31" fmla="*/ 178838 w 576922"/>
                <a:gd name="connsiteY31" fmla="*/ 393017 h 536754"/>
                <a:gd name="connsiteX32" fmla="*/ 146649 w 576922"/>
                <a:gd name="connsiteY32" fmla="*/ 536754 h 536754"/>
                <a:gd name="connsiteX33" fmla="*/ 90775 w 576922"/>
                <a:gd name="connsiteY33" fmla="*/ 536754 h 536754"/>
                <a:gd name="connsiteX34" fmla="*/ 77717 w 576922"/>
                <a:gd name="connsiteY34" fmla="*/ 523715 h 536754"/>
                <a:gd name="connsiteX35" fmla="*/ 77717 w 576922"/>
                <a:gd name="connsiteY35" fmla="*/ 277481 h 536754"/>
                <a:gd name="connsiteX36" fmla="*/ 82272 w 576922"/>
                <a:gd name="connsiteY36" fmla="*/ 267626 h 536754"/>
                <a:gd name="connsiteX37" fmla="*/ 288461 w 576922"/>
                <a:gd name="connsiteY37" fmla="*/ 0 h 536754"/>
                <a:gd name="connsiteX38" fmla="*/ 305620 w 576922"/>
                <a:gd name="connsiteY38" fmla="*/ 6254 h 536754"/>
                <a:gd name="connsiteX39" fmla="*/ 567855 w 576922"/>
                <a:gd name="connsiteY39" fmla="*/ 231550 h 536754"/>
                <a:gd name="connsiteX40" fmla="*/ 570588 w 576922"/>
                <a:gd name="connsiteY40" fmla="*/ 268392 h 536754"/>
                <a:gd name="connsiteX41" fmla="*/ 550696 w 576922"/>
                <a:gd name="connsiteY41" fmla="*/ 277488 h 536754"/>
                <a:gd name="connsiteX42" fmla="*/ 533690 w 576922"/>
                <a:gd name="connsiteY42" fmla="*/ 271272 h 536754"/>
                <a:gd name="connsiteX43" fmla="*/ 288461 w 576922"/>
                <a:gd name="connsiteY43" fmla="*/ 60683 h 536754"/>
                <a:gd name="connsiteX44" fmla="*/ 43232 w 576922"/>
                <a:gd name="connsiteY44" fmla="*/ 271272 h 536754"/>
                <a:gd name="connsiteX45" fmla="*/ 6334 w 576922"/>
                <a:gd name="connsiteY45" fmla="*/ 268392 h 536754"/>
                <a:gd name="connsiteX46" fmla="*/ 9067 w 576922"/>
                <a:gd name="connsiteY46" fmla="*/ 231550 h 536754"/>
                <a:gd name="connsiteX47" fmla="*/ 271303 w 576922"/>
                <a:gd name="connsiteY47" fmla="*/ 6254 h 536754"/>
                <a:gd name="connsiteX48" fmla="*/ 288461 w 576922"/>
                <a:gd name="connsiteY48" fmla="*/ 0 h 53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576922" h="536754">
                  <a:moveTo>
                    <a:pt x="362096" y="472751"/>
                  </a:moveTo>
                  <a:lnTo>
                    <a:pt x="376350" y="536754"/>
                  </a:lnTo>
                  <a:lnTo>
                    <a:pt x="362096" y="536754"/>
                  </a:lnTo>
                  <a:close/>
                  <a:moveTo>
                    <a:pt x="214826" y="472751"/>
                  </a:moveTo>
                  <a:lnTo>
                    <a:pt x="214826" y="536754"/>
                  </a:lnTo>
                  <a:lnTo>
                    <a:pt x="200572" y="536754"/>
                  </a:lnTo>
                  <a:close/>
                  <a:moveTo>
                    <a:pt x="288461" y="200761"/>
                  </a:moveTo>
                  <a:cubicBezTo>
                    <a:pt x="251717" y="200761"/>
                    <a:pt x="221958" y="230478"/>
                    <a:pt x="221958" y="267171"/>
                  </a:cubicBezTo>
                  <a:cubicBezTo>
                    <a:pt x="221958" y="303712"/>
                    <a:pt x="251717" y="346317"/>
                    <a:pt x="288461" y="346317"/>
                  </a:cubicBezTo>
                  <a:cubicBezTo>
                    <a:pt x="325204" y="346317"/>
                    <a:pt x="354963" y="303712"/>
                    <a:pt x="354963" y="267171"/>
                  </a:cubicBezTo>
                  <a:cubicBezTo>
                    <a:pt x="354963" y="230478"/>
                    <a:pt x="325204" y="200761"/>
                    <a:pt x="288461" y="200761"/>
                  </a:cubicBezTo>
                  <a:close/>
                  <a:moveTo>
                    <a:pt x="279958" y="97355"/>
                  </a:moveTo>
                  <a:cubicBezTo>
                    <a:pt x="284817" y="93109"/>
                    <a:pt x="292105" y="93109"/>
                    <a:pt x="296963" y="97355"/>
                  </a:cubicBezTo>
                  <a:lnTo>
                    <a:pt x="494649" y="267626"/>
                  </a:lnTo>
                  <a:cubicBezTo>
                    <a:pt x="497534" y="270052"/>
                    <a:pt x="499204" y="273691"/>
                    <a:pt x="499204" y="277481"/>
                  </a:cubicBezTo>
                  <a:lnTo>
                    <a:pt x="499204" y="523715"/>
                  </a:lnTo>
                  <a:cubicBezTo>
                    <a:pt x="499204" y="530993"/>
                    <a:pt x="493283" y="536754"/>
                    <a:pt x="486147" y="536754"/>
                  </a:cubicBezTo>
                  <a:lnTo>
                    <a:pt x="430272" y="536754"/>
                  </a:lnTo>
                  <a:lnTo>
                    <a:pt x="398084" y="393017"/>
                  </a:lnTo>
                  <a:cubicBezTo>
                    <a:pt x="396414" y="386194"/>
                    <a:pt x="392314" y="379826"/>
                    <a:pt x="385634" y="376035"/>
                  </a:cubicBezTo>
                  <a:cubicBezTo>
                    <a:pt x="383963" y="375126"/>
                    <a:pt x="346916" y="354808"/>
                    <a:pt x="298482" y="352231"/>
                  </a:cubicBezTo>
                  <a:lnTo>
                    <a:pt x="291953" y="365270"/>
                  </a:lnTo>
                  <a:lnTo>
                    <a:pt x="291801" y="365270"/>
                  </a:lnTo>
                  <a:lnTo>
                    <a:pt x="309565" y="502943"/>
                  </a:lnTo>
                  <a:lnTo>
                    <a:pt x="290131" y="536754"/>
                  </a:lnTo>
                  <a:lnTo>
                    <a:pt x="286791" y="536754"/>
                  </a:lnTo>
                  <a:lnTo>
                    <a:pt x="267356" y="502943"/>
                  </a:lnTo>
                  <a:lnTo>
                    <a:pt x="285120" y="365270"/>
                  </a:lnTo>
                  <a:lnTo>
                    <a:pt x="284969" y="365270"/>
                  </a:lnTo>
                  <a:lnTo>
                    <a:pt x="278440" y="352231"/>
                  </a:lnTo>
                  <a:cubicBezTo>
                    <a:pt x="229853" y="354808"/>
                    <a:pt x="192958" y="375126"/>
                    <a:pt x="191288" y="376035"/>
                  </a:cubicBezTo>
                  <a:cubicBezTo>
                    <a:pt x="184607" y="379826"/>
                    <a:pt x="180508" y="386194"/>
                    <a:pt x="178838" y="393017"/>
                  </a:cubicBezTo>
                  <a:lnTo>
                    <a:pt x="146649" y="536754"/>
                  </a:lnTo>
                  <a:lnTo>
                    <a:pt x="90775" y="536754"/>
                  </a:lnTo>
                  <a:cubicBezTo>
                    <a:pt x="83639" y="536754"/>
                    <a:pt x="77717" y="530993"/>
                    <a:pt x="77717" y="523715"/>
                  </a:cubicBezTo>
                  <a:lnTo>
                    <a:pt x="77717" y="277481"/>
                  </a:lnTo>
                  <a:cubicBezTo>
                    <a:pt x="77717" y="273691"/>
                    <a:pt x="79387" y="270052"/>
                    <a:pt x="82272" y="267626"/>
                  </a:cubicBezTo>
                  <a:close/>
                  <a:moveTo>
                    <a:pt x="288461" y="0"/>
                  </a:moveTo>
                  <a:cubicBezTo>
                    <a:pt x="294573" y="0"/>
                    <a:pt x="300685" y="2085"/>
                    <a:pt x="305620" y="6254"/>
                  </a:cubicBezTo>
                  <a:lnTo>
                    <a:pt x="567855" y="231550"/>
                  </a:lnTo>
                  <a:cubicBezTo>
                    <a:pt x="578787" y="240950"/>
                    <a:pt x="580002" y="257476"/>
                    <a:pt x="570588" y="268392"/>
                  </a:cubicBezTo>
                  <a:cubicBezTo>
                    <a:pt x="565425" y="274456"/>
                    <a:pt x="558137" y="277488"/>
                    <a:pt x="550696" y="277488"/>
                  </a:cubicBezTo>
                  <a:cubicBezTo>
                    <a:pt x="544623" y="277488"/>
                    <a:pt x="538549" y="275517"/>
                    <a:pt x="533690" y="271272"/>
                  </a:cubicBezTo>
                  <a:lnTo>
                    <a:pt x="288461" y="60683"/>
                  </a:lnTo>
                  <a:lnTo>
                    <a:pt x="43232" y="271272"/>
                  </a:lnTo>
                  <a:cubicBezTo>
                    <a:pt x="32299" y="280672"/>
                    <a:pt x="15748" y="279459"/>
                    <a:pt x="6334" y="268392"/>
                  </a:cubicBezTo>
                  <a:cubicBezTo>
                    <a:pt x="-3080" y="257476"/>
                    <a:pt x="-1865" y="240950"/>
                    <a:pt x="9067" y="231550"/>
                  </a:cubicBezTo>
                  <a:lnTo>
                    <a:pt x="271303" y="6254"/>
                  </a:lnTo>
                  <a:cubicBezTo>
                    <a:pt x="276238" y="2085"/>
                    <a:pt x="282350" y="0"/>
                    <a:pt x="288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思源黑体 Medium" panose="020B0600000000000000" pitchFamily="34" charset="-122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3AF7371-35EE-6A3C-E6DB-D64B131C27E9}"/>
              </a:ext>
            </a:extLst>
          </p:cNvPr>
          <p:cNvCxnSpPr/>
          <p:nvPr>
            <p:custDataLst>
              <p:tags r:id="rId2"/>
            </p:custDataLst>
          </p:nvPr>
        </p:nvCxnSpPr>
        <p:spPr>
          <a:xfrm>
            <a:off x="1735568" y="5573592"/>
            <a:ext cx="3433763" cy="0"/>
          </a:xfrm>
          <a:prstGeom prst="line">
            <a:avLst/>
          </a:prstGeom>
          <a:noFill/>
          <a:ln w="3175" cap="rnd" cmpd="sng" algn="ctr">
            <a:solidFill>
              <a:srgbClr val="FFFFFF">
                <a:lumMod val="75000"/>
              </a:srgbClr>
            </a:solidFill>
            <a:prstDash val="solid"/>
            <a:round/>
          </a:ln>
          <a:effectLst/>
        </p:spPr>
      </p:cxnSp>
      <p:sp>
        <p:nvSpPr>
          <p:cNvPr id="67" name="iŝľiḓê">
            <a:extLst>
              <a:ext uri="{FF2B5EF4-FFF2-40B4-BE49-F238E27FC236}">
                <a16:creationId xmlns:a16="http://schemas.microsoft.com/office/drawing/2014/main" id="{27CAD9B1-A53E-57B2-A284-7DF7DC06985F}"/>
              </a:ext>
            </a:extLst>
          </p:cNvPr>
          <p:cNvSpPr/>
          <p:nvPr/>
        </p:nvSpPr>
        <p:spPr bwMode="auto">
          <a:xfrm>
            <a:off x="450671" y="671739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41C208-9B2F-0D9A-004B-020AF9F164B4}"/>
              </a:ext>
            </a:extLst>
          </p:cNvPr>
          <p:cNvSpPr/>
          <p:nvPr/>
        </p:nvSpPr>
        <p:spPr>
          <a:xfrm>
            <a:off x="1166099" y="720466"/>
            <a:ext cx="2640402" cy="523220"/>
          </a:xfrm>
          <a:prstGeom prst="rect">
            <a:avLst/>
          </a:prstGeom>
          <a:effectLst/>
        </p:spPr>
        <p:txBody>
          <a:bodyPr vert="horz" wrap="none">
            <a:spAutoFit/>
          </a:bodyPr>
          <a:lstStyle/>
          <a:p>
            <a:pPr algn="ctr">
              <a:buClrTx/>
              <a:buSzTx/>
              <a:buFontTx/>
            </a:pPr>
            <a:r>
              <a:rPr lang="en-US" altLang="zh-CN" sz="2800" b="1" dirty="0">
                <a:solidFill>
                  <a:srgbClr val="47100A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Data Processing</a:t>
            </a:r>
            <a:endParaRPr lang="zh-CN" altLang="en-US" sz="2800" b="1" dirty="0">
              <a:solidFill>
                <a:srgbClr val="47100A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46AFAB8-086E-B57E-162A-3C6CDE062E8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28" t="6294" r="4899" b="2162"/>
          <a:stretch>
            <a:fillRect/>
          </a:stretch>
        </p:blipFill>
        <p:spPr>
          <a:xfrm rot="10800000">
            <a:off x="2916253" y="1188199"/>
            <a:ext cx="7924800" cy="3348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626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iŝľiḓê"/>
          <p:cNvSpPr/>
          <p:nvPr/>
        </p:nvSpPr>
        <p:spPr bwMode="auto">
          <a:xfrm>
            <a:off x="450036" y="494574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94461" y="454267"/>
            <a:ext cx="4427751" cy="523220"/>
          </a:xfrm>
          <a:prstGeom prst="rect">
            <a:avLst/>
          </a:prstGeom>
          <a:effectLst/>
        </p:spPr>
        <p:txBody>
          <a:bodyPr vert="horz" wrap="none">
            <a:spAutoFit/>
          </a:bodyPr>
          <a:lstStyle/>
          <a:p>
            <a:r>
              <a:rPr lang="en-US" altLang="zh-CN" sz="2800" b="1" dirty="0">
                <a:solidFill>
                  <a:srgbClr val="47100A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Feature Importance Insight</a:t>
            </a:r>
            <a:endParaRPr lang="zh-CN" altLang="en-US" sz="2800" b="1" dirty="0">
              <a:solidFill>
                <a:srgbClr val="47100A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90" y="1939290"/>
            <a:ext cx="4747895" cy="379857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5"/>
          <a:stretch>
            <a:fillRect/>
          </a:stretch>
        </p:blipFill>
        <p:spPr>
          <a:xfrm>
            <a:off x="6009640" y="1958340"/>
            <a:ext cx="4610100" cy="37795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90163" y="1120140"/>
            <a:ext cx="10546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keeps only the </a:t>
            </a:r>
            <a:r>
              <a:rPr lang="en-US" altLang="zh-CN" sz="20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relevant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features, removing noise to simplify training and boost model generalization.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409700" y="5868174"/>
            <a:ext cx="89418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Among all variables, </a:t>
            </a:r>
            <a:r>
              <a:rPr lang="en-US" altLang="zh-CN" sz="20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rating (grade)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most critical for predicting default, while behavioral features like DTI and Total Credit add finer risk detection.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6093" r="3262" b="9843"/>
          <a:stretch>
            <a:fillRect/>
          </a:stretch>
        </p:blipFill>
        <p:spPr>
          <a:xfrm>
            <a:off x="2669654" y="2661112"/>
            <a:ext cx="7089775" cy="38569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319903" y="1034469"/>
            <a:ext cx="97892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1: </a:t>
            </a:r>
            <a:r>
              <a:rPr lang="en-US" altLang="zh-CN" sz="20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Random Forest (RF) </a:t>
            </a:r>
          </a:p>
          <a:p>
            <a:endParaRPr lang="en-US" altLang="zh-CN" sz="800" b="1" dirty="0">
              <a:solidFill>
                <a:srgbClr val="47100A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r>
              <a:rPr lang="en-US" altLang="zh-CN" sz="16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(RF)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an extension of Bagging. It builds a Bagging ensemble using decision trees as base learners and further introduces attribute selection during the training process of the decision trees. Compared with a single decision tree algorithm, random forest eliminates many limitations, reduces overfitting on the dataset, and provides a way to handle missing data, thereby improving accuracy.</a:t>
            </a:r>
          </a:p>
          <a:p>
            <a:r>
              <a:rPr lang="en-US" altLang="zh-CN" sz="16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specific algorithm is shown in the following figure</a:t>
            </a:r>
            <a:r>
              <a:rPr lang="zh-CN" altLang="en-US" sz="16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B167FA-BEC2-1A6A-4786-BAB143D15BCD}"/>
              </a:ext>
            </a:extLst>
          </p:cNvPr>
          <p:cNvSpPr/>
          <p:nvPr/>
        </p:nvSpPr>
        <p:spPr>
          <a:xfrm>
            <a:off x="1164600" y="454267"/>
            <a:ext cx="3201453" cy="523220"/>
          </a:xfrm>
          <a:prstGeom prst="rect">
            <a:avLst/>
          </a:prstGeom>
          <a:effectLst/>
        </p:spPr>
        <p:txBody>
          <a:bodyPr vert="horz" wrap="none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47100A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Model Introduction</a:t>
            </a:r>
            <a:endParaRPr lang="zh-CN" altLang="en-US" sz="2800" b="1" dirty="0">
              <a:solidFill>
                <a:srgbClr val="47100A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iŝľiḓê">
            <a:extLst>
              <a:ext uri="{FF2B5EF4-FFF2-40B4-BE49-F238E27FC236}">
                <a16:creationId xmlns:a16="http://schemas.microsoft.com/office/drawing/2014/main" id="{87693092-DFDE-D426-34C9-F79BFD4F6969}"/>
              </a:ext>
            </a:extLst>
          </p:cNvPr>
          <p:cNvSpPr/>
          <p:nvPr/>
        </p:nvSpPr>
        <p:spPr bwMode="auto">
          <a:xfrm>
            <a:off x="450036" y="494574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3656" y="5459095"/>
            <a:ext cx="3861435" cy="8845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87680" y="397431"/>
            <a:ext cx="9928746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Model 2: </a:t>
            </a:r>
            <a:r>
              <a:rPr lang="en-US" altLang="zh-CN" sz="20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Bayes</a:t>
            </a:r>
            <a:r>
              <a:rPr lang="en-US" altLang="zh-CN" sz="2000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zh-CN" sz="800" dirty="0">
              <a:solidFill>
                <a:srgbClr val="4710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idea</a:t>
            </a:r>
            <a:r>
              <a:rPr lang="en-US" altLang="zh-CN" sz="1600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posterior probability of each category given the features, and select the category with the highest probability as the prediction result.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32435" y="1398905"/>
            <a:ext cx="103600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(1)Bayes’ Theorem</a:t>
            </a:r>
            <a:endParaRPr lang="en-US" altLang="zh-CN" dirty="0">
              <a:solidFill>
                <a:srgbClr val="4710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class C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ferture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vector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=(x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,x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,...,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),Bayes’ theorem gives the posterior probability: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513" y="2183765"/>
            <a:ext cx="3093720" cy="73088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62965" y="2686050"/>
            <a:ext cx="907986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16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|x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:posterior probability</a:t>
            </a:r>
          </a:p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P(C</a:t>
            </a:r>
            <a:r>
              <a:rPr lang="en-US" altLang="zh-CN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probability</a:t>
            </a:r>
          </a:p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P(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x|C</a:t>
            </a:r>
            <a:r>
              <a:rPr lang="en-US" altLang="zh-CN" sz="16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)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probability of observing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given class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</a:t>
            </a:r>
          </a:p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P(x)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: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– constant across all classes and can be ignored for classification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87680" y="3884930"/>
            <a:ext cx="783272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(2)Naive Conditional Independence Assumption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All features are mutually independent given the class: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4042" y="4493280"/>
            <a:ext cx="2780665" cy="73088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54355" y="5230495"/>
            <a:ext cx="6289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(3)Classification Decision Rule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95911" y="348615"/>
            <a:ext cx="5419726" cy="1508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Model 3: Logistic Regression</a:t>
            </a:r>
            <a:r>
              <a:rPr lang="en-US" altLang="zh-CN" sz="2000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zh-CN" sz="800" dirty="0">
              <a:solidFill>
                <a:srgbClr val="4710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dependent variable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study is the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status</a:t>
            </a:r>
          </a:p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Y=1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defaulters  </a:t>
            </a:r>
          </a:p>
          <a:p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Y=0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non-defaulters  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 probability of Y=1 is assumed to be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82" y="1920713"/>
            <a:ext cx="5241579" cy="67975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37" y="2844800"/>
            <a:ext cx="4300220" cy="7645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027" y="3807319"/>
            <a:ext cx="4708525" cy="9004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841" y="1407573"/>
            <a:ext cx="3758565" cy="263779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198581" y="379095"/>
            <a:ext cx="59934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Model 4: </a:t>
            </a:r>
            <a:r>
              <a:rPr lang="en-US" altLang="zh-CN" sz="20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Machine, SVM</a:t>
            </a:r>
          </a:p>
          <a:p>
            <a:endParaRPr lang="en-US" altLang="zh-CN" sz="800" dirty="0">
              <a:solidFill>
                <a:srgbClr val="4710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objective is to find an optimal hyperplane in the feature space to separate data points of different classes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033135" y="4303395"/>
            <a:ext cx="60871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shown in the figure :       and     represent two classes of samples,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represents the normal vector of the hyperplane,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CN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the upper and lower boundaries,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 margin of 2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representing the margin distance, and 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 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being the optimal separating hyperplane.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1025" y="4369579"/>
            <a:ext cx="256540" cy="21653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1052" y="4358552"/>
            <a:ext cx="201930" cy="2470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716280" y="644078"/>
            <a:ext cx="10759440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0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Model 5: </a:t>
            </a:r>
            <a:r>
              <a:rPr lang="en-US" altLang="zh-CN" sz="2000" b="1" dirty="0" err="1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XGBoost</a:t>
            </a:r>
            <a:r>
              <a:rPr lang="en-US" altLang="zh-CN" sz="2000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altLang="zh-CN" sz="800" dirty="0">
              <a:solidFill>
                <a:srgbClr val="47100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is developed from the GBDT method. It is an ensemble of trees that makes output predictions using a cumulative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approach.</a:t>
            </a:r>
            <a:r>
              <a:rPr lang="en-US" altLang="zh-C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altLang="zh-C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 function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is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319" y="2057399"/>
            <a:ext cx="3141980" cy="84074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159192" y="3299300"/>
            <a:ext cx="95002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is a differentiable convex loss function used to measure the discrepancy between the predicted value      and the target value, known as the empirical risk.</a:t>
            </a:r>
          </a:p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is a penalty term for model complexity, known as structural risk, which helps reduce the risk of overfitting and makes the learned model parameters smoother.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9864" y="3295798"/>
            <a:ext cx="227965" cy="31813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rcRect r="19498" b="21629"/>
          <a:stretch>
            <a:fillRect/>
          </a:stretch>
        </p:blipFill>
        <p:spPr>
          <a:xfrm>
            <a:off x="1159192" y="3229225"/>
            <a:ext cx="183515" cy="3422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9192" y="3843681"/>
            <a:ext cx="194960" cy="28555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58F3A-77E3-ECF5-F285-DC02E97DC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iŝľiḓê">
            <a:extLst>
              <a:ext uri="{FF2B5EF4-FFF2-40B4-BE49-F238E27FC236}">
                <a16:creationId xmlns:a16="http://schemas.microsoft.com/office/drawing/2014/main" id="{496EECF1-8A20-3B47-669F-97654A07373D}"/>
              </a:ext>
            </a:extLst>
          </p:cNvPr>
          <p:cNvSpPr/>
          <p:nvPr/>
        </p:nvSpPr>
        <p:spPr bwMode="auto">
          <a:xfrm>
            <a:off x="450671" y="671739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B074802-A5C8-6EF2-E00D-3D1051EE193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964" y="1194592"/>
            <a:ext cx="7947666" cy="529844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6001747-66C5-6704-8FA3-6249A8E39E97}"/>
              </a:ext>
            </a:extLst>
          </p:cNvPr>
          <p:cNvSpPr txBox="1"/>
          <p:nvPr/>
        </p:nvSpPr>
        <p:spPr>
          <a:xfrm>
            <a:off x="1029324" y="671372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47100A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en-US" sz="2800" b="1" dirty="0">
                <a:solidFill>
                  <a:srgbClr val="47100A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onfusion </a:t>
            </a:r>
            <a:r>
              <a:rPr lang="en-US" altLang="zh-CN" sz="2800" b="1" dirty="0">
                <a:solidFill>
                  <a:srgbClr val="47100A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sz="2800" b="1" dirty="0">
                <a:solidFill>
                  <a:srgbClr val="47100A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atrices</a:t>
            </a:r>
          </a:p>
        </p:txBody>
      </p:sp>
      <p:grpSp>
        <p:nvGrpSpPr>
          <p:cNvPr id="2" name="íśḷïḑê">
            <a:extLst>
              <a:ext uri="{FF2B5EF4-FFF2-40B4-BE49-F238E27FC236}">
                <a16:creationId xmlns:a16="http://schemas.microsoft.com/office/drawing/2014/main" id="{2195693A-01DD-1302-A3E4-92C26B32DD29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8655274" y="2036627"/>
            <a:ext cx="3180762" cy="2025910"/>
            <a:chOff x="6461211" y="2039262"/>
            <a:chExt cx="7880158" cy="1897178"/>
          </a:xfrm>
        </p:grpSpPr>
        <p:sp>
          <p:nvSpPr>
            <p:cNvPr id="3" name="iṡļîḑè">
              <a:extLst>
                <a:ext uri="{FF2B5EF4-FFF2-40B4-BE49-F238E27FC236}">
                  <a16:creationId xmlns:a16="http://schemas.microsoft.com/office/drawing/2014/main" id="{D9A0BB1F-2B23-23D4-65CB-4794F7098B61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 bwMode="auto">
            <a:xfrm>
              <a:off x="6461211" y="2039262"/>
              <a:ext cx="449531" cy="418232"/>
            </a:xfrm>
            <a:custGeom>
              <a:avLst/>
              <a:gdLst>
                <a:gd name="connsiteX0" fmla="*/ 362096 w 576922"/>
                <a:gd name="connsiteY0" fmla="*/ 472751 h 536754"/>
                <a:gd name="connsiteX1" fmla="*/ 376350 w 576922"/>
                <a:gd name="connsiteY1" fmla="*/ 536754 h 536754"/>
                <a:gd name="connsiteX2" fmla="*/ 362096 w 576922"/>
                <a:gd name="connsiteY2" fmla="*/ 536754 h 536754"/>
                <a:gd name="connsiteX3" fmla="*/ 214826 w 576922"/>
                <a:gd name="connsiteY3" fmla="*/ 472751 h 536754"/>
                <a:gd name="connsiteX4" fmla="*/ 214826 w 576922"/>
                <a:gd name="connsiteY4" fmla="*/ 536754 h 536754"/>
                <a:gd name="connsiteX5" fmla="*/ 200572 w 576922"/>
                <a:gd name="connsiteY5" fmla="*/ 536754 h 536754"/>
                <a:gd name="connsiteX6" fmla="*/ 288461 w 576922"/>
                <a:gd name="connsiteY6" fmla="*/ 200761 h 536754"/>
                <a:gd name="connsiteX7" fmla="*/ 221958 w 576922"/>
                <a:gd name="connsiteY7" fmla="*/ 267171 h 536754"/>
                <a:gd name="connsiteX8" fmla="*/ 288461 w 576922"/>
                <a:gd name="connsiteY8" fmla="*/ 346317 h 536754"/>
                <a:gd name="connsiteX9" fmla="*/ 354963 w 576922"/>
                <a:gd name="connsiteY9" fmla="*/ 267171 h 536754"/>
                <a:gd name="connsiteX10" fmla="*/ 288461 w 576922"/>
                <a:gd name="connsiteY10" fmla="*/ 200761 h 536754"/>
                <a:gd name="connsiteX11" fmla="*/ 279958 w 576922"/>
                <a:gd name="connsiteY11" fmla="*/ 97355 h 536754"/>
                <a:gd name="connsiteX12" fmla="*/ 296963 w 576922"/>
                <a:gd name="connsiteY12" fmla="*/ 97355 h 536754"/>
                <a:gd name="connsiteX13" fmla="*/ 494649 w 576922"/>
                <a:gd name="connsiteY13" fmla="*/ 267626 h 536754"/>
                <a:gd name="connsiteX14" fmla="*/ 499204 w 576922"/>
                <a:gd name="connsiteY14" fmla="*/ 277481 h 536754"/>
                <a:gd name="connsiteX15" fmla="*/ 499204 w 576922"/>
                <a:gd name="connsiteY15" fmla="*/ 523715 h 536754"/>
                <a:gd name="connsiteX16" fmla="*/ 486147 w 576922"/>
                <a:gd name="connsiteY16" fmla="*/ 536754 h 536754"/>
                <a:gd name="connsiteX17" fmla="*/ 430272 w 576922"/>
                <a:gd name="connsiteY17" fmla="*/ 536754 h 536754"/>
                <a:gd name="connsiteX18" fmla="*/ 398084 w 576922"/>
                <a:gd name="connsiteY18" fmla="*/ 393017 h 536754"/>
                <a:gd name="connsiteX19" fmla="*/ 385634 w 576922"/>
                <a:gd name="connsiteY19" fmla="*/ 376035 h 536754"/>
                <a:gd name="connsiteX20" fmla="*/ 298482 w 576922"/>
                <a:gd name="connsiteY20" fmla="*/ 352231 h 536754"/>
                <a:gd name="connsiteX21" fmla="*/ 291953 w 576922"/>
                <a:gd name="connsiteY21" fmla="*/ 365270 h 536754"/>
                <a:gd name="connsiteX22" fmla="*/ 291801 w 576922"/>
                <a:gd name="connsiteY22" fmla="*/ 365270 h 536754"/>
                <a:gd name="connsiteX23" fmla="*/ 309565 w 576922"/>
                <a:gd name="connsiteY23" fmla="*/ 502943 h 536754"/>
                <a:gd name="connsiteX24" fmla="*/ 290131 w 576922"/>
                <a:gd name="connsiteY24" fmla="*/ 536754 h 536754"/>
                <a:gd name="connsiteX25" fmla="*/ 286791 w 576922"/>
                <a:gd name="connsiteY25" fmla="*/ 536754 h 536754"/>
                <a:gd name="connsiteX26" fmla="*/ 267356 w 576922"/>
                <a:gd name="connsiteY26" fmla="*/ 502943 h 536754"/>
                <a:gd name="connsiteX27" fmla="*/ 285120 w 576922"/>
                <a:gd name="connsiteY27" fmla="*/ 365270 h 536754"/>
                <a:gd name="connsiteX28" fmla="*/ 284969 w 576922"/>
                <a:gd name="connsiteY28" fmla="*/ 365270 h 536754"/>
                <a:gd name="connsiteX29" fmla="*/ 278440 w 576922"/>
                <a:gd name="connsiteY29" fmla="*/ 352231 h 536754"/>
                <a:gd name="connsiteX30" fmla="*/ 191288 w 576922"/>
                <a:gd name="connsiteY30" fmla="*/ 376035 h 536754"/>
                <a:gd name="connsiteX31" fmla="*/ 178838 w 576922"/>
                <a:gd name="connsiteY31" fmla="*/ 393017 h 536754"/>
                <a:gd name="connsiteX32" fmla="*/ 146649 w 576922"/>
                <a:gd name="connsiteY32" fmla="*/ 536754 h 536754"/>
                <a:gd name="connsiteX33" fmla="*/ 90775 w 576922"/>
                <a:gd name="connsiteY33" fmla="*/ 536754 h 536754"/>
                <a:gd name="connsiteX34" fmla="*/ 77717 w 576922"/>
                <a:gd name="connsiteY34" fmla="*/ 523715 h 536754"/>
                <a:gd name="connsiteX35" fmla="*/ 77717 w 576922"/>
                <a:gd name="connsiteY35" fmla="*/ 277481 h 536754"/>
                <a:gd name="connsiteX36" fmla="*/ 82272 w 576922"/>
                <a:gd name="connsiteY36" fmla="*/ 267626 h 536754"/>
                <a:gd name="connsiteX37" fmla="*/ 288461 w 576922"/>
                <a:gd name="connsiteY37" fmla="*/ 0 h 536754"/>
                <a:gd name="connsiteX38" fmla="*/ 305620 w 576922"/>
                <a:gd name="connsiteY38" fmla="*/ 6254 h 536754"/>
                <a:gd name="connsiteX39" fmla="*/ 567855 w 576922"/>
                <a:gd name="connsiteY39" fmla="*/ 231550 h 536754"/>
                <a:gd name="connsiteX40" fmla="*/ 570588 w 576922"/>
                <a:gd name="connsiteY40" fmla="*/ 268392 h 536754"/>
                <a:gd name="connsiteX41" fmla="*/ 550696 w 576922"/>
                <a:gd name="connsiteY41" fmla="*/ 277488 h 536754"/>
                <a:gd name="connsiteX42" fmla="*/ 533690 w 576922"/>
                <a:gd name="connsiteY42" fmla="*/ 271272 h 536754"/>
                <a:gd name="connsiteX43" fmla="*/ 288461 w 576922"/>
                <a:gd name="connsiteY43" fmla="*/ 60683 h 536754"/>
                <a:gd name="connsiteX44" fmla="*/ 43232 w 576922"/>
                <a:gd name="connsiteY44" fmla="*/ 271272 h 536754"/>
                <a:gd name="connsiteX45" fmla="*/ 6334 w 576922"/>
                <a:gd name="connsiteY45" fmla="*/ 268392 h 536754"/>
                <a:gd name="connsiteX46" fmla="*/ 9067 w 576922"/>
                <a:gd name="connsiteY46" fmla="*/ 231550 h 536754"/>
                <a:gd name="connsiteX47" fmla="*/ 271303 w 576922"/>
                <a:gd name="connsiteY47" fmla="*/ 6254 h 536754"/>
                <a:gd name="connsiteX48" fmla="*/ 288461 w 576922"/>
                <a:gd name="connsiteY48" fmla="*/ 0 h 53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576922" h="536754">
                  <a:moveTo>
                    <a:pt x="362096" y="472751"/>
                  </a:moveTo>
                  <a:lnTo>
                    <a:pt x="376350" y="536754"/>
                  </a:lnTo>
                  <a:lnTo>
                    <a:pt x="362096" y="536754"/>
                  </a:lnTo>
                  <a:close/>
                  <a:moveTo>
                    <a:pt x="214826" y="472751"/>
                  </a:moveTo>
                  <a:lnTo>
                    <a:pt x="214826" y="536754"/>
                  </a:lnTo>
                  <a:lnTo>
                    <a:pt x="200572" y="536754"/>
                  </a:lnTo>
                  <a:close/>
                  <a:moveTo>
                    <a:pt x="288461" y="200761"/>
                  </a:moveTo>
                  <a:cubicBezTo>
                    <a:pt x="251717" y="200761"/>
                    <a:pt x="221958" y="230478"/>
                    <a:pt x="221958" y="267171"/>
                  </a:cubicBezTo>
                  <a:cubicBezTo>
                    <a:pt x="221958" y="303712"/>
                    <a:pt x="251717" y="346317"/>
                    <a:pt x="288461" y="346317"/>
                  </a:cubicBezTo>
                  <a:cubicBezTo>
                    <a:pt x="325204" y="346317"/>
                    <a:pt x="354963" y="303712"/>
                    <a:pt x="354963" y="267171"/>
                  </a:cubicBezTo>
                  <a:cubicBezTo>
                    <a:pt x="354963" y="230478"/>
                    <a:pt x="325204" y="200761"/>
                    <a:pt x="288461" y="200761"/>
                  </a:cubicBezTo>
                  <a:close/>
                  <a:moveTo>
                    <a:pt x="279958" y="97355"/>
                  </a:moveTo>
                  <a:cubicBezTo>
                    <a:pt x="284817" y="93109"/>
                    <a:pt x="292105" y="93109"/>
                    <a:pt x="296963" y="97355"/>
                  </a:cubicBezTo>
                  <a:lnTo>
                    <a:pt x="494649" y="267626"/>
                  </a:lnTo>
                  <a:cubicBezTo>
                    <a:pt x="497534" y="270052"/>
                    <a:pt x="499204" y="273691"/>
                    <a:pt x="499204" y="277481"/>
                  </a:cubicBezTo>
                  <a:lnTo>
                    <a:pt x="499204" y="523715"/>
                  </a:lnTo>
                  <a:cubicBezTo>
                    <a:pt x="499204" y="530993"/>
                    <a:pt x="493283" y="536754"/>
                    <a:pt x="486147" y="536754"/>
                  </a:cubicBezTo>
                  <a:lnTo>
                    <a:pt x="430272" y="536754"/>
                  </a:lnTo>
                  <a:lnTo>
                    <a:pt x="398084" y="393017"/>
                  </a:lnTo>
                  <a:cubicBezTo>
                    <a:pt x="396414" y="386194"/>
                    <a:pt x="392314" y="379826"/>
                    <a:pt x="385634" y="376035"/>
                  </a:cubicBezTo>
                  <a:cubicBezTo>
                    <a:pt x="383963" y="375126"/>
                    <a:pt x="346916" y="354808"/>
                    <a:pt x="298482" y="352231"/>
                  </a:cubicBezTo>
                  <a:lnTo>
                    <a:pt x="291953" y="365270"/>
                  </a:lnTo>
                  <a:lnTo>
                    <a:pt x="291801" y="365270"/>
                  </a:lnTo>
                  <a:lnTo>
                    <a:pt x="309565" y="502943"/>
                  </a:lnTo>
                  <a:lnTo>
                    <a:pt x="290131" y="536754"/>
                  </a:lnTo>
                  <a:lnTo>
                    <a:pt x="286791" y="536754"/>
                  </a:lnTo>
                  <a:lnTo>
                    <a:pt x="267356" y="502943"/>
                  </a:lnTo>
                  <a:lnTo>
                    <a:pt x="285120" y="365270"/>
                  </a:lnTo>
                  <a:lnTo>
                    <a:pt x="284969" y="365270"/>
                  </a:lnTo>
                  <a:lnTo>
                    <a:pt x="278440" y="352231"/>
                  </a:lnTo>
                  <a:cubicBezTo>
                    <a:pt x="229853" y="354808"/>
                    <a:pt x="192958" y="375126"/>
                    <a:pt x="191288" y="376035"/>
                  </a:cubicBezTo>
                  <a:cubicBezTo>
                    <a:pt x="184607" y="379826"/>
                    <a:pt x="180508" y="386194"/>
                    <a:pt x="178838" y="393017"/>
                  </a:cubicBezTo>
                  <a:lnTo>
                    <a:pt x="146649" y="536754"/>
                  </a:lnTo>
                  <a:lnTo>
                    <a:pt x="90775" y="536754"/>
                  </a:lnTo>
                  <a:cubicBezTo>
                    <a:pt x="83639" y="536754"/>
                    <a:pt x="77717" y="530993"/>
                    <a:pt x="77717" y="523715"/>
                  </a:cubicBezTo>
                  <a:lnTo>
                    <a:pt x="77717" y="277481"/>
                  </a:lnTo>
                  <a:cubicBezTo>
                    <a:pt x="77717" y="273691"/>
                    <a:pt x="79387" y="270052"/>
                    <a:pt x="82272" y="267626"/>
                  </a:cubicBezTo>
                  <a:close/>
                  <a:moveTo>
                    <a:pt x="288461" y="0"/>
                  </a:moveTo>
                  <a:cubicBezTo>
                    <a:pt x="294573" y="0"/>
                    <a:pt x="300685" y="2085"/>
                    <a:pt x="305620" y="6254"/>
                  </a:cubicBezTo>
                  <a:lnTo>
                    <a:pt x="567855" y="231550"/>
                  </a:lnTo>
                  <a:cubicBezTo>
                    <a:pt x="578787" y="240950"/>
                    <a:pt x="580002" y="257476"/>
                    <a:pt x="570588" y="268392"/>
                  </a:cubicBezTo>
                  <a:cubicBezTo>
                    <a:pt x="565425" y="274456"/>
                    <a:pt x="558137" y="277488"/>
                    <a:pt x="550696" y="277488"/>
                  </a:cubicBezTo>
                  <a:cubicBezTo>
                    <a:pt x="544623" y="277488"/>
                    <a:pt x="538549" y="275517"/>
                    <a:pt x="533690" y="271272"/>
                  </a:cubicBezTo>
                  <a:lnTo>
                    <a:pt x="288461" y="60683"/>
                  </a:lnTo>
                  <a:lnTo>
                    <a:pt x="43232" y="271272"/>
                  </a:lnTo>
                  <a:cubicBezTo>
                    <a:pt x="32299" y="280672"/>
                    <a:pt x="15748" y="279459"/>
                    <a:pt x="6334" y="268392"/>
                  </a:cubicBezTo>
                  <a:cubicBezTo>
                    <a:pt x="-3080" y="257476"/>
                    <a:pt x="-1865" y="240950"/>
                    <a:pt x="9067" y="231550"/>
                  </a:cubicBezTo>
                  <a:lnTo>
                    <a:pt x="271303" y="6254"/>
                  </a:lnTo>
                  <a:cubicBezTo>
                    <a:pt x="276238" y="2085"/>
                    <a:pt x="282350" y="0"/>
                    <a:pt x="288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思源黑体 Medium" panose="020B0600000000000000" pitchFamily="34" charset="-122"/>
              </a:endParaRPr>
            </a:p>
          </p:txBody>
        </p:sp>
        <p:sp>
          <p:nvSpPr>
            <p:cNvPr id="12" name="iš1ide">
              <a:extLst>
                <a:ext uri="{FF2B5EF4-FFF2-40B4-BE49-F238E27FC236}">
                  <a16:creationId xmlns:a16="http://schemas.microsoft.com/office/drawing/2014/main" id="{86CE615A-8EC9-326B-49D3-238F645AD473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6685977" y="2135540"/>
              <a:ext cx="7655392" cy="141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1440" tIns="45720" rIns="91440" bIns="45720" anchor="t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r>
                <a:rPr lang="en-US" altLang="zh-CN" sz="2000" b="1" dirty="0">
                  <a:solidFill>
                    <a:srgbClr val="47100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Confusion matrix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</a:p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clear view of errors on imbalanced data.</a:t>
              </a:r>
              <a:b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endPara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2000" b="1" dirty="0" err="1">
                  <a:solidFill>
                    <a:srgbClr val="47100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XGBoost</a:t>
              </a:r>
              <a:r>
                <a:rPr lang="en-US" altLang="zh-CN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 </a:t>
              </a:r>
            </a:p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81 true defaults, </a:t>
              </a:r>
            </a:p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864 missed, </a:t>
              </a:r>
            </a:p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7,990 true repayments, </a:t>
              </a:r>
            </a:p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112 false alarms </a:t>
              </a:r>
            </a:p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→ </a:t>
              </a:r>
              <a:r>
                <a:rPr lang="en-US" altLang="zh-CN" sz="2000" b="1" dirty="0">
                  <a:solidFill>
                    <a:srgbClr val="47100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best risk detection &amp; lowest errors</a:t>
              </a: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6" name="íṣľíḍé">
              <a:extLst>
                <a:ext uri="{FF2B5EF4-FFF2-40B4-BE49-F238E27FC236}">
                  <a16:creationId xmlns:a16="http://schemas.microsoft.com/office/drawing/2014/main" id="{1D7E6C7A-A8F8-D580-F73C-5EC0BA743C01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6461211" y="3518208"/>
              <a:ext cx="449531" cy="418232"/>
            </a:xfrm>
            <a:custGeom>
              <a:avLst/>
              <a:gdLst>
                <a:gd name="connsiteX0" fmla="*/ 362096 w 576922"/>
                <a:gd name="connsiteY0" fmla="*/ 472751 h 536754"/>
                <a:gd name="connsiteX1" fmla="*/ 376350 w 576922"/>
                <a:gd name="connsiteY1" fmla="*/ 536754 h 536754"/>
                <a:gd name="connsiteX2" fmla="*/ 362096 w 576922"/>
                <a:gd name="connsiteY2" fmla="*/ 536754 h 536754"/>
                <a:gd name="connsiteX3" fmla="*/ 214826 w 576922"/>
                <a:gd name="connsiteY3" fmla="*/ 472751 h 536754"/>
                <a:gd name="connsiteX4" fmla="*/ 214826 w 576922"/>
                <a:gd name="connsiteY4" fmla="*/ 536754 h 536754"/>
                <a:gd name="connsiteX5" fmla="*/ 200572 w 576922"/>
                <a:gd name="connsiteY5" fmla="*/ 536754 h 536754"/>
                <a:gd name="connsiteX6" fmla="*/ 288461 w 576922"/>
                <a:gd name="connsiteY6" fmla="*/ 200761 h 536754"/>
                <a:gd name="connsiteX7" fmla="*/ 221958 w 576922"/>
                <a:gd name="connsiteY7" fmla="*/ 267171 h 536754"/>
                <a:gd name="connsiteX8" fmla="*/ 288461 w 576922"/>
                <a:gd name="connsiteY8" fmla="*/ 346317 h 536754"/>
                <a:gd name="connsiteX9" fmla="*/ 354963 w 576922"/>
                <a:gd name="connsiteY9" fmla="*/ 267171 h 536754"/>
                <a:gd name="connsiteX10" fmla="*/ 288461 w 576922"/>
                <a:gd name="connsiteY10" fmla="*/ 200761 h 536754"/>
                <a:gd name="connsiteX11" fmla="*/ 279958 w 576922"/>
                <a:gd name="connsiteY11" fmla="*/ 97355 h 536754"/>
                <a:gd name="connsiteX12" fmla="*/ 296963 w 576922"/>
                <a:gd name="connsiteY12" fmla="*/ 97355 h 536754"/>
                <a:gd name="connsiteX13" fmla="*/ 494649 w 576922"/>
                <a:gd name="connsiteY13" fmla="*/ 267626 h 536754"/>
                <a:gd name="connsiteX14" fmla="*/ 499204 w 576922"/>
                <a:gd name="connsiteY14" fmla="*/ 277481 h 536754"/>
                <a:gd name="connsiteX15" fmla="*/ 499204 w 576922"/>
                <a:gd name="connsiteY15" fmla="*/ 523715 h 536754"/>
                <a:gd name="connsiteX16" fmla="*/ 486147 w 576922"/>
                <a:gd name="connsiteY16" fmla="*/ 536754 h 536754"/>
                <a:gd name="connsiteX17" fmla="*/ 430272 w 576922"/>
                <a:gd name="connsiteY17" fmla="*/ 536754 h 536754"/>
                <a:gd name="connsiteX18" fmla="*/ 398084 w 576922"/>
                <a:gd name="connsiteY18" fmla="*/ 393017 h 536754"/>
                <a:gd name="connsiteX19" fmla="*/ 385634 w 576922"/>
                <a:gd name="connsiteY19" fmla="*/ 376035 h 536754"/>
                <a:gd name="connsiteX20" fmla="*/ 298482 w 576922"/>
                <a:gd name="connsiteY20" fmla="*/ 352231 h 536754"/>
                <a:gd name="connsiteX21" fmla="*/ 291953 w 576922"/>
                <a:gd name="connsiteY21" fmla="*/ 365270 h 536754"/>
                <a:gd name="connsiteX22" fmla="*/ 291801 w 576922"/>
                <a:gd name="connsiteY22" fmla="*/ 365270 h 536754"/>
                <a:gd name="connsiteX23" fmla="*/ 309565 w 576922"/>
                <a:gd name="connsiteY23" fmla="*/ 502943 h 536754"/>
                <a:gd name="connsiteX24" fmla="*/ 290131 w 576922"/>
                <a:gd name="connsiteY24" fmla="*/ 536754 h 536754"/>
                <a:gd name="connsiteX25" fmla="*/ 286791 w 576922"/>
                <a:gd name="connsiteY25" fmla="*/ 536754 h 536754"/>
                <a:gd name="connsiteX26" fmla="*/ 267356 w 576922"/>
                <a:gd name="connsiteY26" fmla="*/ 502943 h 536754"/>
                <a:gd name="connsiteX27" fmla="*/ 285120 w 576922"/>
                <a:gd name="connsiteY27" fmla="*/ 365270 h 536754"/>
                <a:gd name="connsiteX28" fmla="*/ 284969 w 576922"/>
                <a:gd name="connsiteY28" fmla="*/ 365270 h 536754"/>
                <a:gd name="connsiteX29" fmla="*/ 278440 w 576922"/>
                <a:gd name="connsiteY29" fmla="*/ 352231 h 536754"/>
                <a:gd name="connsiteX30" fmla="*/ 191288 w 576922"/>
                <a:gd name="connsiteY30" fmla="*/ 376035 h 536754"/>
                <a:gd name="connsiteX31" fmla="*/ 178838 w 576922"/>
                <a:gd name="connsiteY31" fmla="*/ 393017 h 536754"/>
                <a:gd name="connsiteX32" fmla="*/ 146649 w 576922"/>
                <a:gd name="connsiteY32" fmla="*/ 536754 h 536754"/>
                <a:gd name="connsiteX33" fmla="*/ 90775 w 576922"/>
                <a:gd name="connsiteY33" fmla="*/ 536754 h 536754"/>
                <a:gd name="connsiteX34" fmla="*/ 77717 w 576922"/>
                <a:gd name="connsiteY34" fmla="*/ 523715 h 536754"/>
                <a:gd name="connsiteX35" fmla="*/ 77717 w 576922"/>
                <a:gd name="connsiteY35" fmla="*/ 277481 h 536754"/>
                <a:gd name="connsiteX36" fmla="*/ 82272 w 576922"/>
                <a:gd name="connsiteY36" fmla="*/ 267626 h 536754"/>
                <a:gd name="connsiteX37" fmla="*/ 288461 w 576922"/>
                <a:gd name="connsiteY37" fmla="*/ 0 h 536754"/>
                <a:gd name="connsiteX38" fmla="*/ 305620 w 576922"/>
                <a:gd name="connsiteY38" fmla="*/ 6254 h 536754"/>
                <a:gd name="connsiteX39" fmla="*/ 567855 w 576922"/>
                <a:gd name="connsiteY39" fmla="*/ 231550 h 536754"/>
                <a:gd name="connsiteX40" fmla="*/ 570588 w 576922"/>
                <a:gd name="connsiteY40" fmla="*/ 268392 h 536754"/>
                <a:gd name="connsiteX41" fmla="*/ 550696 w 576922"/>
                <a:gd name="connsiteY41" fmla="*/ 277488 h 536754"/>
                <a:gd name="connsiteX42" fmla="*/ 533690 w 576922"/>
                <a:gd name="connsiteY42" fmla="*/ 271272 h 536754"/>
                <a:gd name="connsiteX43" fmla="*/ 288461 w 576922"/>
                <a:gd name="connsiteY43" fmla="*/ 60683 h 536754"/>
                <a:gd name="connsiteX44" fmla="*/ 43232 w 576922"/>
                <a:gd name="connsiteY44" fmla="*/ 271272 h 536754"/>
                <a:gd name="connsiteX45" fmla="*/ 6334 w 576922"/>
                <a:gd name="connsiteY45" fmla="*/ 268392 h 536754"/>
                <a:gd name="connsiteX46" fmla="*/ 9067 w 576922"/>
                <a:gd name="connsiteY46" fmla="*/ 231550 h 536754"/>
                <a:gd name="connsiteX47" fmla="*/ 271303 w 576922"/>
                <a:gd name="connsiteY47" fmla="*/ 6254 h 536754"/>
                <a:gd name="connsiteX48" fmla="*/ 288461 w 576922"/>
                <a:gd name="connsiteY48" fmla="*/ 0 h 536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576922" h="536754">
                  <a:moveTo>
                    <a:pt x="362096" y="472751"/>
                  </a:moveTo>
                  <a:lnTo>
                    <a:pt x="376350" y="536754"/>
                  </a:lnTo>
                  <a:lnTo>
                    <a:pt x="362096" y="536754"/>
                  </a:lnTo>
                  <a:close/>
                  <a:moveTo>
                    <a:pt x="214826" y="472751"/>
                  </a:moveTo>
                  <a:lnTo>
                    <a:pt x="214826" y="536754"/>
                  </a:lnTo>
                  <a:lnTo>
                    <a:pt x="200572" y="536754"/>
                  </a:lnTo>
                  <a:close/>
                  <a:moveTo>
                    <a:pt x="288461" y="200761"/>
                  </a:moveTo>
                  <a:cubicBezTo>
                    <a:pt x="251717" y="200761"/>
                    <a:pt x="221958" y="230478"/>
                    <a:pt x="221958" y="267171"/>
                  </a:cubicBezTo>
                  <a:cubicBezTo>
                    <a:pt x="221958" y="303712"/>
                    <a:pt x="251717" y="346317"/>
                    <a:pt x="288461" y="346317"/>
                  </a:cubicBezTo>
                  <a:cubicBezTo>
                    <a:pt x="325204" y="346317"/>
                    <a:pt x="354963" y="303712"/>
                    <a:pt x="354963" y="267171"/>
                  </a:cubicBezTo>
                  <a:cubicBezTo>
                    <a:pt x="354963" y="230478"/>
                    <a:pt x="325204" y="200761"/>
                    <a:pt x="288461" y="200761"/>
                  </a:cubicBezTo>
                  <a:close/>
                  <a:moveTo>
                    <a:pt x="279958" y="97355"/>
                  </a:moveTo>
                  <a:cubicBezTo>
                    <a:pt x="284817" y="93109"/>
                    <a:pt x="292105" y="93109"/>
                    <a:pt x="296963" y="97355"/>
                  </a:cubicBezTo>
                  <a:lnTo>
                    <a:pt x="494649" y="267626"/>
                  </a:lnTo>
                  <a:cubicBezTo>
                    <a:pt x="497534" y="270052"/>
                    <a:pt x="499204" y="273691"/>
                    <a:pt x="499204" y="277481"/>
                  </a:cubicBezTo>
                  <a:lnTo>
                    <a:pt x="499204" y="523715"/>
                  </a:lnTo>
                  <a:cubicBezTo>
                    <a:pt x="499204" y="530993"/>
                    <a:pt x="493283" y="536754"/>
                    <a:pt x="486147" y="536754"/>
                  </a:cubicBezTo>
                  <a:lnTo>
                    <a:pt x="430272" y="536754"/>
                  </a:lnTo>
                  <a:lnTo>
                    <a:pt x="398084" y="393017"/>
                  </a:lnTo>
                  <a:cubicBezTo>
                    <a:pt x="396414" y="386194"/>
                    <a:pt x="392314" y="379826"/>
                    <a:pt x="385634" y="376035"/>
                  </a:cubicBezTo>
                  <a:cubicBezTo>
                    <a:pt x="383963" y="375126"/>
                    <a:pt x="346916" y="354808"/>
                    <a:pt x="298482" y="352231"/>
                  </a:cubicBezTo>
                  <a:lnTo>
                    <a:pt x="291953" y="365270"/>
                  </a:lnTo>
                  <a:lnTo>
                    <a:pt x="291801" y="365270"/>
                  </a:lnTo>
                  <a:lnTo>
                    <a:pt x="309565" y="502943"/>
                  </a:lnTo>
                  <a:lnTo>
                    <a:pt x="290131" y="536754"/>
                  </a:lnTo>
                  <a:lnTo>
                    <a:pt x="286791" y="536754"/>
                  </a:lnTo>
                  <a:lnTo>
                    <a:pt x="267356" y="502943"/>
                  </a:lnTo>
                  <a:lnTo>
                    <a:pt x="285120" y="365270"/>
                  </a:lnTo>
                  <a:lnTo>
                    <a:pt x="284969" y="365270"/>
                  </a:lnTo>
                  <a:lnTo>
                    <a:pt x="278440" y="352231"/>
                  </a:lnTo>
                  <a:cubicBezTo>
                    <a:pt x="229853" y="354808"/>
                    <a:pt x="192958" y="375126"/>
                    <a:pt x="191288" y="376035"/>
                  </a:cubicBezTo>
                  <a:cubicBezTo>
                    <a:pt x="184607" y="379826"/>
                    <a:pt x="180508" y="386194"/>
                    <a:pt x="178838" y="393017"/>
                  </a:cubicBezTo>
                  <a:lnTo>
                    <a:pt x="146649" y="536754"/>
                  </a:lnTo>
                  <a:lnTo>
                    <a:pt x="90775" y="536754"/>
                  </a:lnTo>
                  <a:cubicBezTo>
                    <a:pt x="83639" y="536754"/>
                    <a:pt x="77717" y="530993"/>
                    <a:pt x="77717" y="523715"/>
                  </a:cubicBezTo>
                  <a:lnTo>
                    <a:pt x="77717" y="277481"/>
                  </a:lnTo>
                  <a:cubicBezTo>
                    <a:pt x="77717" y="273691"/>
                    <a:pt x="79387" y="270052"/>
                    <a:pt x="82272" y="267626"/>
                  </a:cubicBezTo>
                  <a:close/>
                  <a:moveTo>
                    <a:pt x="288461" y="0"/>
                  </a:moveTo>
                  <a:cubicBezTo>
                    <a:pt x="294573" y="0"/>
                    <a:pt x="300685" y="2085"/>
                    <a:pt x="305620" y="6254"/>
                  </a:cubicBezTo>
                  <a:lnTo>
                    <a:pt x="567855" y="231550"/>
                  </a:lnTo>
                  <a:cubicBezTo>
                    <a:pt x="578787" y="240950"/>
                    <a:pt x="580002" y="257476"/>
                    <a:pt x="570588" y="268392"/>
                  </a:cubicBezTo>
                  <a:cubicBezTo>
                    <a:pt x="565425" y="274456"/>
                    <a:pt x="558137" y="277488"/>
                    <a:pt x="550696" y="277488"/>
                  </a:cubicBezTo>
                  <a:cubicBezTo>
                    <a:pt x="544623" y="277488"/>
                    <a:pt x="538549" y="275517"/>
                    <a:pt x="533690" y="271272"/>
                  </a:cubicBezTo>
                  <a:lnTo>
                    <a:pt x="288461" y="60683"/>
                  </a:lnTo>
                  <a:lnTo>
                    <a:pt x="43232" y="271272"/>
                  </a:lnTo>
                  <a:cubicBezTo>
                    <a:pt x="32299" y="280672"/>
                    <a:pt x="15748" y="279459"/>
                    <a:pt x="6334" y="268392"/>
                  </a:cubicBezTo>
                  <a:cubicBezTo>
                    <a:pt x="-3080" y="257476"/>
                    <a:pt x="-1865" y="240950"/>
                    <a:pt x="9067" y="231550"/>
                  </a:cubicBezTo>
                  <a:lnTo>
                    <a:pt x="271303" y="6254"/>
                  </a:lnTo>
                  <a:cubicBezTo>
                    <a:pt x="276238" y="2085"/>
                    <a:pt x="282350" y="0"/>
                    <a:pt x="28846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思源黑体 Medium" panose="020B06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0139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E26E5-D42C-DEC8-C88D-30B196C92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iŝľiḓê">
            <a:extLst>
              <a:ext uri="{FF2B5EF4-FFF2-40B4-BE49-F238E27FC236}">
                <a16:creationId xmlns:a16="http://schemas.microsoft.com/office/drawing/2014/main" id="{E5D44832-B0F8-8F5C-282D-872C17867F85}"/>
              </a:ext>
            </a:extLst>
          </p:cNvPr>
          <p:cNvSpPr/>
          <p:nvPr/>
        </p:nvSpPr>
        <p:spPr bwMode="auto">
          <a:xfrm>
            <a:off x="450671" y="671739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6F791E7-54A2-5254-C69C-23A7A8F3D801}"/>
              </a:ext>
            </a:extLst>
          </p:cNvPr>
          <p:cNvSpPr txBox="1"/>
          <p:nvPr/>
        </p:nvSpPr>
        <p:spPr>
          <a:xfrm>
            <a:off x="1011422" y="671739"/>
            <a:ext cx="76833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47100A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Model Performance Comparison</a:t>
            </a:r>
            <a:endParaRPr lang="zh-CN" altLang="en-US" sz="2800" b="1" dirty="0">
              <a:solidFill>
                <a:srgbClr val="47100A"/>
              </a:solidFill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CA3ECB-296E-8AE8-7335-920DC0EC8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836" y="1263539"/>
            <a:ext cx="9827037" cy="491351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12F4D4F-3478-0A34-8F99-352935B3048C}"/>
              </a:ext>
            </a:extLst>
          </p:cNvPr>
          <p:cNvSpPr txBox="1"/>
          <p:nvPr/>
        </p:nvSpPr>
        <p:spPr>
          <a:xfrm>
            <a:off x="807721" y="6084009"/>
            <a:ext cx="10867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XGBoost</a:t>
            </a:r>
            <a:r>
              <a:rPr lang="en-US" altLang="zh-CN" sz="20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 achieved the superior macro-performance with an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AUC</a:t>
            </a:r>
            <a:r>
              <a:rPr lang="en-US" altLang="zh-CN" sz="20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 of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0.7309</a:t>
            </a:r>
            <a:r>
              <a:rPr lang="en-US" altLang="zh-CN" sz="20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 and an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Accuracy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 of </a:t>
            </a:r>
            <a:r>
              <a:rPr lang="en-US" altLang="zh-C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0.8921</a:t>
            </a:r>
            <a:r>
              <a:rPr lang="en-US" altLang="zh-CN" sz="2000" dirty="0"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.</a:t>
            </a:r>
            <a:endParaRPr lang="zh-CN" altLang="en-US" sz="2000" dirty="0"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5039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28F9C-C799-7D52-43BC-FFC95DDF7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D33995E-D2AC-A97D-5298-5F0A8BFD85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6202" y="1114346"/>
            <a:ext cx="5722243" cy="4577794"/>
          </a:xfrm>
          <a:prstGeom prst="rect">
            <a:avLst/>
          </a:prstGeom>
        </p:spPr>
      </p:pic>
      <p:sp>
        <p:nvSpPr>
          <p:cNvPr id="67" name="iŝľiḓê">
            <a:extLst>
              <a:ext uri="{FF2B5EF4-FFF2-40B4-BE49-F238E27FC236}">
                <a16:creationId xmlns:a16="http://schemas.microsoft.com/office/drawing/2014/main" id="{5CD90C2F-E3A4-2CAA-CE0A-669F3C244433}"/>
              </a:ext>
            </a:extLst>
          </p:cNvPr>
          <p:cNvSpPr/>
          <p:nvPr/>
        </p:nvSpPr>
        <p:spPr bwMode="auto">
          <a:xfrm>
            <a:off x="450671" y="671739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7674A44-9CB5-3148-B361-76753F0EC89B}"/>
              </a:ext>
            </a:extLst>
          </p:cNvPr>
          <p:cNvSpPr txBox="1"/>
          <p:nvPr/>
        </p:nvSpPr>
        <p:spPr>
          <a:xfrm>
            <a:off x="1050237" y="591126"/>
            <a:ext cx="74837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7100A"/>
                </a:solidFill>
                <a:effectLst/>
                <a:uLnTx/>
                <a:uFillTx/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Model Performance Comparison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7100A"/>
              </a:solidFill>
              <a:effectLst/>
              <a:uLnTx/>
              <a:uFillTx/>
              <a:latin typeface="Times New Roman" panose="02020603050405020304" pitchFamily="18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B3B1966-B8A1-CAE9-AA80-DB924871179E}"/>
              </a:ext>
            </a:extLst>
          </p:cNvPr>
          <p:cNvSpPr txBox="1"/>
          <p:nvPr/>
        </p:nvSpPr>
        <p:spPr>
          <a:xfrm>
            <a:off x="900599" y="5836242"/>
            <a:ext cx="107926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The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XGBoost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 model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completely encloses the other three classifiers, and its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AUC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 value is the largest, indicating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XGBoost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Arial Unicode MS" panose="020B0604020202020204" pitchFamily="34" charset="-122"/>
                <a:cs typeface="Times New Roman" panose="02020603050405020304" pitchFamily="18" charset="0"/>
              </a:rPr>
              <a:t> outperforms all others.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Arial Unicode MS" panose="020B0604020202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765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textbox 268"/>
          <p:cNvSpPr/>
          <p:nvPr/>
        </p:nvSpPr>
        <p:spPr>
          <a:xfrm>
            <a:off x="1037690" y="145077"/>
            <a:ext cx="6333903" cy="537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2800" b="1" dirty="0">
              <a:solidFill>
                <a:srgbClr val="47100A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marL="8861" eaLnBrk="0">
              <a:lnSpc>
                <a:spcPct val="81000"/>
              </a:lnSpc>
              <a:spcBef>
                <a:spcPts val="1"/>
              </a:spcBef>
            </a:pPr>
            <a:r>
              <a:rPr sz="2800" b="1" kern="0" spc="-21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Performance</a:t>
            </a:r>
            <a:r>
              <a:rPr sz="2800" b="1" kern="0" spc="405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800" b="1" kern="0" spc="-21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Gap Analysis</a:t>
            </a:r>
            <a:endParaRPr sz="2800" b="1" dirty="0">
              <a:solidFill>
                <a:srgbClr val="47100A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pic>
        <p:nvPicPr>
          <p:cNvPr id="270" name="picture 27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2528" y="2210661"/>
            <a:ext cx="598017" cy="334927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02527" y="1258349"/>
            <a:ext cx="97518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did the expected AUC relatively low (below typical production threshold 0.8) ?</a:t>
            </a:r>
            <a:endParaRPr lang="zh-CN" alt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84792" y="2302291"/>
            <a:ext cx="81873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kern="0" spc="3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1.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Over</a:t>
            </a:r>
            <a:r>
              <a:rPr lang="en-US" altLang="zh-CN" sz="2000" kern="0" spc="3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-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removal</a:t>
            </a:r>
            <a:r>
              <a:rPr lang="en-US" altLang="zh-CN" sz="2000" kern="0" spc="3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of</a:t>
            </a:r>
            <a:r>
              <a:rPr lang="en-US" altLang="zh-CN" sz="2000" kern="0" spc="3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features</a:t>
            </a:r>
            <a:r>
              <a:rPr lang="en-US" altLang="zh-CN" sz="2000" kern="0" spc="17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: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to</a:t>
            </a:r>
            <a:r>
              <a:rPr lang="en-US" altLang="zh-CN" sz="2000" kern="0" spc="3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enforce</a:t>
            </a:r>
            <a:r>
              <a:rPr lang="en-US" altLang="zh-CN" sz="2000" kern="0" spc="3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strict</a:t>
            </a:r>
            <a:r>
              <a:rPr lang="en-US" altLang="zh-CN" sz="2000" kern="0" spc="18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reality</a:t>
            </a:r>
            <a:r>
              <a:rPr lang="en-US" altLang="zh-CN" sz="2000" kern="0" spc="3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without</a:t>
            </a:r>
            <a:r>
              <a:rPr lang="en-US" altLang="zh-CN" sz="2000" kern="0" spc="18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look</a:t>
            </a:r>
            <a:r>
              <a:rPr lang="en-US" altLang="zh-CN" sz="2000" kern="0" spc="3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-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ahead</a:t>
            </a:r>
            <a:r>
              <a:rPr lang="en-US" altLang="zh-CN" sz="2000" kern="0" spc="18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bias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84792" y="3197455"/>
            <a:ext cx="8051713" cy="48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>
              <a:lnSpc>
                <a:spcPts val="3090"/>
              </a:lnSpc>
            </a:pP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2. SMOTE noise: </a:t>
            </a:r>
            <a:r>
              <a:rPr lang="en-US" altLang="zh-CN"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injecting synthetic data into</a:t>
            </a:r>
            <a:r>
              <a:rPr lang="en-US" altLang="zh-CN" sz="20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</a:t>
            </a:r>
            <a:r>
              <a:rPr lang="en-US" altLang="zh-CN" sz="2000" kern="0" spc="8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complex</a:t>
            </a:r>
            <a:r>
              <a:rPr lang="en-US" altLang="zh-CN" sz="2000" kern="0" spc="14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behavioral</a:t>
            </a:r>
            <a:r>
              <a:rPr lang="en-US" altLang="zh-CN" sz="2000" kern="0" spc="6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space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84792" y="4149849"/>
            <a:ext cx="68203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kern="0" spc="11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3.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Encoding</a:t>
            </a:r>
            <a:r>
              <a:rPr lang="en-US" altLang="zh-CN" sz="2000" kern="0" spc="29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choice</a:t>
            </a:r>
            <a:r>
              <a:rPr lang="en-US" altLang="zh-CN" sz="2000" kern="0" spc="11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: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limitations</a:t>
            </a:r>
            <a:r>
              <a:rPr lang="en-US" altLang="zh-CN" sz="2000" kern="0" spc="3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inherent</a:t>
            </a:r>
            <a:r>
              <a:rPr lang="en-US" altLang="zh-CN" sz="2000" kern="0" spc="23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to</a:t>
            </a:r>
            <a:r>
              <a:rPr lang="en-US" altLang="zh-CN" sz="2000" kern="0" spc="20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frequency</a:t>
            </a:r>
            <a:r>
              <a:rPr lang="en-US" altLang="zh-CN" sz="2000" kern="0" spc="27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encoding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84792" y="5051780"/>
            <a:ext cx="90782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kern="0" spc="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4.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COVID</a:t>
            </a:r>
            <a:r>
              <a:rPr lang="en-US" altLang="zh-CN" sz="2000" kern="0" spc="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-19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period: unprecedented</a:t>
            </a:r>
            <a:r>
              <a:rPr lang="en-US" altLang="zh-CN" sz="2000" kern="0" spc="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macroeconomic</a:t>
            </a:r>
            <a:r>
              <a:rPr lang="en-US" altLang="zh-CN" sz="2000" kern="0" spc="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anomalies</a:t>
            </a:r>
            <a:r>
              <a:rPr lang="en-US" altLang="zh-CN" sz="2000" kern="0" spc="20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in</a:t>
            </a:r>
            <a:r>
              <a:rPr lang="en-US" altLang="zh-CN" sz="2000" kern="0" spc="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</a:t>
            </a:r>
            <a:r>
              <a:rPr lang="en-US" altLang="zh-CN" sz="2000" kern="0" spc="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time window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iŝľiḓê">
            <a:extLst>
              <a:ext uri="{FF2B5EF4-FFF2-40B4-BE49-F238E27FC236}">
                <a16:creationId xmlns:a16="http://schemas.microsoft.com/office/drawing/2014/main" id="{3FF026EF-A52B-5BD1-0CA4-F7ED2920A5EE}"/>
              </a:ext>
            </a:extLst>
          </p:cNvPr>
          <p:cNvSpPr/>
          <p:nvPr/>
        </p:nvSpPr>
        <p:spPr bwMode="auto">
          <a:xfrm>
            <a:off x="429102" y="461603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146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textbox 276"/>
          <p:cNvSpPr/>
          <p:nvPr/>
        </p:nvSpPr>
        <p:spPr>
          <a:xfrm>
            <a:off x="1219828" y="3948923"/>
            <a:ext cx="9747952" cy="179114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81203" eaLnBrk="0">
              <a:lnSpc>
                <a:spcPts val="3634"/>
              </a:lnSpc>
            </a:pPr>
            <a:r>
              <a:rPr sz="2791" kern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Removing</a:t>
            </a:r>
            <a:r>
              <a:rPr sz="2791" kern="0" spc="42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</a:t>
            </a:r>
            <a:r>
              <a:rPr sz="2791" b="1" kern="0" dirty="0" err="1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last</a:t>
            </a:r>
            <a:r>
              <a:rPr sz="2791" b="1" kern="0" spc="42" dirty="0" err="1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_</a:t>
            </a:r>
            <a:r>
              <a:rPr sz="2791" b="1" kern="0" dirty="0" err="1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fico</a:t>
            </a:r>
            <a:r>
              <a:rPr sz="2791" kern="0" spc="42" dirty="0">
                <a:solidFill>
                  <a:srgbClr val="90203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,</a:t>
            </a:r>
            <a:r>
              <a:rPr lang="en-US" sz="2791" kern="0" spc="42" dirty="0">
                <a:solidFill>
                  <a:srgbClr val="90203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791" b="1" kern="0" dirty="0" err="1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mths</a:t>
            </a:r>
            <a:r>
              <a:rPr sz="2791" b="1" kern="0" spc="42" dirty="0" err="1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_</a:t>
            </a:r>
            <a:r>
              <a:rPr sz="2791" b="1" kern="0" dirty="0" err="1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since</a:t>
            </a:r>
            <a:r>
              <a:rPr sz="2791" b="1" kern="0" spc="42" dirty="0" err="1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_</a:t>
            </a:r>
            <a:r>
              <a:rPr sz="2791" b="1" kern="0" dirty="0" err="1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last</a:t>
            </a:r>
            <a:r>
              <a:rPr sz="2791" b="1" kern="0" spc="42" dirty="0" err="1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_</a:t>
            </a:r>
            <a:r>
              <a:rPr sz="2791" b="1" kern="0" dirty="0" err="1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delinq</a:t>
            </a:r>
            <a:r>
              <a:rPr sz="2791" kern="0" spc="42" dirty="0">
                <a:solidFill>
                  <a:srgbClr val="90203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,</a:t>
            </a:r>
            <a:r>
              <a:rPr lang="en-US" sz="2791" kern="0" spc="42" dirty="0">
                <a:solidFill>
                  <a:srgbClr val="90203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791" kern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and</a:t>
            </a:r>
            <a:r>
              <a:rPr sz="2791" kern="0" spc="42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</a:t>
            </a:r>
            <a:r>
              <a:rPr sz="2791" b="1" kern="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recoveries</a:t>
            </a:r>
            <a:r>
              <a:rPr sz="2791" kern="0" spc="42" dirty="0">
                <a:solidFill>
                  <a:srgbClr val="90203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</a:t>
            </a:r>
            <a:r>
              <a:rPr sz="2791" kern="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is</a:t>
            </a:r>
            <a:endParaRPr sz="279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marL="8861" eaLnBrk="0">
              <a:spcBef>
                <a:spcPts val="17"/>
              </a:spcBef>
            </a:pPr>
            <a:r>
              <a:rPr sz="279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mathematically</a:t>
            </a:r>
            <a:r>
              <a:rPr sz="2791" kern="0" spc="28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79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painful</a:t>
            </a:r>
            <a:r>
              <a:rPr sz="2791" kern="0" spc="3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79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but</a:t>
            </a:r>
            <a:r>
              <a:rPr sz="2791" kern="0" spc="29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79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practically</a:t>
            </a:r>
            <a:r>
              <a:rPr sz="2791" kern="0" spc="29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791" b="1" kern="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necessary</a:t>
            </a:r>
            <a:r>
              <a:rPr sz="2791" kern="0" spc="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.</a:t>
            </a:r>
            <a:r>
              <a:rPr lang="en-US" sz="2791" kern="0" spc="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79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Retaining</a:t>
            </a:r>
            <a:r>
              <a:rPr sz="2791" kern="0" spc="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79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them</a:t>
            </a:r>
            <a:endParaRPr sz="279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marL="509052" eaLnBrk="0">
              <a:lnSpc>
                <a:spcPct val="99000"/>
              </a:lnSpc>
              <a:spcBef>
                <a:spcPts val="32"/>
              </a:spcBef>
            </a:pPr>
            <a:r>
              <a:rPr sz="279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creates</a:t>
            </a:r>
            <a:r>
              <a:rPr sz="2791" kern="0" spc="56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791" b="1" kern="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look-ahead</a:t>
            </a:r>
            <a:r>
              <a:rPr sz="2791" b="1" kern="0" spc="565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791" b="1" kern="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bias</a:t>
            </a:r>
            <a:r>
              <a:rPr sz="279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,</a:t>
            </a:r>
            <a:r>
              <a:rPr lang="en-US" sz="279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79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rendering</a:t>
            </a:r>
            <a:r>
              <a:rPr sz="2791" kern="0" spc="44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79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</a:t>
            </a:r>
            <a:r>
              <a:rPr lang="en-US" sz="2791" kern="0" spc="56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79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mode</a:t>
            </a:r>
            <a:r>
              <a:rPr sz="2791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</a:t>
            </a:r>
            <a:r>
              <a:rPr sz="2791" kern="0" spc="49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791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completely</a:t>
            </a:r>
            <a:endParaRPr sz="279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marL="2533743" eaLnBrk="0">
              <a:lnSpc>
                <a:spcPts val="3615"/>
              </a:lnSpc>
            </a:pPr>
            <a:r>
              <a:rPr sz="279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useless</a:t>
            </a:r>
            <a:r>
              <a:rPr sz="2791" kern="0" spc="21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79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for</a:t>
            </a:r>
            <a:r>
              <a:rPr sz="2791" kern="0" spc="33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79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real</a:t>
            </a:r>
            <a:r>
              <a:rPr sz="2791" kern="0" spc="28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79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applicati</a:t>
            </a:r>
            <a:r>
              <a:rPr sz="2791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on.</a:t>
            </a:r>
            <a:endParaRPr sz="2791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278" name="textbox 278"/>
          <p:cNvSpPr/>
          <p:nvPr/>
        </p:nvSpPr>
        <p:spPr>
          <a:xfrm>
            <a:off x="1108631" y="267442"/>
            <a:ext cx="7395387" cy="537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  <a:tabLst/>
            </a:pPr>
            <a:endParaRPr sz="2800" b="1" dirty="0">
              <a:solidFill>
                <a:srgbClr val="47100A"/>
              </a:solidFill>
              <a:latin typeface="Arial"/>
              <a:ea typeface="Arial"/>
              <a:cs typeface="Arial"/>
            </a:endParaRPr>
          </a:p>
          <a:p>
            <a:pPr marL="8861" eaLnBrk="0">
              <a:lnSpc>
                <a:spcPct val="81000"/>
              </a:lnSpc>
              <a:spcBef>
                <a:spcPts val="1"/>
              </a:spcBef>
            </a:pPr>
            <a:r>
              <a:rPr sz="2800" b="1" kern="0" spc="-35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Feature</a:t>
            </a:r>
            <a:r>
              <a:rPr sz="2800" b="1" kern="0" spc="712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800" b="1" kern="0" spc="-35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Engineering</a:t>
            </a:r>
            <a:r>
              <a:rPr sz="2800" b="1" kern="0" spc="712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800" b="1" kern="0" spc="-35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Ref</a:t>
            </a:r>
            <a:r>
              <a:rPr sz="2800" b="1" kern="0" spc="-42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lection</a:t>
            </a:r>
            <a:endParaRPr sz="2800" b="1" dirty="0">
              <a:solidFill>
                <a:srgbClr val="47100A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447" y="1709913"/>
            <a:ext cx="8748713" cy="1939114"/>
          </a:xfrm>
          <a:prstGeom prst="rect">
            <a:avLst/>
          </a:prstGeom>
        </p:spPr>
      </p:pic>
      <p:sp>
        <p:nvSpPr>
          <p:cNvPr id="2" name="iŝľiḓê">
            <a:extLst>
              <a:ext uri="{FF2B5EF4-FFF2-40B4-BE49-F238E27FC236}">
                <a16:creationId xmlns:a16="http://schemas.microsoft.com/office/drawing/2014/main" id="{19DB9ABB-96F5-291F-0E4F-D3272218ED73}"/>
              </a:ext>
            </a:extLst>
          </p:cNvPr>
          <p:cNvSpPr/>
          <p:nvPr/>
        </p:nvSpPr>
        <p:spPr bwMode="auto">
          <a:xfrm>
            <a:off x="462246" y="583968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33236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box 288"/>
          <p:cNvSpPr/>
          <p:nvPr/>
        </p:nvSpPr>
        <p:spPr>
          <a:xfrm>
            <a:off x="1013460" y="376450"/>
            <a:ext cx="6234949" cy="59057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44"/>
              </a:lnSpc>
              <a:tabLst/>
            </a:pPr>
            <a:endParaRPr sz="2800" b="1" dirty="0">
              <a:solidFill>
                <a:srgbClr val="47100A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marL="8861" eaLnBrk="0">
              <a:lnSpc>
                <a:spcPct val="82000"/>
              </a:lnSpc>
            </a:pPr>
            <a:r>
              <a:rPr sz="2800" b="1" kern="0" spc="-14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Cross-Validation Stability</a:t>
            </a:r>
            <a:endParaRPr sz="2800" b="1" dirty="0">
              <a:solidFill>
                <a:srgbClr val="47100A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065" y="1487424"/>
            <a:ext cx="8258175" cy="374370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013460" y="5463541"/>
            <a:ext cx="9730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 </a:t>
            </a:r>
            <a:r>
              <a:rPr lang="en-US" altLang="zh-CN" sz="2000" b="1" kern="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5‑fold cross‑validation 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results show almost no variation, confirming that the </a:t>
            </a:r>
            <a:r>
              <a:rPr lang="en-US" altLang="zh-CN" sz="2000" b="1" kern="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0.731</a:t>
            </a:r>
            <a:r>
              <a:rPr lang="en-US" altLang="zh-CN"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AUC is stable and not just a random fluke of how we split the data.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iŝľiḓê">
            <a:extLst>
              <a:ext uri="{FF2B5EF4-FFF2-40B4-BE49-F238E27FC236}">
                <a16:creationId xmlns:a16="http://schemas.microsoft.com/office/drawing/2014/main" id="{3750A9B2-7628-E7F6-F409-BF229AA0C1D8}"/>
              </a:ext>
            </a:extLst>
          </p:cNvPr>
          <p:cNvSpPr/>
          <p:nvPr/>
        </p:nvSpPr>
        <p:spPr bwMode="auto">
          <a:xfrm>
            <a:off x="450671" y="671739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3831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0" y="26582"/>
            <a:ext cx="12192000" cy="6804837"/>
            <a:chOff x="0" y="26582"/>
            <a:chExt cx="12192000" cy="6804837"/>
          </a:xfrm>
        </p:grpSpPr>
        <p:pic>
          <p:nvPicPr>
            <p:cNvPr id="290" name="picture 29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26582"/>
              <a:ext cx="12192000" cy="6804837"/>
            </a:xfrm>
            <a:prstGeom prst="rect">
              <a:avLst/>
            </a:prstGeom>
          </p:spPr>
        </p:pic>
        <p:sp>
          <p:nvSpPr>
            <p:cNvPr id="2" name="文本框 1"/>
            <p:cNvSpPr txBox="1"/>
            <p:nvPr/>
          </p:nvSpPr>
          <p:spPr>
            <a:xfrm>
              <a:off x="1702523" y="1834554"/>
              <a:ext cx="2615268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b="1" dirty="0">
                  <a:solidFill>
                    <a:srgbClr val="47100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Artificial High AUC</a:t>
              </a:r>
              <a:endParaRPr lang="zh-CN" altLang="en-US" sz="22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4914899" y="1665276"/>
              <a:ext cx="405591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If post-loan features were retained</a:t>
              </a:r>
              <a:b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(Data Leakage Allowed)</a:t>
              </a:r>
              <a:endPara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6560820" y="3527963"/>
              <a:ext cx="375660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Realistic Baseline: </a:t>
              </a:r>
              <a:r>
                <a:rPr lang="en-US" altLang="zh-CN" sz="2200" b="1" dirty="0">
                  <a:solidFill>
                    <a:srgbClr val="47100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0.731 AUC</a:t>
              </a:r>
              <a:endParaRPr lang="zh-CN" altLang="en-US" sz="22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94" name="textbox 294"/>
          <p:cNvSpPr/>
          <p:nvPr/>
        </p:nvSpPr>
        <p:spPr>
          <a:xfrm>
            <a:off x="1114278" y="188258"/>
            <a:ext cx="5938284" cy="537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2800" b="1" dirty="0">
              <a:solidFill>
                <a:srgbClr val="47100A"/>
              </a:solidFill>
              <a:latin typeface="Arial"/>
              <a:ea typeface="Arial"/>
              <a:cs typeface="Arial"/>
            </a:endParaRPr>
          </a:p>
          <a:p>
            <a:pPr rtl="0" eaLnBrk="0">
              <a:lnSpc>
                <a:spcPct val="81000"/>
              </a:lnSpc>
              <a:tabLst/>
            </a:pPr>
            <a:r>
              <a:rPr sz="2800" b="1" kern="0" spc="-147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Comparative</a:t>
            </a:r>
            <a:r>
              <a:rPr sz="2800" b="1" kern="0" spc="223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800" b="1" kern="0" spc="-147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Ex</a:t>
            </a:r>
            <a:r>
              <a:rPr sz="2800" b="1" kern="0" spc="-140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perim</a:t>
            </a:r>
            <a:r>
              <a:rPr sz="2800" b="1" kern="0" spc="-147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en</a:t>
            </a:r>
            <a:r>
              <a:rPr sz="2800" b="1" kern="0" spc="-56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</a:t>
            </a:r>
            <a:endParaRPr sz="2800" b="1" dirty="0">
              <a:solidFill>
                <a:srgbClr val="47100A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pic>
        <p:nvPicPr>
          <p:cNvPr id="296" name="picture 2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73364" y="4301789"/>
            <a:ext cx="673485" cy="19359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702523" y="4313093"/>
            <a:ext cx="41681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is </a:t>
            </a:r>
            <a:r>
              <a:rPr lang="en-US" altLang="zh-CN" sz="20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complete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702523" y="4915833"/>
            <a:ext cx="941826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 err="1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(AUC = </a:t>
            </a:r>
            <a:r>
              <a:rPr lang="en-US" altLang="zh-CN" sz="20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0.731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provides a highly </a:t>
            </a:r>
            <a:r>
              <a:rPr lang="en-US" altLang="zh-CN" sz="20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realistic, look-ahead bias-free baseline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actual production.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702523" y="5826349"/>
            <a:ext cx="9133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</a:t>
            </a:r>
            <a:r>
              <a:rPr lang="en-US" altLang="zh-CN" sz="20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primed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altLang="zh-CN" sz="2000" b="1" dirty="0">
                <a:solidFill>
                  <a:srgbClr val="4710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actual production scaling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free for historical data leakage.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iŝľiḓê">
            <a:extLst>
              <a:ext uri="{FF2B5EF4-FFF2-40B4-BE49-F238E27FC236}">
                <a16:creationId xmlns:a16="http://schemas.microsoft.com/office/drawing/2014/main" id="{0CA2563C-88DF-C174-155B-84BC9639FD49}"/>
              </a:ext>
            </a:extLst>
          </p:cNvPr>
          <p:cNvSpPr/>
          <p:nvPr/>
        </p:nvSpPr>
        <p:spPr bwMode="auto">
          <a:xfrm>
            <a:off x="448399" y="504784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9643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textbox 302"/>
          <p:cNvSpPr/>
          <p:nvPr/>
        </p:nvSpPr>
        <p:spPr>
          <a:xfrm>
            <a:off x="7722970" y="2716470"/>
            <a:ext cx="3944311" cy="19969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79303" eaLnBrk="0">
              <a:lnSpc>
                <a:spcPts val="2377"/>
              </a:lnSpc>
              <a:spcBef>
                <a:spcPts val="528"/>
              </a:spcBef>
            </a:pPr>
            <a:r>
              <a:rPr sz="2000" b="1" kern="0" spc="-7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Linear</a:t>
            </a:r>
            <a:r>
              <a:rPr lang="zh-CN" altLang="en-US" sz="2000" b="1" kern="0" spc="-7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b="1" kern="0" spc="-7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correlations </a:t>
            </a:r>
            <a:r>
              <a:rPr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are</a:t>
            </a:r>
            <a:r>
              <a:rPr sz="2000" kern="0" spc="328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low</a:t>
            </a:r>
            <a:r>
              <a:rPr sz="2000" kern="0" spc="27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across</a:t>
            </a:r>
            <a:r>
              <a:rPr sz="2000" kern="0" spc="23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featur</a:t>
            </a:r>
            <a:r>
              <a:rPr sz="20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es,</a:t>
            </a:r>
            <a:r>
              <a:rPr lang="en-US" sz="20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proving</a:t>
            </a:r>
            <a:r>
              <a:rPr sz="2000" kern="0" spc="24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</a:t>
            </a:r>
            <a:r>
              <a:rPr lang="en-US" sz="20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 </a:t>
            </a:r>
            <a:r>
              <a:rPr sz="20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absolute</a:t>
            </a:r>
            <a:r>
              <a:rPr sz="2000" kern="0" spc="33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necessity</a:t>
            </a:r>
            <a:r>
              <a:rPr sz="2000" kern="0" spc="27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of</a:t>
            </a:r>
            <a:r>
              <a:rPr lang="en-US" sz="20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b="1" kern="0" spc="-7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non-linear tree</a:t>
            </a:r>
            <a:r>
              <a:rPr sz="2000" b="1" kern="0" spc="209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b="1" kern="0" spc="-7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models </a:t>
            </a:r>
            <a:r>
              <a:rPr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(like</a:t>
            </a:r>
            <a:r>
              <a:rPr sz="2000" kern="0" spc="20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b="1" kern="0" spc="-7" dirty="0" err="1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XGBoost</a:t>
            </a:r>
            <a:r>
              <a:rPr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)</a:t>
            </a:r>
            <a:r>
              <a:rPr lang="en-US"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to</a:t>
            </a:r>
            <a:r>
              <a:rPr lang="en-US"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captur</a:t>
            </a:r>
            <a:r>
              <a:rPr sz="20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 </a:t>
            </a:r>
            <a:r>
              <a:rPr lang="en-US" sz="20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complex</a:t>
            </a:r>
            <a:r>
              <a:rPr lang="en-US" sz="20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behavioral  patterns.</a:t>
            </a:r>
            <a:endParaRPr sz="20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308" name="textbox 308"/>
          <p:cNvSpPr/>
          <p:nvPr/>
        </p:nvSpPr>
        <p:spPr>
          <a:xfrm>
            <a:off x="1143144" y="775639"/>
            <a:ext cx="6316182" cy="537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eaLnBrk="0">
              <a:lnSpc>
                <a:spcPct val="81000"/>
              </a:lnSpc>
              <a:spcBef>
                <a:spcPts val="1"/>
              </a:spcBef>
            </a:pPr>
            <a:r>
              <a:rPr sz="2800" b="1" kern="0" spc="-126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Feature-Target Correlation</a:t>
            </a:r>
            <a:endParaRPr sz="2800" b="1" dirty="0">
              <a:solidFill>
                <a:srgbClr val="47100A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54" y="1394084"/>
            <a:ext cx="6285948" cy="5028758"/>
          </a:xfrm>
          <a:prstGeom prst="rect">
            <a:avLst/>
          </a:prstGeom>
        </p:spPr>
      </p:pic>
      <p:sp>
        <p:nvSpPr>
          <p:cNvPr id="3" name="iŝľiḓê">
            <a:extLst>
              <a:ext uri="{FF2B5EF4-FFF2-40B4-BE49-F238E27FC236}">
                <a16:creationId xmlns:a16="http://schemas.microsoft.com/office/drawing/2014/main" id="{5D66FF56-DFA6-5E7C-2C79-5AD281277B50}"/>
              </a:ext>
            </a:extLst>
          </p:cNvPr>
          <p:cNvSpPr/>
          <p:nvPr/>
        </p:nvSpPr>
        <p:spPr bwMode="auto">
          <a:xfrm>
            <a:off x="496970" y="638462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6344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textbox 524"/>
          <p:cNvSpPr/>
          <p:nvPr/>
        </p:nvSpPr>
        <p:spPr>
          <a:xfrm>
            <a:off x="1200879" y="5457864"/>
            <a:ext cx="9870981" cy="81959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602534" indent="-367723" eaLnBrk="0">
              <a:lnSpc>
                <a:spcPct val="109000"/>
              </a:lnSpc>
              <a:spcBef>
                <a:spcPts val="1"/>
              </a:spcBef>
            </a:pPr>
            <a:r>
              <a:rPr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While</a:t>
            </a:r>
            <a:r>
              <a:rPr sz="2000" kern="0" spc="19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inertia</a:t>
            </a:r>
            <a:r>
              <a:rPr sz="2000" kern="0" spc="13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drops steadily,</a:t>
            </a:r>
            <a:r>
              <a:rPr lang="en-US"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 silhouette</a:t>
            </a:r>
            <a:r>
              <a:rPr sz="2000" kern="0" spc="19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metric definitively</a:t>
            </a:r>
            <a:r>
              <a:rPr sz="2000" kern="0" spc="19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identifies</a:t>
            </a:r>
            <a:r>
              <a:rPr sz="2000" kern="0" spc="133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b="1" kern="0" spc="-7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k=2</a:t>
            </a:r>
            <a:r>
              <a:rPr sz="2000" b="1" kern="0" spc="-7" dirty="0">
                <a:solidFill>
                  <a:srgbClr val="C0102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</a:t>
            </a:r>
            <a:r>
              <a:rPr sz="20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as the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0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optimal</a:t>
            </a:r>
            <a:r>
              <a:rPr sz="20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  </a:t>
            </a:r>
            <a:r>
              <a:rPr sz="20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mathematical boundary for clustering borrower archetypes within the fe</a:t>
            </a:r>
            <a:r>
              <a:rPr sz="20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ature space.</a:t>
            </a:r>
            <a:endParaRPr sz="20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530" name="textbox 530"/>
          <p:cNvSpPr/>
          <p:nvPr/>
        </p:nvSpPr>
        <p:spPr>
          <a:xfrm>
            <a:off x="880839" y="605386"/>
            <a:ext cx="6895451" cy="548731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8861" eaLnBrk="0">
              <a:lnSpc>
                <a:spcPct val="82000"/>
              </a:lnSpc>
            </a:pPr>
            <a:r>
              <a:rPr lang="en-US" sz="2800" b="1" kern="0" spc="-21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Clustering Analysis I</a:t>
            </a:r>
            <a:r>
              <a:rPr sz="2800" b="1" kern="0" spc="-28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:</a:t>
            </a:r>
            <a:r>
              <a:rPr lang="en-US" sz="2800" b="1" kern="0" spc="-28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800" b="1" kern="0" spc="-28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K-Means</a:t>
            </a:r>
            <a:endParaRPr sz="2800" dirty="0">
              <a:solidFill>
                <a:srgbClr val="47100A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28" y="1318259"/>
            <a:ext cx="10853928" cy="3876403"/>
          </a:xfrm>
          <a:prstGeom prst="rect">
            <a:avLst/>
          </a:prstGeom>
        </p:spPr>
      </p:pic>
      <p:sp>
        <p:nvSpPr>
          <p:cNvPr id="3" name="iŝľiḓê">
            <a:extLst>
              <a:ext uri="{FF2B5EF4-FFF2-40B4-BE49-F238E27FC236}">
                <a16:creationId xmlns:a16="http://schemas.microsoft.com/office/drawing/2014/main" id="{E6DBE91F-E6C9-2B94-6131-2718F77CD1E4}"/>
              </a:ext>
            </a:extLst>
          </p:cNvPr>
          <p:cNvSpPr/>
          <p:nvPr/>
        </p:nvSpPr>
        <p:spPr bwMode="auto">
          <a:xfrm>
            <a:off x="364064" y="437144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16511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textbox 334"/>
          <p:cNvSpPr/>
          <p:nvPr/>
        </p:nvSpPr>
        <p:spPr>
          <a:xfrm>
            <a:off x="4824536" y="5410300"/>
            <a:ext cx="3713863" cy="18872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8861" eaLnBrk="0">
              <a:lnSpc>
                <a:spcPts val="1346"/>
              </a:lnSpc>
            </a:pPr>
            <a:r>
              <a:rPr sz="1395" kern="0" spc="-21" baseline="59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-5</a:t>
            </a:r>
            <a:r>
              <a:rPr sz="907" kern="0" spc="42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767" kern="0" spc="-21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0                  </a:t>
            </a:r>
            <a:r>
              <a:rPr sz="1047" kern="0" spc="-28" dirty="0">
                <a:solidFill>
                  <a:srgbClr val="70303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5       10      15</a:t>
            </a:r>
            <a:r>
              <a:rPr sz="1047" kern="0" spc="91" dirty="0">
                <a:solidFill>
                  <a:srgbClr val="70303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</a:t>
            </a:r>
            <a:r>
              <a:rPr sz="1047" kern="0" spc="-28" dirty="0">
                <a:solidFill>
                  <a:srgbClr val="70303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20</a:t>
            </a:r>
            <a:r>
              <a:rPr sz="1047" kern="0" spc="70" dirty="0">
                <a:solidFill>
                  <a:srgbClr val="70303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</a:t>
            </a:r>
            <a:r>
              <a:rPr sz="1047" kern="0" spc="-28" dirty="0">
                <a:solidFill>
                  <a:srgbClr val="70303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25      30</a:t>
            </a:r>
            <a:endParaRPr sz="1047" dirty="0">
              <a:latin typeface="SimSun"/>
              <a:ea typeface="SimSun"/>
              <a:cs typeface="SimSun"/>
            </a:endParaRPr>
          </a:p>
        </p:txBody>
      </p:sp>
      <p:sp>
        <p:nvSpPr>
          <p:cNvPr id="338" name="textbox 338"/>
          <p:cNvSpPr/>
          <p:nvPr/>
        </p:nvSpPr>
        <p:spPr>
          <a:xfrm>
            <a:off x="983812" y="5808811"/>
            <a:ext cx="10008130" cy="843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8861" eaLnBrk="0">
              <a:lnSpc>
                <a:spcPct val="116000"/>
              </a:lnSpc>
              <a:spcBef>
                <a:spcPts val="383"/>
              </a:spcBef>
            </a:pPr>
            <a:r>
              <a:rPr sz="2372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The</a:t>
            </a:r>
            <a:r>
              <a:rPr sz="2372" kern="0" spc="335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372" kern="0" spc="23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</a:t>
            </a:r>
            <a:r>
              <a:rPr sz="2372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</a:t>
            </a:r>
            <a:r>
              <a:rPr lang="en-US" sz="2372" kern="0" spc="30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372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visualization</a:t>
            </a:r>
            <a:r>
              <a:rPr sz="2372" kern="0" spc="35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372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confirms</a:t>
            </a:r>
            <a:r>
              <a:rPr sz="2372" kern="0" spc="349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372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distinct</a:t>
            </a:r>
            <a:r>
              <a:rPr sz="2372" kern="0" spc="23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,</a:t>
            </a:r>
            <a:r>
              <a:rPr lang="en-US" sz="2372" kern="0" spc="23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372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natural</a:t>
            </a:r>
            <a:r>
              <a:rPr sz="2372" kern="0" spc="34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372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segmentations</a:t>
            </a:r>
            <a:r>
              <a:rPr sz="2372" kern="0" spc="272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372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within borrower</a:t>
            </a:r>
            <a:r>
              <a:rPr sz="2372" kern="0" spc="391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372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behavioral</a:t>
            </a:r>
            <a:r>
              <a:rPr sz="2372" kern="0" spc="356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372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da</a:t>
            </a:r>
            <a:r>
              <a:rPr sz="2372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ta.</a:t>
            </a:r>
            <a:endParaRPr sz="2372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340" name="textbox 340"/>
          <p:cNvSpPr/>
          <p:nvPr/>
        </p:nvSpPr>
        <p:spPr>
          <a:xfrm>
            <a:off x="903710" y="617094"/>
            <a:ext cx="7303030" cy="54181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rtl="0" eaLnBrk="0">
              <a:lnSpc>
                <a:spcPct val="82000"/>
              </a:lnSpc>
              <a:tabLst/>
            </a:pPr>
            <a:r>
              <a:rPr sz="2800" b="1" kern="0" spc="-49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Clustering An</a:t>
            </a:r>
            <a:r>
              <a:rPr sz="2800" b="1" kern="0" spc="-56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alysis</a:t>
            </a:r>
            <a:r>
              <a:rPr sz="2800" b="1" kern="0" spc="265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sz="2800" b="1" kern="0" spc="-56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</a:t>
            </a:r>
            <a:r>
              <a:rPr lang="en-US" sz="2800" b="1" kern="0" spc="-56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I: K-M</a:t>
            </a:r>
            <a:r>
              <a:rPr lang="en-US" altLang="zh-CN" sz="2800" b="1" kern="0" spc="-56" dirty="0">
                <a:solidFill>
                  <a:srgbClr val="47100A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eans</a:t>
            </a:r>
            <a:endParaRPr sz="2800" dirty="0">
              <a:solidFill>
                <a:srgbClr val="47100A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1810" y="1258147"/>
            <a:ext cx="5688330" cy="4550664"/>
          </a:xfrm>
          <a:prstGeom prst="rect">
            <a:avLst/>
          </a:prstGeom>
        </p:spPr>
      </p:pic>
      <p:sp>
        <p:nvSpPr>
          <p:cNvPr id="2" name="iŝľiḓê">
            <a:extLst>
              <a:ext uri="{FF2B5EF4-FFF2-40B4-BE49-F238E27FC236}">
                <a16:creationId xmlns:a16="http://schemas.microsoft.com/office/drawing/2014/main" id="{B925983D-9608-02E2-0C51-5A112CE78D8F}"/>
              </a:ext>
            </a:extLst>
          </p:cNvPr>
          <p:cNvSpPr/>
          <p:nvPr/>
        </p:nvSpPr>
        <p:spPr bwMode="auto">
          <a:xfrm>
            <a:off x="369648" y="445395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28726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picture 34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94893" y="1918258"/>
            <a:ext cx="518403" cy="3739121"/>
          </a:xfrm>
          <a:prstGeom prst="rect">
            <a:avLst/>
          </a:prstGeom>
        </p:spPr>
      </p:pic>
      <p:sp>
        <p:nvSpPr>
          <p:cNvPr id="350" name="textbox 350"/>
          <p:cNvSpPr/>
          <p:nvPr/>
        </p:nvSpPr>
        <p:spPr>
          <a:xfrm>
            <a:off x="939190" y="790504"/>
            <a:ext cx="2705099" cy="531628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rtl="0" eaLnBrk="0">
              <a:lnSpc>
                <a:spcPct val="81000"/>
              </a:lnSpc>
              <a:tabLst/>
            </a:pPr>
            <a:r>
              <a:rPr sz="2800" b="1" dirty="0">
                <a:solidFill>
                  <a:srgbClr val="47100A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Limitations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516379" y="1814457"/>
            <a:ext cx="98411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COVID‑19 Anomaly: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spans unique pandemic period (stimulus, distorted defaults) </a:t>
            </a:r>
            <a:b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→ limits generalizability.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16379" y="2626937"/>
            <a:ext cx="97250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Attrition: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removing post‑loan features prevents look‑ahead bias but sacrifices </a:t>
            </a:r>
            <a:b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predictive signal → caps achievable AUC.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516379" y="3587763"/>
            <a:ext cx="101556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AUC: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0.731 is below typical production threshold (≥0.8) for financial risk models.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516379" y="4391749"/>
            <a:ext cx="85407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Tree Interpretability: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lacks individual per-prediction transparency.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516379" y="5124791"/>
            <a:ext cx="99116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Synthetic Noise: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SMOTE may introduce noise in complex behavioral patterns (time‑series </a:t>
            </a:r>
            <a:b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context).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iŝľiḓê">
            <a:extLst>
              <a:ext uri="{FF2B5EF4-FFF2-40B4-BE49-F238E27FC236}">
                <a16:creationId xmlns:a16="http://schemas.microsoft.com/office/drawing/2014/main" id="{8BC1F422-AF82-38B8-E39B-2C8F4DABBC4E}"/>
              </a:ext>
            </a:extLst>
          </p:cNvPr>
          <p:cNvSpPr/>
          <p:nvPr/>
        </p:nvSpPr>
        <p:spPr bwMode="auto">
          <a:xfrm>
            <a:off x="450671" y="671739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80871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box 376"/>
          <p:cNvSpPr/>
          <p:nvPr/>
        </p:nvSpPr>
        <p:spPr>
          <a:xfrm>
            <a:off x="2111698" y="1900565"/>
            <a:ext cx="9347993" cy="394198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164"/>
              </a:lnSpc>
              <a:tabLst/>
            </a:pPr>
            <a:endParaRPr sz="100" b="1" dirty="0">
              <a:latin typeface="Arial"/>
              <a:ea typeface="Arial"/>
              <a:cs typeface="Arial"/>
            </a:endParaRPr>
          </a:p>
          <a:p>
            <a:pPr marL="8861" algn="just" eaLnBrk="0">
              <a:lnSpc>
                <a:spcPct val="104000"/>
              </a:lnSpc>
            </a:pPr>
            <a:r>
              <a:rPr lang="en-US" sz="2800" b="1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End‑to‑end pipeline established: </a:t>
            </a:r>
            <a:r>
              <a:rPr lang="en-US" sz="2800" kern="0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robust preprocessing, imbalance handling, multi‑model evaluation.</a:t>
            </a:r>
          </a:p>
          <a:p>
            <a:pPr marL="8861" algn="just" eaLnBrk="0">
              <a:lnSpc>
                <a:spcPct val="104000"/>
              </a:lnSpc>
            </a:pPr>
            <a:endParaRPr lang="en-US" sz="3000" kern="0" spc="-14" dirty="0">
              <a:solidFill>
                <a:srgbClr val="000000">
                  <a:alpha val="100000"/>
                </a:srgbClr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marL="8861" algn="just" eaLnBrk="0">
              <a:lnSpc>
                <a:spcPct val="104000"/>
              </a:lnSpc>
            </a:pPr>
            <a:r>
              <a:rPr lang="en-US" sz="2800" b="1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Best model identified: </a:t>
            </a:r>
            <a:r>
              <a:rPr lang="en-US" sz="2800" kern="0" spc="-14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XGBoost</a:t>
            </a:r>
            <a:r>
              <a:rPr lang="en-US" sz="28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(AUC = 0.731) provides realistic, look‑ahead‑bias‑free baseline.</a:t>
            </a:r>
          </a:p>
          <a:p>
            <a:pPr marL="8861" algn="just" eaLnBrk="0">
              <a:lnSpc>
                <a:spcPct val="104000"/>
              </a:lnSpc>
            </a:pPr>
            <a:endParaRPr sz="30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marL="8861" algn="just" eaLnBrk="0">
              <a:lnSpc>
                <a:spcPct val="105000"/>
              </a:lnSpc>
              <a:spcBef>
                <a:spcPts val="2"/>
              </a:spcBef>
            </a:pPr>
            <a:r>
              <a:rPr lang="en-US" sz="2800" b="1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Clustering insights: </a:t>
            </a:r>
            <a:r>
              <a:rPr lang="en-US" sz="28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K‑Means reveals customer segments, enabling future dynamic risk </a:t>
            </a:r>
            <a:r>
              <a:rPr lang="en-US" sz="2800" kern="0" spc="-7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tiering</a:t>
            </a:r>
            <a:r>
              <a:rPr lang="en-US" sz="28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pic>
        <p:nvPicPr>
          <p:cNvPr id="378" name="picture 37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72703" y="1900565"/>
            <a:ext cx="948172" cy="3530894"/>
          </a:xfrm>
          <a:prstGeom prst="rect">
            <a:avLst/>
          </a:prstGeom>
        </p:spPr>
      </p:pic>
      <p:sp>
        <p:nvSpPr>
          <p:cNvPr id="380" name="textbox 380"/>
          <p:cNvSpPr/>
          <p:nvPr/>
        </p:nvSpPr>
        <p:spPr>
          <a:xfrm>
            <a:off x="1097807" y="439518"/>
            <a:ext cx="2915979" cy="5759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858"/>
              </a:lnSpc>
              <a:tabLst/>
            </a:pPr>
            <a:endParaRPr sz="2800" dirty="0">
              <a:latin typeface="Arial"/>
              <a:ea typeface="Arial"/>
              <a:cs typeface="Arial"/>
            </a:endParaRPr>
          </a:p>
          <a:p>
            <a:pPr eaLnBrk="0">
              <a:lnSpc>
                <a:spcPct val="81000"/>
              </a:lnSpc>
              <a:tabLst/>
            </a:pPr>
            <a:r>
              <a:rPr sz="2800" b="1" dirty="0">
                <a:solidFill>
                  <a:srgbClr val="47100A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iŝľiḓê">
            <a:extLst>
              <a:ext uri="{FF2B5EF4-FFF2-40B4-BE49-F238E27FC236}">
                <a16:creationId xmlns:a16="http://schemas.microsoft.com/office/drawing/2014/main" id="{2CE43B6E-B49B-8199-923A-34E1007B8C91}"/>
              </a:ext>
            </a:extLst>
          </p:cNvPr>
          <p:cNvSpPr/>
          <p:nvPr/>
        </p:nvSpPr>
        <p:spPr bwMode="auto">
          <a:xfrm>
            <a:off x="450671" y="671739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6318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textbox 352"/>
          <p:cNvSpPr/>
          <p:nvPr/>
        </p:nvSpPr>
        <p:spPr>
          <a:xfrm>
            <a:off x="1451478" y="4686333"/>
            <a:ext cx="4688394" cy="15293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8861" eaLnBrk="0">
              <a:lnSpc>
                <a:spcPts val="2981"/>
              </a:lnSpc>
              <a:spcBef>
                <a:spcPts val="719"/>
              </a:spcBef>
            </a:pPr>
            <a: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4</a:t>
            </a:r>
            <a:r>
              <a:rPr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.</a:t>
            </a:r>
            <a: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Application‑time feature engineering:  </a:t>
            </a:r>
            <a:b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</a:br>
            <a: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  design historical aggregates (e.g.,  12-</a:t>
            </a:r>
            <a:b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</a:br>
            <a: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  month a</a:t>
            </a:r>
            <a:r>
              <a:rPr lang="en-US" altLang="zh-CN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verage</a:t>
            </a:r>
            <a: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delinquency) to replace</a:t>
            </a:r>
            <a:b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</a:br>
            <a: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  post‑loan features.</a:t>
            </a:r>
            <a:endParaRPr sz="22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354" name="textbox 354"/>
          <p:cNvSpPr/>
          <p:nvPr/>
        </p:nvSpPr>
        <p:spPr>
          <a:xfrm>
            <a:off x="-852985" y="2779875"/>
            <a:ext cx="4180367" cy="2058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8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2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</p:txBody>
      </p:sp>
      <p:sp>
        <p:nvSpPr>
          <p:cNvPr id="356" name="textbox 356"/>
          <p:cNvSpPr/>
          <p:nvPr/>
        </p:nvSpPr>
        <p:spPr>
          <a:xfrm>
            <a:off x="7008306" y="3301046"/>
            <a:ext cx="4169446" cy="7628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rtl="0" eaLnBrk="0">
              <a:lnSpc>
                <a:spcPct val="17461"/>
              </a:lnSpc>
              <a:tabLst/>
            </a:pPr>
            <a:endParaRPr sz="22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marL="8861" eaLnBrk="0">
              <a:lnSpc>
                <a:spcPct val="104000"/>
              </a:lnSpc>
            </a:pPr>
            <a:r>
              <a:rPr lang="en-US" sz="22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5</a:t>
            </a:r>
            <a:r>
              <a:rPr sz="22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.</a:t>
            </a:r>
            <a:r>
              <a:rPr lang="en-US" sz="22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Compare advanced balancing </a:t>
            </a:r>
            <a:br>
              <a:rPr lang="en-US" sz="22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</a:br>
            <a:r>
              <a:rPr lang="en-US" sz="22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  techniques: test SMOTE‑</a:t>
            </a:r>
            <a:r>
              <a:rPr lang="en-US" sz="2200" kern="0" spc="-14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Tomek</a:t>
            </a:r>
            <a:r>
              <a:rPr lang="en-US" sz="22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, </a:t>
            </a:r>
            <a:br>
              <a:rPr lang="en-US" sz="22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</a:br>
            <a:r>
              <a:rPr lang="en-US" sz="22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  </a:t>
            </a:r>
            <a:r>
              <a:rPr lang="en-US" sz="2200" kern="0" spc="-14" dirty="0" err="1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undersampling</a:t>
            </a:r>
            <a:r>
              <a:rPr lang="en-US" sz="22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, cost‑sensitive </a:t>
            </a:r>
            <a:br>
              <a:rPr lang="en-US" sz="22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</a:br>
            <a:r>
              <a:rPr lang="en-US" sz="2200" kern="0" spc="-14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  learning.</a:t>
            </a:r>
          </a:p>
          <a:p>
            <a:pPr marL="8861" eaLnBrk="0">
              <a:lnSpc>
                <a:spcPct val="104000"/>
              </a:lnSpc>
            </a:pPr>
            <a:endParaRPr lang="en-US" sz="2200" kern="0" spc="-14" dirty="0">
              <a:solidFill>
                <a:srgbClr val="000000">
                  <a:alpha val="100000"/>
                </a:srgbClr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358" name="textbox 358"/>
          <p:cNvSpPr/>
          <p:nvPr/>
        </p:nvSpPr>
        <p:spPr>
          <a:xfrm>
            <a:off x="1451478" y="1990675"/>
            <a:ext cx="4263522" cy="7872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8861" algn="just" eaLnBrk="0">
              <a:lnSpc>
                <a:spcPts val="3029"/>
              </a:lnSpc>
            </a:pPr>
            <a: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1</a:t>
            </a:r>
            <a:r>
              <a:rPr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.</a:t>
            </a:r>
            <a: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Expand data window: include</a:t>
            </a:r>
            <a:b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</a:br>
            <a: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     pre‑COVID &amp; post‑COVID </a:t>
            </a:r>
            <a:b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</a:br>
            <a: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     periods.</a:t>
            </a:r>
          </a:p>
          <a:p>
            <a:pPr marL="8861" algn="just" eaLnBrk="0">
              <a:lnSpc>
                <a:spcPts val="3029"/>
              </a:lnSpc>
            </a:pPr>
            <a:endParaRPr lang="en-US" sz="2200" kern="0" spc="-7" dirty="0">
              <a:solidFill>
                <a:srgbClr val="000000">
                  <a:alpha val="100000"/>
                </a:srgbClr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360" name="textbox 360"/>
          <p:cNvSpPr/>
          <p:nvPr/>
        </p:nvSpPr>
        <p:spPr>
          <a:xfrm>
            <a:off x="1237198" y="442874"/>
            <a:ext cx="3319573" cy="57770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490"/>
              </a:lnSpc>
              <a:tabLst/>
            </a:pPr>
            <a:endParaRPr sz="2800" dirty="0">
              <a:solidFill>
                <a:srgbClr val="47100A"/>
              </a:solidFill>
              <a:latin typeface="Arial"/>
              <a:ea typeface="Arial"/>
              <a:cs typeface="Arial"/>
            </a:endParaRPr>
          </a:p>
          <a:p>
            <a:pPr eaLnBrk="0">
              <a:lnSpc>
                <a:spcPct val="81000"/>
              </a:lnSpc>
            </a:pPr>
            <a:r>
              <a:rPr sz="2800" b="1" dirty="0">
                <a:solidFill>
                  <a:srgbClr val="47100A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rPr>
              <a:t>Future Work</a:t>
            </a:r>
          </a:p>
        </p:txBody>
      </p:sp>
      <p:pic>
        <p:nvPicPr>
          <p:cNvPr id="362" name="picture 3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68314" y="4762476"/>
            <a:ext cx="420867" cy="434217"/>
          </a:xfrm>
          <a:prstGeom prst="rect">
            <a:avLst/>
          </a:prstGeom>
        </p:spPr>
      </p:pic>
      <p:pic>
        <p:nvPicPr>
          <p:cNvPr id="364" name="picture 3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68314" y="3367008"/>
            <a:ext cx="420867" cy="429725"/>
          </a:xfrm>
          <a:prstGeom prst="rect">
            <a:avLst/>
          </a:prstGeom>
        </p:spPr>
      </p:pic>
      <p:pic>
        <p:nvPicPr>
          <p:cNvPr id="366" name="picture 3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379585" y="3367008"/>
            <a:ext cx="416357" cy="434148"/>
          </a:xfrm>
          <a:prstGeom prst="rect">
            <a:avLst/>
          </a:prstGeom>
        </p:spPr>
      </p:pic>
      <p:pic>
        <p:nvPicPr>
          <p:cNvPr id="368" name="picture 36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872703" y="2108793"/>
            <a:ext cx="416479" cy="429725"/>
          </a:xfrm>
          <a:prstGeom prst="rect">
            <a:avLst/>
          </a:prstGeom>
        </p:spPr>
      </p:pic>
      <p:pic>
        <p:nvPicPr>
          <p:cNvPr id="370" name="picture 37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379585" y="4762476"/>
            <a:ext cx="416357" cy="429725"/>
          </a:xfrm>
          <a:prstGeom prst="rect">
            <a:avLst/>
          </a:prstGeom>
        </p:spPr>
      </p:pic>
      <p:pic>
        <p:nvPicPr>
          <p:cNvPr id="372" name="picture 37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383974" y="2108793"/>
            <a:ext cx="411968" cy="429725"/>
          </a:xfrm>
          <a:prstGeom prst="rect">
            <a:avLst/>
          </a:prstGeom>
        </p:spPr>
      </p:pic>
      <p:sp>
        <p:nvSpPr>
          <p:cNvPr id="14" name="textbox 358"/>
          <p:cNvSpPr/>
          <p:nvPr/>
        </p:nvSpPr>
        <p:spPr>
          <a:xfrm>
            <a:off x="1451478" y="3301046"/>
            <a:ext cx="4400682" cy="7872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8861" eaLnBrk="0">
              <a:lnSpc>
                <a:spcPts val="3029"/>
              </a:lnSpc>
            </a:pPr>
            <a: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2. Out‑of‑Time (OOT) validation: test</a:t>
            </a:r>
            <a:b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</a:br>
            <a: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  temporal robustness with held‑out </a:t>
            </a:r>
            <a:b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</a:br>
            <a: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  time slices.</a:t>
            </a:r>
          </a:p>
        </p:txBody>
      </p:sp>
      <p:sp>
        <p:nvSpPr>
          <p:cNvPr id="15" name="textbox 358"/>
          <p:cNvSpPr/>
          <p:nvPr/>
        </p:nvSpPr>
        <p:spPr>
          <a:xfrm>
            <a:off x="7008306" y="4838604"/>
            <a:ext cx="4688394" cy="7872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8861" eaLnBrk="0">
              <a:lnSpc>
                <a:spcPts val="3029"/>
              </a:lnSpc>
            </a:pPr>
            <a: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6. Model stacking: ensemble tree‑based</a:t>
            </a:r>
            <a:b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</a:br>
            <a: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  models with linear models.</a:t>
            </a:r>
          </a:p>
        </p:txBody>
      </p:sp>
      <p:sp>
        <p:nvSpPr>
          <p:cNvPr id="16" name="textbox 358"/>
          <p:cNvSpPr/>
          <p:nvPr/>
        </p:nvSpPr>
        <p:spPr>
          <a:xfrm>
            <a:off x="7008306" y="1990675"/>
            <a:ext cx="4400681" cy="78725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8861" eaLnBrk="0">
              <a:lnSpc>
                <a:spcPts val="3029"/>
              </a:lnSpc>
            </a:pPr>
            <a: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4. SHAP interpretation: apply Shapley</a:t>
            </a:r>
            <a:b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</a:br>
            <a: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  values for individual per‑prediction</a:t>
            </a:r>
            <a:b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</a:br>
            <a:r>
              <a:rPr lang="en-US" sz="2200" kern="0" spc="-7" dirty="0">
                <a:solidFill>
                  <a:srgbClr val="000000">
                    <a:alpha val="100000"/>
                  </a:srgbClr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   explanations.</a:t>
            </a:r>
          </a:p>
        </p:txBody>
      </p:sp>
      <p:sp>
        <p:nvSpPr>
          <p:cNvPr id="2" name="iŝľiḓê">
            <a:extLst>
              <a:ext uri="{FF2B5EF4-FFF2-40B4-BE49-F238E27FC236}">
                <a16:creationId xmlns:a16="http://schemas.microsoft.com/office/drawing/2014/main" id="{A92813DC-0612-6909-70B6-30DE9A00287E}"/>
              </a:ext>
            </a:extLst>
          </p:cNvPr>
          <p:cNvSpPr/>
          <p:nvPr/>
        </p:nvSpPr>
        <p:spPr bwMode="auto">
          <a:xfrm>
            <a:off x="450671" y="671739"/>
            <a:ext cx="449928" cy="442607"/>
          </a:xfrm>
          <a:custGeom>
            <a:avLst/>
            <a:gdLst>
              <a:gd name="T0" fmla="*/ 1792 w 2164"/>
              <a:gd name="T1" fmla="*/ 1458 h 2132"/>
              <a:gd name="T2" fmla="*/ 1242 w 2164"/>
              <a:gd name="T3" fmla="*/ 1126 h 2132"/>
              <a:gd name="T4" fmla="*/ 1546 w 2164"/>
              <a:gd name="T5" fmla="*/ 550 h 2132"/>
              <a:gd name="T6" fmla="*/ 996 w 2164"/>
              <a:gd name="T7" fmla="*/ 0 h 2132"/>
              <a:gd name="T8" fmla="*/ 446 w 2164"/>
              <a:gd name="T9" fmla="*/ 550 h 2132"/>
              <a:gd name="T10" fmla="*/ 750 w 2164"/>
              <a:gd name="T11" fmla="*/ 1126 h 2132"/>
              <a:gd name="T12" fmla="*/ 0 w 2164"/>
              <a:gd name="T13" fmla="*/ 1886 h 2132"/>
              <a:gd name="T14" fmla="*/ 996 w 2164"/>
              <a:gd name="T15" fmla="*/ 2132 h 2132"/>
              <a:gd name="T16" fmla="*/ 717 w 2164"/>
              <a:gd name="T17" fmla="*/ 1853 h 2132"/>
              <a:gd name="T18" fmla="*/ 952 w 2164"/>
              <a:gd name="T19" fmla="*/ 1285 h 2132"/>
              <a:gd name="T20" fmla="*/ 950 w 2164"/>
              <a:gd name="T21" fmla="*/ 1285 h 2132"/>
              <a:gd name="T22" fmla="*/ 858 w 2164"/>
              <a:gd name="T23" fmla="*/ 1181 h 2132"/>
              <a:gd name="T24" fmla="*/ 996 w 2164"/>
              <a:gd name="T25" fmla="*/ 1206 h 2132"/>
              <a:gd name="T26" fmla="*/ 1134 w 2164"/>
              <a:gd name="T27" fmla="*/ 1181 h 2132"/>
              <a:gd name="T28" fmla="*/ 1043 w 2164"/>
              <a:gd name="T29" fmla="*/ 1285 h 2132"/>
              <a:gd name="T30" fmla="*/ 1040 w 2164"/>
              <a:gd name="T31" fmla="*/ 1285 h 2132"/>
              <a:gd name="T32" fmla="*/ 1262 w 2164"/>
              <a:gd name="T33" fmla="*/ 1822 h 2132"/>
              <a:gd name="T34" fmla="*/ 1262 w 2164"/>
              <a:gd name="T35" fmla="*/ 1866 h 2132"/>
              <a:gd name="T36" fmla="*/ 996 w 2164"/>
              <a:gd name="T37" fmla="*/ 2132 h 2132"/>
              <a:gd name="T38" fmla="*/ 1500 w 2164"/>
              <a:gd name="T39" fmla="*/ 2102 h 2132"/>
              <a:gd name="T40" fmla="*/ 2164 w 2164"/>
              <a:gd name="T41" fmla="*/ 2102 h 2132"/>
              <a:gd name="T42" fmla="*/ 2164 w 2164"/>
              <a:gd name="T43" fmla="*/ 1586 h 2132"/>
              <a:gd name="T44" fmla="*/ 2164 w 2164"/>
              <a:gd name="T45" fmla="*/ 1458 h 2132"/>
              <a:gd name="T46" fmla="*/ 1792 w 2164"/>
              <a:gd name="T47" fmla="*/ 1458 h 2132"/>
              <a:gd name="T48" fmla="*/ 2081 w 2164"/>
              <a:gd name="T49" fmla="*/ 2019 h 2132"/>
              <a:gd name="T50" fmla="*/ 1345 w 2164"/>
              <a:gd name="T51" fmla="*/ 2019 h 2132"/>
              <a:gd name="T52" fmla="*/ 1345 w 2164"/>
              <a:gd name="T53" fmla="*/ 1612 h 2132"/>
              <a:gd name="T54" fmla="*/ 1713 w 2164"/>
              <a:gd name="T55" fmla="*/ 1851 h 2132"/>
              <a:gd name="T56" fmla="*/ 2080 w 2164"/>
              <a:gd name="T57" fmla="*/ 1612 h 2132"/>
              <a:gd name="T58" fmla="*/ 2080 w 2164"/>
              <a:gd name="T59" fmla="*/ 2019 h 2132"/>
              <a:gd name="T60" fmla="*/ 2081 w 2164"/>
              <a:gd name="T61" fmla="*/ 2019 h 2132"/>
              <a:gd name="T62" fmla="*/ 1713 w 2164"/>
              <a:gd name="T63" fmla="*/ 1780 h 2132"/>
              <a:gd name="T64" fmla="*/ 1346 w 2164"/>
              <a:gd name="T65" fmla="*/ 1541 h 2132"/>
              <a:gd name="T66" fmla="*/ 2081 w 2164"/>
              <a:gd name="T67" fmla="*/ 1541 h 2132"/>
              <a:gd name="T68" fmla="*/ 1713 w 2164"/>
              <a:gd name="T69" fmla="*/ 1780 h 21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164" h="2132">
                <a:moveTo>
                  <a:pt x="1792" y="1458"/>
                </a:moveTo>
                <a:cubicBezTo>
                  <a:pt x="1657" y="1310"/>
                  <a:pt x="1465" y="1182"/>
                  <a:pt x="1242" y="1126"/>
                </a:cubicBezTo>
                <a:cubicBezTo>
                  <a:pt x="1422" y="1004"/>
                  <a:pt x="1546" y="765"/>
                  <a:pt x="1546" y="550"/>
                </a:cubicBezTo>
                <a:cubicBezTo>
                  <a:pt x="1546" y="246"/>
                  <a:pt x="1300" y="0"/>
                  <a:pt x="996" y="0"/>
                </a:cubicBezTo>
                <a:cubicBezTo>
                  <a:pt x="692" y="0"/>
                  <a:pt x="446" y="246"/>
                  <a:pt x="446" y="550"/>
                </a:cubicBezTo>
                <a:cubicBezTo>
                  <a:pt x="446" y="765"/>
                  <a:pt x="570" y="1004"/>
                  <a:pt x="750" y="1126"/>
                </a:cubicBezTo>
                <a:cubicBezTo>
                  <a:pt x="319" y="1235"/>
                  <a:pt x="0" y="1609"/>
                  <a:pt x="0" y="1886"/>
                </a:cubicBezTo>
                <a:cubicBezTo>
                  <a:pt x="0" y="2050"/>
                  <a:pt x="498" y="2132"/>
                  <a:pt x="996" y="2132"/>
                </a:cubicBezTo>
                <a:lnTo>
                  <a:pt x="717" y="1853"/>
                </a:lnTo>
                <a:lnTo>
                  <a:pt x="952" y="1285"/>
                </a:lnTo>
                <a:lnTo>
                  <a:pt x="950" y="1285"/>
                </a:lnTo>
                <a:lnTo>
                  <a:pt x="858" y="1181"/>
                </a:lnTo>
                <a:cubicBezTo>
                  <a:pt x="903" y="1196"/>
                  <a:pt x="949" y="1206"/>
                  <a:pt x="996" y="1206"/>
                </a:cubicBezTo>
                <a:cubicBezTo>
                  <a:pt x="1044" y="1206"/>
                  <a:pt x="1090" y="1196"/>
                  <a:pt x="1134" y="1181"/>
                </a:cubicBezTo>
                <a:lnTo>
                  <a:pt x="1043" y="1285"/>
                </a:lnTo>
                <a:lnTo>
                  <a:pt x="1040" y="1285"/>
                </a:lnTo>
                <a:lnTo>
                  <a:pt x="1262" y="1822"/>
                </a:lnTo>
                <a:lnTo>
                  <a:pt x="1262" y="1866"/>
                </a:lnTo>
                <a:lnTo>
                  <a:pt x="996" y="2132"/>
                </a:lnTo>
                <a:cubicBezTo>
                  <a:pt x="1171" y="2132"/>
                  <a:pt x="1346" y="2122"/>
                  <a:pt x="1500" y="2102"/>
                </a:cubicBezTo>
                <a:lnTo>
                  <a:pt x="2164" y="2102"/>
                </a:lnTo>
                <a:lnTo>
                  <a:pt x="2164" y="1586"/>
                </a:lnTo>
                <a:lnTo>
                  <a:pt x="2164" y="1458"/>
                </a:lnTo>
                <a:lnTo>
                  <a:pt x="1792" y="1458"/>
                </a:lnTo>
                <a:close/>
                <a:moveTo>
                  <a:pt x="2081" y="2019"/>
                </a:moveTo>
                <a:lnTo>
                  <a:pt x="1345" y="2019"/>
                </a:lnTo>
                <a:lnTo>
                  <a:pt x="1345" y="1612"/>
                </a:lnTo>
                <a:lnTo>
                  <a:pt x="1713" y="1851"/>
                </a:lnTo>
                <a:lnTo>
                  <a:pt x="2080" y="1612"/>
                </a:lnTo>
                <a:lnTo>
                  <a:pt x="2080" y="2019"/>
                </a:lnTo>
                <a:lnTo>
                  <a:pt x="2081" y="2019"/>
                </a:lnTo>
                <a:close/>
                <a:moveTo>
                  <a:pt x="1713" y="1780"/>
                </a:moveTo>
                <a:lnTo>
                  <a:pt x="1346" y="1541"/>
                </a:lnTo>
                <a:lnTo>
                  <a:pt x="2081" y="1541"/>
                </a:lnTo>
                <a:lnTo>
                  <a:pt x="1713" y="1780"/>
                </a:lnTo>
                <a:close/>
              </a:path>
            </a:pathLst>
          </a:custGeom>
          <a:solidFill>
            <a:srgbClr val="47100A"/>
          </a:solidFill>
          <a:ln>
            <a:noFill/>
          </a:ln>
        </p:spPr>
        <p:txBody>
          <a:bodyPr wrap="square" lIns="91440" tIns="45720" rIns="91440" bIns="4572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思源黑体 Medium" panose="020B06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62197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8CE1A-7395-78C4-C3F7-597FB3CAE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9513B882-EF7E-257C-EA1B-57BF33AD8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875"/>
            <a:ext cx="12192000" cy="685719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DA9CAAF-8985-28CB-0821-247CF221B7E8}"/>
              </a:ext>
            </a:extLst>
          </p:cNvPr>
          <p:cNvSpPr txBox="1"/>
          <p:nvPr/>
        </p:nvSpPr>
        <p:spPr>
          <a:xfrm>
            <a:off x="3712619" y="2284463"/>
            <a:ext cx="81812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 dirty="0">
                <a:solidFill>
                  <a:srgbClr val="47100A"/>
                </a:solidFill>
                <a:latin typeface="Times New Roman" panose="02020603050405020304" pitchFamily="18" charset="0"/>
                <a:ea typeface="思源黑体 CN Regular" panose="020B0500000000000000" pitchFamily="34" charset="-122"/>
                <a:cs typeface="Times New Roman" panose="02020603050405020304" pitchFamily="18" charset="0"/>
              </a:rPr>
              <a:t>Thank you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1993925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8502362204724,&quot;left&quot;:101.48866141732283,&quot;top&quot;:76.21488188976377,&quot;width&quot;:422.52165354330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8502362204724,&quot;left&quot;:101.48866141732283,&quot;top&quot;:76.21488188976377,&quot;width&quot;:422.521653543307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8502362204724,&quot;left&quot;:101.48866141732283,&quot;top&quot;:76.21488188976377,&quot;width&quot;:422.521653543307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1.8502362204724,&quot;left&quot;:101.48866141732283,&quot;top&quot;:76.21488188976377,&quot;width&quot;:422.521653543307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1247244094488,&quot;left&quot;:134.05393700787403,&quot;top&quot;:123.95929133858267,&quot;width&quot;:674.74968503937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1247244094488,&quot;left&quot;:134.05393700787403,&quot;top&quot;:123.95929133858267,&quot;width&quot;:674.74968503937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1247244094488,&quot;left&quot;:134.05393700787403,&quot;top&quot;:123.95929133858267,&quot;width&quot;:674.74968503937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0.1247244094488,&quot;left&quot;:134.05393700787403,&quot;top&quot;:123.95929133858267,&quot;width&quot;:674.74968503937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2.34818897637797,&quot;left&quot;:385.75559055118094,&quot;top&quot;:120.17622047244095,&quot;width&quot;:517.5152766584176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</TotalTime>
  <Words>1532</Words>
  <Application>Microsoft Office PowerPoint</Application>
  <PresentationFormat>宽屏</PresentationFormat>
  <Paragraphs>174</Paragraphs>
  <Slides>29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字魂105号-简雅黑</vt:lpstr>
      <vt:lpstr>SimSun</vt:lpstr>
      <vt:lpstr>等线 Light</vt:lpstr>
      <vt:lpstr>SimHei</vt:lpstr>
      <vt:lpstr>等线</vt:lpstr>
      <vt:lpstr>Times New Roman</vt:lpstr>
      <vt:lpstr>思源黑体 Medium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40733</dc:creator>
  <cp:lastModifiedBy>1151868676@qq.com</cp:lastModifiedBy>
  <cp:revision>20</cp:revision>
  <dcterms:created xsi:type="dcterms:W3CDTF">2020-03-07T00:51:00Z</dcterms:created>
  <dcterms:modified xsi:type="dcterms:W3CDTF">2026-04-01T13:48:03Z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KSOTemplateUUID">
    <vt:lpwstr>v1.0_mb_HU2HUJRtupDWEyYodb0u0Q==</vt:lpwstr>
  </property>
  <property fmtid="{D5CDD505-2E9C-101B-9397-08002B2CF9AE}" pid="4" name="ICV">
    <vt:lpwstr>724F91B793F3466EA3D746588FF94FDA_11</vt:lpwstr>
  </property>
</Properties>
</file>