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7" r:id="rId4"/>
    <p:sldId id="260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85" r:id="rId20"/>
    <p:sldId id="278" r:id="rId21"/>
    <p:sldId id="281" r:id="rId22"/>
    <p:sldId id="282" r:id="rId23"/>
    <p:sldId id="284" r:id="rId24"/>
    <p:sldId id="279" r:id="rId25"/>
    <p:sldId id="280" r:id="rId26"/>
    <p:sldId id="286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35507-4ABF-416E-A297-358A1FACB97D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FF20C4-FF00-4AAF-9A49-6516C5F06A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FF20C4-FF00-4AAF-9A49-6516C5F06A82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FF092-2541-4C46-B766-CE2DCD2D883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84395-B584-44A3-B9BB-EBE673269EF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hyperlink" Target="https://github.com/QuantLet/BCN-XMU-course2026/tree/main/group0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273424"/>
            <a:ext cx="1160930" cy="11609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33401" y="2345683"/>
            <a:ext cx="10416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rgbClr val="C00000"/>
                </a:solidFill>
              </a:rPr>
              <a:t>Centrality Analysis of Cryptocurrency Transaction Networks Based on the Elliptic Dataset</a:t>
            </a:r>
            <a:endParaRPr lang="zh-CN" altLang="en-US" sz="3600" dirty="0">
              <a:solidFill>
                <a:srgbClr val="C0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1975" y="3881718"/>
            <a:ext cx="162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Zhenyu Yang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21975" y="4233679"/>
            <a:ext cx="162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Jinshan Xu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21973" y="4569943"/>
            <a:ext cx="206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2">
                    <a:lumMod val="50000"/>
                  </a:schemeClr>
                </a:solidFill>
              </a:rPr>
              <a:t>Longchen</a:t>
            </a: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 Sima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21973" y="4922462"/>
            <a:ext cx="206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Qiuyue Jin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21973" y="5291794"/>
            <a:ext cx="2061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Jialin Chen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21973" y="5778540"/>
            <a:ext cx="4715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School of Economics, Xiamen University</a:t>
            </a:r>
            <a:endParaRPr lang="zh-CN" altLang="en-US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408" y="560422"/>
            <a:ext cx="1238721" cy="501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4676" y="449297"/>
            <a:ext cx="3528137" cy="72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1301" y="449298"/>
            <a:ext cx="3337430" cy="72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Quantlet">
            <a:hlinkClick r:id="rId7"/>
            <a:extLst>
              <a:ext uri="{FF2B5EF4-FFF2-40B4-BE49-F238E27FC236}">
                <a16:creationId xmlns:a16="http://schemas.microsoft.com/office/drawing/2014/main" id="{9648709F-8904-8E02-AFAA-2CDAD5633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8874" y="5277719"/>
            <a:ext cx="1505226" cy="1138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8872" y="242049"/>
            <a:ext cx="16584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Outline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56448" y="1084729"/>
            <a:ext cx="2079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1.Background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6448" y="1849998"/>
            <a:ext cx="348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2.Technical Introduction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56447" y="2615267"/>
            <a:ext cx="348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3.Results Analysis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56447" y="3380536"/>
            <a:ext cx="3487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4.Summary</a:t>
            </a:r>
            <a:endParaRPr lang="zh-CN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3214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Background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1261745"/>
            <a:ext cx="1025334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Industry Pain Points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Blockchain’s decentralization facilitates illicit transactions and money laundering, making AML detection in crypto networks essential for financial supervision. Centralized key nodes can cause system-wide risk propagation via abnormal behaviors.</a:t>
            </a:r>
          </a:p>
          <a:p>
            <a:pPr algn="l"/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Research Gap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Tree-based models and GNN are mainstream AML approaches with different advantages in feature learning and graph adaptability, but their comparative evaluation in real blockchain transactions is still limited.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3496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Technical Introduction</a:t>
            </a:r>
            <a:r>
              <a:rPr lang="zh-CN" altLang="en-US" sz="2800" b="1" dirty="0">
                <a:solidFill>
                  <a:srgbClr val="C00000"/>
                </a:solidFill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data processing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982980"/>
            <a:ext cx="98679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Our research leverages the Elliptic++ dataset (200k+ Bitcoin transactions, 230k+ edges) with a three-step processing pipeline:</a:t>
            </a:r>
          </a:p>
        </p:txBody>
      </p:sp>
      <p:sp>
        <p:nvSpPr>
          <p:cNvPr id="6" name="AutoShape 6"/>
          <p:cNvSpPr/>
          <p:nvPr/>
        </p:nvSpPr>
        <p:spPr>
          <a:xfrm>
            <a:off x="908050" y="2042795"/>
            <a:ext cx="3244850" cy="1844675"/>
          </a:xfrm>
          <a:prstGeom prst="roundRect">
            <a:avLst>
              <a:gd name="adj" fmla="val 10000"/>
            </a:avLst>
          </a:prstGeom>
          <a:solidFill>
            <a:srgbClr val="8892B0">
              <a:alpha val="10000"/>
            </a:srgbClr>
          </a:solidFill>
          <a:ln w="12700" cap="flat" cmpd="sng">
            <a:solidFill>
              <a:srgbClr val="FF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r>
              <a:rPr lang="en-US" altLang="zh-CN" b="1">
                <a:solidFill>
                  <a:srgbClr val="767171"/>
                </a:solidFill>
              </a:rPr>
              <a:t>Acquisition &amp; Preprocessing</a:t>
            </a:r>
          </a:p>
          <a:p>
            <a:pPr algn="l">
              <a:defRPr/>
            </a:pPr>
            <a:endParaRPr lang="en-US" altLang="zh-CN" b="1">
              <a:solidFill>
                <a:srgbClr val="767171"/>
              </a:solidFill>
            </a:endParaRPr>
          </a:p>
          <a:p>
            <a:pPr algn="l">
              <a:defRPr/>
            </a:pPr>
            <a:r>
              <a:rPr lang="en-US" altLang="zh-CN" dirty="0">
                <a:solidFill>
                  <a:schemeClr val="bg2">
                    <a:lumMod val="50000"/>
                  </a:schemeClr>
                </a:solidFill>
              </a:rPr>
              <a:t>Obtain raw data, perform cleaning, deduplication, and handle missing values for quality assurance.</a:t>
            </a:r>
          </a:p>
        </p:txBody>
      </p:sp>
      <p:sp>
        <p:nvSpPr>
          <p:cNvPr id="7" name="AutoShape 6"/>
          <p:cNvSpPr/>
          <p:nvPr/>
        </p:nvSpPr>
        <p:spPr>
          <a:xfrm>
            <a:off x="4406900" y="2042795"/>
            <a:ext cx="3244850" cy="1845945"/>
          </a:xfrm>
          <a:prstGeom prst="roundRect">
            <a:avLst>
              <a:gd name="adj" fmla="val 10000"/>
            </a:avLst>
          </a:prstGeom>
          <a:solidFill>
            <a:srgbClr val="8892B0">
              <a:alpha val="10000"/>
            </a:srgbClr>
          </a:solidFill>
          <a:ln w="12700" cap="flat" cmpd="sng">
            <a:solidFill>
              <a:srgbClr val="FF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r>
              <a:rPr lang="en-US" altLang="zh-CN" b="1">
                <a:solidFill>
                  <a:srgbClr val="767171"/>
                </a:solidFill>
              </a:rPr>
              <a:t>Network Construction</a:t>
            </a:r>
          </a:p>
          <a:p>
            <a:pPr algn="l">
              <a:defRPr/>
            </a:pPr>
            <a:endParaRPr lang="en-US" altLang="zh-CN"/>
          </a:p>
          <a:p>
            <a:pPr algn="l">
              <a:defRPr/>
            </a:pPr>
            <a:r>
              <a:rPr lang="en-US" altLang="zh-CN">
                <a:solidFill>
                  <a:srgbClr val="767171"/>
                </a:solidFill>
              </a:rPr>
              <a:t>Model transactions as nodes and fund flows as directed edges to build a complete transaction graph.</a:t>
            </a:r>
          </a:p>
        </p:txBody>
      </p:sp>
      <p:sp>
        <p:nvSpPr>
          <p:cNvPr id="8" name="AutoShape 6"/>
          <p:cNvSpPr/>
          <p:nvPr/>
        </p:nvSpPr>
        <p:spPr>
          <a:xfrm>
            <a:off x="7905750" y="2042795"/>
            <a:ext cx="3244850" cy="1835150"/>
          </a:xfrm>
          <a:prstGeom prst="roundRect">
            <a:avLst>
              <a:gd name="adj" fmla="val 10000"/>
            </a:avLst>
          </a:prstGeom>
          <a:solidFill>
            <a:srgbClr val="8892B0">
              <a:alpha val="10000"/>
            </a:srgbClr>
          </a:solidFill>
          <a:ln w="12700" cap="flat" cmpd="sng">
            <a:solidFill>
              <a:srgbClr val="FF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l">
              <a:defRPr/>
            </a:pPr>
            <a:r>
              <a:rPr lang="en-US" altLang="zh-CN" b="1">
                <a:solidFill>
                  <a:srgbClr val="767171"/>
                </a:solidFill>
              </a:rPr>
              <a:t>Feature Extraction</a:t>
            </a:r>
          </a:p>
          <a:p>
            <a:pPr algn="l">
              <a:defRPr/>
            </a:pPr>
            <a:endParaRPr lang="en-US" altLang="zh-CN">
              <a:solidFill>
                <a:srgbClr val="767171"/>
              </a:solidFill>
            </a:endParaRPr>
          </a:p>
          <a:p>
            <a:pPr algn="l">
              <a:defRPr/>
            </a:pPr>
            <a:r>
              <a:rPr lang="en-US" altLang="zh-CN">
                <a:solidFill>
                  <a:srgbClr val="767171"/>
                </a:solidFill>
              </a:rPr>
              <a:t>Utilize 166 native features and compute network centrality metrics to enrich feature space.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245" y="3888740"/>
            <a:ext cx="5344405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Technical Introduction</a:t>
            </a:r>
            <a:r>
              <a:rPr lang="zh-CN" altLang="en-US" sz="2800" b="1" dirty="0">
                <a:solidFill>
                  <a:srgbClr val="C00000"/>
                </a:solidFill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Centrality Metrics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1558290"/>
            <a:ext cx="924052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Degree centrality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In-degree/Out-degree Ratio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PageRank centrality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Betweenness centrality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Closeness Centrality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Clustering Coefficient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860" y="1835785"/>
            <a:ext cx="3791038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32143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Degree centrality</a:t>
            </a:r>
          </a:p>
          <a:p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9020" y="1261745"/>
            <a:ext cx="92405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Nieminen (1974): Measure of centrality based upon degree. </a:t>
            </a:r>
          </a:p>
          <a:p>
            <a:pPr algn="l"/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For a network , degree centrality of node equals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042035" y="2774950"/>
                <a:ext cx="9240520" cy="2382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For a network , degree centrality of node equals</a:t>
                </a:r>
              </a:p>
              <a:p>
                <a:pPr algn="l"/>
                <a:endParaRPr lang="en-US" altLang="zh-CN" sz="2400" i="1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𝑫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𝒗</m:t>
                      </m:r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f>
                        <m:f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𝒅𝒆𝒈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US" altLang="zh-CN" sz="280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sz="2400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2400" i="1" dirty="0">
                    <a:solidFill>
                      <a:schemeClr val="bg2">
                        <a:lumMod val="50000"/>
                      </a:schemeClr>
                    </a:solidFill>
                    <a:latin typeface="Cambria Math" panose="02040503050406030204" charset="0"/>
                    <a:cs typeface="Cambria Math" panose="02040503050406030204" charset="0"/>
                  </a:rPr>
                  <a:t>where n is the total number of nodes in the network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035" y="2774950"/>
                <a:ext cx="9240520" cy="23825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In-degree/Out-degree Ratio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1261745"/>
            <a:ext cx="92405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Core Logic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:	Distinguish inward/outward capital flow in directed graphs.</a:t>
            </a:r>
          </a:p>
          <a:p>
            <a:pPr algn="l"/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Project Significance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High out-degree &amp; low in-degree </a:t>
            </a:r>
            <a:r>
              <a:rPr lang="en-US" altLang="en-US" sz="2400" dirty="0">
                <a:solidFill>
                  <a:schemeClr val="bg2">
                    <a:lumMod val="50000"/>
                  </a:schemeClr>
                </a:solidFill>
              </a:rPr>
              <a:t>→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 Money laundering distribution end (early stage)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High in-degree &amp; low out-degree </a:t>
            </a:r>
            <a:r>
              <a:rPr lang="en-US" altLang="en-US" sz="2400" dirty="0">
                <a:solidFill>
                  <a:schemeClr val="bg2">
                    <a:lumMod val="50000"/>
                  </a:schemeClr>
                </a:solidFill>
              </a:rPr>
              <a:t>→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 Aggregation end / Darknet receiving address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49020" y="1687830"/>
                <a:ext cx="9240520" cy="34823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PageRank centrality of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:</a:t>
                </a: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𝑷𝑹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𝜶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𝒏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𝒌</m:t>
                                  </m:r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,</m:t>
                                  </m:r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𝒅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𝑷𝑹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𝜷</m:t>
                      </m:r>
                    </m:oMath>
                  </m:oMathPara>
                </a14:m>
                <a:endParaRPr lang="en-US" altLang="zh-CN" sz="2800" b="1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: constants </a:t>
                </a: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𝑑</m:t>
                    </m:r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: out-degree of node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if such degree is positive, or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𝑑</m:t>
                    </m:r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)=1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 if the out-degree of </a:t>
                </a: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is null.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20" y="1687830"/>
                <a:ext cx="9240520" cy="348234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PageRank centrality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PageRank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49020" y="1687830"/>
                <a:ext cx="9240520" cy="2735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It follows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𝑷𝑹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can be computed as:</a:t>
                </a: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𝑷𝑹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𝑰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𝜶</m:t>
                          </m:r>
                          <m:sSup>
                            <m:sSupPr>
                              <m:ctrlP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p>
                          </m:sSup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𝑨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𝜷</m:t>
                      </m:r>
                    </m:oMath>
                  </m:oMathPara>
                </a14:m>
                <a:endParaRPr lang="en-US" altLang="zh-CN" sz="2800" b="1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: damping factor </a:t>
                </a: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𝛽</m:t>
                    </m:r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: personalization vector </a:t>
                </a: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Both play the same role as in Katz centrality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20" y="1687830"/>
                <a:ext cx="9240520" cy="27355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Betweenness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49020" y="1687830"/>
                <a:ext cx="9240520" cy="4438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400" b="1" dirty="0">
                    <a:solidFill>
                      <a:schemeClr val="bg2">
                        <a:lumMod val="50000"/>
                      </a:schemeClr>
                    </a:solidFill>
                  </a:rPr>
                  <a:t>Core Logic:</a:t>
                </a: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	Nodes acting as "bridges" more frequently are more important. Measures the control over information flow.</a:t>
                </a: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r>
                  <a:rPr lang="en-US" altLang="zh-CN" sz="2400" b="1" dirty="0">
                    <a:solidFill>
                      <a:schemeClr val="bg2">
                        <a:lumMod val="50000"/>
                      </a:schemeClr>
                    </a:solidFill>
                  </a:rPr>
                  <a:t>Mathematical Expression:</a:t>
                </a: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	Ratio of shortest paths passing through the node in the entire network.</a:t>
                </a: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𝑩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𝒗</m:t>
                      </m:r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𝒔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≠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≠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𝒕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𝒔𝒕</m:t>
                                  </m:r>
                                </m:sub>
                              </m:s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𝒗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𝒔𝒕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where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𝑠𝑡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: Total number of shortest paths from node s to node t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𝑠𝑡</m:t>
                        </m:r>
                      </m:sub>
                    </m:sSub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𝑣</m:t>
                    </m:r>
                    <m:r>
                      <a:rPr lang="en-US" altLang="zh-CN" sz="2400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: Number of such paths passing through node v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20" y="1687830"/>
                <a:ext cx="9240520" cy="44380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Closeness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49020" y="1017905"/>
                <a:ext cx="9240520" cy="5304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2400" b="1" dirty="0">
                    <a:solidFill>
                      <a:schemeClr val="bg2">
                        <a:lumMod val="50000"/>
                      </a:schemeClr>
                    </a:solidFill>
                  </a:rPr>
                  <a:t>Core Logic:</a:t>
                </a: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	Measures the average distance from a node to all other nodes in the network.</a:t>
                </a: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r>
                  <a:rPr lang="en-US" altLang="zh-CN" sz="2400" b="1" dirty="0">
                    <a:solidFill>
                      <a:schemeClr val="bg2">
                        <a:lumMod val="50000"/>
                      </a:schemeClr>
                    </a:solidFill>
                  </a:rPr>
                  <a:t>Mathematical Expression:</a:t>
                </a: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 	closeness centrality equals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𝒅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800" b="1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where :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𝒅</m:t>
                    </m:r>
                    <m:r>
                      <a:rPr lang="en-US" altLang="zh-CN" sz="24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𝒌</m:t>
                        </m:r>
                      </m:sub>
                    </m:sSub>
                    <m:r>
                      <a:rPr lang="en-US" altLang="zh-CN" sz="24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: of edges in the geodesic linking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𝒌</m:t>
                        </m:r>
                      </m:sub>
                    </m:sSub>
                  </m:oMath>
                </a14:m>
                <a:endParaRPr lang="en-US" altLang="zh-CN" sz="2400" b="1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Relative centrality based on closeness measure: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𝑪</m:t>
                          </m:r>
                        </m:sub>
                        <m:sup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’</m:t>
                          </m:r>
                        </m:sup>
                      </m:sSubSup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𝒗</m:t>
                          </m:r>
                        </m:e>
                        <m:sub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2800" b="1" i="1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𝒏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sz="2800" b="1" i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𝒅</m:t>
                              </m:r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solidFill>
                                        <a:schemeClr val="bg2">
                                          <a:lumMod val="50000"/>
                                        </a:schemeClr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zh-CN" sz="2800" b="1" i="1" dirty="0">
                                  <a:solidFill>
                                    <a:schemeClr val="bg2">
                                      <a:lumMod val="50000"/>
                                    </a:schemeClr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zh-CN" sz="2400" b="1" i="1" dirty="0">
                  <a:solidFill>
                    <a:schemeClr val="bg2">
                      <a:lumMod val="50000"/>
                    </a:schemeClr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l"/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20" y="1017905"/>
                <a:ext cx="9240520" cy="530415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Clustering Coefficient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1261745"/>
            <a:ext cx="924052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Core Logic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:	Measures if a node's neighbors are connected to each other (clustering degree).</a:t>
            </a:r>
          </a:p>
          <a:p>
            <a:pPr algn="l"/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Project Significance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Illicit nodes (especially money laundering ones) have extremely low clustering coefficients.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To avoid tracking, funds are transferred linearly instead of circulating among associates.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An excellent indicator for identifying the "distribution-type" money laundering mode.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Technical Introduction</a:t>
            </a:r>
            <a:r>
              <a:rPr lang="zh-CN" altLang="en-US" sz="2800" b="1" dirty="0">
                <a:solidFill>
                  <a:srgbClr val="C00000"/>
                </a:solidFill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Model Training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3256915"/>
            <a:ext cx="92405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LightGBM (Leaf-wise)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GraphSAGE GNN (F1-optimized parameters)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GNN + Optuna hyperparameter search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49020" y="1595120"/>
            <a:ext cx="92138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From "Forest" to </a:t>
            </a:r>
          </a:p>
          <a:p>
            <a:pPr algn="ctr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"Gradient Boosting" &amp; "Graph Structure"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205" y="2965450"/>
            <a:ext cx="2671200" cy="252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LightGBM (Leaf-wise)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1261745"/>
            <a:ext cx="924052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Background:	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Efficient GBDT implementation, core tree growth strategy, baseline model for blockchain AML detection</a:t>
            </a:r>
          </a:p>
          <a:p>
            <a:pPr algn="l"/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Core Growth Logic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Criterion: Max loss function reduction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Split only the leaf node with the largest split gain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Limit depth/leaf num to avoid overfitting</a:t>
            </a:r>
          </a:p>
          <a:p>
            <a:pPr algn="l"/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Three Lightweight Core Technologies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Histogram Optimization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Discretize continuous features, reduce memory/computation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GOSS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Retain high-gradient samples, precise down-sampling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EFB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：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Bundle mutually exclusive features, reduce high-dimensional feature dimensions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GNN — Graph Neural Network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1261745"/>
            <a:ext cx="924052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Core idea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 indent="0" algn="l"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learn embeddings by aggregating features from a node and its neighbors.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  <a:sym typeface="+mn-ea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GNN is a type of neural network for graph-structured data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, which consists of nodes and edges, such as blockchain transaction networks, fund flows, and social relations.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Effectively captures structural patterns, relationships, and propagation paths, ideal for money laundering detection, fraud identification, and ring discovery.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Common models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:</a:t>
            </a:r>
          </a:p>
          <a:p>
            <a:pPr indent="0" algn="l"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GraphSAGE, GCN, GAT, GIN, etc.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9439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</a:rPr>
              <a:t>GNN — Graph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1049020" y="1622425"/>
                <a:ext cx="9240520" cy="3669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chemeClr val="bg2">
                        <a:lumMod val="50000"/>
                      </a:schemeClr>
                    </a:solidFill>
                  </a:rPr>
                  <a:t>F1-optimized parameters</a:t>
                </a:r>
              </a:p>
              <a:p>
                <a:pPr indent="0" algn="l">
                  <a:buNone/>
                </a:pP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The best set of model parameters optimized to maximize F1-score, for imbalanced tasks like AML detection.</a:t>
                </a: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𝟏</m:t>
                        </m:r>
                      </m:sub>
                    </m:sSub>
                    <m:r>
                      <a:rPr lang="en-US" altLang="zh-CN" sz="28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8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𝟐</m:t>
                    </m:r>
                    <m:r>
                      <a:rPr lang="en-US" altLang="zh-CN" sz="2800" b="1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f>
                      <m:fPr>
                        <m:ctrlP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𝑷𝒓𝒆𝒄𝒊𝒔𝒊𝒐𝒏</m:t>
                        </m:r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∗</m:t>
                        </m:r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𝑹𝒆𝒄𝒂𝒍𝒍</m:t>
                        </m:r>
                      </m:num>
                      <m:den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𝑷𝒓𝒆𝒄𝒊𝒔𝒊𝒐𝒏</m:t>
                        </m:r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2800" b="1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𝑹𝒆𝒄𝒂𝒍𝒍</m:t>
                        </m:r>
                      </m:den>
                    </m:f>
                  </m:oMath>
                </a14:m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342900" indent="-342900" algn="l">
                  <a:buFont typeface="Arial" panose="020B0604020202020204" pitchFamily="34" charset="0"/>
                  <a:buChar char="•"/>
                </a:pPr>
                <a:r>
                  <a:rPr lang="en-US" altLang="zh-CN" sz="2400" b="1" dirty="0">
                    <a:solidFill>
                      <a:schemeClr val="bg2">
                        <a:lumMod val="50000"/>
                      </a:schemeClr>
                    </a:solidFill>
                  </a:rPr>
                  <a:t>Optuna hyperparameter search</a:t>
                </a:r>
              </a:p>
              <a:p>
                <a:pPr indent="0" algn="l">
                  <a:buNone/>
                </a:pPr>
                <a:r>
                  <a:rPr lang="en-US" altLang="zh-CN" sz="2400" dirty="0">
                    <a:solidFill>
                      <a:schemeClr val="bg2">
                        <a:lumMod val="50000"/>
                      </a:schemeClr>
                    </a:solidFill>
                  </a:rPr>
                  <a:t>An automatic parameter searching process using Optuna to find the best hyperparameters.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20" y="1622425"/>
                <a:ext cx="9240520" cy="36690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Technical Introduction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Voting &amp; Analysis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2186940"/>
            <a:ext cx="92405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Soft Voting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Outputs probabilities instead of classes.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Averages weighted probabilities from multiple models.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More robust and accurate than hard voting.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Shapley Additive Explanations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Game theory-based model explanation method.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Quantifies feature importance for each prediction.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Improves transparency and interpretability.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9020" y="1134745"/>
            <a:ext cx="9213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From "Simple Majority" to "Weighted Interpretation"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9020" y="1999615"/>
            <a:ext cx="924052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Data Structure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Network Feature Analysis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rgbClr val="C00000"/>
              </a:solidFill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Model Architecture</a:t>
            </a: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Performance Comparison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675" y="2980690"/>
            <a:ext cx="8425815" cy="32492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Data Structure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9020" y="1187450"/>
            <a:ext cx="92405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Data Structure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The Elliptic dataset contains a total of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sym typeface="+mn-ea"/>
              </a:rPr>
              <a:t>200k+ Bitcoin transactions, 230k+ edges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, with three types of node labels: illicit, licit, and unknown. The distribution is shown in the figure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centrality_histogram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525" y="1224280"/>
            <a:ext cx="6238875" cy="48240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Network Feature Analysis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763905"/>
            <a:ext cx="924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Centrality Histograms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13155" y="6028055"/>
            <a:ext cx="101758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Chart Interpretation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Exhibiting typical right-skewed long-tail distributions.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Network Feature Analysis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049020" y="832485"/>
            <a:ext cx="92405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Boxplot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of 7 network features grouped by class (log scale).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176020" y="5289550"/>
            <a:ext cx="924052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Chart Interpretation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Blue box = Unknown class (3), Green = Licit (2), Red = Illicit (1). Licit nodes show more dispersed feature value distributions, illicit nodes generally have lower and more concentrated feature values.</a:t>
            </a:r>
          </a:p>
        </p:txBody>
      </p:sp>
      <p:pic>
        <p:nvPicPr>
          <p:cNvPr id="7" name="图片 6" descr="box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095" y="1313180"/>
            <a:ext cx="6262370" cy="40392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Network Feature Analysis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867410"/>
            <a:ext cx="9240520" cy="786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Centrality  Statistics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7295" y="3905250"/>
            <a:ext cx="10028555" cy="2605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Key Findings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Clustering Coefficient Difference: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Licit nodes have a clustering coefficient 23x higher than illicit nodes, indicating that licit transactions form tighter local communities (e.g., business networks).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Betweenness Centrality Difference: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Licit nodes have betweenness centrality 95x higher than illicit nodes, suggesting licit nodes more often serve as network intermediaries (e.g., exchanges, payment platforms).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580" y="1378585"/>
            <a:ext cx="8244840" cy="23380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</a:rPr>
              <a:t>Model Architecture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2680" y="955675"/>
            <a:ext cx="924052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LightGBM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图片 4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580" y="1350645"/>
            <a:ext cx="7693025" cy="16986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22680" y="2966085"/>
            <a:ext cx="9240520" cy="542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GraphSAGE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图片 7" descr="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9815" y="3355340"/>
            <a:ext cx="753237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Results Analysis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：</a:t>
            </a:r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P</a:t>
            </a:r>
            <a:r>
              <a:rPr lang="en-US" altLang="zh-CN" sz="2800" b="1" dirty="0">
                <a:solidFill>
                  <a:srgbClr val="C00000"/>
                </a:solidFill>
              </a:rPr>
              <a:t>erformance Comparison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940" y="2324735"/>
            <a:ext cx="8402320" cy="177736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049020" y="1191895"/>
            <a:ext cx="9240520" cy="869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Key Finding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Tree-based models significantly outperform GNN on this task. 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9020" y="4102100"/>
            <a:ext cx="9240520" cy="3162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Key issues identified: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Unknown node interference: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 77% of nodes have unknown labels, contaminating message passing.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Temporal distribution shift: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Graph structure evolves over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Training strategy: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No validation set, no early stopping.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14000">
                <a:schemeClr val="bg1"/>
              </a:gs>
              <a:gs pos="83000">
                <a:schemeClr val="bg1"/>
              </a:gs>
              <a:gs pos="100000">
                <a:schemeClr val="bg2">
                  <a:lumMod val="90000"/>
                </a:schemeClr>
              </a:gs>
            </a:gsLst>
            <a:lin ang="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49020" y="241935"/>
            <a:ext cx="8183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sym typeface="+mn-ea"/>
              </a:rPr>
              <a:t>Summary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49020" y="343535"/>
            <a:ext cx="9240520" cy="201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  <a:sym typeface="+mn-ea"/>
              </a:rPr>
              <a:t>Conclusion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In the current dataset, LightGBM performs significantly better than GraphSAGE, and simple and effective algorithms have advantages in specific scenarios.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9020" y="1985010"/>
            <a:ext cx="9240520" cy="48723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Wingdings" panose="05000000000000000000" charset="0"/>
              <a:buChar char="u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Future Prospects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Optimize training strategy: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Introduce validation set and early stop mechanism to prevent overfitting; Exploring Semi Supervised Learning to solve unknown node problems.</a:t>
            </a:r>
            <a:endParaRPr lang="en-US" altLang="zh-CN" sz="2400" b="1" dirty="0">
              <a:solidFill>
                <a:schemeClr val="bg2">
                  <a:lumMod val="50000"/>
                </a:schemeClr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Advanced Model Exploration: 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Attempting Time Graph Neural Networks to capture dynamic evolution.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Data and Feature Engineering: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 Utilizing GAN to generate samples to alleviate class imbalance and explore deeper network topology feature information.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CN" sz="2400" b="1" dirty="0">
                <a:solidFill>
                  <a:schemeClr val="bg2">
                    <a:lumMod val="50000"/>
                  </a:schemeClr>
                </a:solidFill>
              </a:rPr>
              <a:t>Hybrid model fusion:</a:t>
            </a: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</a:rPr>
              <a:t> Combining LightGBM feature importance with GNN structural information to construct a high-performance hybrid model with complementary advantages.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1311</Words>
  <Application>Microsoft Office PowerPoint</Application>
  <PresentationFormat>宽屏</PresentationFormat>
  <Paragraphs>216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等线 Light</vt:lpstr>
      <vt:lpstr>Arial</vt:lpstr>
      <vt:lpstr>Cambria Math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振宇 杨</dc:creator>
  <cp:lastModifiedBy>kagic xu</cp:lastModifiedBy>
  <cp:revision>13</cp:revision>
  <dcterms:created xsi:type="dcterms:W3CDTF">2026-03-24T09:51:00Z</dcterms:created>
  <dcterms:modified xsi:type="dcterms:W3CDTF">2026-04-20T13:05:32Z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B76DA8EE413A49C2AB733CDB985DBACB_13</vt:lpwstr>
  </property>
</Properties>
</file>