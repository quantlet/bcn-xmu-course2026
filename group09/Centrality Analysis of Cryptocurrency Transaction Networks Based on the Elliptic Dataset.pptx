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notesMasterIdLst>
    <p:notesMasterId r:id="rId5"/>
  </p:notesMasterIdLst>
  <p:sldIdLst>
    <p:sldId id="256" r:id="rId4"/>
    <p:sldId id="257" r:id="rId6"/>
    <p:sldId id="260" r:id="rId7"/>
    <p:sldId id="262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85" r:id="rId22"/>
    <p:sldId id="278" r:id="rId23"/>
    <p:sldId id="281" r:id="rId24"/>
    <p:sldId id="282" r:id="rId25"/>
    <p:sldId id="284" r:id="rId26"/>
    <p:sldId id="279" r:id="rId27"/>
    <p:sldId id="280" r:id="rId28"/>
    <p:sldId id="286" r:id="rId2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671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3" autoAdjust="0"/>
    <p:restoredTop sz="94660"/>
  </p:normalViewPr>
  <p:slideViewPr>
    <p:cSldViewPr snapToGrid="0">
      <p:cViewPr varScale="1">
        <p:scale>
          <a:sx n="71" d="100"/>
          <a:sy n="71" d="100"/>
        </p:scale>
        <p:origin x="60" y="5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2" Type="http://schemas.openxmlformats.org/officeDocument/2006/relationships/tableStyles" Target="tableStyles.xml"/><Relationship Id="rId31" Type="http://schemas.openxmlformats.org/officeDocument/2006/relationships/viewProps" Target="viewProps.xml"/><Relationship Id="rId30" Type="http://schemas.openxmlformats.org/officeDocument/2006/relationships/presProps" Target="presProps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135507-4ABF-416E-A297-358A1FACB97D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FF20C4-FF00-4AAF-9A49-6516C5F06A82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FF20C4-FF00-4AAF-9A49-6516C5F06A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FF20C4-FF00-4AAF-9A49-6516C5F06A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FF20C4-FF00-4AAF-9A49-6516C5F06A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FF20C4-FF00-4AAF-9A49-6516C5F06A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FF20C4-FF00-4AAF-9A49-6516C5F06A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FF20C4-FF00-4AAF-9A49-6516C5F06A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FF20C4-FF00-4AAF-9A49-6516C5F06A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FF20C4-FF00-4AAF-9A49-6516C5F06A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FF20C4-FF00-4AAF-9A49-6516C5F06A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FF20C4-FF00-4AAF-9A49-6516C5F06A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FF20C4-FF00-4AAF-9A49-6516C5F06A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FF20C4-FF00-4AAF-9A49-6516C5F06A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FF20C4-FF00-4AAF-9A49-6516C5F06A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FF20C4-FF00-4AAF-9A49-6516C5F06A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FF20C4-FF00-4AAF-9A49-6516C5F06A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FF20C4-FF00-4AAF-9A49-6516C5F06A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FF20C4-FF00-4AAF-9A49-6516C5F06A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FF20C4-FF00-4AAF-9A49-6516C5F06A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FF20C4-FF00-4AAF-9A49-6516C5F06A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FF20C4-FF00-4AAF-9A49-6516C5F06A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FF20C4-FF00-4AAF-9A49-6516C5F06A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FF20C4-FF00-4AAF-9A49-6516C5F06A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FF20C4-FF00-4AAF-9A49-6516C5F06A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FF20C4-FF00-4AAF-9A49-6516C5F06A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FF20C4-FF00-4AAF-9A49-6516C5F06A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FF092-2541-4C46-B766-CE2DCD2D88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384395-B584-44A3-B9BB-EBE673269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FF092-2541-4C46-B766-CE2DCD2D88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384395-B584-44A3-B9BB-EBE673269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FF092-2541-4C46-B766-CE2DCD2D88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384395-B584-44A3-B9BB-EBE673269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FF092-2541-4C46-B766-CE2DCD2D88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384395-B584-44A3-B9BB-EBE673269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FF092-2541-4C46-B766-CE2DCD2D88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384395-B584-44A3-B9BB-EBE673269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FF092-2541-4C46-B766-CE2DCD2D88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384395-B584-44A3-B9BB-EBE673269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FF092-2541-4C46-B766-CE2DCD2D88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384395-B584-44A3-B9BB-EBE673269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FF092-2541-4C46-B766-CE2DCD2D88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384395-B584-44A3-B9BB-EBE673269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FF092-2541-4C46-B766-CE2DCD2D88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384395-B584-44A3-B9BB-EBE673269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FF092-2541-4C46-B766-CE2DCD2D88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384395-B584-44A3-B9BB-EBE673269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FF092-2541-4C46-B766-CE2DCD2D88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384395-B584-44A3-B9BB-EBE673269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FF092-2541-4C46-B766-CE2DCD2D88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384395-B584-44A3-B9BB-EBE673269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FF092-2541-4C46-B766-CE2DCD2D88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384395-B584-44A3-B9BB-EBE673269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FF092-2541-4C46-B766-CE2DCD2D88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384395-B584-44A3-B9BB-EBE673269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FF092-2541-4C46-B766-CE2DCD2D88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384395-B584-44A3-B9BB-EBE673269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FF092-2541-4C46-B766-CE2DCD2D88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384395-B584-44A3-B9BB-EBE673269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FF092-2541-4C46-B766-CE2DCD2D88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384395-B584-44A3-B9BB-EBE673269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FF092-2541-4C46-B766-CE2DCD2D88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384395-B584-44A3-B9BB-EBE673269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FF092-2541-4C46-B766-CE2DCD2D88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384395-B584-44A3-B9BB-EBE673269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FF092-2541-4C46-B766-CE2DCD2D88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384395-B584-44A3-B9BB-EBE673269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FF092-2541-4C46-B766-CE2DCD2D88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384395-B584-44A3-B9BB-EBE673269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FF092-2541-4C46-B766-CE2DCD2D88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384395-B584-44A3-B9BB-EBE673269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8FF092-2541-4C46-B766-CE2DCD2D88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384395-B584-44A3-B9BB-EBE673269EF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8FF092-2541-4C46-B766-CE2DCD2D883B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384395-B584-44A3-B9BB-EBE673269EF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7.png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90000"/>
                </a:schemeClr>
              </a:gs>
              <a:gs pos="14000">
                <a:schemeClr val="bg1"/>
              </a:gs>
              <a:gs pos="83000">
                <a:schemeClr val="bg1"/>
              </a:gs>
              <a:gs pos="100000">
                <a:schemeClr val="bg2">
                  <a:lumMod val="90000"/>
                </a:schemeClr>
              </a:gs>
            </a:gsLst>
            <a:lin ang="0" scaled="1"/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1" y="273424"/>
            <a:ext cx="1160930" cy="116093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533401" y="2345683"/>
            <a:ext cx="1041698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dirty="0">
                <a:solidFill>
                  <a:srgbClr val="C00000"/>
                </a:solidFill>
              </a:rPr>
              <a:t>Centrality Analysis of Cryptocurrency Transaction Networks Based on the Elliptic Dataset</a:t>
            </a:r>
            <a:endParaRPr lang="zh-CN" altLang="en-US" sz="3600" dirty="0">
              <a:solidFill>
                <a:srgbClr val="C00000"/>
              </a:solidFill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021975" y="3881718"/>
            <a:ext cx="16226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bg2">
                    <a:lumMod val="50000"/>
                  </a:schemeClr>
                </a:solidFill>
              </a:rPr>
              <a:t>Zhenyu Yang</a:t>
            </a:r>
            <a:endParaRPr lang="zh-CN" altLang="en-US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1021975" y="4233679"/>
            <a:ext cx="16226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bg2">
                    <a:lumMod val="50000"/>
                  </a:schemeClr>
                </a:solidFill>
              </a:rPr>
              <a:t>Jinshan Xu</a:t>
            </a:r>
            <a:endParaRPr lang="zh-CN" altLang="en-US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1021973" y="4569943"/>
            <a:ext cx="20618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solidFill>
                  <a:schemeClr val="bg2">
                    <a:lumMod val="50000"/>
                  </a:schemeClr>
                </a:solidFill>
              </a:rPr>
              <a:t>Longchen</a:t>
            </a:r>
            <a:r>
              <a:rPr lang="en-US" altLang="zh-CN" dirty="0">
                <a:solidFill>
                  <a:schemeClr val="bg2">
                    <a:lumMod val="50000"/>
                  </a:schemeClr>
                </a:solidFill>
              </a:rPr>
              <a:t> Sima</a:t>
            </a:r>
            <a:endParaRPr lang="zh-CN" altLang="en-US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1021973" y="4922462"/>
            <a:ext cx="20618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bg2">
                    <a:lumMod val="50000"/>
                  </a:schemeClr>
                </a:solidFill>
              </a:rPr>
              <a:t>Qiuyue Jin</a:t>
            </a:r>
            <a:endParaRPr lang="zh-CN" altLang="en-US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021973" y="5291794"/>
            <a:ext cx="20618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bg2">
                    <a:lumMod val="50000"/>
                  </a:schemeClr>
                </a:solidFill>
              </a:rPr>
              <a:t>Jialin Chen</a:t>
            </a:r>
            <a:endParaRPr lang="zh-CN" altLang="en-US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1021973" y="5778540"/>
            <a:ext cx="47154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School of Economics, Xiamen University</a:t>
            </a:r>
            <a:endParaRPr lang="zh-CN" altLang="en-US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7408" y="560422"/>
            <a:ext cx="1238721" cy="5012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4676" y="449297"/>
            <a:ext cx="3528137" cy="723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1301" y="449298"/>
            <a:ext cx="3337430" cy="723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90000"/>
                </a:schemeClr>
              </a:gs>
              <a:gs pos="14000">
                <a:schemeClr val="bg1"/>
              </a:gs>
              <a:gs pos="83000">
                <a:schemeClr val="bg1"/>
              </a:gs>
              <a:gs pos="100000">
                <a:schemeClr val="bg2">
                  <a:lumMod val="90000"/>
                </a:schemeClr>
              </a:gs>
            </a:gsLst>
            <a:lin ang="0" scaled="1"/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048872" y="242049"/>
            <a:ext cx="16584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C00000"/>
                </a:solidFill>
              </a:rPr>
              <a:t>Outline</a:t>
            </a:r>
            <a:endParaRPr lang="en-US" altLang="zh-CN" sz="2800" b="1" dirty="0">
              <a:solidFill>
                <a:srgbClr val="C00000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156448" y="1084729"/>
            <a:ext cx="20798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1.Background</a:t>
            </a:r>
            <a:endParaRPr lang="zh-CN" altLang="en-US" sz="24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156448" y="1849998"/>
            <a:ext cx="34872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2.Technical Introduction</a:t>
            </a:r>
            <a:endParaRPr lang="zh-CN" altLang="en-US" sz="24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156447" y="2615267"/>
            <a:ext cx="34872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3.Results Analysis</a:t>
            </a:r>
            <a:endParaRPr lang="zh-CN" altLang="en-US" sz="24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1156447" y="3380536"/>
            <a:ext cx="34872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4.Summary</a:t>
            </a:r>
            <a:endParaRPr lang="zh-CN" altLang="en-US" sz="24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90000"/>
                </a:schemeClr>
              </a:gs>
              <a:gs pos="14000">
                <a:schemeClr val="bg1"/>
              </a:gs>
              <a:gs pos="83000">
                <a:schemeClr val="bg1"/>
              </a:gs>
              <a:gs pos="100000">
                <a:schemeClr val="bg2">
                  <a:lumMod val="90000"/>
                </a:schemeClr>
              </a:gs>
            </a:gsLst>
            <a:lin ang="0" scaled="1"/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049020" y="241935"/>
            <a:ext cx="321437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C00000"/>
                </a:solidFill>
              </a:rPr>
              <a:t>Background</a:t>
            </a:r>
            <a:endParaRPr lang="en-US" altLang="zh-CN" sz="2800" b="1" dirty="0">
              <a:solidFill>
                <a:srgbClr val="C00000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049020" y="1261745"/>
            <a:ext cx="10253345" cy="3784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Industry Pain Points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algn="l"/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Blockchain’s decentralization facilitates illicit transactions and money laundering, making AML detection in crypto networks essential for financial supervision. Centralized key nodes can cause system-wide risk propagation via abnormal behaviors.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algn="l"/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algn="l"/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  <a:sym typeface="+mn-ea"/>
              </a:rPr>
              <a:t>Research Gap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algn="l"/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Tree-based models and GNN are mainstream AML approaches with different advantages in feature learning and graph adaptability, but their comparative evaluation in real blockchain transactions is still limited.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90000"/>
                </a:schemeClr>
              </a:gs>
              <a:gs pos="14000">
                <a:schemeClr val="bg1"/>
              </a:gs>
              <a:gs pos="83000">
                <a:schemeClr val="bg1"/>
              </a:gs>
              <a:gs pos="100000">
                <a:schemeClr val="bg2">
                  <a:lumMod val="90000"/>
                </a:schemeClr>
              </a:gs>
            </a:gsLst>
            <a:lin ang="0" scaled="1"/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049020" y="241935"/>
            <a:ext cx="834961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C00000"/>
                </a:solidFill>
              </a:rPr>
              <a:t>Technical Introduction</a:t>
            </a:r>
            <a:r>
              <a:rPr lang="zh-CN" altLang="en-US" sz="2800" b="1" dirty="0">
                <a:solidFill>
                  <a:srgbClr val="C00000"/>
                </a:solidFill>
              </a:rPr>
              <a:t>：</a:t>
            </a:r>
            <a:r>
              <a:rPr lang="en-US" altLang="zh-CN" sz="2800" b="1" dirty="0">
                <a:solidFill>
                  <a:srgbClr val="C00000"/>
                </a:solidFill>
              </a:rPr>
              <a:t>data processing</a:t>
            </a:r>
            <a:endParaRPr lang="en-US" altLang="zh-CN" sz="2800" b="1" dirty="0">
              <a:solidFill>
                <a:srgbClr val="C00000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049020" y="982980"/>
            <a:ext cx="98679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Our research leverages the Elliptic++ dataset (200k+ Bitcoin transactions, 230k+ edges) with a three-step processing pipeline: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908050" y="2042795"/>
            <a:ext cx="3244850" cy="1844675"/>
          </a:xfrm>
          <a:prstGeom prst="roundRect">
            <a:avLst>
              <a:gd name="adj" fmla="val 10000"/>
            </a:avLst>
          </a:prstGeom>
          <a:solidFill>
            <a:srgbClr val="8892B0">
              <a:alpha val="10000"/>
            </a:srgbClr>
          </a:solidFill>
          <a:ln w="12700" cap="flat" cmpd="sng">
            <a:solidFill>
              <a:srgbClr val="FF000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l">
              <a:defRPr/>
            </a:pPr>
            <a:r>
              <a:rPr lang="en-US" altLang="zh-CN" b="1">
                <a:solidFill>
                  <a:srgbClr val="767171"/>
                </a:solidFill>
              </a:rPr>
              <a:t>Acquisition &amp; Preprocessing</a:t>
            </a:r>
            <a:endParaRPr lang="en-US" altLang="zh-CN" b="1">
              <a:solidFill>
                <a:srgbClr val="767171"/>
              </a:solidFill>
            </a:endParaRPr>
          </a:p>
          <a:p>
            <a:pPr algn="l">
              <a:defRPr/>
            </a:pPr>
            <a:endParaRPr lang="en-US" altLang="zh-CN" b="1">
              <a:solidFill>
                <a:srgbClr val="767171"/>
              </a:solidFill>
            </a:endParaRPr>
          </a:p>
          <a:p>
            <a:pPr algn="l">
              <a:defRPr/>
            </a:pPr>
            <a:r>
              <a:rPr lang="en-US" altLang="zh-CN" dirty="0">
                <a:solidFill>
                  <a:schemeClr val="bg2">
                    <a:lumMod val="50000"/>
                  </a:schemeClr>
                </a:solidFill>
              </a:rPr>
              <a:t>Obtain raw data, perform cleaning, deduplication, and handle missing values for quality assurance.</a:t>
            </a:r>
            <a:endParaRPr lang="en-US" altLang="zh-CN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AutoShape 6"/>
          <p:cNvSpPr/>
          <p:nvPr/>
        </p:nvSpPr>
        <p:spPr>
          <a:xfrm>
            <a:off x="4406900" y="2042795"/>
            <a:ext cx="3244850" cy="1845945"/>
          </a:xfrm>
          <a:prstGeom prst="roundRect">
            <a:avLst>
              <a:gd name="adj" fmla="val 10000"/>
            </a:avLst>
          </a:prstGeom>
          <a:solidFill>
            <a:srgbClr val="8892B0">
              <a:alpha val="10000"/>
            </a:srgbClr>
          </a:solidFill>
          <a:ln w="12700" cap="flat" cmpd="sng">
            <a:solidFill>
              <a:srgbClr val="FF000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l">
              <a:defRPr/>
            </a:pPr>
            <a:r>
              <a:rPr lang="en-US" altLang="zh-CN" b="1">
                <a:solidFill>
                  <a:srgbClr val="767171"/>
                </a:solidFill>
              </a:rPr>
              <a:t>Network Construction</a:t>
            </a:r>
            <a:endParaRPr lang="en-US" altLang="zh-CN" b="1">
              <a:solidFill>
                <a:srgbClr val="767171"/>
              </a:solidFill>
            </a:endParaRPr>
          </a:p>
          <a:p>
            <a:pPr algn="l">
              <a:defRPr/>
            </a:pPr>
            <a:endParaRPr lang="en-US" altLang="zh-CN"/>
          </a:p>
          <a:p>
            <a:pPr algn="l">
              <a:defRPr/>
            </a:pPr>
            <a:r>
              <a:rPr lang="en-US" altLang="zh-CN">
                <a:solidFill>
                  <a:srgbClr val="767171"/>
                </a:solidFill>
              </a:rPr>
              <a:t>Model transactions as nodes and fund flows as directed edges to build a complete transaction graph.</a:t>
            </a:r>
            <a:endParaRPr lang="en-US" altLang="zh-CN">
              <a:solidFill>
                <a:srgbClr val="767171"/>
              </a:solidFill>
            </a:endParaRPr>
          </a:p>
        </p:txBody>
      </p:sp>
      <p:sp>
        <p:nvSpPr>
          <p:cNvPr id="8" name="AutoShape 6"/>
          <p:cNvSpPr/>
          <p:nvPr/>
        </p:nvSpPr>
        <p:spPr>
          <a:xfrm>
            <a:off x="7905750" y="2042795"/>
            <a:ext cx="3244850" cy="1835150"/>
          </a:xfrm>
          <a:prstGeom prst="roundRect">
            <a:avLst>
              <a:gd name="adj" fmla="val 10000"/>
            </a:avLst>
          </a:prstGeom>
          <a:solidFill>
            <a:srgbClr val="8892B0">
              <a:alpha val="10000"/>
            </a:srgbClr>
          </a:solidFill>
          <a:ln w="12700" cap="flat" cmpd="sng">
            <a:solidFill>
              <a:srgbClr val="FF000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l">
              <a:defRPr/>
            </a:pPr>
            <a:r>
              <a:rPr lang="en-US" altLang="zh-CN" b="1">
                <a:solidFill>
                  <a:srgbClr val="767171"/>
                </a:solidFill>
              </a:rPr>
              <a:t>Feature Extraction</a:t>
            </a:r>
            <a:endParaRPr lang="en-US" altLang="zh-CN" b="1">
              <a:solidFill>
                <a:srgbClr val="767171"/>
              </a:solidFill>
            </a:endParaRPr>
          </a:p>
          <a:p>
            <a:pPr algn="l">
              <a:defRPr/>
            </a:pPr>
            <a:endParaRPr lang="en-US" altLang="zh-CN">
              <a:solidFill>
                <a:srgbClr val="767171"/>
              </a:solidFill>
            </a:endParaRPr>
          </a:p>
          <a:p>
            <a:pPr algn="l">
              <a:defRPr/>
            </a:pPr>
            <a:r>
              <a:rPr lang="en-US" altLang="zh-CN">
                <a:solidFill>
                  <a:srgbClr val="767171"/>
                </a:solidFill>
              </a:rPr>
              <a:t>Utilize 166 native features and compute network centrality metrics to enrich feature space.</a:t>
            </a:r>
            <a:endParaRPr lang="en-US" altLang="zh-CN">
              <a:solidFill>
                <a:srgbClr val="767171"/>
              </a:solidFill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57245" y="3888740"/>
            <a:ext cx="5344405" cy="288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90000"/>
                </a:schemeClr>
              </a:gs>
              <a:gs pos="14000">
                <a:schemeClr val="bg1"/>
              </a:gs>
              <a:gs pos="83000">
                <a:schemeClr val="bg1"/>
              </a:gs>
              <a:gs pos="100000">
                <a:schemeClr val="bg2">
                  <a:lumMod val="90000"/>
                </a:schemeClr>
              </a:gs>
            </a:gsLst>
            <a:lin ang="0" scaled="1"/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049020" y="241935"/>
            <a:ext cx="818324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C00000"/>
                </a:solidFill>
              </a:rPr>
              <a:t>Technical Introduction</a:t>
            </a:r>
            <a:r>
              <a:rPr lang="zh-CN" altLang="en-US" sz="2800" b="1" dirty="0">
                <a:solidFill>
                  <a:srgbClr val="C00000"/>
                </a:solidFill>
              </a:rPr>
              <a:t>：</a:t>
            </a:r>
            <a:r>
              <a:rPr lang="en-US" altLang="zh-CN" sz="2800" b="1" dirty="0">
                <a:solidFill>
                  <a:srgbClr val="C00000"/>
                </a:solidFill>
              </a:rPr>
              <a:t>Centrality Metrics</a:t>
            </a:r>
            <a:endParaRPr lang="en-US" altLang="zh-CN" sz="2800" b="1" dirty="0">
              <a:solidFill>
                <a:srgbClr val="C00000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049020" y="1558290"/>
            <a:ext cx="9240520" cy="41541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Degree centrality</a:t>
            </a: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In-degree/Out-degree Ratio</a:t>
            </a: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PageRank centrality</a:t>
            </a: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Betweenness centrality</a:t>
            </a: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Closeness Centrality</a:t>
            </a: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Clustering Coefficient</a:t>
            </a: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2860" y="1835785"/>
            <a:ext cx="3791038" cy="36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90000"/>
                </a:schemeClr>
              </a:gs>
              <a:gs pos="14000">
                <a:schemeClr val="bg1"/>
              </a:gs>
              <a:gs pos="83000">
                <a:schemeClr val="bg1"/>
              </a:gs>
              <a:gs pos="100000">
                <a:schemeClr val="bg2">
                  <a:lumMod val="90000"/>
                </a:schemeClr>
              </a:gs>
            </a:gsLst>
            <a:lin ang="0" scaled="1"/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049020" y="241935"/>
            <a:ext cx="3214370" cy="9531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C00000"/>
                </a:solidFill>
              </a:rPr>
              <a:t>Degree centrality</a:t>
            </a:r>
            <a:endParaRPr lang="en-US" altLang="zh-CN" sz="2800" b="1" dirty="0">
              <a:solidFill>
                <a:srgbClr val="C00000"/>
              </a:solidFill>
            </a:endParaRPr>
          </a:p>
          <a:p>
            <a:endParaRPr lang="en-US" altLang="zh-CN" sz="2800" b="1" dirty="0">
              <a:solidFill>
                <a:srgbClr val="C00000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049020" y="1261745"/>
            <a:ext cx="924052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Nieminen (1974): Measure of centrality based upon degree. 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algn="l"/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For a network , degree centrality of node equals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本框 4"/>
              <p:cNvSpPr txBox="1"/>
              <p:nvPr/>
            </p:nvSpPr>
            <p:spPr>
              <a:xfrm>
                <a:off x="1042035" y="2774950"/>
                <a:ext cx="9240520" cy="23825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altLang="zh-CN" sz="2400" dirty="0">
                    <a:solidFill>
                      <a:schemeClr val="bg2">
                        <a:lumMod val="50000"/>
                      </a:schemeClr>
                    </a:solidFill>
                  </a:rPr>
                  <a:t>For a network , degree centrality of node equals</a:t>
                </a:r>
                <a:endParaRPr lang="en-US" altLang="zh-CN" sz="2400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pPr algn="l"/>
                <a:endParaRPr lang="en-US" altLang="zh-CN" sz="2400" i="1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𝑪</m:t>
                          </m:r>
                        </m:e>
                        <m:sub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𝑫</m:t>
                          </m:r>
                        </m:sub>
                      </m:sSub>
                      <m:r>
                        <a:rPr lang="en-US" altLang="zh-CN" sz="2800" b="1" i="1" dirty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2800" b="1" i="1" dirty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𝒗</m:t>
                      </m:r>
                      <m:r>
                        <a:rPr lang="en-US" altLang="zh-CN" sz="2800" b="1" i="1" dirty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)</m:t>
                      </m:r>
                      <m:f>
                        <m:fPr>
                          <m:ctrlP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fPr>
                        <m:num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𝒅𝒆𝒈</m:t>
                          </m:r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𝒗</m:t>
                          </m:r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</m:t>
                          </m:r>
                        </m:num>
                        <m:den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𝒏</m:t>
                          </m:r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</m:t>
                          </m:r>
                        </m:den>
                      </m:f>
                    </m:oMath>
                  </m:oMathPara>
                </a14:m>
                <a:endParaRPr lang="en-US" altLang="zh-CN" sz="2800" i="1" dirty="0">
                  <a:solidFill>
                    <a:schemeClr val="bg2">
                      <a:lumMod val="50000"/>
                    </a:schemeClr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pPr algn="l"/>
                <a:endParaRPr lang="en-US" altLang="zh-CN" sz="2400" i="1" dirty="0">
                  <a:solidFill>
                    <a:schemeClr val="bg2">
                      <a:lumMod val="50000"/>
                    </a:schemeClr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pPr algn="l"/>
                <a:r>
                  <a:rPr lang="en-US" altLang="zh-CN" sz="2400" i="1" dirty="0">
                    <a:solidFill>
                      <a:schemeClr val="bg2">
                        <a:lumMod val="50000"/>
                      </a:schemeClr>
                    </a:solidFill>
                    <a:latin typeface="Cambria Math" panose="02040503050406030204" charset="0"/>
                    <a:cs typeface="Cambria Math" panose="02040503050406030204" charset="0"/>
                  </a:rPr>
                  <a:t>where n is the total number of nodes in the network</a:t>
                </a:r>
                <a:endParaRPr lang="en-US" altLang="zh-CN" sz="2400" i="1" dirty="0">
                  <a:solidFill>
                    <a:schemeClr val="bg2">
                      <a:lumMod val="50000"/>
                    </a:schemeClr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2035" y="2774950"/>
                <a:ext cx="9240520" cy="238252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90000"/>
                </a:schemeClr>
              </a:gs>
              <a:gs pos="14000">
                <a:schemeClr val="bg1"/>
              </a:gs>
              <a:gs pos="83000">
                <a:schemeClr val="bg1"/>
              </a:gs>
              <a:gs pos="100000">
                <a:schemeClr val="bg2">
                  <a:lumMod val="90000"/>
                </a:schemeClr>
              </a:gs>
            </a:gsLst>
            <a:lin ang="0" scaled="1"/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049020" y="241935"/>
            <a:ext cx="943927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C00000"/>
                </a:solidFill>
              </a:rPr>
              <a:t>In-degree/Out-degree Ratio</a:t>
            </a:r>
            <a:endParaRPr lang="en-US" altLang="zh-CN" sz="2800" b="1" dirty="0">
              <a:solidFill>
                <a:srgbClr val="C00000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049020" y="1261745"/>
            <a:ext cx="9240520" cy="3784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Core Logic</a:t>
            </a: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:	Distinguish inward/outward capital flow in directed graphs.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algn="l"/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algn="l"/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algn="l"/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Project Significance</a:t>
            </a: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: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High out-degree &amp; low in-degree </a:t>
            </a:r>
            <a:r>
              <a:rPr lang="en-US" altLang="en-US" sz="2400" dirty="0">
                <a:solidFill>
                  <a:schemeClr val="bg2">
                    <a:lumMod val="50000"/>
                  </a:schemeClr>
                </a:solidFill>
              </a:rPr>
              <a:t>→</a:t>
            </a: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 Money laundering distribution end (early stage)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High in-degree &amp; low out-degree </a:t>
            </a:r>
            <a:r>
              <a:rPr lang="en-US" altLang="en-US" sz="2400" dirty="0">
                <a:solidFill>
                  <a:schemeClr val="bg2">
                    <a:lumMod val="50000"/>
                  </a:schemeClr>
                </a:solidFill>
              </a:rPr>
              <a:t>→</a:t>
            </a: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 Aggregation end / Darknet receiving address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90000"/>
                </a:schemeClr>
              </a:gs>
              <a:gs pos="14000">
                <a:schemeClr val="bg1"/>
              </a:gs>
              <a:gs pos="83000">
                <a:schemeClr val="bg1"/>
              </a:gs>
              <a:gs pos="100000">
                <a:schemeClr val="bg2">
                  <a:lumMod val="90000"/>
                </a:schemeClr>
              </a:gs>
            </a:gsLst>
            <a:lin ang="0" scaled="1"/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文本框 2"/>
              <p:cNvSpPr txBox="1"/>
              <p:nvPr/>
            </p:nvSpPr>
            <p:spPr>
              <a:xfrm>
                <a:off x="1049020" y="1687830"/>
                <a:ext cx="9240520" cy="34823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altLang="zh-CN" sz="2400" dirty="0">
                    <a:solidFill>
                      <a:schemeClr val="bg2">
                        <a:lumMod val="50000"/>
                      </a:schemeClr>
                    </a:solidFill>
                  </a:rPr>
                  <a:t>PageRank centrality of node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𝑣</m:t>
                        </m:r>
                      </m:e>
                      <m:sub>
                        <m:r>
                          <a:rPr lang="en-US" altLang="zh-CN" sz="2400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zh-CN" sz="2400" dirty="0">
                    <a:solidFill>
                      <a:schemeClr val="bg2">
                        <a:lumMod val="50000"/>
                      </a:schemeClr>
                    </a:solidFill>
                  </a:rPr>
                  <a:t>:</a:t>
                </a:r>
                <a:endParaRPr lang="en-US" altLang="zh-CN" sz="2400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pPr algn="l"/>
                <a:endParaRPr lang="en-US" altLang="zh-CN" sz="2400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𝑪</m:t>
                          </m:r>
                        </m:e>
                        <m:sub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𝑷𝑹</m:t>
                          </m:r>
                        </m:sub>
                      </m:sSub>
                      <m:r>
                        <a:rPr lang="en-US" altLang="zh-CN" sz="2800" b="1" i="1" dirty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𝒗</m:t>
                          </m:r>
                        </m:e>
                        <m:sub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𝒌</m:t>
                          </m:r>
                        </m:sub>
                      </m:sSub>
                      <m:r>
                        <a:rPr lang="en-US" altLang="zh-CN" sz="2800" b="1" i="1" dirty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)=</m:t>
                      </m:r>
                      <m:r>
                        <a:rPr lang="en-US" altLang="zh-CN" sz="2800" b="1" i="1" dirty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𝜶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naryPr>
                        <m:sub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𝒊</m:t>
                          </m:r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=</m:t>
                          </m:r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</m:t>
                          </m:r>
                        </m:sub>
                        <m:sup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𝒏</m:t>
                          </m:r>
                        </m:sup>
                        <m:e>
                          <m:f>
                            <m:fPr>
                              <m:ctrlPr>
                                <a:rPr lang="en-US" altLang="zh-CN" sz="2800" b="1" i="1" dirty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CN" sz="2800" b="1" i="1" dirty="0">
                                      <a:solidFill>
                                        <a:schemeClr val="bg2">
                                          <a:lumMod val="50000"/>
                                        </a:schemeClr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800" b="1" i="1" dirty="0">
                                      <a:solidFill>
                                        <a:schemeClr val="bg2">
                                          <a:lumMod val="50000"/>
                                        </a:schemeClr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𝒂</m:t>
                                  </m:r>
                                </m:e>
                                <m:sub>
                                  <m:r>
                                    <a:rPr lang="en-US" altLang="zh-CN" sz="2800" b="1" i="1" dirty="0">
                                      <a:solidFill>
                                        <a:schemeClr val="bg2">
                                          <a:lumMod val="50000"/>
                                        </a:schemeClr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𝒌</m:t>
                                  </m:r>
                                  <m:r>
                                    <a:rPr lang="en-US" altLang="zh-CN" sz="2800" b="1" i="1" dirty="0">
                                      <a:solidFill>
                                        <a:schemeClr val="bg2">
                                          <a:lumMod val="50000"/>
                                        </a:schemeClr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2800" b="1" i="1" dirty="0">
                                      <a:solidFill>
                                        <a:schemeClr val="bg2">
                                          <a:lumMod val="50000"/>
                                        </a:schemeClr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𝒊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altLang="zh-CN" sz="2800" b="1" i="1" dirty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𝒅</m:t>
                              </m:r>
                              <m:r>
                                <a:rPr lang="en-US" altLang="zh-CN" sz="2800" b="1" i="1" dirty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zh-CN" sz="2800" b="1" i="1" dirty="0">
                                      <a:solidFill>
                                        <a:schemeClr val="bg2">
                                          <a:lumMod val="50000"/>
                                        </a:schemeClr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800" b="1" i="1" dirty="0">
                                      <a:solidFill>
                                        <a:schemeClr val="bg2">
                                          <a:lumMod val="50000"/>
                                        </a:schemeClr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𝒗</m:t>
                                  </m:r>
                                </m:e>
                                <m:sub>
                                  <m:r>
                                    <a:rPr lang="en-US" altLang="zh-CN" sz="2800" b="1" i="1" dirty="0">
                                      <a:solidFill>
                                        <a:schemeClr val="bg2">
                                          <a:lumMod val="50000"/>
                                        </a:schemeClr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𝒊</m:t>
                                  </m:r>
                                </m:sub>
                              </m:sSub>
                              <m:r>
                                <a:rPr lang="en-US" altLang="zh-CN" sz="2800" b="1" i="1" dirty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)</m:t>
                              </m:r>
                            </m:den>
                          </m:f>
                        </m:e>
                      </m:nary>
                      <m:sSub>
                        <m:sSubPr>
                          <m:ctrlP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𝑪</m:t>
                          </m:r>
                        </m:e>
                        <m:sub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𝑷𝑹</m:t>
                          </m:r>
                        </m:sub>
                      </m:sSub>
                      <m:r>
                        <a:rPr lang="en-US" altLang="zh-CN" sz="2800" b="1" i="1" dirty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𝒗</m:t>
                          </m:r>
                        </m:e>
                        <m:sub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𝒊</m:t>
                          </m:r>
                        </m:sub>
                      </m:sSub>
                      <m:r>
                        <a:rPr lang="en-US" altLang="zh-CN" sz="2800" b="1" i="1" dirty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)+</m:t>
                      </m:r>
                      <m:r>
                        <a:rPr lang="en-US" altLang="zh-CN" sz="2800" b="1" i="1" dirty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𝜷</m:t>
                      </m:r>
                    </m:oMath>
                  </m:oMathPara>
                </a14:m>
                <a:endParaRPr lang="en-US" altLang="zh-CN" sz="2800" b="1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pPr algn="l"/>
                <a:endParaRPr lang="en-US" altLang="zh-CN" sz="2400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pPr algn="l"/>
                <a:r>
                  <a:rPr lang="en-US" altLang="zh-CN" sz="2400" dirty="0">
                    <a:solidFill>
                      <a:schemeClr val="bg2">
                        <a:lumMod val="50000"/>
                      </a:schemeClr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altLang="zh-CN" sz="2400" i="1" dirty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</m:oMath>
                </a14:m>
                <a:r>
                  <a:rPr lang="en-US" altLang="zh-CN" sz="2400" dirty="0">
                    <a:solidFill>
                      <a:schemeClr val="bg2">
                        <a:lumMod val="50000"/>
                      </a:schemeClr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zh-CN" sz="2400" i="1" dirty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</m:oMath>
                </a14:m>
                <a:r>
                  <a:rPr lang="en-US" altLang="zh-CN" sz="2400" dirty="0">
                    <a:solidFill>
                      <a:schemeClr val="bg2">
                        <a:lumMod val="50000"/>
                      </a:schemeClr>
                    </a:solidFill>
                  </a:rPr>
                  <a:t> : constants </a:t>
                </a:r>
                <a:endParaRPr lang="en-US" altLang="zh-CN" sz="2400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pPr algn="l"/>
                <a:r>
                  <a:rPr lang="en-US" altLang="zh-CN" sz="2400" dirty="0">
                    <a:solidFill>
                      <a:schemeClr val="bg2">
                        <a:lumMod val="50000"/>
                      </a:schemeClr>
                    </a:solidFill>
                  </a:rPr>
                  <a:t>and </a:t>
                </a:r>
                <a14:m>
                  <m:oMath xmlns:m="http://schemas.openxmlformats.org/officeDocument/2006/math">
                    <m:r>
                      <a:rPr lang="en-US" altLang="zh-CN" sz="2400" i="1" dirty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𝑑</m:t>
                    </m:r>
                    <m:r>
                      <a:rPr lang="en-US" altLang="zh-CN" sz="2400" i="1" dirty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sSub>
                      <m:sSubPr>
                        <m:ctrlPr>
                          <a:rPr lang="en-US" altLang="zh-CN" sz="2400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𝑣</m:t>
                        </m:r>
                      </m:e>
                      <m:sub>
                        <m:r>
                          <a:rPr lang="en-US" altLang="zh-CN" sz="2400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𝑖</m:t>
                        </m:r>
                      </m:sub>
                    </m:sSub>
                    <m:r>
                      <a:rPr lang="en-US" altLang="zh-CN" sz="2400" i="1" dirty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</m:t>
                    </m:r>
                  </m:oMath>
                </a14:m>
                <a:r>
                  <a:rPr lang="en-US" altLang="zh-CN" sz="2400" dirty="0">
                    <a:solidFill>
                      <a:schemeClr val="bg2">
                        <a:lumMod val="50000"/>
                      </a:schemeClr>
                    </a:solidFill>
                  </a:rPr>
                  <a:t> : out-degree of node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1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2400" b="1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𝒗</m:t>
                        </m:r>
                      </m:e>
                      <m:sub>
                        <m:r>
                          <a:rPr lang="en-US" altLang="zh-CN" sz="2400" b="1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US" altLang="zh-CN" sz="2400" dirty="0">
                    <a:solidFill>
                      <a:schemeClr val="bg2">
                        <a:lumMod val="50000"/>
                      </a:schemeClr>
                    </a:solidFill>
                  </a:rPr>
                  <a:t> if such degree is positive, or </a:t>
                </a:r>
                <a14:m>
                  <m:oMath xmlns:m="http://schemas.openxmlformats.org/officeDocument/2006/math">
                    <m:r>
                      <a:rPr lang="en-US" altLang="zh-CN" sz="2400" i="1" dirty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𝑑</m:t>
                    </m:r>
                    <m:r>
                      <a:rPr lang="en-US" altLang="zh-CN" sz="2400" i="1" dirty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sSub>
                      <m:sSubPr>
                        <m:ctrlPr>
                          <a:rPr lang="en-US" altLang="zh-CN" sz="2400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𝑣</m:t>
                        </m:r>
                      </m:e>
                      <m:sub>
                        <m:r>
                          <a:rPr lang="en-US" altLang="zh-CN" sz="2400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𝑖</m:t>
                        </m:r>
                      </m:sub>
                    </m:sSub>
                    <m:r>
                      <a:rPr lang="en-US" altLang="zh-CN" sz="2400" i="1" dirty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r>
                      <a:rPr lang="en-US" altLang="zh-CN" sz="2400" i="1" dirty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1</m:t>
                    </m:r>
                  </m:oMath>
                </a14:m>
                <a:r>
                  <a:rPr lang="en-US" altLang="zh-CN" sz="2400" dirty="0">
                    <a:solidFill>
                      <a:schemeClr val="bg2">
                        <a:lumMod val="50000"/>
                      </a:schemeClr>
                    </a:solidFill>
                  </a:rPr>
                  <a:t>  if the out-degree of </a:t>
                </a:r>
                <a:r>
                  <a:rPr lang="en-US" altLang="zh-CN" sz="2400" dirty="0">
                    <a:solidFill>
                      <a:schemeClr val="bg2">
                        <a:lumMod val="50000"/>
                      </a:schemeClr>
                    </a:solidFill>
                    <a:sym typeface="+mn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1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2400" b="1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𝒗</m:t>
                        </m:r>
                      </m:e>
                      <m:sub>
                        <m:r>
                          <a:rPr lang="en-US" altLang="zh-CN" sz="2400" b="1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US" altLang="zh-CN" sz="2400" dirty="0">
                    <a:solidFill>
                      <a:schemeClr val="bg2">
                        <a:lumMod val="50000"/>
                      </a:schemeClr>
                    </a:solidFill>
                  </a:rPr>
                  <a:t> </a:t>
                </a:r>
                <a:r>
                  <a:rPr lang="en-US" altLang="zh-CN" sz="2400" dirty="0">
                    <a:solidFill>
                      <a:schemeClr val="bg2">
                        <a:lumMod val="50000"/>
                      </a:schemeClr>
                    </a:solidFill>
                  </a:rPr>
                  <a:t>is null.</a:t>
                </a:r>
                <a:endParaRPr lang="en-US" altLang="zh-CN" sz="24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文本框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9020" y="1687830"/>
                <a:ext cx="9240520" cy="348234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本框 4"/>
          <p:cNvSpPr txBox="1"/>
          <p:nvPr/>
        </p:nvSpPr>
        <p:spPr>
          <a:xfrm>
            <a:off x="1049020" y="241935"/>
            <a:ext cx="943927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C00000"/>
                </a:solidFill>
              </a:rPr>
              <a:t>PageRank centrality</a:t>
            </a:r>
            <a:endParaRPr lang="en-US" altLang="zh-CN" sz="2800" b="1" dirty="0"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90000"/>
                </a:schemeClr>
              </a:gs>
              <a:gs pos="14000">
                <a:schemeClr val="bg1"/>
              </a:gs>
              <a:gs pos="83000">
                <a:schemeClr val="bg1"/>
              </a:gs>
              <a:gs pos="100000">
                <a:schemeClr val="bg2">
                  <a:lumMod val="90000"/>
                </a:schemeClr>
              </a:gs>
            </a:gsLst>
            <a:lin ang="0" scaled="1"/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049020" y="241935"/>
            <a:ext cx="943927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C00000"/>
                </a:solidFill>
              </a:rPr>
              <a:t>PageRank centrality</a:t>
            </a:r>
            <a:endParaRPr lang="en-US" altLang="zh-CN" sz="2800" b="1" dirty="0">
              <a:solidFill>
                <a:srgbClr val="C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文本框 2"/>
              <p:cNvSpPr txBox="1"/>
              <p:nvPr/>
            </p:nvSpPr>
            <p:spPr>
              <a:xfrm>
                <a:off x="1049020" y="1687830"/>
                <a:ext cx="9240520" cy="27355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altLang="zh-CN" sz="2400" dirty="0">
                    <a:solidFill>
                      <a:schemeClr val="bg2">
                        <a:lumMod val="50000"/>
                      </a:schemeClr>
                    </a:solidFill>
                  </a:rPr>
                  <a:t>It follows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1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2400" b="1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𝑪</m:t>
                        </m:r>
                      </m:e>
                      <m:sub>
                        <m:r>
                          <a:rPr lang="en-US" altLang="zh-CN" sz="2400" b="1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𝑷𝑹</m:t>
                        </m:r>
                      </m:sub>
                    </m:sSub>
                  </m:oMath>
                </a14:m>
                <a:r>
                  <a:rPr lang="en-US" altLang="zh-CN" sz="2400" dirty="0">
                    <a:solidFill>
                      <a:schemeClr val="bg2">
                        <a:lumMod val="50000"/>
                      </a:schemeClr>
                    </a:solidFill>
                  </a:rPr>
                  <a:t> </a:t>
                </a:r>
                <a:r>
                  <a:rPr lang="en-US" altLang="zh-CN" sz="2400" dirty="0">
                    <a:solidFill>
                      <a:schemeClr val="bg2">
                        <a:lumMod val="50000"/>
                      </a:schemeClr>
                    </a:solidFill>
                  </a:rPr>
                  <a:t>can be computed as:</a:t>
                </a:r>
                <a:endParaRPr lang="en-US" altLang="zh-CN" sz="2400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pPr algn="l"/>
                <a:endParaRPr lang="en-US" altLang="zh-CN" sz="2400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𝑪</m:t>
                          </m:r>
                        </m:e>
                        <m:sub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𝑷𝑹</m:t>
                          </m:r>
                        </m:sub>
                      </m:sSub>
                      <m:r>
                        <a:rPr lang="en-US" altLang="zh-CN" sz="2800" b="1" i="1" dirty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𝑰</m:t>
                          </m:r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𝜶</m:t>
                          </m:r>
                          <m:sSup>
                            <m:sSupPr>
                              <m:ctrlPr>
                                <a:rPr lang="en-US" altLang="zh-CN" sz="2800" b="1" i="1" dirty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800" b="1" i="1" dirty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𝑫</m:t>
                              </m:r>
                            </m:e>
                            <m:sup>
                              <m:r>
                                <a:rPr lang="en-US" altLang="zh-CN" sz="2800" b="1" i="1" dirty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sz="2800" b="1" i="1" dirty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𝟏</m:t>
                              </m:r>
                            </m:sup>
                          </m:sSup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𝑨</m:t>
                          </m:r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</m:t>
                          </m:r>
                        </m:e>
                        <m:sup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</m:t>
                          </m:r>
                        </m:sup>
                      </m:sSup>
                      <m:r>
                        <a:rPr lang="en-US" altLang="zh-CN" sz="2800" b="1" i="1" dirty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𝜷</m:t>
                      </m:r>
                    </m:oMath>
                  </m:oMathPara>
                </a14:m>
                <a:endParaRPr lang="en-US" altLang="zh-CN" sz="2800" b="1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pPr algn="l"/>
                <a:endParaRPr lang="en-US" altLang="zh-CN" sz="2400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pPr algn="l"/>
                <a:r>
                  <a:rPr lang="en-US" altLang="zh-CN" sz="2400" dirty="0">
                    <a:solidFill>
                      <a:schemeClr val="bg2">
                        <a:lumMod val="50000"/>
                      </a:schemeClr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altLang="zh-CN" sz="2400" i="1" dirty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</m:oMath>
                </a14:m>
                <a:r>
                  <a:rPr lang="en-US" altLang="zh-CN" sz="2400" dirty="0">
                    <a:solidFill>
                      <a:schemeClr val="bg2">
                        <a:lumMod val="50000"/>
                      </a:schemeClr>
                    </a:solidFill>
                  </a:rPr>
                  <a:t> : damping factor </a:t>
                </a:r>
                <a:endParaRPr lang="en-US" altLang="zh-CN" sz="2400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pPr algn="l"/>
                <a:r>
                  <a:rPr lang="en-US" altLang="zh-CN" sz="2400" dirty="0">
                    <a:solidFill>
                      <a:schemeClr val="bg2">
                        <a:lumMod val="50000"/>
                      </a:schemeClr>
                    </a:solidFill>
                  </a:rPr>
                  <a:t>and </a:t>
                </a:r>
                <a14:m>
                  <m:oMath xmlns:m="http://schemas.openxmlformats.org/officeDocument/2006/math">
                    <m:r>
                      <a:rPr lang="en-US" altLang="zh-CN" sz="2400" i="1" dirty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  <m:r>
                      <a:rPr lang="en-US" altLang="zh-CN" sz="2400" i="1" dirty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</m:oMath>
                </a14:m>
                <a:r>
                  <a:rPr lang="en-US" altLang="zh-CN" sz="2400" dirty="0">
                    <a:solidFill>
                      <a:schemeClr val="bg2">
                        <a:lumMod val="50000"/>
                      </a:schemeClr>
                    </a:solidFill>
                  </a:rPr>
                  <a:t>: personalization vector </a:t>
                </a:r>
                <a:endParaRPr lang="en-US" altLang="zh-CN" sz="2400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pPr algn="l"/>
                <a:r>
                  <a:rPr lang="en-US" altLang="zh-CN" sz="2400" dirty="0">
                    <a:solidFill>
                      <a:schemeClr val="bg2">
                        <a:lumMod val="50000"/>
                      </a:schemeClr>
                    </a:solidFill>
                  </a:rPr>
                  <a:t>Both play the same role as in Katz centrality</a:t>
                </a:r>
                <a:endParaRPr lang="en-US" altLang="zh-CN" sz="24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文本框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9020" y="1687830"/>
                <a:ext cx="9240520" cy="273558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90000"/>
                </a:schemeClr>
              </a:gs>
              <a:gs pos="14000">
                <a:schemeClr val="bg1"/>
              </a:gs>
              <a:gs pos="83000">
                <a:schemeClr val="bg1"/>
              </a:gs>
              <a:gs pos="100000">
                <a:schemeClr val="bg2">
                  <a:lumMod val="90000"/>
                </a:schemeClr>
              </a:gs>
            </a:gsLst>
            <a:lin ang="0" scaled="1"/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049020" y="241935"/>
            <a:ext cx="943927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C00000"/>
                </a:solidFill>
              </a:rPr>
              <a:t>Betweenness centrality</a:t>
            </a:r>
            <a:endParaRPr lang="en-US" altLang="zh-CN" sz="2800" b="1" dirty="0">
              <a:solidFill>
                <a:srgbClr val="C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文本框 2"/>
              <p:cNvSpPr txBox="1"/>
              <p:nvPr/>
            </p:nvSpPr>
            <p:spPr>
              <a:xfrm>
                <a:off x="1049020" y="1687830"/>
                <a:ext cx="9240520" cy="4438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altLang="zh-CN" sz="2400" b="1" dirty="0">
                    <a:solidFill>
                      <a:schemeClr val="bg2">
                        <a:lumMod val="50000"/>
                      </a:schemeClr>
                    </a:solidFill>
                  </a:rPr>
                  <a:t>Core Logic:</a:t>
                </a:r>
                <a:r>
                  <a:rPr lang="en-US" altLang="zh-CN" sz="2400" dirty="0">
                    <a:solidFill>
                      <a:schemeClr val="bg2">
                        <a:lumMod val="50000"/>
                      </a:schemeClr>
                    </a:solidFill>
                  </a:rPr>
                  <a:t> 	Nodes acting as "bridges" more frequently are more important. Measures the control over information flow.</a:t>
                </a:r>
                <a:endParaRPr lang="en-US" altLang="zh-CN" sz="2400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pPr algn="l"/>
                <a:endParaRPr lang="en-US" altLang="zh-CN" sz="2400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pPr algn="l"/>
                <a:r>
                  <a:rPr lang="en-US" altLang="zh-CN" sz="2400" b="1" dirty="0">
                    <a:solidFill>
                      <a:schemeClr val="bg2">
                        <a:lumMod val="50000"/>
                      </a:schemeClr>
                    </a:solidFill>
                  </a:rPr>
                  <a:t>Mathematical Expression:</a:t>
                </a:r>
                <a:r>
                  <a:rPr lang="en-US" altLang="zh-CN" sz="2400" dirty="0">
                    <a:solidFill>
                      <a:schemeClr val="bg2">
                        <a:lumMod val="50000"/>
                      </a:schemeClr>
                    </a:solidFill>
                  </a:rPr>
                  <a:t> 	Ratio of shortest paths passing through the node in the entire network.</a:t>
                </a:r>
                <a:endParaRPr lang="en-US" altLang="zh-CN" sz="2400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pPr algn="l"/>
                <a:endParaRPr lang="en-US" altLang="zh-CN" sz="2400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𝑪</m:t>
                          </m:r>
                        </m:e>
                        <m:sub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𝑩</m:t>
                          </m:r>
                        </m:sub>
                      </m:sSub>
                      <m:r>
                        <a:rPr lang="en-US" altLang="zh-CN" sz="2800" b="1" i="1" dirty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2800" b="1" i="1" dirty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𝒗</m:t>
                      </m:r>
                      <m:r>
                        <a:rPr lang="en-US" altLang="zh-CN" sz="2800" b="1" i="1" dirty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)=</m:t>
                      </m:r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naryPr>
                        <m:sub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𝒔</m:t>
                          </m:r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≠</m:t>
                          </m:r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𝒗</m:t>
                          </m:r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≠</m:t>
                          </m:r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𝒕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altLang="zh-CN" sz="2800" b="1" i="1" dirty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CN" sz="2800" b="1" i="1" dirty="0">
                                      <a:solidFill>
                                        <a:schemeClr val="bg2">
                                          <a:lumMod val="50000"/>
                                        </a:schemeClr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800" b="1" i="1" dirty="0">
                                      <a:solidFill>
                                        <a:schemeClr val="bg2">
                                          <a:lumMod val="50000"/>
                                        </a:schemeClr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𝝈</m:t>
                                  </m:r>
                                </m:e>
                                <m:sub>
                                  <m:r>
                                    <a:rPr lang="en-US" altLang="zh-CN" sz="2800" b="1" i="1" dirty="0">
                                      <a:solidFill>
                                        <a:schemeClr val="bg2">
                                          <a:lumMod val="50000"/>
                                        </a:schemeClr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𝒔𝒕</m:t>
                                  </m:r>
                                </m:sub>
                              </m:sSub>
                              <m:r>
                                <a:rPr lang="en-US" altLang="zh-CN" sz="2800" b="1" i="1" dirty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(</m:t>
                              </m:r>
                              <m:r>
                                <a:rPr lang="en-US" altLang="zh-CN" sz="2800" b="1" i="1" dirty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𝒗</m:t>
                              </m:r>
                              <m:r>
                                <a:rPr lang="en-US" altLang="zh-CN" sz="2800" b="1" i="1" dirty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)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zh-CN" sz="2800" b="1" i="1" dirty="0">
                                      <a:solidFill>
                                        <a:schemeClr val="bg2">
                                          <a:lumMod val="50000"/>
                                        </a:schemeClr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800" b="1" i="1" dirty="0">
                                      <a:solidFill>
                                        <a:schemeClr val="bg2">
                                          <a:lumMod val="50000"/>
                                        </a:schemeClr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𝝈</m:t>
                                  </m:r>
                                </m:e>
                                <m:sub>
                                  <m:r>
                                    <a:rPr lang="en-US" altLang="zh-CN" sz="2800" b="1" i="1" dirty="0">
                                      <a:solidFill>
                                        <a:schemeClr val="bg2">
                                          <a:lumMod val="50000"/>
                                        </a:schemeClr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𝒔𝒕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en-US" altLang="zh-CN" sz="2400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pPr algn="l"/>
                <a:r>
                  <a:rPr lang="en-US" altLang="zh-CN" sz="2400" dirty="0">
                    <a:solidFill>
                      <a:schemeClr val="bg2">
                        <a:lumMod val="50000"/>
                      </a:schemeClr>
                    </a:solidFill>
                  </a:rPr>
                  <a:t>where</a:t>
                </a:r>
                <a:endParaRPr lang="en-US" altLang="zh-CN" sz="2400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𝜎</m:t>
                        </m:r>
                      </m:e>
                      <m:sub>
                        <m:r>
                          <a:rPr lang="en-US" altLang="zh-CN" sz="2400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𝑠𝑡</m:t>
                        </m:r>
                      </m:sub>
                    </m:sSub>
                  </m:oMath>
                </a14:m>
                <a:r>
                  <a:rPr lang="en-US" altLang="zh-CN" sz="2400" dirty="0">
                    <a:solidFill>
                      <a:schemeClr val="bg2">
                        <a:lumMod val="50000"/>
                      </a:schemeClr>
                    </a:solidFill>
                  </a:rPr>
                  <a:t>: Total number of shortest paths from node s to node t</a:t>
                </a:r>
                <a:endParaRPr lang="en-US" altLang="zh-CN" sz="2400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𝜎</m:t>
                        </m:r>
                      </m:e>
                      <m:sub>
                        <m:r>
                          <a:rPr lang="en-US" altLang="zh-CN" sz="2400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𝑠𝑡</m:t>
                        </m:r>
                      </m:sub>
                    </m:sSub>
                    <m:r>
                      <a:rPr lang="en-US" altLang="zh-CN" sz="2400" i="1" dirty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r>
                      <a:rPr lang="en-US" altLang="zh-CN" sz="2400" i="1" dirty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𝑣</m:t>
                    </m:r>
                    <m:r>
                      <a:rPr lang="en-US" altLang="zh-CN" sz="2400" i="1" dirty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</m:t>
                    </m:r>
                  </m:oMath>
                </a14:m>
                <a:r>
                  <a:rPr lang="en-US" altLang="zh-CN" sz="2400" dirty="0">
                    <a:solidFill>
                      <a:schemeClr val="bg2">
                        <a:lumMod val="50000"/>
                      </a:schemeClr>
                    </a:solidFill>
                  </a:rPr>
                  <a:t>: Number of such paths passing through node v</a:t>
                </a:r>
                <a:endParaRPr lang="en-US" altLang="zh-CN" sz="24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文本框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9020" y="1687830"/>
                <a:ext cx="9240520" cy="443801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90000"/>
                </a:schemeClr>
              </a:gs>
              <a:gs pos="14000">
                <a:schemeClr val="bg1"/>
              </a:gs>
              <a:gs pos="83000">
                <a:schemeClr val="bg1"/>
              </a:gs>
              <a:gs pos="100000">
                <a:schemeClr val="bg2">
                  <a:lumMod val="90000"/>
                </a:schemeClr>
              </a:gs>
            </a:gsLst>
            <a:lin ang="0" scaled="1"/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049020" y="241935"/>
            <a:ext cx="943927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C00000"/>
                </a:solidFill>
              </a:rPr>
              <a:t>Closeness Centrality</a:t>
            </a:r>
            <a:endParaRPr lang="en-US" altLang="zh-CN" sz="2800" b="1" dirty="0">
              <a:solidFill>
                <a:srgbClr val="C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文本框 2"/>
              <p:cNvSpPr txBox="1"/>
              <p:nvPr/>
            </p:nvSpPr>
            <p:spPr>
              <a:xfrm>
                <a:off x="1049020" y="1017905"/>
                <a:ext cx="9240520" cy="53041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altLang="zh-CN" sz="2400" b="1" dirty="0">
                    <a:solidFill>
                      <a:schemeClr val="bg2">
                        <a:lumMod val="50000"/>
                      </a:schemeClr>
                    </a:solidFill>
                  </a:rPr>
                  <a:t>Core Logic:</a:t>
                </a:r>
                <a:r>
                  <a:rPr lang="en-US" altLang="zh-CN" sz="2400" dirty="0">
                    <a:solidFill>
                      <a:schemeClr val="bg2">
                        <a:lumMod val="50000"/>
                      </a:schemeClr>
                    </a:solidFill>
                  </a:rPr>
                  <a:t> 	Measures the average distance from a node to all other nodes in the network.</a:t>
                </a:r>
                <a:endParaRPr lang="en-US" altLang="zh-CN" sz="2400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pPr algn="l"/>
                <a:endParaRPr lang="en-US" altLang="zh-CN" sz="2400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pPr algn="l"/>
                <a:r>
                  <a:rPr lang="en-US" altLang="zh-CN" sz="2400" b="1" dirty="0">
                    <a:solidFill>
                      <a:schemeClr val="bg2">
                        <a:lumMod val="50000"/>
                      </a:schemeClr>
                    </a:solidFill>
                  </a:rPr>
                  <a:t>Mathematical Expression:</a:t>
                </a:r>
                <a:r>
                  <a:rPr lang="en-US" altLang="zh-CN" sz="2400" dirty="0">
                    <a:solidFill>
                      <a:schemeClr val="bg2">
                        <a:lumMod val="50000"/>
                      </a:schemeClr>
                    </a:solidFill>
                  </a:rPr>
                  <a:t> 	closeness centrality equals</a:t>
                </a:r>
                <a:endParaRPr lang="en-US" altLang="zh-CN" sz="2400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𝑪</m:t>
                          </m:r>
                        </m:e>
                        <m:sub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𝑪</m:t>
                          </m:r>
                        </m:sub>
                      </m:sSub>
                      <m:r>
                        <a:rPr lang="en-US" altLang="zh-CN" sz="2800" b="1" i="1" dirty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𝒗</m:t>
                          </m:r>
                        </m:e>
                        <m:sub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𝒌</m:t>
                          </m:r>
                        </m:sub>
                      </m:sSub>
                      <m:r>
                        <a:rPr lang="en-US" altLang="zh-CN" sz="2800" b="1" i="1" dirty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)=</m:t>
                      </m:r>
                      <m:f>
                        <m:fPr>
                          <m:ctrlP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fPr>
                        <m:num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</m:t>
                          </m:r>
                        </m:num>
                        <m:den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CN" sz="2800" b="1" i="1" dirty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naryPr>
                            <m:sub>
                              <m:r>
                                <a:rPr lang="en-US" altLang="zh-CN" sz="2800" b="1" i="1" dirty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𝒊</m:t>
                              </m:r>
                              <m:r>
                                <a:rPr lang="en-US" altLang="zh-CN" sz="2800" b="1" i="1" dirty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=</m:t>
                              </m:r>
                              <m:r>
                                <a:rPr lang="en-US" altLang="zh-CN" sz="2800" b="1" i="1" dirty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altLang="zh-CN" sz="2800" b="1" i="1" dirty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𝒏</m:t>
                              </m:r>
                            </m:sup>
                            <m:e>
                              <m:r>
                                <a:rPr lang="en-US" altLang="zh-CN" sz="2800" b="1" i="1" dirty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𝒅</m:t>
                              </m:r>
                              <m:r>
                                <a:rPr lang="en-US" altLang="zh-CN" sz="2800" b="1" i="1" dirty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zh-CN" sz="2800" b="1" i="1" dirty="0">
                                      <a:solidFill>
                                        <a:schemeClr val="bg2">
                                          <a:lumMod val="50000"/>
                                        </a:schemeClr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800" b="1" i="1" dirty="0">
                                      <a:solidFill>
                                        <a:schemeClr val="bg2">
                                          <a:lumMod val="50000"/>
                                        </a:schemeClr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𝒗</m:t>
                                  </m:r>
                                </m:e>
                                <m:sub>
                                  <m:r>
                                    <a:rPr lang="en-US" altLang="zh-CN" sz="2800" b="1" i="1" dirty="0">
                                      <a:solidFill>
                                        <a:schemeClr val="bg2">
                                          <a:lumMod val="50000"/>
                                        </a:schemeClr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𝒊</m:t>
                                  </m:r>
                                </m:sub>
                              </m:sSub>
                              <m:r>
                                <a:rPr lang="en-US" altLang="zh-CN" sz="2800" b="1" i="1" dirty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CN" sz="2800" b="1" i="1" dirty="0">
                                      <a:solidFill>
                                        <a:schemeClr val="bg2">
                                          <a:lumMod val="50000"/>
                                        </a:schemeClr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800" b="1" i="1" dirty="0">
                                      <a:solidFill>
                                        <a:schemeClr val="bg2">
                                          <a:lumMod val="50000"/>
                                        </a:schemeClr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𝒗</m:t>
                                  </m:r>
                                </m:e>
                                <m:sub>
                                  <m:r>
                                    <a:rPr lang="en-US" altLang="zh-CN" sz="2800" b="1" i="1" dirty="0">
                                      <a:solidFill>
                                        <a:schemeClr val="bg2">
                                          <a:lumMod val="50000"/>
                                        </a:schemeClr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𝒌</m:t>
                                  </m:r>
                                </m:sub>
                              </m:sSub>
                              <m:r>
                                <a:rPr lang="en-US" altLang="zh-CN" sz="2800" b="1" i="1" dirty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)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en-US" altLang="zh-CN" sz="2800" b="1" i="1" dirty="0">
                  <a:solidFill>
                    <a:schemeClr val="bg2">
                      <a:lumMod val="50000"/>
                    </a:schemeClr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pPr algn="l"/>
                <a:endParaRPr lang="en-US" altLang="zh-CN" sz="2400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pPr algn="l"/>
                <a:r>
                  <a:rPr lang="en-US" altLang="zh-CN" sz="2400" dirty="0">
                    <a:solidFill>
                      <a:schemeClr val="bg2">
                        <a:lumMod val="50000"/>
                      </a:schemeClr>
                    </a:solidFill>
                  </a:rPr>
                  <a:t>where :</a:t>
                </a:r>
                <a14:m>
                  <m:oMath xmlns:m="http://schemas.openxmlformats.org/officeDocument/2006/math">
                    <m:r>
                      <a:rPr lang="en-US" altLang="zh-CN" sz="2400" b="1" i="1" dirty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𝒅</m:t>
                    </m:r>
                    <m:r>
                      <a:rPr lang="en-US" altLang="zh-CN" sz="2400" b="1" i="1" dirty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sSub>
                      <m:sSubPr>
                        <m:ctrlPr>
                          <a:rPr lang="en-US" altLang="zh-CN" sz="2400" b="1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2400" b="1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𝒗</m:t>
                        </m:r>
                      </m:e>
                      <m:sub>
                        <m:r>
                          <a:rPr lang="en-US" altLang="zh-CN" sz="2400" b="1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𝒊</m:t>
                        </m:r>
                      </m:sub>
                    </m:sSub>
                    <m:r>
                      <a:rPr lang="en-US" altLang="zh-CN" sz="2400" b="1" i="1" dirty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,</m:t>
                    </m:r>
                    <m:sSub>
                      <m:sSubPr>
                        <m:ctrlPr>
                          <a:rPr lang="en-US" altLang="zh-CN" sz="2400" b="1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2400" b="1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𝒗</m:t>
                        </m:r>
                      </m:e>
                      <m:sub>
                        <m:r>
                          <a:rPr lang="en-US" altLang="zh-CN" sz="2400" b="1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𝒌</m:t>
                        </m:r>
                      </m:sub>
                    </m:sSub>
                    <m:r>
                      <a:rPr lang="en-US" altLang="zh-CN" sz="2400" b="1" i="1" dirty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</m:t>
                    </m:r>
                  </m:oMath>
                </a14:m>
                <a:r>
                  <a:rPr lang="en-US" altLang="zh-CN" sz="2400" dirty="0">
                    <a:solidFill>
                      <a:schemeClr val="bg2">
                        <a:lumMod val="50000"/>
                      </a:schemeClr>
                    </a:solidFill>
                  </a:rPr>
                  <a:t>: of edges in the geodesic linking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1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2400" b="1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𝒗</m:t>
                        </m:r>
                      </m:e>
                      <m:sub>
                        <m:r>
                          <a:rPr lang="en-US" altLang="zh-CN" sz="2400" b="1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US" altLang="zh-CN" sz="2400" dirty="0">
                    <a:solidFill>
                      <a:schemeClr val="bg2">
                        <a:lumMod val="50000"/>
                      </a:schemeClr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1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2400" b="1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𝒗</m:t>
                        </m:r>
                      </m:e>
                      <m:sub>
                        <m:r>
                          <a:rPr lang="en-US" altLang="zh-CN" sz="2400" b="1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𝒌</m:t>
                        </m:r>
                      </m:sub>
                    </m:sSub>
                  </m:oMath>
                </a14:m>
                <a:endParaRPr lang="en-US" altLang="zh-CN" sz="2400" b="1" i="1" dirty="0">
                  <a:solidFill>
                    <a:schemeClr val="bg2">
                      <a:lumMod val="50000"/>
                    </a:schemeClr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pPr algn="l"/>
                <a:r>
                  <a:rPr lang="en-US" altLang="zh-CN" sz="2400" dirty="0">
                    <a:solidFill>
                      <a:schemeClr val="bg2">
                        <a:lumMod val="50000"/>
                      </a:schemeClr>
                    </a:solidFill>
                  </a:rPr>
                  <a:t>Relative centrality based on closeness measure:</a:t>
                </a:r>
                <a:endParaRPr lang="en-US" altLang="zh-CN" sz="2400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𝑪</m:t>
                          </m:r>
                        </m:e>
                        <m:sub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𝑪</m:t>
                          </m:r>
                        </m:sub>
                        <m:sup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’</m:t>
                          </m:r>
                        </m:sup>
                      </m:sSubSup>
                      <m:r>
                        <a:rPr lang="en-US" altLang="zh-CN" sz="2800" b="1" i="1" dirty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𝒗</m:t>
                          </m:r>
                        </m:e>
                        <m:sub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𝒌</m:t>
                          </m:r>
                        </m:sub>
                      </m:sSub>
                      <m:r>
                        <a:rPr lang="en-US" altLang="zh-CN" sz="2800" b="1" i="1" dirty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)=</m:t>
                      </m:r>
                      <m:f>
                        <m:fPr>
                          <m:ctrlP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fPr>
                        <m:num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𝒏</m:t>
                          </m:r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2800" b="1" i="1" dirty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</m:t>
                          </m:r>
                        </m:num>
                        <m:den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CN" sz="2800" b="1" i="1" dirty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naryPr>
                            <m:sub>
                              <m:r>
                                <a:rPr lang="en-US" altLang="zh-CN" sz="2800" b="1" i="1" dirty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𝒊</m:t>
                              </m:r>
                              <m:r>
                                <a:rPr lang="en-US" altLang="zh-CN" sz="2800" b="1" i="1" dirty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=</m:t>
                              </m:r>
                              <m:r>
                                <a:rPr lang="en-US" altLang="zh-CN" sz="2800" b="1" i="1" dirty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altLang="zh-CN" sz="2800" b="1" i="1" dirty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𝒏</m:t>
                              </m:r>
                            </m:sup>
                            <m:e>
                              <m:r>
                                <a:rPr lang="en-US" altLang="zh-CN" sz="2800" b="1" i="1" dirty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𝒅</m:t>
                              </m:r>
                              <m:r>
                                <a:rPr lang="en-US" altLang="zh-CN" sz="2800" b="1" i="1" dirty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zh-CN" sz="2800" b="1" i="1" dirty="0">
                                      <a:solidFill>
                                        <a:schemeClr val="bg2">
                                          <a:lumMod val="50000"/>
                                        </a:schemeClr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800" b="1" i="1" dirty="0">
                                      <a:solidFill>
                                        <a:schemeClr val="bg2">
                                          <a:lumMod val="50000"/>
                                        </a:schemeClr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𝒗</m:t>
                                  </m:r>
                                </m:e>
                                <m:sub>
                                  <m:r>
                                    <a:rPr lang="en-US" altLang="zh-CN" sz="2800" b="1" i="1" dirty="0">
                                      <a:solidFill>
                                        <a:schemeClr val="bg2">
                                          <a:lumMod val="50000"/>
                                        </a:schemeClr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𝒊</m:t>
                                  </m:r>
                                </m:sub>
                              </m:sSub>
                              <m:r>
                                <a:rPr lang="en-US" altLang="zh-CN" sz="2800" b="1" i="1" dirty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CN" sz="2800" b="1" i="1" dirty="0">
                                      <a:solidFill>
                                        <a:schemeClr val="bg2">
                                          <a:lumMod val="50000"/>
                                        </a:schemeClr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800" b="1" i="1" dirty="0">
                                      <a:solidFill>
                                        <a:schemeClr val="bg2">
                                          <a:lumMod val="50000"/>
                                        </a:schemeClr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𝒗</m:t>
                                  </m:r>
                                </m:e>
                                <m:sub>
                                  <m:r>
                                    <a:rPr lang="en-US" altLang="zh-CN" sz="2800" b="1" i="1" dirty="0">
                                      <a:solidFill>
                                        <a:schemeClr val="bg2">
                                          <a:lumMod val="50000"/>
                                        </a:schemeClr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𝒌</m:t>
                                  </m:r>
                                </m:sub>
                              </m:sSub>
                              <m:r>
                                <a:rPr lang="en-US" altLang="zh-CN" sz="2800" b="1" i="1" dirty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)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en-US" altLang="zh-CN" sz="2400" b="1" i="1" dirty="0">
                  <a:solidFill>
                    <a:schemeClr val="bg2">
                      <a:lumMod val="50000"/>
                    </a:schemeClr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pPr algn="l"/>
                <a:endParaRPr lang="en-US" altLang="zh-CN" sz="2400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pPr algn="l"/>
                <a:endParaRPr lang="en-US" altLang="zh-CN" sz="24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文本框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9020" y="1017905"/>
                <a:ext cx="9240520" cy="530415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90000"/>
                </a:schemeClr>
              </a:gs>
              <a:gs pos="14000">
                <a:schemeClr val="bg1"/>
              </a:gs>
              <a:gs pos="83000">
                <a:schemeClr val="bg1"/>
              </a:gs>
              <a:gs pos="100000">
                <a:schemeClr val="bg2">
                  <a:lumMod val="90000"/>
                </a:schemeClr>
              </a:gs>
            </a:gsLst>
            <a:lin ang="0" scaled="1"/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049020" y="241935"/>
            <a:ext cx="943927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C00000"/>
                </a:solidFill>
              </a:rPr>
              <a:t>Clustering Coefficient</a:t>
            </a:r>
            <a:endParaRPr lang="en-US" altLang="zh-CN" sz="2800" b="1" dirty="0">
              <a:solidFill>
                <a:srgbClr val="C00000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049020" y="1261745"/>
            <a:ext cx="9240520" cy="4523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Core Logic</a:t>
            </a: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:	Measures if a node's neighbors are connected to each other (clustering degree).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algn="l"/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algn="l"/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Project Significance</a:t>
            </a: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: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Illicit nodes (especially money laundering ones) have extremely low clustering coefficients.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To avoid tracking, funds are transferred linearly instead of circulating among associates.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An excellent indicator for identifying the "distribution-type" money laundering mode.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90000"/>
                </a:schemeClr>
              </a:gs>
              <a:gs pos="14000">
                <a:schemeClr val="bg1"/>
              </a:gs>
              <a:gs pos="83000">
                <a:schemeClr val="bg1"/>
              </a:gs>
              <a:gs pos="100000">
                <a:schemeClr val="bg2">
                  <a:lumMod val="90000"/>
                </a:schemeClr>
              </a:gs>
            </a:gsLst>
            <a:lin ang="0" scaled="1"/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049020" y="241935"/>
            <a:ext cx="818324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C00000"/>
                </a:solidFill>
              </a:rPr>
              <a:t>Technical Introduction</a:t>
            </a:r>
            <a:r>
              <a:rPr lang="zh-CN" altLang="en-US" sz="2800" b="1" dirty="0">
                <a:solidFill>
                  <a:srgbClr val="C00000"/>
                </a:solidFill>
              </a:rPr>
              <a:t>：</a:t>
            </a:r>
            <a:r>
              <a:rPr lang="en-US" altLang="zh-CN" sz="2800" b="1" dirty="0">
                <a:solidFill>
                  <a:srgbClr val="C00000"/>
                </a:solidFill>
              </a:rPr>
              <a:t>Model Training</a:t>
            </a:r>
            <a:endParaRPr lang="en-US" altLang="zh-CN" sz="2800" b="1" dirty="0">
              <a:solidFill>
                <a:srgbClr val="C00000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049020" y="3256915"/>
            <a:ext cx="9240520" cy="1938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LightGBM (Leaf-wise)</a:t>
            </a: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GraphSAGE GNN (F1-optimized parameters)</a:t>
            </a: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GNN + Optuna hyperparameter search</a:t>
            </a: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049020" y="1595120"/>
            <a:ext cx="921385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From "Forest" to </a:t>
            </a: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algn="ctr"/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"Gradient Boosting" &amp; "Graph Structure"</a:t>
            </a: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4205" y="2965450"/>
            <a:ext cx="2671200" cy="252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90000"/>
                </a:schemeClr>
              </a:gs>
              <a:gs pos="14000">
                <a:schemeClr val="bg1"/>
              </a:gs>
              <a:gs pos="83000">
                <a:schemeClr val="bg1"/>
              </a:gs>
              <a:gs pos="100000">
                <a:schemeClr val="bg2">
                  <a:lumMod val="90000"/>
                </a:schemeClr>
              </a:gs>
            </a:gsLst>
            <a:lin ang="0" scaled="1"/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049020" y="241935"/>
            <a:ext cx="943927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C00000"/>
                </a:solidFill>
              </a:rPr>
              <a:t>LightGBM (Leaf-wise)</a:t>
            </a:r>
            <a:endParaRPr lang="en-US" altLang="zh-CN" sz="2800" b="1" dirty="0">
              <a:solidFill>
                <a:srgbClr val="C00000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049020" y="1261745"/>
            <a:ext cx="9240520" cy="52622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Background:	</a:t>
            </a: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Efficient GBDT implementation, core tree growth strategy, baseline model for blockchain AML detection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algn="l"/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Wingdings" panose="05000000000000000000" charset="0"/>
              <a:buChar char="u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Core Growth Logic</a:t>
            </a: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Criterion: Max loss function reduction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Split only the leaf node with the largest split gain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Limit depth/leaf num to avoid overfitting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algn="l"/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Wingdings" panose="05000000000000000000" charset="0"/>
              <a:buChar char="u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Three Lightweight Core Technologies</a:t>
            </a: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Histogram Optimization</a:t>
            </a:r>
            <a:r>
              <a:rPr lang="zh-CN" altLang="en-US" sz="2400" dirty="0">
                <a:solidFill>
                  <a:schemeClr val="bg2">
                    <a:lumMod val="50000"/>
                  </a:schemeClr>
                </a:solidFill>
              </a:rPr>
              <a:t>：</a:t>
            </a: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Discretize continuous features, reduce memory/computation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GOSS</a:t>
            </a:r>
            <a:r>
              <a:rPr lang="zh-CN" altLang="en-US" sz="2400" dirty="0">
                <a:solidFill>
                  <a:schemeClr val="bg2">
                    <a:lumMod val="50000"/>
                  </a:schemeClr>
                </a:solidFill>
              </a:rPr>
              <a:t>：</a:t>
            </a: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Retain high-gradient samples, precise down-sampling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EFB</a:t>
            </a:r>
            <a:r>
              <a:rPr lang="zh-CN" altLang="en-US" sz="2400" dirty="0">
                <a:solidFill>
                  <a:schemeClr val="bg2">
                    <a:lumMod val="50000"/>
                  </a:schemeClr>
                </a:solidFill>
              </a:rPr>
              <a:t>：</a:t>
            </a: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Bundle mutually exclusive features, reduce high-dimensional feature dimensions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90000"/>
                </a:schemeClr>
              </a:gs>
              <a:gs pos="14000">
                <a:schemeClr val="bg1"/>
              </a:gs>
              <a:gs pos="83000">
                <a:schemeClr val="bg1"/>
              </a:gs>
              <a:gs pos="100000">
                <a:schemeClr val="bg2">
                  <a:lumMod val="90000"/>
                </a:schemeClr>
              </a:gs>
            </a:gsLst>
            <a:lin ang="0" scaled="1"/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049020" y="241935"/>
            <a:ext cx="943927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C00000"/>
                </a:solidFill>
              </a:rPr>
              <a:t>GNN — Graph Neural Network</a:t>
            </a:r>
            <a:endParaRPr lang="en-US" altLang="zh-CN" sz="2800" b="1" dirty="0">
              <a:solidFill>
                <a:srgbClr val="C00000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049020" y="1261745"/>
            <a:ext cx="9240520" cy="48926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Core idea</a:t>
            </a: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: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indent="0" algn="l">
              <a:buNone/>
            </a:pP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learn embeddings by aggregating features from a node and its neighbors.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altLang="zh-CN" sz="2400" b="1" dirty="0">
              <a:solidFill>
                <a:schemeClr val="bg2">
                  <a:lumMod val="50000"/>
                </a:schemeClr>
              </a:solidFill>
              <a:sym typeface="+mn-ea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  <a:sym typeface="+mn-ea"/>
              </a:rPr>
              <a:t>GNN is a type of neural network for graph-structured data</a:t>
            </a: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  <a:sym typeface="+mn-ea"/>
              </a:rPr>
              <a:t>, which consists of nodes and edges, such as blockchain transaction networks, fund flows, and social relations.</a:t>
            </a: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Effectively captures structural patterns, relationships, and propagation paths, ideal for money laundering detection, fraud identification, and ring discovery.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Common models</a:t>
            </a: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: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indent="0" algn="l">
              <a:buNone/>
            </a:pP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GraphSAGE, GCN, GAT, GIN, etc.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90000"/>
                </a:schemeClr>
              </a:gs>
              <a:gs pos="14000">
                <a:schemeClr val="bg1"/>
              </a:gs>
              <a:gs pos="83000">
                <a:schemeClr val="bg1"/>
              </a:gs>
              <a:gs pos="100000">
                <a:schemeClr val="bg2">
                  <a:lumMod val="90000"/>
                </a:schemeClr>
              </a:gs>
            </a:gsLst>
            <a:lin ang="0" scaled="1"/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049020" y="241935"/>
            <a:ext cx="943927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C00000"/>
                </a:solidFill>
              </a:rPr>
              <a:t>GNN — Graph Neural Network</a:t>
            </a:r>
            <a:endParaRPr lang="en-US" altLang="zh-CN" sz="2800" b="1" dirty="0">
              <a:solidFill>
                <a:srgbClr val="C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文本框 2"/>
              <p:cNvSpPr txBox="1"/>
              <p:nvPr/>
            </p:nvSpPr>
            <p:spPr>
              <a:xfrm>
                <a:off x="1049020" y="1622425"/>
                <a:ext cx="9240520" cy="36690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 algn="l">
                  <a:buFont typeface="Arial" panose="020B0604020202020204" pitchFamily="34" charset="0"/>
                  <a:buChar char="•"/>
                </a:pPr>
                <a:r>
                  <a:rPr lang="en-US" altLang="zh-CN" sz="2400" b="1" dirty="0">
                    <a:solidFill>
                      <a:schemeClr val="bg2">
                        <a:lumMod val="50000"/>
                      </a:schemeClr>
                    </a:solidFill>
                  </a:rPr>
                  <a:t>F1-optimized parameters</a:t>
                </a:r>
                <a:endParaRPr lang="en-US" altLang="zh-CN" sz="2400" b="1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pPr indent="0" algn="l">
                  <a:buNone/>
                </a:pPr>
                <a:r>
                  <a:rPr lang="en-US" altLang="zh-CN" sz="2400" dirty="0">
                    <a:solidFill>
                      <a:schemeClr val="bg2">
                        <a:lumMod val="50000"/>
                      </a:schemeClr>
                    </a:solidFill>
                  </a:rPr>
                  <a:t>The best set of model parameters optimized to maximize F1-score, for imbalanced tasks like AML detection.</a:t>
                </a:r>
                <a:endParaRPr lang="en-US" altLang="zh-CN" sz="2400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pPr marL="342900" indent="-342900" algn="l">
                  <a:buFont typeface="Arial" panose="020B0604020202020204" pitchFamily="34" charset="0"/>
                  <a:buChar char="•"/>
                </a:pPr>
                <a:endParaRPr lang="en-US" altLang="zh-CN" sz="2400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pPr marL="342900" indent="-342900" algn="ctr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800" b="1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2800" b="1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𝑭</m:t>
                        </m:r>
                      </m:e>
                      <m:sub>
                        <m:r>
                          <a:rPr lang="en-US" altLang="zh-CN" sz="2800" b="1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sub>
                    </m:sSub>
                    <m:r>
                      <a:rPr lang="en-US" altLang="zh-CN" sz="2800" b="1" i="1" dirty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sz="2800" b="1" i="1" dirty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𝟐</m:t>
                    </m:r>
                    <m:r>
                      <a:rPr lang="en-US" altLang="zh-CN" sz="2800" b="1" i="1" dirty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∗</m:t>
                    </m:r>
                    <m:f>
                      <m:fPr>
                        <m:ctrlPr>
                          <a:rPr lang="en-US" altLang="zh-CN" sz="2800" b="1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altLang="zh-CN" sz="2800" b="1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𝑷𝒓𝒆𝒄𝒊𝒔𝒊𝒐𝒏</m:t>
                        </m:r>
                        <m:r>
                          <a:rPr lang="en-US" altLang="zh-CN" sz="2800" b="1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∗</m:t>
                        </m:r>
                        <m:r>
                          <a:rPr lang="en-US" altLang="zh-CN" sz="2800" b="1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𝑹𝒆𝒄𝒂𝒍𝒍</m:t>
                        </m:r>
                      </m:num>
                      <m:den>
                        <m:r>
                          <a:rPr lang="en-US" altLang="zh-CN" sz="2800" b="1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𝑷𝒓𝒆𝒄𝒊𝒔𝒊𝒐𝒏</m:t>
                        </m:r>
                        <m:r>
                          <a:rPr lang="en-US" altLang="zh-CN" sz="2800" b="1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800" b="1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𝑹𝒆𝒄𝒂𝒍𝒍</m:t>
                        </m:r>
                      </m:den>
                    </m:f>
                  </m:oMath>
                </a14:m>
                <a:endParaRPr lang="en-US" altLang="zh-CN" sz="2400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pPr marL="342900" indent="-342900" algn="l">
                  <a:buFont typeface="Arial" panose="020B0604020202020204" pitchFamily="34" charset="0"/>
                  <a:buChar char="•"/>
                </a:pPr>
                <a:endParaRPr lang="en-US" altLang="zh-CN" sz="2400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pPr marL="342900" indent="-342900" algn="l">
                  <a:buFont typeface="Arial" panose="020B0604020202020204" pitchFamily="34" charset="0"/>
                  <a:buChar char="•"/>
                </a:pPr>
                <a:r>
                  <a:rPr lang="en-US" altLang="zh-CN" sz="2400" b="1" dirty="0">
                    <a:solidFill>
                      <a:schemeClr val="bg2">
                        <a:lumMod val="50000"/>
                      </a:schemeClr>
                    </a:solidFill>
                  </a:rPr>
                  <a:t>Optuna hyperparameter search</a:t>
                </a:r>
                <a:endParaRPr lang="en-US" altLang="zh-CN" sz="2400" b="1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pPr indent="0" algn="l">
                  <a:buNone/>
                </a:pPr>
                <a:r>
                  <a:rPr lang="en-US" altLang="zh-CN" sz="2400" dirty="0">
                    <a:solidFill>
                      <a:schemeClr val="bg2">
                        <a:lumMod val="50000"/>
                      </a:schemeClr>
                    </a:solidFill>
                  </a:rPr>
                  <a:t>An automatic parameter searching process using Optuna to find the best hyperparameters.</a:t>
                </a:r>
                <a:endParaRPr lang="en-US" altLang="zh-CN" sz="24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文本框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9020" y="1622425"/>
                <a:ext cx="9240520" cy="366903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90000"/>
                </a:schemeClr>
              </a:gs>
              <a:gs pos="14000">
                <a:schemeClr val="bg1"/>
              </a:gs>
              <a:gs pos="83000">
                <a:schemeClr val="bg1"/>
              </a:gs>
              <a:gs pos="100000">
                <a:schemeClr val="bg2">
                  <a:lumMod val="90000"/>
                </a:schemeClr>
              </a:gs>
            </a:gsLst>
            <a:lin ang="0" scaled="1"/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049020" y="241935"/>
            <a:ext cx="818324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C00000"/>
                </a:solidFill>
                <a:sym typeface="+mn-ea"/>
              </a:rPr>
              <a:t>Technical Introduction</a:t>
            </a:r>
            <a:r>
              <a:rPr lang="zh-CN" altLang="en-US" sz="2800" b="1" dirty="0">
                <a:solidFill>
                  <a:srgbClr val="C00000"/>
                </a:solidFill>
                <a:sym typeface="+mn-ea"/>
              </a:rPr>
              <a:t>：</a:t>
            </a:r>
            <a:r>
              <a:rPr lang="en-US" altLang="zh-CN" sz="2800" b="1" dirty="0">
                <a:solidFill>
                  <a:srgbClr val="C00000"/>
                </a:solidFill>
              </a:rPr>
              <a:t>Voting &amp; Analysis</a:t>
            </a:r>
            <a:endParaRPr lang="en-US" altLang="zh-CN" sz="2800" b="1" dirty="0">
              <a:solidFill>
                <a:srgbClr val="C00000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049020" y="2186940"/>
            <a:ext cx="9240520" cy="3784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l">
              <a:buFont typeface="Wingdings" panose="05000000000000000000" charset="0"/>
              <a:buChar char="u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Soft Voting</a:t>
            </a: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Outputs probabilities instead of classes.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Averages weighted probabilities from multiple models.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More robust and accurate than hard voting.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Wingdings" panose="05000000000000000000" charset="0"/>
              <a:buChar char="u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Shapley Additive Explanations</a:t>
            </a: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Game theory-based model explanation method.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Quantifies feature importance for each prediction.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Improves transparency and interpretability.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049020" y="1134745"/>
            <a:ext cx="921385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From "Simple Majority" to "Weighted Interpretation"</a:t>
            </a: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90000"/>
                </a:schemeClr>
              </a:gs>
              <a:gs pos="14000">
                <a:schemeClr val="bg1"/>
              </a:gs>
              <a:gs pos="83000">
                <a:schemeClr val="bg1"/>
              </a:gs>
              <a:gs pos="100000">
                <a:schemeClr val="bg2">
                  <a:lumMod val="90000"/>
                </a:schemeClr>
              </a:gs>
            </a:gsLst>
            <a:lin ang="0" scaled="1"/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049020" y="241935"/>
            <a:ext cx="818324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C00000"/>
                </a:solidFill>
                <a:sym typeface="+mn-ea"/>
              </a:rPr>
              <a:t>Results Analysis</a:t>
            </a:r>
            <a:endParaRPr lang="en-US" altLang="zh-CN" sz="2800" b="1" dirty="0">
              <a:solidFill>
                <a:srgbClr val="C00000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049020" y="1999615"/>
            <a:ext cx="9240520" cy="3046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  <a:sym typeface="+mn-ea"/>
              </a:rPr>
              <a:t>Data Structure</a:t>
            </a: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ClrTx/>
              <a:buSzTx/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  <a:sym typeface="+mn-ea"/>
              </a:rPr>
              <a:t>Network Feature Analysis</a:t>
            </a:r>
            <a:endParaRPr lang="en-US" altLang="zh-CN" sz="2400" b="1" dirty="0">
              <a:solidFill>
                <a:schemeClr val="bg2">
                  <a:lumMod val="50000"/>
                </a:schemeClr>
              </a:solidFill>
              <a:sym typeface="+mn-ea"/>
            </a:endParaRPr>
          </a:p>
          <a:p>
            <a:pPr indent="0" algn="l">
              <a:buFont typeface="Arial" panose="020B0604020202020204" pitchFamily="34" charset="0"/>
              <a:buNone/>
            </a:pPr>
            <a:endParaRPr lang="en-US" altLang="zh-CN" sz="2400" b="1" dirty="0">
              <a:solidFill>
                <a:srgbClr val="C00000"/>
              </a:solidFill>
            </a:endParaRPr>
          </a:p>
          <a:p>
            <a:pPr marL="342900" indent="-342900" algn="l">
              <a:buClrTx/>
              <a:buSzTx/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  <a:sym typeface="+mn-ea"/>
              </a:rPr>
              <a:t>Model Architecture</a:t>
            </a:r>
            <a:endParaRPr lang="en-US" altLang="zh-CN" sz="2400" b="1" dirty="0">
              <a:solidFill>
                <a:schemeClr val="bg2">
                  <a:lumMod val="50000"/>
                </a:schemeClr>
              </a:solidFill>
              <a:sym typeface="+mn-ea"/>
            </a:endParaRPr>
          </a:p>
          <a:p>
            <a:pPr marL="342900" indent="-342900" algn="l">
              <a:buClrTx/>
              <a:buSzTx/>
              <a:buFont typeface="Arial" panose="020B0604020202020204" pitchFamily="34" charset="0"/>
              <a:buChar char="•"/>
            </a:pP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ClrTx/>
              <a:buSzTx/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  <a:sym typeface="+mn-ea"/>
              </a:rPr>
              <a:t>P</a:t>
            </a: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  <a:sym typeface="+mn-ea"/>
              </a:rPr>
              <a:t>erformance Comparison</a:t>
            </a: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indent="0" algn="l">
              <a:buFont typeface="Arial" panose="020B0604020202020204" pitchFamily="34" charset="0"/>
              <a:buNone/>
            </a:pP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90000"/>
                </a:schemeClr>
              </a:gs>
              <a:gs pos="14000">
                <a:schemeClr val="bg1"/>
              </a:gs>
              <a:gs pos="83000">
                <a:schemeClr val="bg1"/>
              </a:gs>
              <a:gs pos="100000">
                <a:schemeClr val="bg2">
                  <a:lumMod val="90000"/>
                </a:schemeClr>
              </a:gs>
            </a:gsLst>
            <a:lin ang="0" scaled="1"/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7675" y="2980690"/>
            <a:ext cx="8425815" cy="324929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049020" y="241935"/>
            <a:ext cx="818324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C00000"/>
                </a:solidFill>
                <a:sym typeface="+mn-ea"/>
              </a:rPr>
              <a:t>Results Analysis</a:t>
            </a:r>
            <a:r>
              <a:rPr lang="zh-CN" altLang="en-US" sz="2800" b="1" dirty="0">
                <a:solidFill>
                  <a:srgbClr val="C00000"/>
                </a:solidFill>
                <a:sym typeface="+mn-ea"/>
              </a:rPr>
              <a:t>：</a:t>
            </a:r>
            <a:r>
              <a:rPr lang="en-US" altLang="zh-CN" sz="2800" b="1" dirty="0">
                <a:solidFill>
                  <a:srgbClr val="C00000"/>
                </a:solidFill>
                <a:sym typeface="+mn-ea"/>
              </a:rPr>
              <a:t>Data Structure</a:t>
            </a:r>
            <a:endParaRPr lang="en-US" altLang="zh-CN" sz="2800" b="1" dirty="0">
              <a:solidFill>
                <a:srgbClr val="C00000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049020" y="1187450"/>
            <a:ext cx="9240520" cy="1938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Data Structure</a:t>
            </a: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indent="0" algn="l">
              <a:buFont typeface="Arial" panose="020B0604020202020204" pitchFamily="34" charset="0"/>
              <a:buNone/>
            </a:pP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The Elliptic dataset contains a total of </a:t>
            </a: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  <a:sym typeface="+mn-ea"/>
              </a:rPr>
              <a:t>200k+ Bitcoin transactions, 230k+ edges</a:t>
            </a: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, with three types of node labels: illicit, licit, and unknown. The distribution is shown in the figure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indent="0" algn="l">
              <a:buFont typeface="Arial" panose="020B0604020202020204" pitchFamily="34" charset="0"/>
              <a:buNone/>
            </a:pP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90000"/>
                </a:schemeClr>
              </a:gs>
              <a:gs pos="14000">
                <a:schemeClr val="bg1"/>
              </a:gs>
              <a:gs pos="83000">
                <a:schemeClr val="bg1"/>
              </a:gs>
              <a:gs pos="100000">
                <a:schemeClr val="bg2">
                  <a:lumMod val="90000"/>
                </a:schemeClr>
              </a:gs>
            </a:gsLst>
            <a:lin ang="0" scaled="1"/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8" name="图片 7" descr="centrality_histogram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49525" y="1224280"/>
            <a:ext cx="6238875" cy="482409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049020" y="241935"/>
            <a:ext cx="818324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C00000"/>
                </a:solidFill>
                <a:sym typeface="+mn-ea"/>
              </a:rPr>
              <a:t>Results Analysis</a:t>
            </a:r>
            <a:r>
              <a:rPr lang="zh-CN" altLang="en-US" sz="2800" b="1" dirty="0">
                <a:solidFill>
                  <a:srgbClr val="C00000"/>
                </a:solidFill>
                <a:sym typeface="+mn-ea"/>
              </a:rPr>
              <a:t>：</a:t>
            </a:r>
            <a:r>
              <a:rPr lang="en-US" altLang="zh-CN" sz="2800" b="1" dirty="0">
                <a:solidFill>
                  <a:srgbClr val="C00000"/>
                </a:solidFill>
              </a:rPr>
              <a:t>Network Feature Analysis</a:t>
            </a:r>
            <a:endParaRPr lang="en-US" altLang="zh-CN" sz="2800" b="1" dirty="0">
              <a:solidFill>
                <a:srgbClr val="C00000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049020" y="763905"/>
            <a:ext cx="924052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Centrality Histograms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113155" y="6028055"/>
            <a:ext cx="1017587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Chart Interpretation</a:t>
            </a: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indent="0" algn="l">
              <a:buFont typeface="Arial" panose="020B0604020202020204" pitchFamily="34" charset="0"/>
              <a:buNone/>
            </a:pP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Exhibiting typical right-skewed long-tail distributions.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90000"/>
                </a:schemeClr>
              </a:gs>
              <a:gs pos="14000">
                <a:schemeClr val="bg1"/>
              </a:gs>
              <a:gs pos="83000">
                <a:schemeClr val="bg1"/>
              </a:gs>
              <a:gs pos="100000">
                <a:schemeClr val="bg2">
                  <a:lumMod val="90000"/>
                </a:schemeClr>
              </a:gs>
            </a:gsLst>
            <a:lin ang="0" scaled="1"/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049020" y="241935"/>
            <a:ext cx="818324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C00000"/>
                </a:solidFill>
                <a:sym typeface="+mn-ea"/>
              </a:rPr>
              <a:t>Results Analysis</a:t>
            </a:r>
            <a:r>
              <a:rPr lang="zh-CN" altLang="en-US" sz="2800" b="1" dirty="0">
                <a:solidFill>
                  <a:srgbClr val="C00000"/>
                </a:solidFill>
                <a:sym typeface="+mn-ea"/>
              </a:rPr>
              <a:t>：</a:t>
            </a:r>
            <a:r>
              <a:rPr lang="en-US" altLang="zh-CN" sz="2800" b="1" dirty="0">
                <a:solidFill>
                  <a:srgbClr val="C00000"/>
                </a:solidFill>
              </a:rPr>
              <a:t>Network Feature Analysis</a:t>
            </a:r>
            <a:endParaRPr lang="en-US" altLang="zh-CN" sz="2800" b="1" dirty="0">
              <a:solidFill>
                <a:srgbClr val="C00000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049020" y="832485"/>
            <a:ext cx="924052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Boxplot </a:t>
            </a: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of 7 network features grouped by class (log scale).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176020" y="5289550"/>
            <a:ext cx="9240520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Chart Interpretation</a:t>
            </a: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indent="0" algn="l">
              <a:buFont typeface="Arial" panose="020B0604020202020204" pitchFamily="34" charset="0"/>
              <a:buNone/>
            </a:pP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Blue box = Unknown class (3), Green = Licit (2), Red = Illicit (1). Licit nodes show more dispersed feature value distributions, illicit nodes generally have lower and more concentrated feature values.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7" name="图片 6" descr="boxpl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65095" y="1313180"/>
            <a:ext cx="6262370" cy="403923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90000"/>
                </a:schemeClr>
              </a:gs>
              <a:gs pos="14000">
                <a:schemeClr val="bg1"/>
              </a:gs>
              <a:gs pos="83000">
                <a:schemeClr val="bg1"/>
              </a:gs>
              <a:gs pos="100000">
                <a:schemeClr val="bg2">
                  <a:lumMod val="90000"/>
                </a:schemeClr>
              </a:gs>
            </a:gsLst>
            <a:lin ang="0" scaled="1"/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049020" y="241935"/>
            <a:ext cx="818324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C00000"/>
                </a:solidFill>
                <a:sym typeface="+mn-ea"/>
              </a:rPr>
              <a:t>Results Analysis</a:t>
            </a:r>
            <a:r>
              <a:rPr lang="zh-CN" altLang="en-US" sz="2800" b="1" dirty="0">
                <a:solidFill>
                  <a:srgbClr val="C00000"/>
                </a:solidFill>
                <a:sym typeface="+mn-ea"/>
              </a:rPr>
              <a:t>：</a:t>
            </a:r>
            <a:r>
              <a:rPr lang="en-US" altLang="zh-CN" sz="2800" b="1" dirty="0">
                <a:solidFill>
                  <a:srgbClr val="C00000"/>
                </a:solidFill>
                <a:sym typeface="+mn-ea"/>
              </a:rPr>
              <a:t>Network Feature Analysis</a:t>
            </a:r>
            <a:endParaRPr lang="en-US" altLang="zh-CN" sz="2800" b="1" dirty="0">
              <a:solidFill>
                <a:srgbClr val="C00000"/>
              </a:solidFill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1049020" y="867410"/>
            <a:ext cx="9240520" cy="7861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  <a:sym typeface="+mn-ea"/>
              </a:rPr>
              <a:t>Centrality  Statistics</a:t>
            </a: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indent="0" algn="l">
              <a:buFont typeface="Arial" panose="020B0604020202020204" pitchFamily="34" charset="0"/>
              <a:buNone/>
            </a:pP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217295" y="3905250"/>
            <a:ext cx="10028555" cy="26054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 algn="l">
              <a:buFont typeface="Wingdings" panose="05000000000000000000" charset="0"/>
              <a:buChar char="u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Key Findings</a:t>
            </a: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Clustering Coefficient Difference: </a:t>
            </a: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Licit nodes have a clustering coefficient 23x higher than illicit nodes, indicating that licit transactions form tighter local communities (e.g., business networks).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Betweenness Centrality Difference: </a:t>
            </a: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Licit nodes have betweenness centrality 95x higher than illicit nodes, suggesting licit nodes more often serve as network intermediaries (e.g., exchanges, payment platforms).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3580" y="1378585"/>
            <a:ext cx="8244840" cy="233807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90000"/>
                </a:schemeClr>
              </a:gs>
              <a:gs pos="14000">
                <a:schemeClr val="bg1"/>
              </a:gs>
              <a:gs pos="83000">
                <a:schemeClr val="bg1"/>
              </a:gs>
              <a:gs pos="100000">
                <a:schemeClr val="bg2">
                  <a:lumMod val="90000"/>
                </a:schemeClr>
              </a:gs>
            </a:gsLst>
            <a:lin ang="0" scaled="1"/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049020" y="241935"/>
            <a:ext cx="818324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C00000"/>
                </a:solidFill>
                <a:sym typeface="+mn-ea"/>
              </a:rPr>
              <a:t>Results Analysis</a:t>
            </a:r>
            <a:r>
              <a:rPr lang="zh-CN" altLang="en-US" sz="2800" b="1" dirty="0">
                <a:solidFill>
                  <a:srgbClr val="C00000"/>
                </a:solidFill>
                <a:sym typeface="+mn-ea"/>
              </a:rPr>
              <a:t>：</a:t>
            </a:r>
            <a:r>
              <a:rPr lang="en-US" altLang="zh-CN" sz="2800" b="1" dirty="0">
                <a:solidFill>
                  <a:srgbClr val="C00000"/>
                </a:solidFill>
              </a:rPr>
              <a:t>Model Architecture</a:t>
            </a:r>
            <a:endParaRPr lang="en-US" altLang="zh-CN" sz="2800" b="1" dirty="0">
              <a:solidFill>
                <a:srgbClr val="C00000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122680" y="955675"/>
            <a:ext cx="9240520" cy="5429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  <a:sym typeface="+mn-ea"/>
              </a:rPr>
              <a:t>LightGBM</a:t>
            </a: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indent="0" algn="l">
              <a:buFont typeface="Arial" panose="020B0604020202020204" pitchFamily="34" charset="0"/>
              <a:buNone/>
            </a:pP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5" name="图片 4" descr="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0580" y="1350645"/>
            <a:ext cx="7693025" cy="169862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1122680" y="2966085"/>
            <a:ext cx="9240520" cy="5429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  <a:sym typeface="+mn-ea"/>
              </a:rPr>
              <a:t>GraphSAGE</a:t>
            </a: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indent="0" algn="l">
              <a:buFont typeface="Arial" panose="020B0604020202020204" pitchFamily="34" charset="0"/>
              <a:buNone/>
            </a:pP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图片 7" descr="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815" y="3355340"/>
            <a:ext cx="753237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90000"/>
                </a:schemeClr>
              </a:gs>
              <a:gs pos="14000">
                <a:schemeClr val="bg1"/>
              </a:gs>
              <a:gs pos="83000">
                <a:schemeClr val="bg1"/>
              </a:gs>
              <a:gs pos="100000">
                <a:schemeClr val="bg2">
                  <a:lumMod val="90000"/>
                </a:schemeClr>
              </a:gs>
            </a:gsLst>
            <a:lin ang="0" scaled="1"/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049020" y="241935"/>
            <a:ext cx="818324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C00000"/>
                </a:solidFill>
                <a:sym typeface="+mn-ea"/>
              </a:rPr>
              <a:t>Results Analysis</a:t>
            </a:r>
            <a:r>
              <a:rPr lang="zh-CN" altLang="en-US" sz="2800" b="1" dirty="0">
                <a:solidFill>
                  <a:srgbClr val="C00000"/>
                </a:solidFill>
                <a:sym typeface="+mn-ea"/>
              </a:rPr>
              <a:t>：</a:t>
            </a:r>
            <a:r>
              <a:rPr lang="en-US" altLang="zh-CN" sz="2800" b="1" dirty="0">
                <a:solidFill>
                  <a:srgbClr val="C00000"/>
                </a:solidFill>
                <a:sym typeface="+mn-ea"/>
              </a:rPr>
              <a:t>P</a:t>
            </a:r>
            <a:r>
              <a:rPr lang="en-US" altLang="zh-CN" sz="2800" b="1" dirty="0">
                <a:solidFill>
                  <a:srgbClr val="C00000"/>
                </a:solidFill>
              </a:rPr>
              <a:t>erformance Comparison</a:t>
            </a:r>
            <a:endParaRPr lang="en-US" altLang="zh-CN" sz="2800" b="1" dirty="0">
              <a:solidFill>
                <a:srgbClr val="C00000"/>
              </a:solidFill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8940" y="2324735"/>
            <a:ext cx="8402320" cy="1777365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1049020" y="1191895"/>
            <a:ext cx="9240520" cy="8693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 algn="l">
              <a:buFont typeface="Wingdings" panose="05000000000000000000" charset="0"/>
              <a:buChar char="u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Key Finding</a:t>
            </a: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indent="0" algn="l">
              <a:buFont typeface="Arial" panose="020B0604020202020204" pitchFamily="34" charset="0"/>
              <a:buNone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Tree-based models significantly outperform GNN on this task. 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1049020" y="4102100"/>
            <a:ext cx="9240520" cy="31629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 algn="l">
              <a:buFont typeface="Arial" panose="020B0604020202020204" pitchFamily="34" charset="0"/>
              <a:buNone/>
            </a:pP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Wingdings" panose="05000000000000000000" charset="0"/>
              <a:buChar char="u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Key issues identified:</a:t>
            </a: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Unknown node interference:</a:t>
            </a: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 77% of nodes have unknown labels, contaminating message passing.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Temporal distribution shift: </a:t>
            </a: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Graph structure evolves over time.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Training strategy: </a:t>
            </a: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No validation set, no early stopping.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90000"/>
                </a:schemeClr>
              </a:gs>
              <a:gs pos="14000">
                <a:schemeClr val="bg1"/>
              </a:gs>
              <a:gs pos="83000">
                <a:schemeClr val="bg1"/>
              </a:gs>
              <a:gs pos="100000">
                <a:schemeClr val="bg2">
                  <a:lumMod val="90000"/>
                </a:schemeClr>
              </a:gs>
            </a:gsLst>
            <a:lin ang="0" scaled="1"/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049020" y="241935"/>
            <a:ext cx="818324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C00000"/>
                </a:solidFill>
                <a:sym typeface="+mn-ea"/>
              </a:rPr>
              <a:t>Summary</a:t>
            </a:r>
            <a:endParaRPr lang="en-US" sz="2800" b="1" dirty="0">
              <a:solidFill>
                <a:srgbClr val="C00000"/>
              </a:solidFill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1049020" y="343535"/>
            <a:ext cx="9240520" cy="20167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 algn="l">
              <a:buFont typeface="Arial" panose="020B0604020202020204" pitchFamily="34" charset="0"/>
              <a:buNone/>
            </a:pP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Wingdings" panose="05000000000000000000" charset="0"/>
              <a:buChar char="u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  <a:sym typeface="+mn-ea"/>
              </a:rPr>
              <a:t>Conclusion</a:t>
            </a: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indent="0" algn="l">
              <a:buFont typeface="Arial" panose="020B0604020202020204" pitchFamily="34" charset="0"/>
              <a:buNone/>
            </a:pP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In the current dataset, LightGBM performs significantly better than GraphSAGE, and simple and effective algorithms have advantages in specific scenarios.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indent="0" algn="l">
              <a:buFont typeface="Arial" panose="020B0604020202020204" pitchFamily="34" charset="0"/>
              <a:buNone/>
            </a:pP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049020" y="1985010"/>
            <a:ext cx="9240520" cy="48723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 algn="l">
              <a:buFont typeface="Arial" panose="020B0604020202020204" pitchFamily="34" charset="0"/>
              <a:buNone/>
            </a:pP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Wingdings" panose="05000000000000000000" charset="0"/>
              <a:buChar char="u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Future Prospects</a:t>
            </a: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Optimize training strategy: </a:t>
            </a: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Introduce validation set and early stop mechanism to prevent overfitting; Exploring Semi Supervised Learning to solve unknown node problems.</a:t>
            </a:r>
            <a:endParaRPr lang="en-US" altLang="zh-CN" sz="2400" b="1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Advanced Model Exploration: </a:t>
            </a: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Attempting Time Graph Neural Networks to capture dynamic evolution.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Data and Feature Engineering:</a:t>
            </a: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 Utilizing GAN to generate samples to alleviate class imbalance and explore deeper network topology feature information.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bg2">
                    <a:lumMod val="50000"/>
                  </a:schemeClr>
                </a:solidFill>
              </a:rPr>
              <a:t>Hybrid model fusion:</a:t>
            </a:r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</a:rPr>
              <a:t> Combining LightGBM feature importance with GNN structural information to construct a high-performance hybrid model with complementary advantages.</a:t>
            </a:r>
            <a:endParaRPr lang="en-US" altLang="zh-CN" sz="24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8030</Words>
  <Application>WPS 演示</Application>
  <PresentationFormat>宽屏</PresentationFormat>
  <Paragraphs>269</Paragraphs>
  <Slides>25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25</vt:i4>
      </vt:variant>
    </vt:vector>
  </HeadingPairs>
  <TitlesOfParts>
    <vt:vector size="37" baseType="lpstr">
      <vt:lpstr>Arial</vt:lpstr>
      <vt:lpstr>宋体</vt:lpstr>
      <vt:lpstr>Wingdings</vt:lpstr>
      <vt:lpstr>Cambria Math</vt:lpstr>
      <vt:lpstr>Wingdings</vt:lpstr>
      <vt:lpstr>等线</vt:lpstr>
      <vt:lpstr>微软雅黑</vt:lpstr>
      <vt:lpstr>Arial Unicode MS</vt:lpstr>
      <vt:lpstr>等线 Light</vt:lpstr>
      <vt:lpstr>Calibri</vt:lpstr>
      <vt:lpstr>Office 主题​​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振宇 杨</dc:creator>
  <cp:lastModifiedBy>Miss sing high</cp:lastModifiedBy>
  <cp:revision>12</cp:revision>
  <dcterms:created xsi:type="dcterms:W3CDTF">2026-03-24T09:51:00Z</dcterms:created>
  <dcterms:modified xsi:type="dcterms:W3CDTF">2026-03-31T17:55:35Z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B76DA8EE413A49C2AB733CDB985DBACB_13</vt:lpwstr>
  </property>
</Properties>
</file>